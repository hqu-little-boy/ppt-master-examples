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0"/>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  <Relationship Id="rId20"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提到包豪斯，很多人想到的是一种风格：方盒子、钢管椅、无衬线字。但今天我们要讲的，是一所真实存在过的学校。它从 1919 年办到 1933 年，只有 14 年，换过三座城市、三任校长。右边这张图是它在德绍的校舍。接下来大约二十五分钟，我们一起看看，一所这么短命的学校，凭什么成了现代设计的通用语法。</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故事从一句话开始。1919 年 4 月 1 日，建筑师格罗皮乌斯在魏玛把萨克森大公美术学院和工艺美术学校合并，成立了国立包豪斯。同年 4 月发布的宣言开篇写道：一切造型活动的最终目标是建筑。也就是说，画家、雕塑家、工匠，都要回到同一个工地上。宣言的封面是费宁格的立体主义木刻《大教堂》，它最初的标题甚至叫《社会主义大教堂》。记住这个起点：包豪斯一开始讲的不是风格，而是把艺术和手艺重新放在一起。</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先把时间线摆清楚。包豪斯在魏玛待了六年，1925 年因为当地政治环境变化搬到德绍，在德绍办了七年；1932 年纳粹党接管安哈尔特州政府，德绍校区被关，学校最后搬到柏林。请注意下面一行：校长的更替和城市的更替并不同步。格罗皮乌斯一直做到 1928 年，接任的迈耶在 1930 年被德绍市长解聘，最后是密斯，从 1930 年做到学校结束。所以这十四年，其实是一路被推着走的十四年。</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那这所学校到底怎么教？第一步是预备课程。所有学生都必须先通过这门课，才有资格选择工坊、进入主课程。最早主持它的是伊顿，内容包括自然和材料研究、色彩与形式理论、古代大师作品分析和写生。1923 年伊顿离开后，莫霍利-纳吉重写了这门课，并和阿尔伯斯一起主持。左边这张同心圆是我们按资料整理的示意：外圈是人人必修的基础课，中间是工坊，圆心是宣言里说的终点，建筑。</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进入工坊之后，学生面对的是两位导师。一位是形式导师，通常是艺术家，比如克利；另一位是工艺导师，负责手艺本身，比如 1923 年起在玻璃画工坊任工艺导师的阿尔伯斯。艺术家管形式，工匠管工艺，双导师制把艺术和生产放在了同一张工作台上。织造工坊的施特尔策尔是个很好的例子：她 1919 年作为学生入学，1927 年成为青年导师，是包豪斯第一位获得“导师”头衔的女性。还有一个现实压力：1923 年的实验作品展，包括号角屋，是学校继续拿到州政府资助的条件。右边这张工坊场景是 AI 生成的示意图，不是历史照片。</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把人物放到同一条时间标尺上看会更清楚。上面一行是三任校长：格罗皮乌斯、迈耶、密斯。下面是教师，按加入年份排开：伊顿是 1919 年的首批教员，克利 1920 年加入，后来做玻璃画工坊的形式导师；康定斯基 1922 年加入；1923 年起，莫霍利-纳吉和阿尔伯斯共同主持预备课程，而阿尔伯斯自己 1920 年还是这里的学生；到 1927 年，施特尔策尔成为织造工坊的青年导师。包豪斯的特别之处，就是把这些画家请进了工坊。</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现在我们走进德绍校舍。它由格罗皮乌斯设计，1925 年 9 月动工，1926 年 3 月 21 日封顶，同年 12 月 4 日落成。工坊翼有一整面贯通三层的玻璃幕墙，就是照片上这片玻璃；普雷勒楼有五层，28 间工作室，是师生生活和工作的地方；桥楼里是行政办公室和格罗皮乌斯的建筑事务所。可以说，这栋楼本身就是一本可以走进去的教材。1996 年，它作为包豪斯遗址的一部分列入了世界遗产。</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接下来三件作品，我们用同一个“展台”来看。第一件是台灯。瓦根菲尔德和尤克尔在魏玛金属工坊设计了它，第一批在 1924 年春天问世，有金属底座和玻璃底座两个版本。你可以把它拆成三个基本形：圆形底座、圆柱灯杆、球形灯罩。但它也提醒我们理想和现实的距离：1924 年的初期推销失败了，主要原因是零件仍然靠手工组装，离真正的工业产品还有一段路。</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第二件是钢管椅。布劳耶当时是德绍家具工坊的负责人，他在 1925 到 1926 年间设计了 B3 椅，后来它被叫作瓦西里椅。灵感来自一辆自行车：1925 年他买了第一辆自行车，被那副轻巧的钢管车架打动，于是开始用钢管做家具。早期版本由 Thonet 生产。从车架到椅子，这正是包豪斯所说的，把材料和工业带进日常物件。</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第三件不是物件，而是一套字母。1925 年起，拜耳设计了一套“通用字体”：几何无衬线，并且干脆取消了大写字母，理由是这样书写更高效。左边的字母只是我们用几何无衬线字体做的示意，并不是拜耳的原稿。值得一提的是，这套字体始终只存在于设计稿上，从来没有被铸成铅字；拜耳本人在 1928 年离开了包豪斯。</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然后是结局。1932 年，纳粹党接管安哈尔特州政府，德绍校区被关闭；同年年末，密斯在柏林租下一座废弃的电话工厂继续办学。1933 年 4 月，盖世太保搜查并查封了学校；到 7 月，密斯和教员们投票决定自行解散。从德绍到柏林，最后的包豪斯只撑了大约十个月。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但学校关了，人还在。1933 到 1938 年间，119 名教员里大约 15 人移居国外。阿尔伯斯 1933 年去了北卡罗来纳州的黑山学院；格罗皮乌斯 1937 年起在哈佛设计研究生院任教；同一年，莫霍利-纳吉在芝加哥创办新包豪斯，它后来改名设计学院，1949 年并入伊利诺伊理工学院；密斯在 1937、38 年前后到芝加哥主持阿穆尔理工学院的建筑系。战后的 1953 年，比尔、艾舍-绍尔和艾舍在德国创办乌尔姆设计学院，延续了包豪斯的理念。在特拉维夫，白城有四千多座包豪斯和国际风格建筑，2003 年列入世界遗产。</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最后回到开头的问题。包豪斯只存在了 14 年，前后有一千二百五十多名学生，来自 29 个国家。它留给我们的，与其说是一种风格，不如说是一套方法：先上共同的基础课，再进工坊，把艺术和工业放到同一张桌子上。1996 年，魏玛和德绍的包豪斯遗址列入世界遗产，2017 年又扩展到贝尔瑙。下次你坐在一把钢管椅上，或者打开一盏圆罩台灯时，可以想一想这套方法是怎么一路走到今天的。</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bauhaus_1919_193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bauhaus_1919_1933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lang="zh-CN">
          <a:solidFill>
            <a:schemeClr val="tx1"/>
          </a:solidFill>
          <a:latin typeface="+mn-lt"/>
          <a:ea typeface="+mn-ea"/>
          <a:cs typeface="+mn-cs"/>
        </a:defRPr>
      </a:lvl9pPr>
    </p:bodyStyle>
    <p:otherStyle>
      <a:defPPr>
        <a:defRPr lang="zh-CN"/>
      </a:defPPr>
      <a:lvl1pPr marL="0" algn="l" defTabSz="457200" rtl="0" eaLnBrk="1" latinLnBrk="0" hangingPunct="1">
        <a:defRPr sz="1650" kern="1200" lang="zh-CN">
          <a:solidFill>
            <a:schemeClr val="tx1"/>
          </a:solidFill>
          <a:latin typeface="+mn-lt"/>
          <a:ea typeface="+mn-ea"/>
          <a:cs typeface="+mn-cs"/>
        </a:defRPr>
      </a:lvl1pPr>
      <a:lvl2pPr marL="457200" algn="l" defTabSz="457200" rtl="0" eaLnBrk="1" latinLnBrk="0" hangingPunct="1">
        <a:defRPr sz="1550" kern="1200" lang="zh-CN">
          <a:solidFill>
            <a:schemeClr val="tx1"/>
          </a:solidFill>
          <a:latin typeface="+mn-lt"/>
          <a:ea typeface="+mn-ea"/>
          <a:cs typeface="+mn-cs"/>
        </a:defRPr>
      </a:lvl2pPr>
      <a:lvl3pPr marL="914400" algn="l" defTabSz="457200" rtl="0" eaLnBrk="1" latinLnBrk="0" hangingPunct="1">
        <a:defRPr sz="1450" kern="1200" lang="zh-CN">
          <a:solidFill>
            <a:schemeClr val="tx1"/>
          </a:solidFill>
          <a:latin typeface="+mn-lt"/>
          <a:ea typeface="+mn-ea"/>
          <a:cs typeface="+mn-cs"/>
        </a:defRPr>
      </a:lvl3pPr>
      <a:lvl4pPr marL="1371600" algn="l" defTabSz="457200" rtl="0" eaLnBrk="1" latinLnBrk="0" hangingPunct="1">
        <a:defRPr sz="1350" kern="1200" lang="zh-CN">
          <a:solidFill>
            <a:schemeClr val="tx1"/>
          </a:solidFill>
          <a:latin typeface="+mn-lt"/>
          <a:ea typeface="+mn-ea"/>
          <a:cs typeface="+mn-cs"/>
        </a:defRPr>
      </a:lvl4pPr>
      <a:lvl5pPr marL="1828800" algn="l" defTabSz="457200" rtl="0" eaLnBrk="1" latinLnBrk="0" hangingPunct="1">
        <a:defRPr sz="1250" kern="1200" lang="zh-CN">
          <a:solidFill>
            <a:schemeClr val="tx1"/>
          </a:solidFill>
          <a:latin typeface="+mn-lt"/>
          <a:ea typeface="+mn-ea"/>
          <a:cs typeface="+mn-cs"/>
        </a:defRPr>
      </a:lvl5pPr>
      <a:lvl6pPr marL="2286000" algn="l" defTabSz="457200" rtl="0" eaLnBrk="1" latinLnBrk="0" hangingPunct="1">
        <a:defRPr sz="1150" kern="1200" lang="zh-CN">
          <a:solidFill>
            <a:schemeClr val="tx1"/>
          </a:solidFill>
          <a:latin typeface="+mn-lt"/>
          <a:ea typeface="+mn-ea"/>
          <a:cs typeface="+mn-cs"/>
        </a:defRPr>
      </a:lvl6pPr>
      <a:lvl7pPr marL="2743200" algn="l" defTabSz="457200" rtl="0" eaLnBrk="1" latinLnBrk="0" hangingPunct="1">
        <a:defRPr sz="1050" kern="1200" lang="zh-CN">
          <a:solidFill>
            <a:schemeClr val="tx1"/>
          </a:solidFill>
          <a:latin typeface="+mn-lt"/>
          <a:ea typeface="+mn-ea"/>
          <a:cs typeface="+mn-cs"/>
        </a:defRPr>
      </a:lvl7pPr>
      <a:lvl8pPr marL="3200400" algn="l" defTabSz="457200" rtl="0" eaLnBrk="1" latinLnBrk="0" hangingPunct="1">
        <a:defRPr sz="950" kern="1200" lang="zh-CN">
          <a:solidFill>
            <a:schemeClr val="tx1"/>
          </a:solidFill>
          <a:latin typeface="+mn-lt"/>
          <a:ea typeface="+mn-ea"/>
          <a:cs typeface="+mn-cs"/>
        </a:defRPr>
      </a:lvl8pPr>
      <a:lvl9pPr marL="3657600" algn="l" defTabSz="457200" rtl="0" eaLnBrk="1" latinLnBrk="0" hangingPunct="1">
        <a:defRPr sz="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1a0465790eeedb6.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9e4330609375138.jp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d49adc08dfd6fd.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acd06f9a7e14bf.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7ee1b1c57c4d04c.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a15e3d19fdfcb34.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65c661612672e15.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3" name="cover-image"/>
          <p:cNvGrpSpPr/>
          <p:nvPr/>
        </p:nvGrpSpPr>
        <p:grpSpPr>
          <a:xfrm>
            <a:off x="6096000" y="609600"/>
            <a:ext cx="5486400" cy="5638800"/>
            <a:chOff x="6096000" y="609600"/>
            <a:chExt cx="5486400" cy="5638800"/>
          </a:xfrm>
        </p:grpSpPr>
        <p:pic>
          <p:nvPicPr>
            <p:cNvPr id="2" name="Image 2"/>
            <p:cNvPicPr>
              <a:picLocks noChangeAspect="1"/>
            </p:cNvPicPr>
            <p:nvPr/>
          </p:nvPicPr>
          <p:blipFill>
            <a:blip r:embed="rId2"/>
            <a:srcRect l="12081" t="0" r="12081" b="0"/>
            <a:stretch>
              <a:fillRect/>
            </a:stretch>
          </p:blipFill>
          <p:spPr>
            <a:xfrm>
              <a:off x="6096000" y="609600"/>
              <a:ext cx="5486400" cy="5638800"/>
            </a:xfrm>
            <a:prstGeom prst="rect">
              <a:avLst/>
            </a:prstGeom>
          </p:spPr>
        </p:pic>
      </p:grpSp>
      <p:grpSp>
        <p:nvGrpSpPr>
          <p:cNvPr id="5" name="!!motif-seal"/>
          <p:cNvGrpSpPr/>
          <p:nvPr/>
        </p:nvGrpSpPr>
        <p:grpSpPr>
          <a:xfrm>
            <a:off x="10153650" y="4819650"/>
            <a:ext cx="2857500" cy="2857500"/>
            <a:chOff x="10153650" y="4819650"/>
            <a:chExt cx="2857500" cy="2857500"/>
          </a:xfrm>
        </p:grpSpPr>
        <p:sp>
          <p:nvSpPr>
            <p:cNvPr id="4" name="Ellipse 4"/>
            <p:cNvSpPr/>
            <p:nvPr/>
          </p:nvSpPr>
          <p:spPr>
            <a:xfrm>
              <a:off x="10153650" y="4819650"/>
              <a:ext cx="2857500" cy="2857500"/>
            </a:xfrm>
            <a:prstGeom prst="ellipse">
              <a:avLst/>
            </a:prstGeom>
            <a:solidFill>
              <a:schemeClr val="accent2"/>
            </a:solidFill>
            <a:ln>
              <a:noFill/>
            </a:ln>
          </p:spPr>
        </p:sp>
      </p:grpSp>
      <p:grpSp>
        <p:nvGrpSpPr>
          <p:cNvPr id="8" name="cover-kicker"/>
          <p:cNvGrpSpPr/>
          <p:nvPr/>
        </p:nvGrpSpPr>
        <p:grpSpPr>
          <a:xfrm>
            <a:off x="609600" y="927100"/>
            <a:ext cx="3609193" cy="220028"/>
            <a:chOff x="609600" y="927100"/>
            <a:chExt cx="3609193" cy="220028"/>
          </a:xfrm>
        </p:grpSpPr>
        <p:sp>
          <p:nvSpPr>
            <p:cNvPr id="6" name="Rectangle 6"/>
            <p:cNvSpPr/>
            <p:nvPr/>
          </p:nvSpPr>
          <p:spPr>
            <a:xfrm>
              <a:off x="609600" y="990600"/>
              <a:ext cx="381000" cy="38100"/>
            </a:xfrm>
            <a:prstGeom prst="rect">
              <a:avLst/>
            </a:prstGeom>
            <a:solidFill>
              <a:schemeClr val="accent1"/>
            </a:solidFill>
            <a:ln>
              <a:noFill/>
            </a:ln>
          </p:spPr>
        </p:sp>
        <p:sp>
          <p:nvSpPr>
            <p:cNvPr id="7" name="TextBox 7"/>
            <p:cNvSpPr txBox="1"/>
            <p:nvPr/>
          </p:nvSpPr>
          <p:spPr>
            <a:xfrm>
              <a:off x="1137285" y="927100"/>
              <a:ext cx="3081508"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设计史专题 · STAATLICHES BAUHAUS</a:t>
              </a:r>
            </a:p>
          </p:txBody>
        </p:sp>
      </p:grpSp>
      <p:grpSp>
        <p:nvGrpSpPr>
          <p:cNvPr id="13" name="cover-title"/>
          <p:cNvGrpSpPr/>
          <p:nvPr/>
        </p:nvGrpSpPr>
        <p:grpSpPr>
          <a:xfrm>
            <a:off x="552450" y="1358900"/>
            <a:ext cx="2863505" cy="4235450"/>
            <a:chOff x="552450" y="1358900"/>
            <a:chExt cx="2863505" cy="4235450"/>
          </a:xfrm>
        </p:grpSpPr>
        <p:sp>
          <p:nvSpPr>
            <p:cNvPr id="9" name="TextBox 9"/>
            <p:cNvSpPr txBox="1"/>
            <p:nvPr/>
          </p:nvSpPr>
          <p:spPr>
            <a:xfrm>
              <a:off x="590550" y="1358900"/>
              <a:ext cx="2218944"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包豪斯</a:t>
              </a:r>
            </a:p>
          </p:txBody>
        </p:sp>
        <p:sp>
          <p:nvSpPr>
            <p:cNvPr id="10" name="TextBox 10"/>
            <p:cNvSpPr txBox="1"/>
            <p:nvPr/>
          </p:nvSpPr>
          <p:spPr>
            <a:xfrm>
              <a:off x="552450" y="2260600"/>
              <a:ext cx="2863505" cy="1733550"/>
            </a:xfrm>
            <a:prstGeom prst="rect">
              <a:avLst/>
            </a:prstGeom>
            <a:noFill/>
            <a:ln>
              <a:noFill/>
            </a:ln>
          </p:spPr>
          <p:txBody>
            <a:bodyPr wrap="none" lIns="0" tIns="0" rIns="0" bIns="0" anchor="t" anchorCtr="0">
              <a:spAutoFit/>
            </a:bodyPr>
            <a:lstStyle/>
            <a:p>
              <a:pPr algn="l"/>
              <a:r>
                <a:rPr lang="zh-CN" sz="9000" dirty="0">
                  <a:solidFill>
                    <a:schemeClr val="accent1"/>
                  </a:solidFill>
                  <a:latin typeface="Arial Black"/>
                  <a:ea typeface="Arial Black"/>
                  <a:cs typeface="Arial Black"/>
                </a:rPr>
                <a:t>1919</a:t>
              </a:r>
            </a:p>
          </p:txBody>
        </p:sp>
        <p:sp>
          <p:nvSpPr>
            <p:cNvPr id="11" name="Rectangle 11"/>
            <p:cNvSpPr/>
            <p:nvPr/>
          </p:nvSpPr>
          <p:spPr>
            <a:xfrm>
              <a:off x="609600" y="3657600"/>
              <a:ext cx="1143000" cy="57150"/>
            </a:xfrm>
            <a:prstGeom prst="rect">
              <a:avLst/>
            </a:prstGeom>
            <a:solidFill>
              <a:schemeClr val="accent2"/>
            </a:solidFill>
            <a:ln>
              <a:noFill/>
            </a:ln>
          </p:spPr>
        </p:sp>
        <p:sp>
          <p:nvSpPr>
            <p:cNvPr id="12" name="TextBox 12"/>
            <p:cNvSpPr txBox="1"/>
            <p:nvPr/>
          </p:nvSpPr>
          <p:spPr>
            <a:xfrm>
              <a:off x="552450" y="3860800"/>
              <a:ext cx="2863505" cy="1733550"/>
            </a:xfrm>
            <a:prstGeom prst="rect">
              <a:avLst/>
            </a:prstGeom>
            <a:noFill/>
            <a:ln>
              <a:noFill/>
            </a:ln>
          </p:spPr>
          <p:txBody>
            <a:bodyPr wrap="none" lIns="0" tIns="0" rIns="0" bIns="0" anchor="t" anchorCtr="0">
              <a:spAutoFit/>
            </a:bodyPr>
            <a:lstStyle/>
            <a:p>
              <a:pPr algn="l"/>
              <a:r>
                <a:rPr lang="zh-CN" sz="9000" dirty="0">
                  <a:solidFill>
                    <a:schemeClr val="accent1"/>
                  </a:solidFill>
                  <a:latin typeface="Arial Black"/>
                  <a:ea typeface="Arial Black"/>
                  <a:cs typeface="Arial Black"/>
                </a:rPr>
                <a:t>1933</a:t>
              </a:r>
            </a:p>
          </p:txBody>
        </p:sp>
      </p:grpSp>
      <p:grpSp>
        <p:nvGrpSpPr>
          <p:cNvPr id="16" name="cover-subtitle"/>
          <p:cNvGrpSpPr/>
          <p:nvPr/>
        </p:nvGrpSpPr>
        <p:grpSpPr>
          <a:xfrm>
            <a:off x="598932" y="5422900"/>
            <a:ext cx="4827270" cy="830707"/>
            <a:chOff x="598932" y="5422900"/>
            <a:chExt cx="4827270" cy="830707"/>
          </a:xfrm>
        </p:grpSpPr>
        <p:sp>
          <p:nvSpPr>
            <p:cNvPr id="14" name="TextBox 14"/>
            <p:cNvSpPr txBox="1"/>
            <p:nvPr/>
          </p:nvSpPr>
          <p:spPr>
            <a:xfrm>
              <a:off x="598932" y="542290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一所学校如何成为现代设计的通用语法</a:t>
              </a:r>
            </a:p>
          </p:txBody>
        </p:sp>
        <p:sp>
          <p:nvSpPr>
            <p:cNvPr id="15" name="TextBox 15"/>
            <p:cNvSpPr txBox="1"/>
            <p:nvPr/>
          </p:nvSpPr>
          <p:spPr>
            <a:xfrm>
              <a:off x="601218" y="5930900"/>
              <a:ext cx="2786638"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14 年</a:t>
              </a:r>
              <a:r>
                <a:rPr lang="zh-CN" sz="1650" dirty="0">
                  <a:solidFill>
                    <a:schemeClr val="accent5"/>
                  </a:solidFill>
                  <a:latin typeface="+mn-lt"/>
                  <a:ea typeface="+mn-ea"/>
                  <a:cs typeface="+mn-cs"/>
                </a:rPr>
                <a:t xml:space="preserve"> · 3 座城市 · 3 任校长</a:t>
              </a:r>
            </a:p>
          </p:txBody>
        </p:sp>
      </p:grpSp>
      <p:grpSp>
        <p:nvGrpSpPr>
          <p:cNvPr id="18" name="cover-credit"/>
          <p:cNvGrpSpPr/>
          <p:nvPr/>
        </p:nvGrpSpPr>
        <p:grpSpPr>
          <a:xfrm>
            <a:off x="6091047" y="6400800"/>
            <a:ext cx="3826621" cy="191643"/>
            <a:chOff x="6091047" y="6400800"/>
            <a:chExt cx="3826621" cy="191643"/>
          </a:xfrm>
        </p:grpSpPr>
        <p:sp>
          <p:nvSpPr>
            <p:cNvPr id="17" name="TextBox 17"/>
            <p:cNvSpPr txBox="1"/>
            <p:nvPr/>
          </p:nvSpPr>
          <p:spPr>
            <a:xfrm>
              <a:off x="6091047" y="6400800"/>
              <a:ext cx="3826621"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德绍校舍 · 图 © JensKunstfreund / Wikimedia / CC BY-SA 4.0</a:t>
              </a:r>
            </a:p>
          </p:txBody>
        </p:sp>
      </p:grpSp>
    </p:spTree>
  </p:cSld>
  <p:clrMapOvr>
    <a:masterClrMapping/>
  </p:clrMapOvr>
  <p:transition p14:dur="400">
    <p:fade/>
  </p:transition>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3" name="manifesto-woodcut"/>
          <p:cNvGrpSpPr/>
          <p:nvPr/>
        </p:nvGrpSpPr>
        <p:grpSpPr>
          <a:xfrm>
            <a:off x="914400" y="612162"/>
            <a:ext cx="3752850" cy="5633676"/>
            <a:chOff x="914400" y="612162"/>
            <a:chExt cx="3752850" cy="5633676"/>
          </a:xfrm>
        </p:grpSpPr>
        <p:pic>
          <p:nvPicPr>
            <p:cNvPr id="2" name="Image 2"/>
            <p:cNvPicPr>
              <a:picLocks noChangeAspect="1"/>
            </p:cNvPicPr>
            <p:nvPr/>
          </p:nvPicPr>
          <p:blipFill>
            <a:blip r:embed="rId2"/>
            <a:stretch>
              <a:fillRect/>
            </a:stretch>
          </p:blipFill>
          <p:spPr>
            <a:xfrm>
              <a:off x="914400" y="612162"/>
              <a:ext cx="3752850" cy="5633676"/>
            </a:xfrm>
            <a:prstGeom prst="rect">
              <a:avLst/>
            </a:prstGeom>
          </p:spPr>
        </p:pic>
      </p:grpSp>
      <p:grpSp>
        <p:nvGrpSpPr>
          <p:cNvPr id="6" name="header"/>
          <p:cNvGrpSpPr/>
          <p:nvPr/>
        </p:nvGrpSpPr>
        <p:grpSpPr>
          <a:xfrm>
            <a:off x="5318760" y="869950"/>
            <a:ext cx="3261360" cy="929640"/>
            <a:chOff x="5318760" y="869950"/>
            <a:chExt cx="3261360" cy="929640"/>
          </a:xfrm>
        </p:grpSpPr>
        <p:sp>
          <p:nvSpPr>
            <p:cNvPr id="4" name="TextBox 4"/>
            <p:cNvSpPr txBox="1"/>
            <p:nvPr/>
          </p:nvSpPr>
          <p:spPr>
            <a:xfrm>
              <a:off x="5328285" y="869950"/>
              <a:ext cx="2199747"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01 · 起点 · WEIMAR 1919</a:t>
              </a:r>
            </a:p>
          </p:txBody>
        </p:sp>
        <p:sp>
          <p:nvSpPr>
            <p:cNvPr id="5" name="TextBox 5"/>
            <p:cNvSpPr txBox="1"/>
            <p:nvPr/>
          </p:nvSpPr>
          <p:spPr>
            <a:xfrm>
              <a:off x="5318760" y="1212850"/>
              <a:ext cx="32613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一切从一句话开始</a:t>
              </a:r>
            </a:p>
          </p:txBody>
        </p:sp>
      </p:grpSp>
      <p:grpSp>
        <p:nvGrpSpPr>
          <p:cNvPr id="10" name="manifesto-quote"/>
          <p:cNvGrpSpPr/>
          <p:nvPr/>
        </p:nvGrpSpPr>
        <p:grpSpPr>
          <a:xfrm>
            <a:off x="5321046" y="2197100"/>
            <a:ext cx="4109996" cy="1295146"/>
            <a:chOff x="5321046" y="2197100"/>
            <a:chExt cx="4109996" cy="1295146"/>
          </a:xfrm>
        </p:grpSpPr>
        <p:sp>
          <p:nvSpPr>
            <p:cNvPr id="7" name="TextBox 7"/>
            <p:cNvSpPr txBox="1"/>
            <p:nvPr/>
          </p:nvSpPr>
          <p:spPr>
            <a:xfrm>
              <a:off x="5321046" y="2197100"/>
              <a:ext cx="2764384"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Cambria"/>
                  <a:ea typeface="SimSun"/>
                  <a:cs typeface="Cambria"/>
                </a:rPr>
                <a:t>“一切造型活动的</a:t>
              </a:r>
            </a:p>
          </p:txBody>
        </p:sp>
        <p:sp>
          <p:nvSpPr>
            <p:cNvPr id="8" name="TextBox 8"/>
            <p:cNvSpPr txBox="1"/>
            <p:nvPr/>
          </p:nvSpPr>
          <p:spPr>
            <a:xfrm>
              <a:off x="5321046" y="2692400"/>
              <a:ext cx="3127096" cy="498729"/>
            </a:xfrm>
            <a:prstGeom prst="rect">
              <a:avLst/>
            </a:prstGeom>
            <a:noFill/>
            <a:ln>
              <a:noFill/>
            </a:ln>
          </p:spPr>
          <p:txBody>
            <a:bodyPr wrap="none" lIns="0" tIns="0" rIns="0" bIns="0" anchor="t" anchorCtr="0">
              <a:spAutoFit/>
            </a:bodyPr>
            <a:lstStyle/>
            <a:p>
              <a:pPr algn="l"/>
              <a:r>
                <a:rPr lang="zh-CN" sz="2550" dirty="0">
                  <a:solidFill>
                    <a:schemeClr val="accent1"/>
                  </a:solidFill>
                  <a:latin typeface="Cambria"/>
                  <a:ea typeface="SimSun"/>
                  <a:cs typeface="Cambria"/>
                </a:rPr>
                <a:t>最终目标是</a:t>
              </a:r>
              <a:r>
                <a:rPr lang="zh-CN" sz="2550" dirty="0">
                  <a:solidFill>
                    <a:schemeClr val="accent2"/>
                  </a:solidFill>
                  <a:latin typeface="Cambria"/>
                  <a:ea typeface="SimSun"/>
                  <a:cs typeface="Cambria"/>
                </a:rPr>
                <a:t>建筑</a:t>
              </a:r>
              <a:r>
                <a:rPr lang="zh-CN" sz="2550" dirty="0">
                  <a:solidFill>
                    <a:schemeClr val="accent1"/>
                  </a:solidFill>
                  <a:latin typeface="Cambria"/>
                  <a:ea typeface="SimSun"/>
                  <a:cs typeface="Cambria"/>
                </a:rPr>
                <a:t>！”</a:t>
              </a:r>
            </a:p>
          </p:txBody>
        </p:sp>
        <p:sp>
          <p:nvSpPr>
            <p:cNvPr id="9" name="TextBox 9"/>
            <p:cNvSpPr txBox="1"/>
            <p:nvPr/>
          </p:nvSpPr>
          <p:spPr>
            <a:xfrm>
              <a:off x="5327904" y="3257550"/>
              <a:ext cx="4103138" cy="234696"/>
            </a:xfrm>
            <a:prstGeom prst="rect">
              <a:avLst/>
            </a:prstGeom>
            <a:noFill/>
            <a:ln>
              <a:noFill/>
            </a:ln>
          </p:spPr>
          <p:txBody>
            <a:bodyPr wrap="none" lIns="0" tIns="0" rIns="0" bIns="0" anchor="t" anchorCtr="0">
              <a:spAutoFit/>
            </a:bodyPr>
            <a:lstStyle/>
            <a:p>
              <a:pPr algn="l"/>
              <a:r>
                <a:rPr lang="en-US" sz="1200" i="1" dirty="0">
                  <a:solidFill>
                    <a:schemeClr val="accent5"/>
                  </a:solidFill>
                  <a:latin typeface="+mn-lt"/>
                  <a:ea typeface="+mn-ea"/>
                  <a:cs typeface="+mn-cs"/>
                </a:rPr>
                <a:t>Das Endziel aller bildnerischen Tätigkeit ist der Bau!</a:t>
              </a:r>
            </a:p>
          </p:txBody>
        </p:sp>
      </p:grpSp>
      <p:grpSp>
        <p:nvGrpSpPr>
          <p:cNvPr id="12" name="!!motif-seal"/>
          <p:cNvGrpSpPr/>
          <p:nvPr/>
        </p:nvGrpSpPr>
        <p:grpSpPr>
          <a:xfrm>
            <a:off x="10591800" y="2171700"/>
            <a:ext cx="838200" cy="838200"/>
            <a:chOff x="10591800" y="2171700"/>
            <a:chExt cx="838200" cy="838200"/>
          </a:xfrm>
        </p:grpSpPr>
        <p:sp>
          <p:nvSpPr>
            <p:cNvPr id="11" name="Ellipse 11"/>
            <p:cNvSpPr/>
            <p:nvPr/>
          </p:nvSpPr>
          <p:spPr>
            <a:xfrm>
              <a:off x="10591800" y="2171700"/>
              <a:ext cx="838200" cy="838200"/>
            </a:xfrm>
            <a:prstGeom prst="ellipse">
              <a:avLst/>
            </a:prstGeom>
            <a:solidFill>
              <a:schemeClr val="accent2"/>
            </a:solidFill>
            <a:ln>
              <a:noFill/>
            </a:ln>
          </p:spPr>
        </p:sp>
      </p:grpSp>
      <p:grpSp>
        <p:nvGrpSpPr>
          <p:cNvPr id="16" name="fact-merger"/>
          <p:cNvGrpSpPr/>
          <p:nvPr/>
        </p:nvGrpSpPr>
        <p:grpSpPr>
          <a:xfrm>
            <a:off x="5325618" y="3810000"/>
            <a:ext cx="6256782" cy="1043432"/>
            <a:chOff x="5325618" y="3810000"/>
            <a:chExt cx="6256782" cy="1043432"/>
          </a:xfrm>
        </p:grpSpPr>
        <p:sp>
          <p:nvSpPr>
            <p:cNvPr id="13" name="Line 13"/>
            <p:cNvSpPr/>
            <p:nvPr/>
          </p:nvSpPr>
          <p:spPr>
            <a:xfrm>
              <a:off x="5334000" y="3810000"/>
              <a:ext cx="6248400" cy="9525"/>
            </a:xfrm>
            <a:custGeom>
              <a:avLst/>
              <a:gdLst/>
              <a:ahLst/>
              <a:cxnLst/>
              <a:rect l="l" t="t" r="r" b="b"/>
              <a:pathLst>
                <a:path w="6248400" h="9525">
                  <a:moveTo>
                    <a:pt x="0" y="0"/>
                  </a:moveTo>
                  <a:lnTo>
                    <a:pt x="6248400" y="0"/>
                  </a:lnTo>
                </a:path>
              </a:pathLst>
            </a:custGeom>
            <a:noFill/>
            <a:ln w="19050">
              <a:solidFill>
                <a:schemeClr val="accent1"/>
              </a:solidFill>
            </a:ln>
          </p:spPr>
        </p:sp>
        <p:sp>
          <p:nvSpPr>
            <p:cNvPr id="14" name="TextBox 14"/>
            <p:cNvSpPr txBox="1"/>
            <p:nvPr/>
          </p:nvSpPr>
          <p:spPr>
            <a:xfrm>
              <a:off x="5328285" y="3994150"/>
              <a:ext cx="1432790"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合并 · 1919.4.1</a:t>
              </a:r>
            </a:p>
          </p:txBody>
        </p:sp>
        <p:sp>
          <p:nvSpPr>
            <p:cNvPr id="15" name="TextBox 15"/>
            <p:cNvSpPr txBox="1"/>
            <p:nvPr/>
          </p:nvSpPr>
          <p:spPr>
            <a:xfrm>
              <a:off x="5325618" y="4216400"/>
              <a:ext cx="4207764"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格罗皮乌斯在魏玛合并萨克森大公美术学院与</a:t>
              </a:r>
              <a:br>
                <a:rPr lang="zh-CN" sz="1650" dirty="0">
                  <a:solidFill>
                    <a:schemeClr val="dk1"/>
                  </a:solidFill>
                  <a:latin typeface="+mn-lt"/>
                  <a:ea typeface="+mn-ea"/>
                  <a:cs typeface="+mn-cs"/>
                </a:rPr>
              </a:br>
              <a:r>
                <a:rPr lang="zh-CN" sz="1650" dirty="0">
                  <a:solidFill>
                    <a:schemeClr val="dk1"/>
                  </a:solidFill>
                  <a:latin typeface="+mn-lt"/>
                  <a:ea typeface="+mn-ea"/>
                  <a:cs typeface="+mn-cs"/>
                </a:rPr>
                <a:t>工艺美术学校，创办</a:t>
              </a:r>
              <a:r>
                <a:rPr lang="zh-CN" sz="1650" b="1" dirty="0">
                  <a:solidFill>
                    <a:schemeClr val="accent1"/>
                  </a:solidFill>
                  <a:latin typeface="+mn-lt"/>
                  <a:ea typeface="+mn-ea"/>
                  <a:cs typeface="+mn-cs"/>
                </a:rPr>
                <a:t>国立包豪斯</a:t>
              </a:r>
              <a:r>
                <a:rPr lang="zh-CN" sz="1650" dirty="0">
                  <a:solidFill>
                    <a:schemeClr val="dk1"/>
                  </a:solidFill>
                  <a:latin typeface="+mn-lt"/>
                  <a:ea typeface="+mn-ea"/>
                  <a:cs typeface="+mn-cs"/>
                </a:rPr>
                <a:t>。</a:t>
              </a:r>
            </a:p>
          </p:txBody>
        </p:sp>
      </p:grpSp>
      <p:grpSp>
        <p:nvGrpSpPr>
          <p:cNvPr id="20" name="fact-cover"/>
          <p:cNvGrpSpPr/>
          <p:nvPr/>
        </p:nvGrpSpPr>
        <p:grpSpPr>
          <a:xfrm>
            <a:off x="5325618" y="4972050"/>
            <a:ext cx="6256782" cy="1024382"/>
            <a:chOff x="5325618" y="4972050"/>
            <a:chExt cx="6256782" cy="1024382"/>
          </a:xfrm>
        </p:grpSpPr>
        <p:sp>
          <p:nvSpPr>
            <p:cNvPr id="17" name="Line 17"/>
            <p:cNvSpPr/>
            <p:nvPr/>
          </p:nvSpPr>
          <p:spPr>
            <a:xfrm>
              <a:off x="5334000" y="4972050"/>
              <a:ext cx="6248400" cy="9525"/>
            </a:xfrm>
            <a:custGeom>
              <a:avLst/>
              <a:gdLst/>
              <a:ahLst/>
              <a:cxnLst/>
              <a:rect l="l" t="t" r="r" b="b"/>
              <a:pathLst>
                <a:path w="6248400" h="9525">
                  <a:moveTo>
                    <a:pt x="0" y="0"/>
                  </a:moveTo>
                  <a:lnTo>
                    <a:pt x="6248400" y="0"/>
                  </a:lnTo>
                </a:path>
              </a:pathLst>
            </a:custGeom>
            <a:noFill/>
            <a:ln w="9525">
              <a:solidFill>
                <a:schemeClr val="accent6"/>
              </a:solidFill>
            </a:ln>
          </p:spPr>
        </p:sp>
        <p:sp>
          <p:nvSpPr>
            <p:cNvPr id="18" name="TextBox 18"/>
            <p:cNvSpPr txBox="1"/>
            <p:nvPr/>
          </p:nvSpPr>
          <p:spPr>
            <a:xfrm>
              <a:off x="5328285" y="5137150"/>
              <a:ext cx="675107"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宣言封面</a:t>
              </a:r>
            </a:p>
          </p:txBody>
        </p:sp>
        <p:sp>
          <p:nvSpPr>
            <p:cNvPr id="19" name="TextBox 19"/>
            <p:cNvSpPr txBox="1"/>
            <p:nvPr/>
          </p:nvSpPr>
          <p:spPr>
            <a:xfrm>
              <a:off x="5325618" y="5359400"/>
              <a:ext cx="3369564"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费宁格的立体主义木刻《大教堂》，</a:t>
              </a:r>
              <a:br>
                <a:rPr lang="zh-CN" sz="1650" dirty="0">
                  <a:solidFill>
                    <a:schemeClr val="dk1"/>
                  </a:solidFill>
                  <a:latin typeface="+mn-lt"/>
                  <a:ea typeface="+mn-ea"/>
                  <a:cs typeface="+mn-cs"/>
                </a:rPr>
              </a:br>
              <a:r>
                <a:rPr lang="zh-CN" sz="1650" dirty="0">
                  <a:solidFill>
                    <a:schemeClr val="dk1"/>
                  </a:solidFill>
                  <a:latin typeface="+mn-lt"/>
                  <a:ea typeface="+mn-ea"/>
                  <a:cs typeface="+mn-cs"/>
                </a:rPr>
                <a:t>最初题为《社会主义大教堂》。</a:t>
              </a:r>
            </a:p>
          </p:txBody>
        </p:sp>
      </p:grpSp>
      <p:grpSp>
        <p:nvGrpSpPr>
          <p:cNvPr id="23" name="credit"/>
          <p:cNvGrpSpPr/>
          <p:nvPr/>
        </p:nvGrpSpPr>
        <p:grpSpPr>
          <a:xfrm>
            <a:off x="909447" y="6400800"/>
            <a:ext cx="4249322" cy="344043"/>
            <a:chOff x="909447" y="6400800"/>
            <a:chExt cx="4249322" cy="344043"/>
          </a:xfrm>
        </p:grpSpPr>
        <p:sp>
          <p:nvSpPr>
            <p:cNvPr id="21" name="TextBox 21"/>
            <p:cNvSpPr txBox="1"/>
            <p:nvPr/>
          </p:nvSpPr>
          <p:spPr>
            <a:xfrm>
              <a:off x="909447" y="6400800"/>
              <a:ext cx="2976152"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图 © Francesco Bini / Wikimedia / CC BY-SA 4.0</a:t>
              </a:r>
            </a:p>
          </p:txBody>
        </p:sp>
        <p:sp>
          <p:nvSpPr>
            <p:cNvPr id="22" name="TextBox 22"/>
            <p:cNvSpPr txBox="1"/>
            <p:nvPr/>
          </p:nvSpPr>
          <p:spPr>
            <a:xfrm>
              <a:off x="909447" y="6553200"/>
              <a:ext cx="4249322"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来源：Wikipedia「Bauhaus」· German History in Documents · MoMA</a:t>
              </a:r>
            </a:p>
          </p:txBody>
        </p:sp>
      </p:grpSp>
      <p:sp>
        <p:nvSpPr>
          <p:cNvPr id="24" name="TextBox 24"/>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02</a:t>
            </a:r>
          </a:p>
        </p:txBody>
      </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774700"/>
            <a:ext cx="7900416" cy="1213231"/>
            <a:chOff x="594360" y="774700"/>
            <a:chExt cx="7900416" cy="1213231"/>
          </a:xfrm>
        </p:grpSpPr>
        <p:sp>
          <p:nvSpPr>
            <p:cNvPr id="2" name="TextBox 2"/>
            <p:cNvSpPr txBox="1"/>
            <p:nvPr/>
          </p:nvSpPr>
          <p:spPr>
            <a:xfrm>
              <a:off x="603885" y="774700"/>
              <a:ext cx="3627831"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02 · 时间线 · WEIMAR — DESSAU — BERLIN</a:t>
              </a:r>
            </a:p>
          </p:txBody>
        </p:sp>
        <p:sp>
          <p:nvSpPr>
            <p:cNvPr id="3" name="TextBox 3"/>
            <p:cNvSpPr txBox="1"/>
            <p:nvPr/>
          </p:nvSpPr>
          <p:spPr>
            <a:xfrm>
              <a:off x="594360" y="1060450"/>
              <a:ext cx="32613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三座城市，十四年</a:t>
              </a:r>
            </a:p>
          </p:txBody>
        </p:sp>
        <p:sp>
          <p:nvSpPr>
            <p:cNvPr id="4" name="TextBox 4"/>
            <p:cNvSpPr txBox="1"/>
            <p:nvPr/>
          </p:nvSpPr>
          <p:spPr>
            <a:xfrm>
              <a:off x="599694" y="1606550"/>
              <a:ext cx="7895082"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每一次搬迁都伴随着政治压力；校长的更替与城市的更替并不同步。</a:t>
              </a:r>
            </a:p>
          </p:txBody>
        </p:sp>
      </p:grpSp>
      <p:grpSp>
        <p:nvGrpSpPr>
          <p:cNvPr id="44" name="phases-timeline"/>
          <p:cNvGrpSpPr/>
          <p:nvPr/>
        </p:nvGrpSpPr>
        <p:grpSpPr>
          <a:xfrm>
            <a:off x="603504" y="2286000"/>
            <a:ext cx="10857891" cy="2034921"/>
            <a:chOff x="603504" y="2286000"/>
            <a:chExt cx="10857891" cy="2034921"/>
          </a:xfrm>
        </p:grpSpPr>
        <p:grpSp>
          <p:nvGrpSpPr>
            <p:cNvPr id="43" name="phases-timeline-chartArea"/>
            <p:cNvGrpSpPr/>
            <p:nvPr/>
          </p:nvGrpSpPr>
          <p:grpSpPr>
            <a:xfrm>
              <a:off x="603504" y="2286000"/>
              <a:ext cx="10857891" cy="2034921"/>
              <a:chOff x="603504" y="2286000"/>
              <a:chExt cx="10857891" cy="2034921"/>
            </a:xfrm>
          </p:grpSpPr>
          <p:grpSp>
            <p:nvGrpSpPr>
              <p:cNvPr id="22" name="phases-timeline-axis"/>
              <p:cNvGrpSpPr/>
              <p:nvPr/>
            </p:nvGrpSpPr>
            <p:grpSpPr>
              <a:xfrm>
                <a:off x="1492606" y="2286000"/>
                <a:ext cx="9968789" cy="295275"/>
                <a:chOff x="1492606" y="2286000"/>
                <a:chExt cx="9968789" cy="295275"/>
              </a:xfrm>
            </p:grpSpPr>
            <p:sp>
              <p:nvSpPr>
                <p:cNvPr id="6" name="Line 6"/>
                <p:cNvSpPr/>
                <p:nvPr/>
              </p:nvSpPr>
              <p:spPr>
                <a:xfrm>
                  <a:off x="1676400" y="2571750"/>
                  <a:ext cx="9601200" cy="9525"/>
                </a:xfrm>
                <a:custGeom>
                  <a:avLst/>
                  <a:gdLst/>
                  <a:ahLst/>
                  <a:cxnLst/>
                  <a:rect l="l" t="t" r="r" b="b"/>
                  <a:pathLst>
                    <a:path w="9601200" h="9525">
                      <a:moveTo>
                        <a:pt x="0" y="0"/>
                      </a:moveTo>
                      <a:lnTo>
                        <a:pt x="9601200" y="0"/>
                      </a:lnTo>
                    </a:path>
                  </a:pathLst>
                </a:custGeom>
                <a:noFill/>
                <a:ln w="19050">
                  <a:solidFill>
                    <a:schemeClr val="accent1"/>
                  </a:solidFill>
                </a:ln>
              </p:spPr>
            </p:sp>
            <p:sp>
              <p:nvSpPr>
                <p:cNvPr id="7" name="TextBox 7"/>
                <p:cNvSpPr txBox="1"/>
                <p:nvPr/>
              </p:nvSpPr>
              <p:spPr>
                <a:xfrm>
                  <a:off x="14926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1919</a:t>
                  </a:r>
                </a:p>
              </p:txBody>
            </p:sp>
            <p:sp>
              <p:nvSpPr>
                <p:cNvPr id="8" name="TextBox 8"/>
                <p:cNvSpPr txBox="1"/>
                <p:nvPr/>
              </p:nvSpPr>
              <p:spPr>
                <a:xfrm>
                  <a:off x="21784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1920</a:t>
                  </a:r>
                </a:p>
              </p:txBody>
            </p:sp>
            <p:sp>
              <p:nvSpPr>
                <p:cNvPr id="9" name="TextBox 9"/>
                <p:cNvSpPr txBox="1"/>
                <p:nvPr/>
              </p:nvSpPr>
              <p:spPr>
                <a:xfrm>
                  <a:off x="28642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1921</a:t>
                  </a:r>
                </a:p>
              </p:txBody>
            </p:sp>
            <p:sp>
              <p:nvSpPr>
                <p:cNvPr id="10" name="TextBox 10"/>
                <p:cNvSpPr txBox="1"/>
                <p:nvPr/>
              </p:nvSpPr>
              <p:spPr>
                <a:xfrm>
                  <a:off x="35500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1922</a:t>
                  </a:r>
                </a:p>
              </p:txBody>
            </p:sp>
            <p:sp>
              <p:nvSpPr>
                <p:cNvPr id="11" name="TextBox 11"/>
                <p:cNvSpPr txBox="1"/>
                <p:nvPr/>
              </p:nvSpPr>
              <p:spPr>
                <a:xfrm>
                  <a:off x="42358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1923</a:t>
                  </a:r>
                </a:p>
              </p:txBody>
            </p:sp>
            <p:sp>
              <p:nvSpPr>
                <p:cNvPr id="12" name="TextBox 12"/>
                <p:cNvSpPr txBox="1"/>
                <p:nvPr/>
              </p:nvSpPr>
              <p:spPr>
                <a:xfrm>
                  <a:off x="49216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1924</a:t>
                  </a:r>
                </a:p>
              </p:txBody>
            </p:sp>
            <p:sp>
              <p:nvSpPr>
                <p:cNvPr id="13" name="TextBox 13"/>
                <p:cNvSpPr txBox="1"/>
                <p:nvPr/>
              </p:nvSpPr>
              <p:spPr>
                <a:xfrm>
                  <a:off x="56074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1925</a:t>
                  </a:r>
                </a:p>
              </p:txBody>
            </p:sp>
            <p:sp>
              <p:nvSpPr>
                <p:cNvPr id="14" name="TextBox 14"/>
                <p:cNvSpPr txBox="1"/>
                <p:nvPr/>
              </p:nvSpPr>
              <p:spPr>
                <a:xfrm>
                  <a:off x="62932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1926</a:t>
                  </a:r>
                </a:p>
              </p:txBody>
            </p:sp>
            <p:sp>
              <p:nvSpPr>
                <p:cNvPr id="15" name="TextBox 15"/>
                <p:cNvSpPr txBox="1"/>
                <p:nvPr/>
              </p:nvSpPr>
              <p:spPr>
                <a:xfrm>
                  <a:off x="69790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1927</a:t>
                  </a:r>
                </a:p>
              </p:txBody>
            </p:sp>
            <p:sp>
              <p:nvSpPr>
                <p:cNvPr id="16" name="TextBox 16"/>
                <p:cNvSpPr txBox="1"/>
                <p:nvPr/>
              </p:nvSpPr>
              <p:spPr>
                <a:xfrm>
                  <a:off x="76648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1928</a:t>
                  </a:r>
                </a:p>
              </p:txBody>
            </p:sp>
            <p:sp>
              <p:nvSpPr>
                <p:cNvPr id="17" name="TextBox 17"/>
                <p:cNvSpPr txBox="1"/>
                <p:nvPr/>
              </p:nvSpPr>
              <p:spPr>
                <a:xfrm>
                  <a:off x="83506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1929</a:t>
                  </a:r>
                </a:p>
              </p:txBody>
            </p:sp>
            <p:sp>
              <p:nvSpPr>
                <p:cNvPr id="18" name="TextBox 18"/>
                <p:cNvSpPr txBox="1"/>
                <p:nvPr/>
              </p:nvSpPr>
              <p:spPr>
                <a:xfrm>
                  <a:off x="90364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1930</a:t>
                  </a:r>
                </a:p>
              </p:txBody>
            </p:sp>
            <p:sp>
              <p:nvSpPr>
                <p:cNvPr id="19" name="TextBox 19"/>
                <p:cNvSpPr txBox="1"/>
                <p:nvPr/>
              </p:nvSpPr>
              <p:spPr>
                <a:xfrm>
                  <a:off x="97222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1931</a:t>
                  </a:r>
                </a:p>
              </p:txBody>
            </p:sp>
            <p:sp>
              <p:nvSpPr>
                <p:cNvPr id="20" name="TextBox 20"/>
                <p:cNvSpPr txBox="1"/>
                <p:nvPr/>
              </p:nvSpPr>
              <p:spPr>
                <a:xfrm>
                  <a:off x="104080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1932</a:t>
                  </a:r>
                </a:p>
              </p:txBody>
            </p:sp>
            <p:sp>
              <p:nvSpPr>
                <p:cNvPr id="21" name="TextBox 21"/>
                <p:cNvSpPr txBox="1"/>
                <p:nvPr/>
              </p:nvSpPr>
              <p:spPr>
                <a:xfrm>
                  <a:off x="11093806" y="228600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1933</a:t>
                  </a:r>
                </a:p>
              </p:txBody>
            </p:sp>
          </p:grpSp>
          <p:grpSp>
            <p:nvGrpSpPr>
              <p:cNvPr id="25" name="phases-timeline-rows"/>
              <p:cNvGrpSpPr/>
              <p:nvPr/>
            </p:nvGrpSpPr>
            <p:grpSpPr>
              <a:xfrm>
                <a:off x="603504" y="2952750"/>
                <a:ext cx="335280" cy="1244346"/>
                <a:chOff x="603504" y="2952750"/>
                <a:chExt cx="335280" cy="1244346"/>
              </a:xfrm>
            </p:grpSpPr>
            <p:sp>
              <p:nvSpPr>
                <p:cNvPr id="23" name="TextBox 23"/>
                <p:cNvSpPr txBox="1"/>
                <p:nvPr/>
              </p:nvSpPr>
              <p:spPr>
                <a:xfrm>
                  <a:off x="603504" y="2952750"/>
                  <a:ext cx="33528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城市</a:t>
                  </a:r>
                </a:p>
              </p:txBody>
            </p:sp>
            <p:sp>
              <p:nvSpPr>
                <p:cNvPr id="24" name="TextBox 24"/>
                <p:cNvSpPr txBox="1"/>
                <p:nvPr/>
              </p:nvSpPr>
              <p:spPr>
                <a:xfrm>
                  <a:off x="603504" y="3962400"/>
                  <a:ext cx="33528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校长</a:t>
                  </a:r>
                </a:p>
              </p:txBody>
            </p:sp>
          </p:grpSp>
          <p:grpSp>
            <p:nvGrpSpPr>
              <p:cNvPr id="34" name="phases-timeline-cities"/>
              <p:cNvGrpSpPr/>
              <p:nvPr/>
            </p:nvGrpSpPr>
            <p:grpSpPr>
              <a:xfrm>
                <a:off x="1676400" y="2762250"/>
                <a:ext cx="9601200" cy="571500"/>
                <a:chOff x="1676400" y="2762250"/>
                <a:chExt cx="9601200" cy="571500"/>
              </a:xfrm>
            </p:grpSpPr>
            <p:sp>
              <p:nvSpPr>
                <p:cNvPr id="26" name="Rectangle 26"/>
                <p:cNvSpPr/>
                <p:nvPr/>
              </p:nvSpPr>
              <p:spPr>
                <a:xfrm>
                  <a:off x="1676400" y="2762250"/>
                  <a:ext cx="4095750" cy="571500"/>
                </a:xfrm>
                <a:prstGeom prst="rect">
                  <a:avLst/>
                </a:prstGeom>
                <a:solidFill>
                  <a:schemeClr val="accent1"/>
                </a:solidFill>
                <a:ln>
                  <a:noFill/>
                </a:ln>
              </p:spPr>
            </p:sp>
            <p:sp>
              <p:nvSpPr>
                <p:cNvPr id="27" name="Ellipse 27"/>
                <p:cNvSpPr/>
                <p:nvPr/>
              </p:nvSpPr>
              <p:spPr>
                <a:xfrm>
                  <a:off x="1828800" y="2971800"/>
                  <a:ext cx="152400" cy="152400"/>
                </a:xfrm>
                <a:prstGeom prst="ellipse">
                  <a:avLst/>
                </a:prstGeom>
                <a:solidFill>
                  <a:schemeClr val="lt1"/>
                </a:solidFill>
                <a:ln>
                  <a:noFill/>
                </a:ln>
              </p:spPr>
            </p:sp>
            <p:sp>
              <p:nvSpPr>
                <p:cNvPr id="28" name="TextBox 28"/>
                <p:cNvSpPr txBox="1"/>
                <p:nvPr/>
              </p:nvSpPr>
              <p:spPr>
                <a:xfrm>
                  <a:off x="2068068" y="2921000"/>
                  <a:ext cx="1685463" cy="322707"/>
                </a:xfrm>
                <a:prstGeom prst="rect">
                  <a:avLst/>
                </a:prstGeom>
                <a:noFill/>
                <a:ln>
                  <a:noFill/>
                </a:ln>
              </p:spPr>
              <p:txBody>
                <a:bodyPr wrap="none" lIns="0" tIns="0" rIns="0" bIns="0" anchor="t" anchorCtr="0">
                  <a:spAutoFit/>
                </a:bodyPr>
                <a:lstStyle/>
                <a:p>
                  <a:pPr algn="l"/>
                  <a:r>
                    <a:rPr lang="zh-CN" sz="1650" b="1" dirty="0">
                      <a:solidFill>
                        <a:srgbClr val="F2EEE5"/>
                      </a:solidFill>
                      <a:latin typeface="+mn-lt"/>
                      <a:ea typeface="+mn-ea"/>
                      <a:cs typeface="+mn-cs"/>
                    </a:rPr>
                    <a:t>魏玛 1919–1925</a:t>
                  </a:r>
                </a:p>
              </p:txBody>
            </p:sp>
            <p:sp>
              <p:nvSpPr>
                <p:cNvPr id="29" name="Rectangle 29"/>
                <p:cNvSpPr/>
                <p:nvPr/>
              </p:nvSpPr>
              <p:spPr>
                <a:xfrm>
                  <a:off x="5810250" y="2762250"/>
                  <a:ext cx="4762500" cy="571500"/>
                </a:xfrm>
                <a:prstGeom prst="rect">
                  <a:avLst/>
                </a:prstGeom>
                <a:solidFill>
                  <a:schemeClr val="accent1"/>
                </a:solidFill>
                <a:ln>
                  <a:noFill/>
                </a:ln>
              </p:spPr>
            </p:sp>
            <p:sp>
              <p:nvSpPr>
                <p:cNvPr id="30" name="Rectangle 30"/>
                <p:cNvSpPr/>
                <p:nvPr/>
              </p:nvSpPr>
              <p:spPr>
                <a:xfrm>
                  <a:off x="5962650" y="2971800"/>
                  <a:ext cx="152400" cy="152400"/>
                </a:xfrm>
                <a:prstGeom prst="rect">
                  <a:avLst/>
                </a:prstGeom>
                <a:solidFill>
                  <a:schemeClr val="lt1"/>
                </a:solidFill>
                <a:ln>
                  <a:noFill/>
                </a:ln>
              </p:spPr>
            </p:sp>
            <p:sp>
              <p:nvSpPr>
                <p:cNvPr id="31" name="TextBox 31"/>
                <p:cNvSpPr txBox="1"/>
                <p:nvPr/>
              </p:nvSpPr>
              <p:spPr>
                <a:xfrm>
                  <a:off x="6201918" y="2921000"/>
                  <a:ext cx="1685463" cy="322707"/>
                </a:xfrm>
                <a:prstGeom prst="rect">
                  <a:avLst/>
                </a:prstGeom>
                <a:noFill/>
                <a:ln>
                  <a:noFill/>
                </a:ln>
              </p:spPr>
              <p:txBody>
                <a:bodyPr wrap="none" lIns="0" tIns="0" rIns="0" bIns="0" anchor="t" anchorCtr="0">
                  <a:spAutoFit/>
                </a:bodyPr>
                <a:lstStyle/>
                <a:p>
                  <a:pPr algn="l"/>
                  <a:r>
                    <a:rPr lang="zh-CN" sz="1650" b="1" dirty="0">
                      <a:solidFill>
                        <a:srgbClr val="F2EEE5"/>
                      </a:solidFill>
                      <a:latin typeface="+mn-lt"/>
                      <a:ea typeface="+mn-ea"/>
                      <a:cs typeface="+mn-cs"/>
                    </a:rPr>
                    <a:t>德绍 1925–1932</a:t>
                  </a:r>
                </a:p>
              </p:txBody>
            </p:sp>
            <p:sp>
              <p:nvSpPr>
                <p:cNvPr id="32" name="Rectangle 32"/>
                <p:cNvSpPr/>
                <p:nvPr/>
              </p:nvSpPr>
              <p:spPr>
                <a:xfrm>
                  <a:off x="10610850" y="2762250"/>
                  <a:ext cx="666750" cy="571500"/>
                </a:xfrm>
                <a:prstGeom prst="rect">
                  <a:avLst/>
                </a:prstGeom>
                <a:solidFill>
                  <a:schemeClr val="accent2"/>
                </a:solidFill>
                <a:ln>
                  <a:noFill/>
                </a:ln>
              </p:spPr>
            </p:sp>
            <p:sp>
              <p:nvSpPr>
                <p:cNvPr id="33" name="TextBox 33"/>
                <p:cNvSpPr txBox="1"/>
                <p:nvPr/>
              </p:nvSpPr>
              <p:spPr>
                <a:xfrm>
                  <a:off x="10713720" y="2921000"/>
                  <a:ext cx="461010" cy="322707"/>
                </a:xfrm>
                <a:prstGeom prst="rect">
                  <a:avLst/>
                </a:prstGeom>
                <a:noFill/>
                <a:ln>
                  <a:noFill/>
                </a:ln>
              </p:spPr>
              <p:txBody>
                <a:bodyPr wrap="none" lIns="0" tIns="0" rIns="0" bIns="0" anchor="t" anchorCtr="0">
                  <a:spAutoFit/>
                </a:bodyPr>
                <a:lstStyle/>
                <a:p>
                  <a:pPr algn="ctr"/>
                  <a:r>
                    <a:rPr lang="zh-CN" sz="1650" b="1" dirty="0">
                      <a:solidFill>
                        <a:srgbClr val="F2EEE5"/>
                      </a:solidFill>
                      <a:latin typeface="+mn-lt"/>
                      <a:ea typeface="+mn-ea"/>
                      <a:cs typeface="+mn-cs"/>
                    </a:rPr>
                    <a:t>柏林</a:t>
                  </a:r>
                </a:p>
              </p:txBody>
            </p:sp>
          </p:grpSp>
          <p:grpSp>
            <p:nvGrpSpPr>
              <p:cNvPr id="42" name="phases-timeline-directors"/>
              <p:cNvGrpSpPr/>
              <p:nvPr/>
            </p:nvGrpSpPr>
            <p:grpSpPr>
              <a:xfrm>
                <a:off x="1676400" y="3810000"/>
                <a:ext cx="9601200" cy="510921"/>
                <a:chOff x="1676400" y="3810000"/>
                <a:chExt cx="9601200" cy="510921"/>
              </a:xfrm>
            </p:grpSpPr>
            <p:sp>
              <p:nvSpPr>
                <p:cNvPr id="35" name="Rectangle 35"/>
                <p:cNvSpPr/>
                <p:nvPr/>
              </p:nvSpPr>
              <p:spPr>
                <a:xfrm>
                  <a:off x="1676400" y="3810000"/>
                  <a:ext cx="6153150" cy="495300"/>
                </a:xfrm>
                <a:prstGeom prst="rect">
                  <a:avLst/>
                </a:prstGeom>
                <a:solidFill>
                  <a:schemeClr val="lt2"/>
                </a:solidFill>
                <a:ln>
                  <a:noFill/>
                </a:ln>
              </p:spPr>
            </p:sp>
            <p:sp>
              <p:nvSpPr>
                <p:cNvPr id="36" name="TextBox 36"/>
                <p:cNvSpPr txBox="1"/>
                <p:nvPr/>
              </p:nvSpPr>
              <p:spPr>
                <a:xfrm>
                  <a:off x="1858518" y="3930650"/>
                  <a:ext cx="229352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格罗皮乌斯</a:t>
                  </a:r>
                  <a:r>
                    <a:rPr lang="zh-CN" sz="1650" dirty="0">
                      <a:solidFill>
                        <a:schemeClr val="accent1"/>
                      </a:solidFill>
                      <a:latin typeface="+mn-lt"/>
                      <a:ea typeface="+mn-ea"/>
                      <a:cs typeface="+mn-cs"/>
                    </a:rPr>
                    <a:t xml:space="preserve"> 1919–1928</a:t>
                  </a:r>
                </a:p>
              </p:txBody>
            </p:sp>
            <p:sp>
              <p:nvSpPr>
                <p:cNvPr id="37" name="Rectangle 37"/>
                <p:cNvSpPr/>
                <p:nvPr/>
              </p:nvSpPr>
              <p:spPr>
                <a:xfrm>
                  <a:off x="7867650" y="3810000"/>
                  <a:ext cx="1333500" cy="495300"/>
                </a:xfrm>
                <a:prstGeom prst="rect">
                  <a:avLst/>
                </a:prstGeom>
                <a:solidFill>
                  <a:schemeClr val="lt2"/>
                </a:solidFill>
                <a:ln>
                  <a:noFill/>
                </a:ln>
              </p:spPr>
            </p:sp>
            <p:sp>
              <p:nvSpPr>
                <p:cNvPr id="38" name="TextBox 38"/>
                <p:cNvSpPr txBox="1"/>
                <p:nvPr/>
              </p:nvSpPr>
              <p:spPr>
                <a:xfrm>
                  <a:off x="8303895" y="3835400"/>
                  <a:ext cx="461010" cy="322707"/>
                </a:xfrm>
                <a:prstGeom prst="rect">
                  <a:avLst/>
                </a:prstGeom>
                <a:noFill/>
                <a:ln>
                  <a:noFill/>
                </a:ln>
              </p:spPr>
              <p:txBody>
                <a:bodyPr wrap="none" lIns="0" tIns="0" rIns="0" bIns="0" anchor="t" anchorCtr="0">
                  <a:spAutoFit/>
                </a:bodyPr>
                <a:lstStyle/>
                <a:p>
                  <a:pPr algn="ctr"/>
                  <a:r>
                    <a:rPr lang="zh-CN" sz="1650" b="1" dirty="0">
                      <a:solidFill>
                        <a:schemeClr val="accent1"/>
                      </a:solidFill>
                      <a:latin typeface="+mn-lt"/>
                      <a:ea typeface="+mn-ea"/>
                      <a:cs typeface="+mn-cs"/>
                    </a:rPr>
                    <a:t>迈耶</a:t>
                  </a:r>
                </a:p>
              </p:txBody>
            </p:sp>
            <p:sp>
              <p:nvSpPr>
                <p:cNvPr id="39" name="TextBox 39"/>
                <p:cNvSpPr txBox="1"/>
                <p:nvPr/>
              </p:nvSpPr>
              <p:spPr>
                <a:xfrm>
                  <a:off x="8128483" y="4086225"/>
                  <a:ext cx="811835"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1928–1930</a:t>
                  </a:r>
                </a:p>
              </p:txBody>
            </p:sp>
            <p:sp>
              <p:nvSpPr>
                <p:cNvPr id="40" name="Rectangle 40"/>
                <p:cNvSpPr/>
                <p:nvPr/>
              </p:nvSpPr>
              <p:spPr>
                <a:xfrm>
                  <a:off x="9239250" y="3810000"/>
                  <a:ext cx="2038350" cy="495300"/>
                </a:xfrm>
                <a:prstGeom prst="rect">
                  <a:avLst/>
                </a:prstGeom>
                <a:solidFill>
                  <a:schemeClr val="lt2"/>
                </a:solidFill>
                <a:ln>
                  <a:noFill/>
                </a:ln>
              </p:spPr>
            </p:sp>
            <p:sp>
              <p:nvSpPr>
                <p:cNvPr id="41" name="TextBox 41"/>
                <p:cNvSpPr txBox="1"/>
                <p:nvPr/>
              </p:nvSpPr>
              <p:spPr>
                <a:xfrm>
                  <a:off x="9444847" y="3930650"/>
                  <a:ext cx="1627156" cy="322707"/>
                </a:xfrm>
                <a:prstGeom prst="rect">
                  <a:avLst/>
                </a:prstGeom>
                <a:noFill/>
                <a:ln>
                  <a:noFill/>
                </a:ln>
              </p:spPr>
              <p:txBody>
                <a:bodyPr wrap="none" lIns="0" tIns="0" rIns="0" bIns="0" anchor="t" anchorCtr="0">
                  <a:spAutoFit/>
                </a:bodyPr>
                <a:lstStyle/>
                <a:p>
                  <a:pPr algn="ctr"/>
                  <a:r>
                    <a:rPr lang="zh-CN" sz="1650" b="1" dirty="0">
                      <a:solidFill>
                        <a:schemeClr val="accent1"/>
                      </a:solidFill>
                      <a:latin typeface="+mn-lt"/>
                      <a:ea typeface="+mn-ea"/>
                      <a:cs typeface="+mn-cs"/>
                    </a:rPr>
                    <a:t>密斯</a:t>
                  </a:r>
                  <a:r>
                    <a:rPr lang="zh-CN" sz="1650" dirty="0">
                      <a:solidFill>
                        <a:schemeClr val="accent1"/>
                      </a:solidFill>
                      <a:latin typeface="+mn-lt"/>
                      <a:ea typeface="+mn-ea"/>
                      <a:cs typeface="+mn-cs"/>
                    </a:rPr>
                    <a:t xml:space="preserve"> 1930–1933</a:t>
                  </a:r>
                </a:p>
              </p:txBody>
            </p:sp>
          </p:grpSp>
        </p:grpSp>
      </p:grpSp>
      <p:grpSp>
        <p:nvGrpSpPr>
          <p:cNvPr id="52" name="events"/>
          <p:cNvGrpSpPr/>
          <p:nvPr/>
        </p:nvGrpSpPr>
        <p:grpSpPr>
          <a:xfrm>
            <a:off x="5791200" y="4400550"/>
            <a:ext cx="5492496" cy="1453896"/>
            <a:chOff x="5791200" y="4400550"/>
            <a:chExt cx="5492496" cy="1453896"/>
          </a:xfrm>
        </p:grpSpPr>
        <p:grpSp>
          <p:nvGrpSpPr>
            <p:cNvPr id="48" name="Group 48"/>
            <p:cNvGrpSpPr/>
            <p:nvPr/>
          </p:nvGrpSpPr>
          <p:grpSpPr>
            <a:xfrm>
              <a:off x="5791200" y="4400550"/>
              <a:ext cx="4810125" cy="1200150"/>
              <a:chOff x="5791200" y="4400550"/>
              <a:chExt cx="4810125" cy="1200150"/>
            </a:xfrm>
          </p:grpSpPr>
          <p:sp>
            <p:nvSpPr>
              <p:cNvPr id="45" name="Line 45"/>
              <p:cNvSpPr/>
              <p:nvPr/>
            </p:nvSpPr>
            <p:spPr>
              <a:xfrm>
                <a:off x="5791200" y="4400550"/>
                <a:ext cx="9525" cy="819150"/>
              </a:xfrm>
              <a:custGeom>
                <a:avLst/>
                <a:gdLst/>
                <a:ahLst/>
                <a:cxnLst/>
                <a:rect l="l" t="t" r="r" b="b"/>
                <a:pathLst>
                  <a:path w="9525" h="819150">
                    <a:moveTo>
                      <a:pt x="0" y="0"/>
                    </a:moveTo>
                    <a:lnTo>
                      <a:pt x="0" y="819150"/>
                    </a:lnTo>
                  </a:path>
                </a:pathLst>
              </a:custGeom>
              <a:noFill/>
              <a:ln w="9525">
                <a:solidFill>
                  <a:schemeClr val="accent6"/>
                </a:solidFill>
                <a:prstDash val="dash"/>
              </a:ln>
            </p:spPr>
          </p:sp>
          <p:sp>
            <p:nvSpPr>
              <p:cNvPr id="46" name="Line 46"/>
              <p:cNvSpPr/>
              <p:nvPr/>
            </p:nvSpPr>
            <p:spPr>
              <a:xfrm>
                <a:off x="9220200" y="4400550"/>
                <a:ext cx="9525" cy="1200150"/>
              </a:xfrm>
              <a:custGeom>
                <a:avLst/>
                <a:gdLst/>
                <a:ahLst/>
                <a:cxnLst/>
                <a:rect l="l" t="t" r="r" b="b"/>
                <a:pathLst>
                  <a:path w="9525" h="1200150">
                    <a:moveTo>
                      <a:pt x="0" y="0"/>
                    </a:moveTo>
                    <a:lnTo>
                      <a:pt x="0" y="1200150"/>
                    </a:lnTo>
                  </a:path>
                </a:pathLst>
              </a:custGeom>
              <a:noFill/>
              <a:ln w="9525">
                <a:solidFill>
                  <a:schemeClr val="accent6"/>
                </a:solidFill>
                <a:prstDash val="dash"/>
              </a:ln>
            </p:spPr>
          </p:sp>
          <p:sp>
            <p:nvSpPr>
              <p:cNvPr id="47" name="Line 47"/>
              <p:cNvSpPr/>
              <p:nvPr/>
            </p:nvSpPr>
            <p:spPr>
              <a:xfrm>
                <a:off x="10591800" y="4400550"/>
                <a:ext cx="9525" cy="819150"/>
              </a:xfrm>
              <a:custGeom>
                <a:avLst/>
                <a:gdLst/>
                <a:ahLst/>
                <a:cxnLst/>
                <a:rect l="l" t="t" r="r" b="b"/>
                <a:pathLst>
                  <a:path w="9525" h="819150">
                    <a:moveTo>
                      <a:pt x="0" y="0"/>
                    </a:moveTo>
                    <a:lnTo>
                      <a:pt x="0" y="819150"/>
                    </a:lnTo>
                  </a:path>
                </a:pathLst>
              </a:custGeom>
              <a:noFill/>
              <a:ln w="9525">
                <a:solidFill>
                  <a:schemeClr val="accent6"/>
                </a:solidFill>
                <a:prstDash val="dash"/>
              </a:ln>
            </p:spPr>
          </p:sp>
        </p:grpSp>
        <p:sp>
          <p:nvSpPr>
            <p:cNvPr id="49" name="TextBox 49"/>
            <p:cNvSpPr txBox="1"/>
            <p:nvPr/>
          </p:nvSpPr>
          <p:spPr>
            <a:xfrm>
              <a:off x="5899404" y="5238750"/>
              <a:ext cx="2348118" cy="234696"/>
            </a:xfrm>
            <a:prstGeom prst="rect">
              <a:avLst/>
            </a:prstGeom>
            <a:noFill/>
            <a:ln>
              <a:noFill/>
            </a:ln>
          </p:spPr>
          <p:txBody>
            <a:bodyPr wrap="none" lIns="0" tIns="0" rIns="0" bIns="0" anchor="t" anchorCtr="0">
              <a:spAutoFit/>
            </a:bodyPr>
            <a:lstStyle/>
            <a:p>
              <a:pPr algn="l"/>
              <a:r>
                <a:rPr lang="zh-CN" sz="1200" b="1" dirty="0">
                  <a:solidFill>
                    <a:schemeClr val="dk1"/>
                  </a:solidFill>
                  <a:latin typeface="+mn-lt"/>
                  <a:ea typeface="+mn-ea"/>
                  <a:cs typeface="+mn-cs"/>
                </a:rPr>
                <a:t>1925</a:t>
              </a:r>
              <a:r>
                <a:rPr lang="zh-CN" sz="1200" dirty="0">
                  <a:solidFill>
                    <a:schemeClr val="dk1"/>
                  </a:solidFill>
                  <a:latin typeface="+mn-lt"/>
                  <a:ea typeface="+mn-ea"/>
                  <a:cs typeface="+mn-cs"/>
                </a:rPr>
                <a:t xml:space="preserve"> · 地方政治变化，迁往德绍</a:t>
              </a:r>
            </a:p>
          </p:txBody>
        </p:sp>
        <p:sp>
          <p:nvSpPr>
            <p:cNvPr id="50" name="TextBox 50"/>
            <p:cNvSpPr txBox="1"/>
            <p:nvPr/>
          </p:nvSpPr>
          <p:spPr>
            <a:xfrm>
              <a:off x="7086966" y="5619750"/>
              <a:ext cx="2025030" cy="234696"/>
            </a:xfrm>
            <a:prstGeom prst="rect">
              <a:avLst/>
            </a:prstGeom>
            <a:noFill/>
            <a:ln>
              <a:noFill/>
            </a:ln>
          </p:spPr>
          <p:txBody>
            <a:bodyPr wrap="none" lIns="0" tIns="0" rIns="0" bIns="0" anchor="t" anchorCtr="0">
              <a:spAutoFit/>
            </a:bodyPr>
            <a:lstStyle/>
            <a:p>
              <a:pPr algn="r"/>
              <a:r>
                <a:rPr lang="zh-CN" sz="1200" b="1" dirty="0">
                  <a:solidFill>
                    <a:schemeClr val="dk1"/>
                  </a:solidFill>
                  <a:latin typeface="+mn-lt"/>
                  <a:ea typeface="+mn-ea"/>
                  <a:cs typeface="+mn-cs"/>
                </a:rPr>
                <a:t>1930</a:t>
              </a:r>
              <a:r>
                <a:rPr lang="zh-CN" sz="1200" dirty="0">
                  <a:solidFill>
                    <a:schemeClr val="dk1"/>
                  </a:solidFill>
                  <a:latin typeface="+mn-lt"/>
                  <a:ea typeface="+mn-ea"/>
                  <a:cs typeface="+mn-cs"/>
                </a:rPr>
                <a:t xml:space="preserve"> · 迈耶被德绍市长解聘</a:t>
              </a:r>
            </a:p>
          </p:txBody>
        </p:sp>
        <p:sp>
          <p:nvSpPr>
            <p:cNvPr id="51" name="TextBox 51"/>
            <p:cNvSpPr txBox="1"/>
            <p:nvPr/>
          </p:nvSpPr>
          <p:spPr>
            <a:xfrm>
              <a:off x="8289402" y="5238750"/>
              <a:ext cx="2994294" cy="234696"/>
            </a:xfrm>
            <a:prstGeom prst="rect">
              <a:avLst/>
            </a:prstGeom>
            <a:noFill/>
            <a:ln>
              <a:noFill/>
            </a:ln>
          </p:spPr>
          <p:txBody>
            <a:bodyPr wrap="none" lIns="0" tIns="0" rIns="0" bIns="0" anchor="t" anchorCtr="0">
              <a:spAutoFit/>
            </a:bodyPr>
            <a:lstStyle/>
            <a:p>
              <a:pPr algn="r"/>
              <a:r>
                <a:rPr lang="zh-CN" sz="1200" b="1" dirty="0">
                  <a:solidFill>
                    <a:schemeClr val="accent2"/>
                  </a:solidFill>
                  <a:latin typeface="+mn-lt"/>
                  <a:ea typeface="+mn-ea"/>
                  <a:cs typeface="+mn-cs"/>
                </a:rPr>
                <a:t>1932</a:t>
              </a:r>
              <a:r>
                <a:rPr lang="zh-CN" sz="1200" dirty="0">
                  <a:solidFill>
                    <a:schemeClr val="dk1"/>
                  </a:solidFill>
                  <a:latin typeface="+mn-lt"/>
                  <a:ea typeface="+mn-ea"/>
                  <a:cs typeface="+mn-cs"/>
                </a:rPr>
                <a:t xml:space="preserve"> · 纳粹党接管安哈尔特州，德绍关闭</a:t>
              </a:r>
            </a:p>
          </p:txBody>
        </p:sp>
      </p:grpSp>
      <p:grpSp>
        <p:nvGrpSpPr>
          <p:cNvPr id="54" name="sources"/>
          <p:cNvGrpSpPr/>
          <p:nvPr/>
        </p:nvGrpSpPr>
        <p:grpSpPr>
          <a:xfrm>
            <a:off x="604647" y="6438900"/>
            <a:ext cx="5638141" cy="191643"/>
            <a:chOff x="604647" y="6438900"/>
            <a:chExt cx="5638141" cy="191643"/>
          </a:xfrm>
        </p:grpSpPr>
        <p:sp>
          <p:nvSpPr>
            <p:cNvPr id="53" name="TextBox 53"/>
            <p:cNvSpPr txBox="1"/>
            <p:nvPr/>
          </p:nvSpPr>
          <p:spPr>
            <a:xfrm>
              <a:off x="604647" y="6438900"/>
              <a:ext cx="5638141"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来源：Wikipedia「Bauhaus」「包豪斯」「Ludwig Mies van der Rohe」 · 年份按整年刻度绘制</a:t>
              </a:r>
            </a:p>
          </p:txBody>
        </p:sp>
      </p:grpSp>
      <p:sp>
        <p:nvSpPr>
          <p:cNvPr id="55" name="TextBox 55"/>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03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right)">
                                      <p:cBhvr>
                                        <p:cTn id="7" dur="1000"/>
                                        <p:tgtEl>
                                          <p:spTgt spid="44"/>
                                        </p:tgtEl>
                                      </p:cBhvr>
                                    </p:animEffect>
                                  </p:childTnLst>
                                </p:cTn>
                              </p:par>
                            </p:childTnLst>
                          </p:cTn>
                        </p:par>
                        <p:par>
                          <p:cTn id="8" fill="hold">
                            <p:stCondLst>
                              <p:cond delay="10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5" name="curriculum-rings"/>
          <p:cNvGrpSpPr/>
          <p:nvPr/>
        </p:nvGrpSpPr>
        <p:grpSpPr>
          <a:xfrm>
            <a:off x="1143000" y="1333500"/>
            <a:ext cx="4953000" cy="4953000"/>
            <a:chOff x="1143000" y="1333500"/>
            <a:chExt cx="4953000" cy="4953000"/>
          </a:xfrm>
        </p:grpSpPr>
        <p:sp>
          <p:nvSpPr>
            <p:cNvPr id="2" name="Ellipse 2"/>
            <p:cNvSpPr/>
            <p:nvPr/>
          </p:nvSpPr>
          <p:spPr>
            <a:xfrm>
              <a:off x="1143000" y="1333500"/>
              <a:ext cx="4953000" cy="4953000"/>
            </a:xfrm>
            <a:prstGeom prst="ellipse">
              <a:avLst/>
            </a:prstGeom>
            <a:solidFill>
              <a:schemeClr val="lt2"/>
            </a:solidFill>
            <a:ln>
              <a:noFill/>
            </a:ln>
          </p:spPr>
        </p:sp>
        <p:sp>
          <p:nvSpPr>
            <p:cNvPr id="3" name="Ellipse 3"/>
            <p:cNvSpPr/>
            <p:nvPr/>
          </p:nvSpPr>
          <p:spPr>
            <a:xfrm>
              <a:off x="2019300" y="2209800"/>
              <a:ext cx="3200400" cy="3200400"/>
            </a:xfrm>
            <a:prstGeom prst="ellipse">
              <a:avLst/>
            </a:prstGeom>
            <a:solidFill>
              <a:schemeClr val="lt1"/>
            </a:solidFill>
            <a:ln w="14288">
              <a:solidFill>
                <a:schemeClr val="accent1"/>
              </a:solidFill>
            </a:ln>
          </p:spPr>
        </p:sp>
        <p:sp>
          <p:nvSpPr>
            <p:cNvPr id="4" name="Ellipse 4"/>
            <p:cNvSpPr/>
            <p:nvPr/>
          </p:nvSpPr>
          <p:spPr>
            <a:xfrm>
              <a:off x="2876550" y="3067050"/>
              <a:ext cx="1485900" cy="1485900"/>
            </a:xfrm>
            <a:prstGeom prst="ellipse">
              <a:avLst/>
            </a:prstGeom>
            <a:solidFill>
              <a:schemeClr val="accent2"/>
            </a:solidFill>
            <a:ln>
              <a:noFill/>
            </a:ln>
          </p:spPr>
        </p:sp>
        <p:grpSp>
          <p:nvGrpSpPr>
            <p:cNvPr id="14" name="Group 14"/>
            <p:cNvGrpSpPr/>
            <p:nvPr/>
          </p:nvGrpSpPr>
          <p:grpSpPr>
            <a:xfrm>
              <a:off x="2389708" y="1606550"/>
              <a:ext cx="2459584" cy="4305046"/>
              <a:chOff x="2389708" y="1606550"/>
              <a:chExt cx="2459584" cy="4305046"/>
            </a:xfrm>
          </p:grpSpPr>
          <p:sp>
            <p:nvSpPr>
              <p:cNvPr id="5" name="TextBox 5"/>
              <p:cNvSpPr txBox="1"/>
              <p:nvPr/>
            </p:nvSpPr>
            <p:spPr>
              <a:xfrm>
                <a:off x="3166872" y="1606550"/>
                <a:ext cx="905256" cy="322707"/>
              </a:xfrm>
              <a:prstGeom prst="rect">
                <a:avLst/>
              </a:prstGeom>
              <a:noFill/>
              <a:ln>
                <a:noFill/>
              </a:ln>
            </p:spPr>
            <p:txBody>
              <a:bodyPr wrap="none" lIns="0" tIns="0" rIns="0" bIns="0" anchor="t" anchorCtr="0">
                <a:spAutoFit/>
              </a:bodyPr>
              <a:lstStyle/>
              <a:p>
                <a:pPr algn="ctr"/>
                <a:r>
                  <a:rPr lang="zh-CN" sz="1650" b="1" dirty="0">
                    <a:solidFill>
                      <a:schemeClr val="accent1"/>
                    </a:solidFill>
                    <a:latin typeface="+mn-lt"/>
                    <a:ea typeface="+mn-ea"/>
                    <a:cs typeface="+mn-cs"/>
                  </a:rPr>
                  <a:t>预备课程</a:t>
                </a:r>
              </a:p>
            </p:txBody>
          </p:sp>
          <p:sp>
            <p:nvSpPr>
              <p:cNvPr id="6" name="TextBox 6"/>
              <p:cNvSpPr txBox="1"/>
              <p:nvPr/>
            </p:nvSpPr>
            <p:spPr>
              <a:xfrm>
                <a:off x="2883190" y="1885950"/>
                <a:ext cx="147261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Vorkurs · 人人必修</a:t>
                </a:r>
              </a:p>
            </p:txBody>
          </p:sp>
          <p:sp>
            <p:nvSpPr>
              <p:cNvPr id="7" name="TextBox 7"/>
              <p:cNvSpPr txBox="1"/>
              <p:nvPr/>
            </p:nvSpPr>
            <p:spPr>
              <a:xfrm>
                <a:off x="2389708" y="5448300"/>
                <a:ext cx="2459584"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自然与材料研究 · 色彩与形式理论</a:t>
                </a:r>
              </a:p>
            </p:txBody>
          </p:sp>
          <p:sp>
            <p:nvSpPr>
              <p:cNvPr id="8" name="TextBox 8"/>
              <p:cNvSpPr txBox="1"/>
              <p:nvPr/>
            </p:nvSpPr>
            <p:spPr>
              <a:xfrm>
                <a:off x="2874340" y="5676900"/>
                <a:ext cx="1490320"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古代大师分析 · 写生</a:t>
                </a:r>
              </a:p>
            </p:txBody>
          </p:sp>
          <p:sp>
            <p:nvSpPr>
              <p:cNvPr id="9" name="TextBox 9"/>
              <p:cNvSpPr txBox="1"/>
              <p:nvPr/>
            </p:nvSpPr>
            <p:spPr>
              <a:xfrm>
                <a:off x="3388995" y="2463800"/>
                <a:ext cx="461010" cy="322707"/>
              </a:xfrm>
              <a:prstGeom prst="rect">
                <a:avLst/>
              </a:prstGeom>
              <a:noFill/>
              <a:ln>
                <a:noFill/>
              </a:ln>
            </p:spPr>
            <p:txBody>
              <a:bodyPr wrap="none" lIns="0" tIns="0" rIns="0" bIns="0" anchor="t" anchorCtr="0">
                <a:spAutoFit/>
              </a:bodyPr>
              <a:lstStyle/>
              <a:p>
                <a:pPr algn="ctr"/>
                <a:r>
                  <a:rPr lang="zh-CN" sz="1650" b="1" dirty="0">
                    <a:solidFill>
                      <a:schemeClr val="accent1"/>
                    </a:solidFill>
                    <a:latin typeface="+mn-lt"/>
                    <a:ea typeface="+mn-ea"/>
                    <a:cs typeface="+mn-cs"/>
                  </a:rPr>
                  <a:t>工坊</a:t>
                </a:r>
              </a:p>
            </p:txBody>
          </p:sp>
          <p:sp>
            <p:nvSpPr>
              <p:cNvPr id="10" name="TextBox 10"/>
              <p:cNvSpPr txBox="1"/>
              <p:nvPr/>
            </p:nvSpPr>
            <p:spPr>
              <a:xfrm>
                <a:off x="3371088" y="2743200"/>
                <a:ext cx="496824"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主课程</a:t>
                </a:r>
              </a:p>
            </p:txBody>
          </p:sp>
          <p:sp>
            <p:nvSpPr>
              <p:cNvPr id="11" name="TextBox 11"/>
              <p:cNvSpPr txBox="1"/>
              <p:nvPr/>
            </p:nvSpPr>
            <p:spPr>
              <a:xfrm>
                <a:off x="2886456" y="4838700"/>
                <a:ext cx="1466088" cy="234696"/>
              </a:xfrm>
              <a:prstGeom prst="rect">
                <a:avLst/>
              </a:prstGeom>
              <a:noFill/>
              <a:ln>
                <a:noFill/>
              </a:ln>
            </p:spPr>
            <p:txBody>
              <a:bodyPr wrap="none" lIns="0" tIns="0" rIns="0" bIns="0" anchor="t" anchorCtr="0">
                <a:spAutoFit/>
              </a:bodyPr>
              <a:lstStyle/>
              <a:p>
                <a:pPr algn="ctr"/>
                <a:r>
                  <a:rPr lang="zh-CN" sz="1200" dirty="0">
                    <a:solidFill>
                      <a:schemeClr val="dk1"/>
                    </a:solidFill>
                    <a:latin typeface="+mn-lt"/>
                    <a:ea typeface="+mn-ea"/>
                    <a:cs typeface="+mn-cs"/>
                  </a:rPr>
                  <a:t>通过预备课程后选择</a:t>
                </a:r>
              </a:p>
            </p:txBody>
          </p:sp>
          <p:sp>
            <p:nvSpPr>
              <p:cNvPr id="12" name="TextBox 12"/>
              <p:cNvSpPr txBox="1"/>
              <p:nvPr/>
            </p:nvSpPr>
            <p:spPr>
              <a:xfrm>
                <a:off x="3326130" y="3651250"/>
                <a:ext cx="586740" cy="410718"/>
              </a:xfrm>
              <a:prstGeom prst="rect">
                <a:avLst/>
              </a:prstGeom>
              <a:noFill/>
              <a:ln>
                <a:noFill/>
              </a:ln>
            </p:spPr>
            <p:txBody>
              <a:bodyPr wrap="none" lIns="0" tIns="0" rIns="0" bIns="0" anchor="t" anchorCtr="0">
                <a:spAutoFit/>
              </a:bodyPr>
              <a:lstStyle/>
              <a:p>
                <a:pPr algn="ctr"/>
                <a:r>
                  <a:rPr lang="zh-CN" sz="2100" b="1" dirty="0">
                    <a:solidFill>
                      <a:srgbClr val="F2EEE5"/>
                    </a:solidFill>
                    <a:latin typeface="+mn-lt"/>
                    <a:ea typeface="+mn-ea"/>
                    <a:cs typeface="+mn-cs"/>
                  </a:rPr>
                  <a:t>建筑</a:t>
                </a:r>
              </a:p>
            </p:txBody>
          </p:sp>
          <p:sp>
            <p:nvSpPr>
              <p:cNvPr id="13" name="TextBox 13"/>
              <p:cNvSpPr txBox="1"/>
              <p:nvPr/>
            </p:nvSpPr>
            <p:spPr>
              <a:xfrm>
                <a:off x="3477616" y="4000500"/>
                <a:ext cx="283769" cy="234696"/>
              </a:xfrm>
              <a:prstGeom prst="rect">
                <a:avLst/>
              </a:prstGeom>
              <a:noFill/>
              <a:ln>
                <a:noFill/>
              </a:ln>
            </p:spPr>
            <p:txBody>
              <a:bodyPr wrap="none" lIns="0" tIns="0" rIns="0" bIns="0" anchor="t" anchorCtr="0">
                <a:spAutoFit/>
              </a:bodyPr>
              <a:lstStyle/>
              <a:p>
                <a:pPr algn="ctr"/>
                <a:r>
                  <a:rPr lang="en-US" sz="1200" dirty="0">
                    <a:solidFill>
                      <a:srgbClr val="F2EEE5"/>
                    </a:solidFill>
                    <a:latin typeface="+mn-lt"/>
                    <a:ea typeface="+mn-ea"/>
                    <a:cs typeface="+mn-cs"/>
                  </a:rPr>
                  <a:t>Bau</a:t>
                </a:r>
              </a:p>
            </p:txBody>
          </p:sp>
        </p:grpSp>
      </p:grpSp>
      <p:grpSp>
        <p:nvGrpSpPr>
          <p:cNvPr id="19" name="header"/>
          <p:cNvGrpSpPr/>
          <p:nvPr/>
        </p:nvGrpSpPr>
        <p:grpSpPr>
          <a:xfrm>
            <a:off x="6842760" y="774700"/>
            <a:ext cx="3261360" cy="1487932"/>
            <a:chOff x="6842760" y="774700"/>
            <a:chExt cx="3261360" cy="1487932"/>
          </a:xfrm>
        </p:grpSpPr>
        <p:sp>
          <p:nvSpPr>
            <p:cNvPr id="16" name="TextBox 16"/>
            <p:cNvSpPr txBox="1"/>
            <p:nvPr/>
          </p:nvSpPr>
          <p:spPr>
            <a:xfrm>
              <a:off x="6852285" y="774700"/>
              <a:ext cx="1811716"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03 · 方法 · VORKURS</a:t>
              </a:r>
            </a:p>
          </p:txBody>
        </p:sp>
        <p:sp>
          <p:nvSpPr>
            <p:cNvPr id="17" name="TextBox 17"/>
            <p:cNvSpPr txBox="1"/>
            <p:nvPr/>
          </p:nvSpPr>
          <p:spPr>
            <a:xfrm>
              <a:off x="6842760" y="1060450"/>
              <a:ext cx="32613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先上同一门基础课</a:t>
              </a:r>
            </a:p>
          </p:txBody>
        </p:sp>
        <p:sp>
          <p:nvSpPr>
            <p:cNvPr id="18" name="TextBox 18"/>
            <p:cNvSpPr txBox="1"/>
            <p:nvPr/>
          </p:nvSpPr>
          <p:spPr>
            <a:xfrm>
              <a:off x="6849618" y="1625600"/>
              <a:ext cx="2740914"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学生必须先</a:t>
              </a:r>
              <a:r>
                <a:rPr lang="zh-CN" sz="1650" b="1" dirty="0">
                  <a:solidFill>
                    <a:schemeClr val="accent1"/>
                  </a:solidFill>
                  <a:latin typeface="+mn-lt"/>
                  <a:ea typeface="+mn-ea"/>
                  <a:cs typeface="+mn-cs"/>
                </a:rPr>
                <a:t>通过预备课程</a:t>
              </a:r>
              <a:r>
                <a:rPr lang="zh-CN" sz="1650" dirty="0">
                  <a:solidFill>
                    <a:schemeClr val="dk1"/>
                  </a:solidFill>
                  <a:latin typeface="+mn-lt"/>
                  <a:ea typeface="+mn-ea"/>
                  <a:cs typeface="+mn-cs"/>
                </a:rPr>
                <a:t>，</a:t>
              </a:r>
              <a:br>
                <a:rPr lang="zh-CN" sz="1650" dirty="0">
                  <a:solidFill>
                    <a:schemeClr val="dk1"/>
                  </a:solidFill>
                  <a:latin typeface="+mn-lt"/>
                  <a:ea typeface="+mn-ea"/>
                  <a:cs typeface="+mn-cs"/>
                </a:rPr>
              </a:br>
              <a:r>
                <a:rPr lang="zh-CN" sz="1650" dirty="0">
                  <a:solidFill>
                    <a:schemeClr val="dk1"/>
                  </a:solidFill>
                  <a:latin typeface="+mn-lt"/>
                  <a:ea typeface="+mn-ea"/>
                  <a:cs typeface="+mn-cs"/>
                </a:rPr>
                <a:t>才能选择工坊、进入主课程。</a:t>
              </a:r>
            </a:p>
          </p:txBody>
        </p:sp>
      </p:grpSp>
      <p:grpSp>
        <p:nvGrpSpPr>
          <p:cNvPr id="30" name="course-sequence"/>
          <p:cNvGrpSpPr/>
          <p:nvPr/>
        </p:nvGrpSpPr>
        <p:grpSpPr>
          <a:xfrm>
            <a:off x="6915150" y="2635250"/>
            <a:ext cx="3114294" cy="2666746"/>
            <a:chOff x="6915150" y="2635250"/>
            <a:chExt cx="3114294" cy="2666746"/>
          </a:xfrm>
        </p:grpSpPr>
        <p:sp>
          <p:nvSpPr>
            <p:cNvPr id="20" name="Line 20"/>
            <p:cNvSpPr/>
            <p:nvPr/>
          </p:nvSpPr>
          <p:spPr>
            <a:xfrm>
              <a:off x="7010400" y="2762250"/>
              <a:ext cx="9525" cy="2114550"/>
            </a:xfrm>
            <a:custGeom>
              <a:avLst/>
              <a:gdLst/>
              <a:ahLst/>
              <a:cxnLst/>
              <a:rect l="l" t="t" r="r" b="b"/>
              <a:pathLst>
                <a:path w="9525" h="2114550">
                  <a:moveTo>
                    <a:pt x="0" y="0"/>
                  </a:moveTo>
                  <a:lnTo>
                    <a:pt x="0" y="2114550"/>
                  </a:lnTo>
                </a:path>
              </a:pathLst>
            </a:custGeom>
            <a:noFill/>
            <a:ln w="19050">
              <a:solidFill>
                <a:schemeClr val="accent1"/>
              </a:solidFill>
            </a:ln>
          </p:spPr>
        </p:sp>
        <p:sp>
          <p:nvSpPr>
            <p:cNvPr id="21" name="Ellipse 21"/>
            <p:cNvSpPr/>
            <p:nvPr/>
          </p:nvSpPr>
          <p:spPr>
            <a:xfrm>
              <a:off x="6915150" y="2667000"/>
              <a:ext cx="190500" cy="190500"/>
            </a:xfrm>
            <a:prstGeom prst="ellipse">
              <a:avLst/>
            </a:prstGeom>
            <a:solidFill>
              <a:schemeClr val="accent1"/>
            </a:solidFill>
            <a:ln>
              <a:noFill/>
            </a:ln>
          </p:spPr>
        </p:sp>
        <p:sp>
          <p:nvSpPr>
            <p:cNvPr id="22" name="Ellipse 22"/>
            <p:cNvSpPr/>
            <p:nvPr/>
          </p:nvSpPr>
          <p:spPr>
            <a:xfrm>
              <a:off x="6915150" y="3714750"/>
              <a:ext cx="190500" cy="190500"/>
            </a:xfrm>
            <a:prstGeom prst="ellipse">
              <a:avLst/>
            </a:prstGeom>
            <a:solidFill>
              <a:schemeClr val="accent1"/>
            </a:solidFill>
            <a:ln>
              <a:noFill/>
            </a:ln>
          </p:spPr>
        </p:sp>
        <p:sp>
          <p:nvSpPr>
            <p:cNvPr id="23" name="Ellipse 23"/>
            <p:cNvSpPr/>
            <p:nvPr/>
          </p:nvSpPr>
          <p:spPr>
            <a:xfrm>
              <a:off x="6915150" y="4781550"/>
              <a:ext cx="190500" cy="190500"/>
            </a:xfrm>
            <a:prstGeom prst="ellipse">
              <a:avLst/>
            </a:prstGeom>
            <a:solidFill>
              <a:schemeClr val="accent2"/>
            </a:solidFill>
            <a:ln>
              <a:noFill/>
            </a:ln>
          </p:spPr>
        </p:sp>
        <p:sp>
          <p:nvSpPr>
            <p:cNvPr id="24" name="TextBox 24"/>
            <p:cNvSpPr txBox="1"/>
            <p:nvPr/>
          </p:nvSpPr>
          <p:spPr>
            <a:xfrm>
              <a:off x="7268718" y="2635250"/>
              <a:ext cx="188370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伊顿 · 1919–1923</a:t>
              </a:r>
            </a:p>
          </p:txBody>
        </p:sp>
        <p:sp>
          <p:nvSpPr>
            <p:cNvPr id="25" name="TextBox 25"/>
            <p:cNvSpPr txBox="1"/>
            <p:nvPr/>
          </p:nvSpPr>
          <p:spPr>
            <a:xfrm>
              <a:off x="7271004" y="2927350"/>
              <a:ext cx="2450592" cy="463296"/>
            </a:xfrm>
            <a:prstGeom prst="rect">
              <a:avLst/>
            </a:prstGeom>
            <a:noFill/>
            <a:ln>
              <a:noFill/>
            </a:ln>
          </p:spPr>
          <p:txBody>
            <a:bodyPr wrap="none" lIns="0" tIns="0" rIns="0" bIns="0" anchor="t" anchorCtr="0">
              <a:spAutoFit/>
            </a:bodyPr>
            <a:lstStyle/>
            <a:p>
              <a:pPr algn="l">
                <a:lnSpc>
                  <a:spcPts val="1800"/>
                </a:lnSpc>
              </a:pPr>
              <a:r>
                <a:rPr lang="zh-CN" sz="1200" dirty="0">
                  <a:solidFill>
                    <a:schemeClr val="dk1"/>
                  </a:solidFill>
                  <a:latin typeface="+mn-lt"/>
                  <a:ea typeface="+mn-ea"/>
                  <a:cs typeface="+mn-cs"/>
                </a:rPr>
                <a:t>自然与材料研究、色彩与形式理论、</a:t>
              </a:r>
              <a:br>
                <a:rPr lang="zh-CN" sz="1200" dirty="0">
                  <a:solidFill>
                    <a:schemeClr val="dk1"/>
                  </a:solidFill>
                  <a:latin typeface="+mn-lt"/>
                  <a:ea typeface="+mn-ea"/>
                  <a:cs typeface="+mn-cs"/>
                </a:rPr>
              </a:br>
              <a:r>
                <a:rPr lang="zh-CN" sz="1200" dirty="0">
                  <a:solidFill>
                    <a:schemeClr val="dk1"/>
                  </a:solidFill>
                  <a:latin typeface="+mn-lt"/>
                  <a:ea typeface="+mn-ea"/>
                  <a:cs typeface="+mn-cs"/>
                </a:rPr>
                <a:t>古代大师作品分析、写生</a:t>
              </a:r>
            </a:p>
          </p:txBody>
        </p:sp>
        <p:sp>
          <p:nvSpPr>
            <p:cNvPr id="26" name="TextBox 26"/>
            <p:cNvSpPr txBox="1"/>
            <p:nvPr/>
          </p:nvSpPr>
          <p:spPr>
            <a:xfrm>
              <a:off x="7268718" y="3683000"/>
              <a:ext cx="104408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1923 年后</a:t>
              </a:r>
            </a:p>
          </p:txBody>
        </p:sp>
        <p:sp>
          <p:nvSpPr>
            <p:cNvPr id="27" name="TextBox 27"/>
            <p:cNvSpPr txBox="1"/>
            <p:nvPr/>
          </p:nvSpPr>
          <p:spPr>
            <a:xfrm>
              <a:off x="7271004" y="3975100"/>
              <a:ext cx="1924812" cy="463296"/>
            </a:xfrm>
            <a:prstGeom prst="rect">
              <a:avLst/>
            </a:prstGeom>
            <a:noFill/>
            <a:ln>
              <a:noFill/>
            </a:ln>
          </p:spPr>
          <p:txBody>
            <a:bodyPr wrap="none" lIns="0" tIns="0" rIns="0" bIns="0" anchor="t" anchorCtr="0">
              <a:spAutoFit/>
            </a:bodyPr>
            <a:lstStyle/>
            <a:p>
              <a:pPr algn="l">
                <a:lnSpc>
                  <a:spcPts val="1800"/>
                </a:lnSpc>
              </a:pPr>
              <a:r>
                <a:rPr lang="zh-CN" sz="1200" dirty="0">
                  <a:solidFill>
                    <a:schemeClr val="dk1"/>
                  </a:solidFill>
                  <a:latin typeface="+mn-lt"/>
                  <a:ea typeface="+mn-ea"/>
                  <a:cs typeface="+mn-cs"/>
                </a:rPr>
                <a:t>莫霍利-纳吉重写预备课程，</a:t>
              </a:r>
              <a:br>
                <a:rPr lang="zh-CN" sz="1200" dirty="0">
                  <a:solidFill>
                    <a:schemeClr val="dk1"/>
                  </a:solidFill>
                  <a:latin typeface="+mn-lt"/>
                  <a:ea typeface="+mn-ea"/>
                  <a:cs typeface="+mn-cs"/>
                </a:rPr>
              </a:br>
              <a:r>
                <a:rPr lang="zh-CN" sz="1200" dirty="0">
                  <a:solidFill>
                    <a:schemeClr val="dk1"/>
                  </a:solidFill>
                  <a:latin typeface="+mn-lt"/>
                  <a:ea typeface="+mn-ea"/>
                  <a:cs typeface="+mn-cs"/>
                </a:rPr>
                <a:t>与阿尔伯斯共同主持</a:t>
              </a:r>
            </a:p>
          </p:txBody>
        </p:sp>
        <p:sp>
          <p:nvSpPr>
            <p:cNvPr id="28" name="TextBox 28"/>
            <p:cNvSpPr txBox="1"/>
            <p:nvPr/>
          </p:nvSpPr>
          <p:spPr>
            <a:xfrm>
              <a:off x="7268718" y="4749800"/>
              <a:ext cx="1127379"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终点：建筑</a:t>
              </a:r>
            </a:p>
          </p:txBody>
        </p:sp>
        <p:sp>
          <p:nvSpPr>
            <p:cNvPr id="29" name="TextBox 29"/>
            <p:cNvSpPr txBox="1"/>
            <p:nvPr/>
          </p:nvSpPr>
          <p:spPr>
            <a:xfrm>
              <a:off x="7271004" y="5067300"/>
              <a:ext cx="27584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宣言：一切造型活动的最终目标是建筑</a:t>
              </a:r>
            </a:p>
          </p:txBody>
        </p:sp>
      </p:grpSp>
      <p:grpSp>
        <p:nvGrpSpPr>
          <p:cNvPr id="32" name="sources"/>
          <p:cNvGrpSpPr/>
          <p:nvPr/>
        </p:nvGrpSpPr>
        <p:grpSpPr>
          <a:xfrm>
            <a:off x="604647" y="6438900"/>
            <a:ext cx="7694025" cy="191643"/>
            <a:chOff x="604647" y="6438900"/>
            <a:chExt cx="7694025" cy="191643"/>
          </a:xfrm>
        </p:grpSpPr>
        <p:sp>
          <p:nvSpPr>
            <p:cNvPr id="31" name="TextBox 31"/>
            <p:cNvSpPr txBox="1"/>
            <p:nvPr/>
          </p:nvSpPr>
          <p:spPr>
            <a:xfrm>
              <a:off x="604647" y="6438900"/>
              <a:ext cx="7694025"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示意图：按 Bauhaus Kooperation 对预备课程的描述整理，非原始课程图 · 来源：Bauhaus Kooperation · Wikipedia「Bauhaus」</a:t>
              </a:r>
            </a:p>
          </p:txBody>
        </p:sp>
      </p:grpSp>
      <p:sp>
        <p:nvSpPr>
          <p:cNvPr id="33" name="TextBox 33"/>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04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childTnLst>
                          </p:cTn>
                        </p:par>
                        <p:par>
                          <p:cTn id="8" fill="hold">
                            <p:stCondLst>
                              <p:cond delay="6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30"/>
                                        </p:tgtEl>
                                        <p:attrNameLst>
                                          <p:attrName>style.visibility</p:attrName>
                                        </p:attrNameLst>
                                      </p:cBhvr>
                                      <p:to>
                                        <p:strVal val="visible"/>
                                      </p:to>
                                    </p:set>
                                    <p:animEffect transition="in" filter="wipe(down)">
                                      <p:cBhvr>
                                        <p:cTn id="11" dur="8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774700"/>
            <a:ext cx="4214622" cy="1487932"/>
            <a:chOff x="594360" y="774700"/>
            <a:chExt cx="4214622" cy="1487932"/>
          </a:xfrm>
        </p:grpSpPr>
        <p:sp>
          <p:nvSpPr>
            <p:cNvPr id="2" name="TextBox 2"/>
            <p:cNvSpPr txBox="1"/>
            <p:nvPr/>
          </p:nvSpPr>
          <p:spPr>
            <a:xfrm>
              <a:off x="603885" y="774700"/>
              <a:ext cx="2029628"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04 · 方法 · WERKSTATT</a:t>
              </a:r>
            </a:p>
          </p:txBody>
        </p:sp>
        <p:sp>
          <p:nvSpPr>
            <p:cNvPr id="3" name="TextBox 3"/>
            <p:cNvSpPr txBox="1"/>
            <p:nvPr/>
          </p:nvSpPr>
          <p:spPr>
            <a:xfrm>
              <a:off x="594360" y="10604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一个工坊，两位导师</a:t>
              </a:r>
            </a:p>
          </p:txBody>
        </p:sp>
        <p:sp>
          <p:nvSpPr>
            <p:cNvPr id="4" name="TextBox 4"/>
            <p:cNvSpPr txBox="1"/>
            <p:nvPr/>
          </p:nvSpPr>
          <p:spPr>
            <a:xfrm>
              <a:off x="601218" y="1625600"/>
              <a:ext cx="4207764"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艺术家负责形式，工匠负责工艺——</a:t>
              </a:r>
              <a:br>
                <a:rPr lang="zh-CN" sz="1650" dirty="0">
                  <a:solidFill>
                    <a:schemeClr val="dk1"/>
                  </a:solidFill>
                  <a:latin typeface="+mn-lt"/>
                  <a:ea typeface="+mn-ea"/>
                  <a:cs typeface="+mn-cs"/>
                </a:rPr>
              </a:br>
              <a:r>
                <a:rPr lang="zh-CN" sz="1650" dirty="0">
                  <a:solidFill>
                    <a:schemeClr val="dk1"/>
                  </a:solidFill>
                  <a:latin typeface="+mn-lt"/>
                  <a:ea typeface="+mn-ea"/>
                  <a:cs typeface="+mn-cs"/>
                </a:rPr>
                <a:t>双导师制把艺术与生产放在同一张工作台上。</a:t>
              </a:r>
            </a:p>
          </p:txBody>
        </p:sp>
      </p:grpSp>
      <p:grpSp>
        <p:nvGrpSpPr>
          <p:cNvPr id="16" name="dual-masters"/>
          <p:cNvGrpSpPr/>
          <p:nvPr/>
        </p:nvGrpSpPr>
        <p:grpSpPr>
          <a:xfrm>
            <a:off x="609600" y="2571750"/>
            <a:ext cx="5715000" cy="1714500"/>
            <a:chOff x="609600" y="2571750"/>
            <a:chExt cx="5715000" cy="1714500"/>
          </a:xfrm>
        </p:grpSpPr>
        <p:sp>
          <p:nvSpPr>
            <p:cNvPr id="6" name="Rectangle 6"/>
            <p:cNvSpPr/>
            <p:nvPr/>
          </p:nvSpPr>
          <p:spPr>
            <a:xfrm>
              <a:off x="609600" y="2571750"/>
              <a:ext cx="2667000" cy="857250"/>
            </a:xfrm>
            <a:prstGeom prst="rect">
              <a:avLst/>
            </a:prstGeom>
            <a:solidFill>
              <a:schemeClr val="accent1"/>
            </a:solidFill>
            <a:ln>
              <a:noFill/>
            </a:ln>
          </p:spPr>
        </p:sp>
        <p:sp>
          <p:nvSpPr>
            <p:cNvPr id="7" name="TextBox 7"/>
            <p:cNvSpPr txBox="1"/>
            <p:nvPr/>
          </p:nvSpPr>
          <p:spPr>
            <a:xfrm>
              <a:off x="829818" y="2711450"/>
              <a:ext cx="905256" cy="322707"/>
            </a:xfrm>
            <a:prstGeom prst="rect">
              <a:avLst/>
            </a:prstGeom>
            <a:noFill/>
            <a:ln>
              <a:noFill/>
            </a:ln>
          </p:spPr>
          <p:txBody>
            <a:bodyPr wrap="none" lIns="0" tIns="0" rIns="0" bIns="0" anchor="t" anchorCtr="0">
              <a:spAutoFit/>
            </a:bodyPr>
            <a:lstStyle/>
            <a:p>
              <a:pPr algn="l"/>
              <a:r>
                <a:rPr lang="zh-CN" sz="1650" b="1" dirty="0">
                  <a:solidFill>
                    <a:srgbClr val="F2EEE5"/>
                  </a:solidFill>
                  <a:latin typeface="+mn-lt"/>
                  <a:ea typeface="+mn-ea"/>
                  <a:cs typeface="+mn-cs"/>
                </a:rPr>
                <a:t>形式导师</a:t>
              </a:r>
            </a:p>
          </p:txBody>
        </p:sp>
        <p:sp>
          <p:nvSpPr>
            <p:cNvPr id="8" name="TextBox 8"/>
            <p:cNvSpPr txBox="1"/>
            <p:nvPr/>
          </p:nvSpPr>
          <p:spPr>
            <a:xfrm>
              <a:off x="832104" y="3067050"/>
              <a:ext cx="1328776" cy="234696"/>
            </a:xfrm>
            <a:prstGeom prst="rect">
              <a:avLst/>
            </a:prstGeom>
            <a:noFill/>
            <a:ln>
              <a:noFill/>
            </a:ln>
          </p:spPr>
          <p:txBody>
            <a:bodyPr wrap="none" lIns="0" tIns="0" rIns="0" bIns="0" anchor="t" anchorCtr="0">
              <a:spAutoFit/>
            </a:bodyPr>
            <a:lstStyle/>
            <a:p>
              <a:pPr algn="l"/>
              <a:r>
                <a:rPr lang="zh-CN" sz="1200" dirty="0">
                  <a:solidFill>
                    <a:srgbClr val="F2EEE5"/>
                  </a:solidFill>
                  <a:latin typeface="+mn-lt"/>
                  <a:ea typeface="+mn-ea"/>
                  <a:cs typeface="+mn-cs"/>
                </a:rPr>
                <a:t>艺术家 · 例：克利</a:t>
              </a:r>
            </a:p>
          </p:txBody>
        </p:sp>
        <p:sp>
          <p:nvSpPr>
            <p:cNvPr id="9" name="Rectangle 9"/>
            <p:cNvSpPr/>
            <p:nvPr/>
          </p:nvSpPr>
          <p:spPr>
            <a:xfrm>
              <a:off x="3657600" y="2571750"/>
              <a:ext cx="2667000" cy="857250"/>
            </a:xfrm>
            <a:prstGeom prst="rect">
              <a:avLst/>
            </a:prstGeom>
            <a:noFill/>
            <a:ln w="19050">
              <a:solidFill>
                <a:schemeClr val="accent1"/>
              </a:solidFill>
            </a:ln>
          </p:spPr>
        </p:sp>
        <p:sp>
          <p:nvSpPr>
            <p:cNvPr id="10" name="TextBox 10"/>
            <p:cNvSpPr txBox="1"/>
            <p:nvPr/>
          </p:nvSpPr>
          <p:spPr>
            <a:xfrm>
              <a:off x="3877818" y="2711450"/>
              <a:ext cx="9052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工艺导师</a:t>
              </a:r>
            </a:p>
          </p:txBody>
        </p:sp>
        <p:sp>
          <p:nvSpPr>
            <p:cNvPr id="11" name="TextBox 11"/>
            <p:cNvSpPr txBox="1"/>
            <p:nvPr/>
          </p:nvSpPr>
          <p:spPr>
            <a:xfrm>
              <a:off x="3880104" y="3067050"/>
              <a:ext cx="23788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工匠 · 例：阿尔伯斯（1923 起）</a:t>
              </a:r>
            </a:p>
          </p:txBody>
        </p:sp>
        <p:sp>
          <p:nvSpPr>
            <p:cNvPr id="12" name="Line 12"/>
            <p:cNvSpPr/>
            <p:nvPr/>
          </p:nvSpPr>
          <p:spPr>
            <a:xfrm>
              <a:off x="1943100" y="3429000"/>
              <a:ext cx="1524000" cy="381000"/>
            </a:xfrm>
            <a:custGeom>
              <a:avLst/>
              <a:gdLst/>
              <a:ahLst/>
              <a:cxnLst/>
              <a:rect l="l" t="t" r="r" b="b"/>
              <a:pathLst>
                <a:path w="1524000" h="381000">
                  <a:moveTo>
                    <a:pt x="0" y="0"/>
                  </a:moveTo>
                  <a:lnTo>
                    <a:pt x="1524000" y="381000"/>
                  </a:lnTo>
                </a:path>
              </a:pathLst>
            </a:custGeom>
            <a:noFill/>
            <a:ln w="19050">
              <a:solidFill>
                <a:schemeClr val="accent1"/>
              </a:solidFill>
            </a:ln>
          </p:spPr>
        </p:sp>
        <p:sp>
          <p:nvSpPr>
            <p:cNvPr id="13" name="Line 13"/>
            <p:cNvSpPr/>
            <p:nvPr/>
          </p:nvSpPr>
          <p:spPr>
            <a:xfrm>
              <a:off x="3467100" y="3429000"/>
              <a:ext cx="1524000" cy="381000"/>
            </a:xfrm>
            <a:custGeom>
              <a:avLst/>
              <a:gdLst/>
              <a:ahLst/>
              <a:cxnLst/>
              <a:rect l="l" t="t" r="r" b="b"/>
              <a:pathLst>
                <a:path w="1524000" h="381000">
                  <a:moveTo>
                    <a:pt x="1524000" y="0"/>
                  </a:moveTo>
                  <a:lnTo>
                    <a:pt x="0" y="381000"/>
                  </a:lnTo>
                </a:path>
              </a:pathLst>
            </a:custGeom>
            <a:noFill/>
            <a:ln w="19050">
              <a:solidFill>
                <a:schemeClr val="accent1"/>
              </a:solidFill>
            </a:ln>
          </p:spPr>
        </p:sp>
        <p:sp>
          <p:nvSpPr>
            <p:cNvPr id="14" name="Rectangle 14"/>
            <p:cNvSpPr/>
            <p:nvPr/>
          </p:nvSpPr>
          <p:spPr>
            <a:xfrm>
              <a:off x="609600" y="3810000"/>
              <a:ext cx="5715000" cy="476250"/>
            </a:xfrm>
            <a:prstGeom prst="rect">
              <a:avLst/>
            </a:prstGeom>
            <a:solidFill>
              <a:schemeClr val="lt2"/>
            </a:solidFill>
            <a:ln>
              <a:noFill/>
            </a:ln>
          </p:spPr>
        </p:sp>
        <p:sp>
          <p:nvSpPr>
            <p:cNvPr id="15" name="TextBox 15"/>
            <p:cNvSpPr txBox="1"/>
            <p:nvPr/>
          </p:nvSpPr>
          <p:spPr>
            <a:xfrm>
              <a:off x="1991873" y="3921125"/>
              <a:ext cx="2950454" cy="322707"/>
            </a:xfrm>
            <a:prstGeom prst="rect">
              <a:avLst/>
            </a:prstGeom>
            <a:noFill/>
            <a:ln>
              <a:noFill/>
            </a:ln>
          </p:spPr>
          <p:txBody>
            <a:bodyPr wrap="none" lIns="0" tIns="0" rIns="0" bIns="0" anchor="t" anchorCtr="0">
              <a:spAutoFit/>
            </a:bodyPr>
            <a:lstStyle/>
            <a:p>
              <a:pPr algn="ctr"/>
              <a:r>
                <a:rPr lang="zh-CN" sz="1650" b="1" dirty="0">
                  <a:solidFill>
                    <a:schemeClr val="accent1"/>
                  </a:solidFill>
                  <a:latin typeface="+mn-lt"/>
                  <a:ea typeface="+mn-ea"/>
                  <a:cs typeface="+mn-cs"/>
                </a:rPr>
                <a:t>同一个工坊 · 例：玻璃画工坊</a:t>
              </a:r>
            </a:p>
          </p:txBody>
        </p:sp>
      </p:grpSp>
      <p:grpSp>
        <p:nvGrpSpPr>
          <p:cNvPr id="19" name="note-weaving"/>
          <p:cNvGrpSpPr/>
          <p:nvPr/>
        </p:nvGrpSpPr>
        <p:grpSpPr>
          <a:xfrm>
            <a:off x="601218" y="4718050"/>
            <a:ext cx="4689729" cy="859282"/>
            <a:chOff x="601218" y="4718050"/>
            <a:chExt cx="4689729" cy="859282"/>
          </a:xfrm>
        </p:grpSpPr>
        <p:sp>
          <p:nvSpPr>
            <p:cNvPr id="17" name="TextBox 17"/>
            <p:cNvSpPr txBox="1"/>
            <p:nvPr/>
          </p:nvSpPr>
          <p:spPr>
            <a:xfrm>
              <a:off x="603885" y="4718050"/>
              <a:ext cx="1345664"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织造工坊 · 1927</a:t>
              </a:r>
            </a:p>
          </p:txBody>
        </p:sp>
        <p:sp>
          <p:nvSpPr>
            <p:cNvPr id="18" name="TextBox 18"/>
            <p:cNvSpPr txBox="1"/>
            <p:nvPr/>
          </p:nvSpPr>
          <p:spPr>
            <a:xfrm>
              <a:off x="601218" y="4940300"/>
              <a:ext cx="4689729"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施特尔策尔 1919 年入学，1927 年成为青年导师，</a:t>
              </a:r>
              <a:br>
                <a:rPr lang="zh-CN" sz="1650" dirty="0">
                  <a:solidFill>
                    <a:schemeClr val="dk1"/>
                  </a:solidFill>
                  <a:latin typeface="+mn-lt"/>
                  <a:ea typeface="+mn-ea"/>
                  <a:cs typeface="+mn-cs"/>
                </a:rPr>
              </a:br>
              <a:r>
                <a:rPr lang="zh-CN" sz="1650" dirty="0">
                  <a:solidFill>
                    <a:schemeClr val="dk1"/>
                  </a:solidFill>
                  <a:latin typeface="+mn-lt"/>
                  <a:ea typeface="+mn-ea"/>
                  <a:cs typeface="+mn-cs"/>
                </a:rPr>
                <a:t>是包豪斯</a:t>
              </a:r>
              <a:r>
                <a:rPr lang="zh-CN" sz="1650" b="1" dirty="0">
                  <a:solidFill>
                    <a:schemeClr val="accent2"/>
                  </a:solidFill>
                  <a:latin typeface="+mn-lt"/>
                  <a:ea typeface="+mn-ea"/>
                  <a:cs typeface="+mn-cs"/>
                </a:rPr>
                <a:t>首位获“导师”头衔的女性</a:t>
              </a:r>
              <a:r>
                <a:rPr lang="zh-CN" sz="1650" dirty="0">
                  <a:solidFill>
                    <a:schemeClr val="dk1"/>
                  </a:solidFill>
                  <a:latin typeface="+mn-lt"/>
                  <a:ea typeface="+mn-ea"/>
                  <a:cs typeface="+mn-cs"/>
                </a:rPr>
                <a:t>。</a:t>
              </a:r>
            </a:p>
          </p:txBody>
        </p:sp>
      </p:grpSp>
      <p:grpSp>
        <p:nvGrpSpPr>
          <p:cNvPr id="22" name="note-exhibition"/>
          <p:cNvGrpSpPr/>
          <p:nvPr/>
        </p:nvGrpSpPr>
        <p:grpSpPr>
          <a:xfrm>
            <a:off x="601218" y="5727700"/>
            <a:ext cx="4903470" cy="544957"/>
            <a:chOff x="601218" y="5727700"/>
            <a:chExt cx="4903470" cy="544957"/>
          </a:xfrm>
        </p:grpSpPr>
        <p:sp>
          <p:nvSpPr>
            <p:cNvPr id="20" name="TextBox 20"/>
            <p:cNvSpPr txBox="1"/>
            <p:nvPr/>
          </p:nvSpPr>
          <p:spPr>
            <a:xfrm>
              <a:off x="603885" y="5727700"/>
              <a:ext cx="828777"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1923 展览</a:t>
              </a:r>
            </a:p>
          </p:txBody>
        </p:sp>
        <p:sp>
          <p:nvSpPr>
            <p:cNvPr id="21" name="TextBox 21"/>
            <p:cNvSpPr txBox="1"/>
            <p:nvPr/>
          </p:nvSpPr>
          <p:spPr>
            <a:xfrm>
              <a:off x="601218" y="5949950"/>
              <a:ext cx="490347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实验作品展（含号角屋）是继续获得州资助的条件</a:t>
              </a:r>
            </a:p>
          </p:txBody>
        </p:sp>
      </p:grpSp>
      <p:grpSp>
        <p:nvGrpSpPr>
          <p:cNvPr id="25" name="workshop-image"/>
          <p:cNvGrpSpPr/>
          <p:nvPr/>
        </p:nvGrpSpPr>
        <p:grpSpPr>
          <a:xfrm>
            <a:off x="6705600" y="609600"/>
            <a:ext cx="4876800" cy="5562600"/>
            <a:chOff x="6705600" y="609600"/>
            <a:chExt cx="4876800" cy="5562600"/>
          </a:xfrm>
        </p:grpSpPr>
        <p:pic>
          <p:nvPicPr>
            <p:cNvPr id="23" name="Image 23"/>
            <p:cNvPicPr>
              <a:picLocks noChangeAspect="1"/>
            </p:cNvPicPr>
            <p:nvPr/>
          </p:nvPicPr>
          <p:blipFill>
            <a:blip r:embed="rId2"/>
            <a:srcRect l="25525" t="0" r="25525" b="0"/>
            <a:stretch>
              <a:fillRect/>
            </a:stretch>
          </p:blipFill>
          <p:spPr>
            <a:xfrm>
              <a:off x="6705600" y="609600"/>
              <a:ext cx="4876800" cy="5562600"/>
            </a:xfrm>
            <a:prstGeom prst="rect">
              <a:avLst/>
            </a:prstGeom>
          </p:spPr>
        </p:pic>
        <p:sp>
          <p:nvSpPr>
            <p:cNvPr id="24" name="TextBox 24"/>
            <p:cNvSpPr txBox="1"/>
            <p:nvPr/>
          </p:nvSpPr>
          <p:spPr>
            <a:xfrm>
              <a:off x="6891147" y="5905500"/>
              <a:ext cx="1913646" cy="191643"/>
            </a:xfrm>
            <a:prstGeom prst="rect">
              <a:avLst/>
            </a:prstGeom>
            <a:noFill/>
            <a:ln>
              <a:noFill/>
            </a:ln>
          </p:spPr>
          <p:txBody>
            <a:bodyPr wrap="none" lIns="0" tIns="0" rIns="0" bIns="0" anchor="t" anchorCtr="0">
              <a:spAutoFit/>
            </a:bodyPr>
            <a:lstStyle/>
            <a:p>
              <a:pPr algn="l"/>
              <a:r>
                <a:rPr lang="zh-CN" sz="980" dirty="0">
                  <a:solidFill>
                    <a:srgbClr val="F2EEE5"/>
                  </a:solidFill>
                  <a:latin typeface="+mn-lt"/>
                  <a:ea typeface="+mn-ea"/>
                  <a:cs typeface="+mn-cs"/>
                </a:rPr>
                <a:t>示意场景 · AI 生成，非历史照片</a:t>
              </a:r>
            </a:p>
          </p:txBody>
        </p:sp>
      </p:grpSp>
      <p:grpSp>
        <p:nvGrpSpPr>
          <p:cNvPr id="27" name="sources"/>
          <p:cNvGrpSpPr/>
          <p:nvPr/>
        </p:nvGrpSpPr>
        <p:grpSpPr>
          <a:xfrm>
            <a:off x="604647" y="6438900"/>
            <a:ext cx="6705461" cy="191643"/>
            <a:chOff x="604647" y="6438900"/>
            <a:chExt cx="6705461" cy="191643"/>
          </a:xfrm>
        </p:grpSpPr>
        <p:sp>
          <p:nvSpPr>
            <p:cNvPr id="26" name="TextBox 26"/>
            <p:cNvSpPr txBox="1"/>
            <p:nvPr/>
          </p:nvSpPr>
          <p:spPr>
            <a:xfrm>
              <a:off x="604647" y="6438900"/>
              <a:ext cx="6705461"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来源：Bauhaus Kooperation「Josef Albers’s preliminary course」· Wikipedia「Gunta Stölzl」「Bauhaus」</a:t>
              </a:r>
            </a:p>
          </p:txBody>
        </p:sp>
      </p:grpSp>
      <p:sp>
        <p:nvSpPr>
          <p:cNvPr id="28" name="TextBox 28"/>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774700"/>
            <a:ext cx="7575804" cy="1192657"/>
            <a:chOff x="594360" y="774700"/>
            <a:chExt cx="7575804" cy="1192657"/>
          </a:xfrm>
        </p:grpSpPr>
        <p:sp>
          <p:nvSpPr>
            <p:cNvPr id="2" name="TextBox 2"/>
            <p:cNvSpPr txBox="1"/>
            <p:nvPr/>
          </p:nvSpPr>
          <p:spPr>
            <a:xfrm>
              <a:off x="603885" y="774700"/>
              <a:ext cx="1771889"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05 · 人物 · MEISTER</a:t>
              </a:r>
            </a:p>
          </p:txBody>
        </p:sp>
        <p:sp>
          <p:nvSpPr>
            <p:cNvPr id="3" name="TextBox 3"/>
            <p:cNvSpPr txBox="1"/>
            <p:nvPr/>
          </p:nvSpPr>
          <p:spPr>
            <a:xfrm>
              <a:off x="594360" y="1060450"/>
              <a:ext cx="24536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谁在这里教书</a:t>
              </a:r>
            </a:p>
          </p:txBody>
        </p:sp>
        <p:sp>
          <p:nvSpPr>
            <p:cNvPr id="4" name="TextBox 4"/>
            <p:cNvSpPr txBox="1"/>
            <p:nvPr/>
          </p:nvSpPr>
          <p:spPr>
            <a:xfrm>
              <a:off x="601218" y="1644650"/>
              <a:ext cx="756894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包豪斯把画家请进了工坊：校长与教师按任职、加入年份排在同一条标尺上。</a:t>
              </a:r>
            </a:p>
          </p:txBody>
        </p:sp>
      </p:grpSp>
      <p:grpSp>
        <p:nvGrpSpPr>
          <p:cNvPr id="10" name="legend"/>
          <p:cNvGrpSpPr/>
          <p:nvPr/>
        </p:nvGrpSpPr>
        <p:grpSpPr>
          <a:xfrm>
            <a:off x="8572500" y="1247775"/>
            <a:ext cx="2403348" cy="234696"/>
            <a:chOff x="8572500" y="1247775"/>
            <a:chExt cx="2403348" cy="234696"/>
          </a:xfrm>
        </p:grpSpPr>
        <p:sp>
          <p:nvSpPr>
            <p:cNvPr id="6" name="Rectangle 6"/>
            <p:cNvSpPr/>
            <p:nvPr/>
          </p:nvSpPr>
          <p:spPr>
            <a:xfrm>
              <a:off x="8572500" y="1276350"/>
              <a:ext cx="133350" cy="133350"/>
            </a:xfrm>
            <a:prstGeom prst="rect">
              <a:avLst/>
            </a:prstGeom>
            <a:solidFill>
              <a:schemeClr val="accent1"/>
            </a:solidFill>
            <a:ln>
              <a:noFill/>
            </a:ln>
          </p:spPr>
        </p:sp>
        <p:sp>
          <p:nvSpPr>
            <p:cNvPr id="7" name="TextBox 7"/>
            <p:cNvSpPr txBox="1"/>
            <p:nvPr/>
          </p:nvSpPr>
          <p:spPr>
            <a:xfrm>
              <a:off x="8775954" y="1247775"/>
              <a:ext cx="33528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校长</a:t>
              </a:r>
            </a:p>
          </p:txBody>
        </p:sp>
        <p:sp>
          <p:nvSpPr>
            <p:cNvPr id="8" name="Ellipse 8"/>
            <p:cNvSpPr/>
            <p:nvPr/>
          </p:nvSpPr>
          <p:spPr>
            <a:xfrm>
              <a:off x="9477375" y="1276350"/>
              <a:ext cx="133350" cy="133350"/>
            </a:xfrm>
            <a:prstGeom prst="ellipse">
              <a:avLst/>
            </a:prstGeom>
            <a:solidFill>
              <a:schemeClr val="accent2"/>
            </a:solidFill>
            <a:ln>
              <a:noFill/>
            </a:ln>
          </p:spPr>
        </p:sp>
        <p:sp>
          <p:nvSpPr>
            <p:cNvPr id="9" name="TextBox 9"/>
            <p:cNvSpPr txBox="1"/>
            <p:nvPr/>
          </p:nvSpPr>
          <p:spPr>
            <a:xfrm>
              <a:off x="9671304" y="1247775"/>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教师（加入年份）</a:t>
              </a:r>
            </a:p>
          </p:txBody>
        </p:sp>
      </p:grpSp>
      <p:grpSp>
        <p:nvGrpSpPr>
          <p:cNvPr id="19" name="directors"/>
          <p:cNvGrpSpPr/>
          <p:nvPr/>
        </p:nvGrpSpPr>
        <p:grpSpPr>
          <a:xfrm>
            <a:off x="603504" y="2235200"/>
            <a:ext cx="10674096" cy="869950"/>
            <a:chOff x="603504" y="2235200"/>
            <a:chExt cx="10674096" cy="869950"/>
          </a:xfrm>
        </p:grpSpPr>
        <p:sp>
          <p:nvSpPr>
            <p:cNvPr id="11" name="TextBox 11"/>
            <p:cNvSpPr txBox="1"/>
            <p:nvPr/>
          </p:nvSpPr>
          <p:spPr>
            <a:xfrm>
              <a:off x="603504" y="2857500"/>
              <a:ext cx="335280"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校长</a:t>
              </a:r>
            </a:p>
          </p:txBody>
        </p:sp>
        <p:sp>
          <p:nvSpPr>
            <p:cNvPr id="12" name="Rectangle 12"/>
            <p:cNvSpPr/>
            <p:nvPr/>
          </p:nvSpPr>
          <p:spPr>
            <a:xfrm>
              <a:off x="1676400" y="2857500"/>
              <a:ext cx="6153150" cy="247650"/>
            </a:xfrm>
            <a:prstGeom prst="rect">
              <a:avLst/>
            </a:prstGeom>
            <a:solidFill>
              <a:schemeClr val="accent1"/>
            </a:solidFill>
            <a:ln>
              <a:noFill/>
            </a:ln>
          </p:spPr>
        </p:sp>
        <p:sp>
          <p:nvSpPr>
            <p:cNvPr id="13" name="TextBox 13"/>
            <p:cNvSpPr txBox="1"/>
            <p:nvPr/>
          </p:nvSpPr>
          <p:spPr>
            <a:xfrm>
              <a:off x="1668018" y="2520950"/>
              <a:ext cx="1996991"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格罗皮乌斯 </a:t>
              </a:r>
              <a:r>
                <a:rPr lang="zh-CN" sz="1200" dirty="0">
                  <a:solidFill>
                    <a:schemeClr val="accent5"/>
                  </a:solidFill>
                  <a:latin typeface="+mn-lt"/>
                  <a:ea typeface="+mn-ea"/>
                  <a:cs typeface="+mn-cs"/>
                </a:rPr>
                <a:t>1919–1928</a:t>
              </a:r>
            </a:p>
          </p:txBody>
        </p:sp>
        <p:sp>
          <p:nvSpPr>
            <p:cNvPr id="14" name="Rectangle 14"/>
            <p:cNvSpPr/>
            <p:nvPr/>
          </p:nvSpPr>
          <p:spPr>
            <a:xfrm>
              <a:off x="7867650" y="2857500"/>
              <a:ext cx="1333500" cy="247650"/>
            </a:xfrm>
            <a:prstGeom prst="rect">
              <a:avLst/>
            </a:prstGeom>
            <a:solidFill>
              <a:schemeClr val="accent1"/>
            </a:solidFill>
            <a:ln>
              <a:noFill/>
            </a:ln>
          </p:spPr>
        </p:sp>
        <p:sp>
          <p:nvSpPr>
            <p:cNvPr id="15" name="TextBox 15"/>
            <p:cNvSpPr txBox="1"/>
            <p:nvPr/>
          </p:nvSpPr>
          <p:spPr>
            <a:xfrm>
              <a:off x="7859268" y="2235200"/>
              <a:ext cx="1330622"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迈耶 </a:t>
              </a:r>
              <a:r>
                <a:rPr lang="zh-CN" sz="1200" dirty="0">
                  <a:solidFill>
                    <a:schemeClr val="accent5"/>
                  </a:solidFill>
                  <a:latin typeface="+mn-lt"/>
                  <a:ea typeface="+mn-ea"/>
                  <a:cs typeface="+mn-cs"/>
                </a:rPr>
                <a:t>1928–1930</a:t>
              </a:r>
            </a:p>
          </p:txBody>
        </p:sp>
        <p:sp>
          <p:nvSpPr>
            <p:cNvPr id="16" name="Line 16"/>
            <p:cNvSpPr/>
            <p:nvPr/>
          </p:nvSpPr>
          <p:spPr>
            <a:xfrm>
              <a:off x="7867650" y="2514600"/>
              <a:ext cx="9525" cy="342900"/>
            </a:xfrm>
            <a:custGeom>
              <a:avLst/>
              <a:gdLst/>
              <a:ahLst/>
              <a:cxnLst/>
              <a:rect l="l" t="t" r="r" b="b"/>
              <a:pathLst>
                <a:path w="9525" h="342900">
                  <a:moveTo>
                    <a:pt x="0" y="0"/>
                  </a:moveTo>
                  <a:lnTo>
                    <a:pt x="0" y="342900"/>
                  </a:lnTo>
                </a:path>
              </a:pathLst>
            </a:custGeom>
            <a:noFill/>
            <a:ln w="9525">
              <a:solidFill>
                <a:schemeClr val="accent1"/>
              </a:solidFill>
            </a:ln>
          </p:spPr>
        </p:sp>
        <p:sp>
          <p:nvSpPr>
            <p:cNvPr id="17" name="Rectangle 17"/>
            <p:cNvSpPr/>
            <p:nvPr/>
          </p:nvSpPr>
          <p:spPr>
            <a:xfrm>
              <a:off x="9239250" y="2857500"/>
              <a:ext cx="2038350" cy="247650"/>
            </a:xfrm>
            <a:prstGeom prst="rect">
              <a:avLst/>
            </a:prstGeom>
            <a:solidFill>
              <a:schemeClr val="accent1"/>
            </a:solidFill>
            <a:ln>
              <a:noFill/>
            </a:ln>
          </p:spPr>
        </p:sp>
        <p:sp>
          <p:nvSpPr>
            <p:cNvPr id="18" name="TextBox 18"/>
            <p:cNvSpPr txBox="1"/>
            <p:nvPr/>
          </p:nvSpPr>
          <p:spPr>
            <a:xfrm>
              <a:off x="9230868" y="2520950"/>
              <a:ext cx="1330622"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密斯 </a:t>
              </a:r>
              <a:r>
                <a:rPr lang="zh-CN" sz="1200" dirty="0">
                  <a:solidFill>
                    <a:schemeClr val="accent5"/>
                  </a:solidFill>
                  <a:latin typeface="+mn-lt"/>
                  <a:ea typeface="+mn-ea"/>
                  <a:cs typeface="+mn-cs"/>
                </a:rPr>
                <a:t>1930–1933</a:t>
              </a:r>
            </a:p>
          </p:txBody>
        </p:sp>
      </p:grpSp>
      <p:grpSp>
        <p:nvGrpSpPr>
          <p:cNvPr id="38" name="year-ruler"/>
          <p:cNvGrpSpPr/>
          <p:nvPr/>
        </p:nvGrpSpPr>
        <p:grpSpPr>
          <a:xfrm>
            <a:off x="1492606" y="3543300"/>
            <a:ext cx="9968789" cy="406146"/>
            <a:chOff x="1492606" y="3543300"/>
            <a:chExt cx="9968789" cy="406146"/>
          </a:xfrm>
        </p:grpSpPr>
        <p:sp>
          <p:nvSpPr>
            <p:cNvPr id="20" name="Line 20"/>
            <p:cNvSpPr/>
            <p:nvPr/>
          </p:nvSpPr>
          <p:spPr>
            <a:xfrm>
              <a:off x="1676400" y="3619500"/>
              <a:ext cx="9601200" cy="9525"/>
            </a:xfrm>
            <a:custGeom>
              <a:avLst/>
              <a:gdLst/>
              <a:ahLst/>
              <a:cxnLst/>
              <a:rect l="l" t="t" r="r" b="b"/>
              <a:pathLst>
                <a:path w="9601200" h="9525">
                  <a:moveTo>
                    <a:pt x="0" y="0"/>
                  </a:moveTo>
                  <a:lnTo>
                    <a:pt x="9601200" y="0"/>
                  </a:lnTo>
                </a:path>
              </a:pathLst>
            </a:custGeom>
            <a:noFill/>
            <a:ln w="19050">
              <a:solidFill>
                <a:schemeClr val="accent1"/>
              </a:solidFill>
            </a:ln>
          </p:spPr>
        </p:sp>
        <p:grpSp>
          <p:nvGrpSpPr>
            <p:cNvPr id="31" name="Group 31"/>
            <p:cNvGrpSpPr/>
            <p:nvPr/>
          </p:nvGrpSpPr>
          <p:grpSpPr>
            <a:xfrm>
              <a:off x="1492606" y="3714750"/>
              <a:ext cx="9968789" cy="234696"/>
              <a:chOff x="1492606" y="3714750"/>
              <a:chExt cx="9968789" cy="234696"/>
            </a:xfrm>
          </p:grpSpPr>
          <p:sp>
            <p:nvSpPr>
              <p:cNvPr id="21" name="TextBox 21"/>
              <p:cNvSpPr txBox="1"/>
              <p:nvPr/>
            </p:nvSpPr>
            <p:spPr>
              <a:xfrm>
                <a:off x="14926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1919</a:t>
                </a:r>
              </a:p>
            </p:txBody>
          </p:sp>
          <p:sp>
            <p:nvSpPr>
              <p:cNvPr id="22" name="TextBox 22"/>
              <p:cNvSpPr txBox="1"/>
              <p:nvPr/>
            </p:nvSpPr>
            <p:spPr>
              <a:xfrm>
                <a:off x="21784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1920</a:t>
                </a:r>
              </a:p>
            </p:txBody>
          </p:sp>
          <p:sp>
            <p:nvSpPr>
              <p:cNvPr id="23" name="TextBox 23"/>
              <p:cNvSpPr txBox="1"/>
              <p:nvPr/>
            </p:nvSpPr>
            <p:spPr>
              <a:xfrm>
                <a:off x="35500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1922</a:t>
                </a:r>
              </a:p>
            </p:txBody>
          </p:sp>
          <p:sp>
            <p:nvSpPr>
              <p:cNvPr id="24" name="TextBox 24"/>
              <p:cNvSpPr txBox="1"/>
              <p:nvPr/>
            </p:nvSpPr>
            <p:spPr>
              <a:xfrm>
                <a:off x="42358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1923</a:t>
                </a:r>
              </a:p>
            </p:txBody>
          </p:sp>
          <p:sp>
            <p:nvSpPr>
              <p:cNvPr id="25" name="TextBox 25"/>
              <p:cNvSpPr txBox="1"/>
              <p:nvPr/>
            </p:nvSpPr>
            <p:spPr>
              <a:xfrm>
                <a:off x="56074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1925</a:t>
                </a:r>
              </a:p>
            </p:txBody>
          </p:sp>
          <p:sp>
            <p:nvSpPr>
              <p:cNvPr id="26" name="TextBox 26"/>
              <p:cNvSpPr txBox="1"/>
              <p:nvPr/>
            </p:nvSpPr>
            <p:spPr>
              <a:xfrm>
                <a:off x="69790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1927</a:t>
                </a:r>
              </a:p>
            </p:txBody>
          </p:sp>
          <p:sp>
            <p:nvSpPr>
              <p:cNvPr id="27" name="TextBox 27"/>
              <p:cNvSpPr txBox="1"/>
              <p:nvPr/>
            </p:nvSpPr>
            <p:spPr>
              <a:xfrm>
                <a:off x="76648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1928</a:t>
                </a:r>
              </a:p>
            </p:txBody>
          </p:sp>
          <p:sp>
            <p:nvSpPr>
              <p:cNvPr id="28" name="TextBox 28"/>
              <p:cNvSpPr txBox="1"/>
              <p:nvPr/>
            </p:nvSpPr>
            <p:spPr>
              <a:xfrm>
                <a:off x="90364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1930</a:t>
                </a:r>
              </a:p>
            </p:txBody>
          </p:sp>
          <p:sp>
            <p:nvSpPr>
              <p:cNvPr id="29" name="TextBox 29"/>
              <p:cNvSpPr txBox="1"/>
              <p:nvPr/>
            </p:nvSpPr>
            <p:spPr>
              <a:xfrm>
                <a:off x="104080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1932</a:t>
                </a:r>
              </a:p>
            </p:txBody>
          </p:sp>
          <p:sp>
            <p:nvSpPr>
              <p:cNvPr id="30" name="TextBox 30"/>
              <p:cNvSpPr txBox="1"/>
              <p:nvPr/>
            </p:nvSpPr>
            <p:spPr>
              <a:xfrm>
                <a:off x="11093806" y="3714750"/>
                <a:ext cx="367589"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1933</a:t>
                </a:r>
              </a:p>
            </p:txBody>
          </p:sp>
        </p:grpSp>
        <p:grpSp>
          <p:nvGrpSpPr>
            <p:cNvPr id="37" name="Group 37"/>
            <p:cNvGrpSpPr/>
            <p:nvPr/>
          </p:nvGrpSpPr>
          <p:grpSpPr>
            <a:xfrm>
              <a:off x="1600200" y="3543300"/>
              <a:ext cx="5638800" cy="152400"/>
              <a:chOff x="1600200" y="3543300"/>
              <a:chExt cx="5638800" cy="152400"/>
            </a:xfrm>
          </p:grpSpPr>
          <p:sp>
            <p:nvSpPr>
              <p:cNvPr id="32" name="Ellipse 32"/>
              <p:cNvSpPr/>
              <p:nvPr/>
            </p:nvSpPr>
            <p:spPr>
              <a:xfrm>
                <a:off x="1600200" y="3543300"/>
                <a:ext cx="152400" cy="152400"/>
              </a:xfrm>
              <a:prstGeom prst="ellipse">
                <a:avLst/>
              </a:prstGeom>
              <a:solidFill>
                <a:schemeClr val="accent2"/>
              </a:solidFill>
              <a:ln>
                <a:noFill/>
              </a:ln>
            </p:spPr>
          </p:sp>
          <p:sp>
            <p:nvSpPr>
              <p:cNvPr id="33" name="Ellipse 33"/>
              <p:cNvSpPr/>
              <p:nvPr/>
            </p:nvSpPr>
            <p:spPr>
              <a:xfrm>
                <a:off x="2286000" y="3543300"/>
                <a:ext cx="152400" cy="152400"/>
              </a:xfrm>
              <a:prstGeom prst="ellipse">
                <a:avLst/>
              </a:prstGeom>
              <a:solidFill>
                <a:schemeClr val="accent2"/>
              </a:solidFill>
              <a:ln>
                <a:noFill/>
              </a:ln>
            </p:spPr>
          </p:sp>
          <p:sp>
            <p:nvSpPr>
              <p:cNvPr id="34" name="Ellipse 34"/>
              <p:cNvSpPr/>
              <p:nvPr/>
            </p:nvSpPr>
            <p:spPr>
              <a:xfrm>
                <a:off x="3657600" y="3543300"/>
                <a:ext cx="152400" cy="152400"/>
              </a:xfrm>
              <a:prstGeom prst="ellipse">
                <a:avLst/>
              </a:prstGeom>
              <a:solidFill>
                <a:schemeClr val="accent2"/>
              </a:solidFill>
              <a:ln>
                <a:noFill/>
              </a:ln>
            </p:spPr>
          </p:sp>
          <p:sp>
            <p:nvSpPr>
              <p:cNvPr id="35" name="Ellipse 35"/>
              <p:cNvSpPr/>
              <p:nvPr/>
            </p:nvSpPr>
            <p:spPr>
              <a:xfrm>
                <a:off x="4343400" y="3543300"/>
                <a:ext cx="152400" cy="152400"/>
              </a:xfrm>
              <a:prstGeom prst="ellipse">
                <a:avLst/>
              </a:prstGeom>
              <a:solidFill>
                <a:schemeClr val="accent2"/>
              </a:solidFill>
              <a:ln>
                <a:noFill/>
              </a:ln>
            </p:spPr>
          </p:sp>
          <p:sp>
            <p:nvSpPr>
              <p:cNvPr id="36" name="Ellipse 36"/>
              <p:cNvSpPr/>
              <p:nvPr/>
            </p:nvSpPr>
            <p:spPr>
              <a:xfrm>
                <a:off x="7086600" y="3543300"/>
                <a:ext cx="152400" cy="152400"/>
              </a:xfrm>
              <a:prstGeom prst="ellipse">
                <a:avLst/>
              </a:prstGeom>
              <a:solidFill>
                <a:schemeClr val="accent2"/>
              </a:solidFill>
              <a:ln>
                <a:noFill/>
              </a:ln>
            </p:spPr>
          </p:sp>
        </p:grpSp>
      </p:grpSp>
      <p:grpSp>
        <p:nvGrpSpPr>
          <p:cNvPr id="50" name="teachers"/>
          <p:cNvGrpSpPr/>
          <p:nvPr/>
        </p:nvGrpSpPr>
        <p:grpSpPr>
          <a:xfrm>
            <a:off x="1676400" y="3962400"/>
            <a:ext cx="9753998" cy="2253107"/>
            <a:chOff x="1676400" y="3962400"/>
            <a:chExt cx="9753998" cy="2253107"/>
          </a:xfrm>
        </p:grpSpPr>
        <p:grpSp>
          <p:nvGrpSpPr>
            <p:cNvPr id="44" name="Group 44"/>
            <p:cNvGrpSpPr/>
            <p:nvPr/>
          </p:nvGrpSpPr>
          <p:grpSpPr>
            <a:xfrm>
              <a:off x="1676400" y="3962400"/>
              <a:ext cx="5495925" cy="2076450"/>
              <a:chOff x="1676400" y="3962400"/>
              <a:chExt cx="5495925" cy="2076450"/>
            </a:xfrm>
          </p:grpSpPr>
          <p:sp>
            <p:nvSpPr>
              <p:cNvPr id="39" name="Line 39"/>
              <p:cNvSpPr/>
              <p:nvPr/>
            </p:nvSpPr>
            <p:spPr>
              <a:xfrm>
                <a:off x="1676400" y="3962400"/>
                <a:ext cx="9525" cy="2076450"/>
              </a:xfrm>
              <a:custGeom>
                <a:avLst/>
                <a:gdLst/>
                <a:ahLst/>
                <a:cxnLst/>
                <a:rect l="l" t="t" r="r" b="b"/>
                <a:pathLst>
                  <a:path w="9525" h="2076450">
                    <a:moveTo>
                      <a:pt x="0" y="0"/>
                    </a:moveTo>
                    <a:lnTo>
                      <a:pt x="0" y="2076450"/>
                    </a:lnTo>
                  </a:path>
                </a:pathLst>
              </a:custGeom>
              <a:noFill/>
              <a:ln w="9525">
                <a:solidFill>
                  <a:schemeClr val="accent1"/>
                </a:solidFill>
              </a:ln>
            </p:spPr>
          </p:sp>
          <p:sp>
            <p:nvSpPr>
              <p:cNvPr id="40" name="Line 40"/>
              <p:cNvSpPr/>
              <p:nvPr/>
            </p:nvSpPr>
            <p:spPr>
              <a:xfrm>
                <a:off x="2362200" y="3962400"/>
                <a:ext cx="9525" cy="1657350"/>
              </a:xfrm>
              <a:custGeom>
                <a:avLst/>
                <a:gdLst/>
                <a:ahLst/>
                <a:cxnLst/>
                <a:rect l="l" t="t" r="r" b="b"/>
                <a:pathLst>
                  <a:path w="9525" h="1657350">
                    <a:moveTo>
                      <a:pt x="0" y="0"/>
                    </a:moveTo>
                    <a:lnTo>
                      <a:pt x="0" y="1657350"/>
                    </a:lnTo>
                  </a:path>
                </a:pathLst>
              </a:custGeom>
              <a:noFill/>
              <a:ln w="9525">
                <a:solidFill>
                  <a:schemeClr val="accent1"/>
                </a:solidFill>
              </a:ln>
            </p:spPr>
          </p:sp>
          <p:sp>
            <p:nvSpPr>
              <p:cNvPr id="41" name="Line 41"/>
              <p:cNvSpPr/>
              <p:nvPr/>
            </p:nvSpPr>
            <p:spPr>
              <a:xfrm>
                <a:off x="3733800" y="3962400"/>
                <a:ext cx="9525" cy="1238250"/>
              </a:xfrm>
              <a:custGeom>
                <a:avLst/>
                <a:gdLst/>
                <a:ahLst/>
                <a:cxnLst/>
                <a:rect l="l" t="t" r="r" b="b"/>
                <a:pathLst>
                  <a:path w="9525" h="1238250">
                    <a:moveTo>
                      <a:pt x="0" y="0"/>
                    </a:moveTo>
                    <a:lnTo>
                      <a:pt x="0" y="1238250"/>
                    </a:lnTo>
                  </a:path>
                </a:pathLst>
              </a:custGeom>
              <a:noFill/>
              <a:ln w="9525">
                <a:solidFill>
                  <a:schemeClr val="accent1"/>
                </a:solidFill>
              </a:ln>
            </p:spPr>
          </p:sp>
          <p:sp>
            <p:nvSpPr>
              <p:cNvPr id="42" name="Line 42"/>
              <p:cNvSpPr/>
              <p:nvPr/>
            </p:nvSpPr>
            <p:spPr>
              <a:xfrm>
                <a:off x="4419600" y="3962400"/>
                <a:ext cx="9525" cy="819150"/>
              </a:xfrm>
              <a:custGeom>
                <a:avLst/>
                <a:gdLst/>
                <a:ahLst/>
                <a:cxnLst/>
                <a:rect l="l" t="t" r="r" b="b"/>
                <a:pathLst>
                  <a:path w="9525" h="819150">
                    <a:moveTo>
                      <a:pt x="0" y="0"/>
                    </a:moveTo>
                    <a:lnTo>
                      <a:pt x="0" y="819150"/>
                    </a:lnTo>
                  </a:path>
                </a:pathLst>
              </a:custGeom>
              <a:noFill/>
              <a:ln w="9525">
                <a:solidFill>
                  <a:schemeClr val="accent1"/>
                </a:solidFill>
              </a:ln>
            </p:spPr>
          </p:sp>
          <p:sp>
            <p:nvSpPr>
              <p:cNvPr id="43" name="Line 43"/>
              <p:cNvSpPr/>
              <p:nvPr/>
            </p:nvSpPr>
            <p:spPr>
              <a:xfrm>
                <a:off x="7162800" y="3962400"/>
                <a:ext cx="9525" cy="400050"/>
              </a:xfrm>
              <a:custGeom>
                <a:avLst/>
                <a:gdLst/>
                <a:ahLst/>
                <a:cxnLst/>
                <a:rect l="l" t="t" r="r" b="b"/>
                <a:pathLst>
                  <a:path w="9525" h="400050">
                    <a:moveTo>
                      <a:pt x="0" y="0"/>
                    </a:moveTo>
                    <a:lnTo>
                      <a:pt x="0" y="400050"/>
                    </a:lnTo>
                  </a:path>
                </a:pathLst>
              </a:custGeom>
              <a:noFill/>
              <a:ln w="9525">
                <a:solidFill>
                  <a:schemeClr val="accent1"/>
                </a:solidFill>
              </a:ln>
            </p:spPr>
          </p:sp>
        </p:grpSp>
        <p:sp>
          <p:nvSpPr>
            <p:cNvPr id="45" name="TextBox 45"/>
            <p:cNvSpPr txBox="1"/>
            <p:nvPr/>
          </p:nvSpPr>
          <p:spPr>
            <a:xfrm>
              <a:off x="7268718" y="4216400"/>
              <a:ext cx="4161680"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施特尔策尔 </a:t>
              </a:r>
              <a:r>
                <a:rPr lang="zh-CN" sz="1200" dirty="0">
                  <a:solidFill>
                    <a:schemeClr val="dk1"/>
                  </a:solidFill>
                  <a:latin typeface="+mn-lt"/>
                  <a:ea typeface="+mn-ea"/>
                  <a:cs typeface="+mn-cs"/>
                </a:rPr>
                <a:t>1927 · 织造工坊青年导师，首位女性导师</a:t>
              </a:r>
            </a:p>
          </p:txBody>
        </p:sp>
        <p:sp>
          <p:nvSpPr>
            <p:cNvPr id="46" name="TextBox 46"/>
            <p:cNvSpPr txBox="1"/>
            <p:nvPr/>
          </p:nvSpPr>
          <p:spPr>
            <a:xfrm>
              <a:off x="4525518" y="4635500"/>
              <a:ext cx="624630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莫霍利-纳吉 · 阿尔伯斯 </a:t>
              </a:r>
              <a:r>
                <a:rPr lang="zh-CN" sz="1200" dirty="0">
                  <a:solidFill>
                    <a:schemeClr val="dk1"/>
                  </a:solidFill>
                  <a:latin typeface="+mn-lt"/>
                  <a:ea typeface="+mn-ea"/>
                  <a:cs typeface="+mn-cs"/>
                </a:rPr>
                <a:t>1923 起共同主持预备课程（阿尔伯斯 1920 年入学）</a:t>
              </a:r>
            </a:p>
          </p:txBody>
        </p:sp>
        <p:sp>
          <p:nvSpPr>
            <p:cNvPr id="47" name="TextBox 47"/>
            <p:cNvSpPr txBox="1"/>
            <p:nvPr/>
          </p:nvSpPr>
          <p:spPr>
            <a:xfrm>
              <a:off x="3839718" y="5054600"/>
              <a:ext cx="170217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康定斯基 </a:t>
              </a:r>
              <a:r>
                <a:rPr lang="zh-CN" sz="1200" dirty="0">
                  <a:solidFill>
                    <a:schemeClr val="dk1"/>
                  </a:solidFill>
                  <a:latin typeface="+mn-lt"/>
                  <a:ea typeface="+mn-ea"/>
                  <a:cs typeface="+mn-cs"/>
                </a:rPr>
                <a:t>1922 加入</a:t>
              </a:r>
            </a:p>
          </p:txBody>
        </p:sp>
        <p:sp>
          <p:nvSpPr>
            <p:cNvPr id="48" name="TextBox 48"/>
            <p:cNvSpPr txBox="1"/>
            <p:nvPr/>
          </p:nvSpPr>
          <p:spPr>
            <a:xfrm>
              <a:off x="2468118" y="5473700"/>
              <a:ext cx="289759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克利 </a:t>
              </a:r>
              <a:r>
                <a:rPr lang="zh-CN" sz="1200" dirty="0">
                  <a:solidFill>
                    <a:schemeClr val="dk1"/>
                  </a:solidFill>
                  <a:latin typeface="+mn-lt"/>
                  <a:ea typeface="+mn-ea"/>
                  <a:cs typeface="+mn-cs"/>
                </a:rPr>
                <a:t>1920 加入 · 玻璃画工坊形式导师</a:t>
              </a:r>
            </a:p>
          </p:txBody>
        </p:sp>
        <p:sp>
          <p:nvSpPr>
            <p:cNvPr id="49" name="TextBox 49"/>
            <p:cNvSpPr txBox="1"/>
            <p:nvPr/>
          </p:nvSpPr>
          <p:spPr>
            <a:xfrm>
              <a:off x="1782318" y="5892800"/>
              <a:ext cx="330145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 xml:space="preserve">伊顿 </a:t>
              </a:r>
              <a:r>
                <a:rPr lang="zh-CN" sz="1200" dirty="0">
                  <a:solidFill>
                    <a:schemeClr val="dk1"/>
                  </a:solidFill>
                  <a:latin typeface="+mn-lt"/>
                  <a:ea typeface="+mn-ea"/>
                  <a:cs typeface="+mn-cs"/>
                </a:rPr>
                <a:t>1919 首批教员 · 主持预备课程至 1923</a:t>
              </a:r>
            </a:p>
          </p:txBody>
        </p:sp>
      </p:grpSp>
      <p:grpSp>
        <p:nvGrpSpPr>
          <p:cNvPr id="52" name="sources"/>
          <p:cNvGrpSpPr/>
          <p:nvPr/>
        </p:nvGrpSpPr>
        <p:grpSpPr>
          <a:xfrm>
            <a:off x="604647" y="6438900"/>
            <a:ext cx="5319954" cy="191643"/>
            <a:chOff x="604647" y="6438900"/>
            <a:chExt cx="5319954" cy="191643"/>
          </a:xfrm>
        </p:grpSpPr>
        <p:sp>
          <p:nvSpPr>
            <p:cNvPr id="51" name="TextBox 51"/>
            <p:cNvSpPr txBox="1"/>
            <p:nvPr/>
          </p:nvSpPr>
          <p:spPr>
            <a:xfrm>
              <a:off x="604647" y="6438900"/>
              <a:ext cx="5319954"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来源：Wikipedia「Bauhaus」「Josef Albers」「Gunta Stölzl」· Bauhaus Kooperation</a:t>
              </a:r>
            </a:p>
          </p:txBody>
        </p:sp>
      </p:grpSp>
      <p:sp>
        <p:nvSpPr>
          <p:cNvPr id="53" name="TextBox 53"/>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8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dessau-photo"/>
          <p:cNvPicPr>
            <a:picLocks noChangeAspect="1"/>
          </p:cNvPicPr>
          <p:nvPr/>
        </p:nvPicPr>
        <p:blipFill>
          <a:blip r:embed="rId2"/>
          <a:srcRect l="0" t="13928" r="0" b="13928"/>
          <a:stretch>
            <a:fillRect/>
          </a:stretch>
        </p:blipFill>
        <p:spPr>
          <a:xfrm>
            <a:off x="0" y="0"/>
            <a:ext cx="12192000" cy="6858000"/>
          </a:xfrm>
          <a:prstGeom prst="rect">
            <a:avLst/>
          </a:prstGeom>
        </p:spPr>
      </p:pic>
      <p:sp>
        <p:nvSpPr>
          <p:cNvPr id="3" name="photo-scrim"/>
          <p:cNvSpPr/>
          <p:nvPr/>
        </p:nvSpPr>
        <p:spPr>
          <a:xfrm>
            <a:off x="0" y="0"/>
            <a:ext cx="7810500" cy="6858000"/>
          </a:xfrm>
          <a:prstGeom prst="rect">
            <a:avLst/>
          </a:prstGeom>
          <a:gradFill>
            <a:gsLst>
              <a:gs pos="0">
                <a:schemeClr val="accent1">
                  <a:alpha val="90000"/>
                </a:schemeClr>
              </a:gs>
              <a:gs pos="55000">
                <a:schemeClr val="accent1">
                  <a:alpha val="62000"/>
                </a:schemeClr>
              </a:gs>
              <a:gs pos="100000">
                <a:schemeClr val="accent1">
                  <a:alpha val="0"/>
                </a:schemeClr>
              </a:gs>
            </a:gsLst>
            <a:lin ang="0" scaled="1"/>
          </a:gradFill>
          <a:ln>
            <a:noFill/>
          </a:ln>
        </p:spPr>
      </p:sp>
      <p:grpSp>
        <p:nvGrpSpPr>
          <p:cNvPr id="7" name="header"/>
          <p:cNvGrpSpPr/>
          <p:nvPr/>
        </p:nvGrpSpPr>
        <p:grpSpPr>
          <a:xfrm>
            <a:off x="594360" y="774700"/>
            <a:ext cx="3261360" cy="1526032"/>
            <a:chOff x="594360" y="774700"/>
            <a:chExt cx="3261360" cy="1526032"/>
          </a:xfrm>
        </p:grpSpPr>
        <p:sp>
          <p:nvSpPr>
            <p:cNvPr id="4" name="TextBox 4"/>
            <p:cNvSpPr txBox="1"/>
            <p:nvPr/>
          </p:nvSpPr>
          <p:spPr>
            <a:xfrm>
              <a:off x="603885" y="774700"/>
              <a:ext cx="2175850" cy="220028"/>
            </a:xfrm>
            <a:prstGeom prst="rect">
              <a:avLst/>
            </a:prstGeom>
            <a:noFill/>
            <a:ln>
              <a:noFill/>
            </a:ln>
          </p:spPr>
          <p:txBody>
            <a:bodyPr wrap="none" lIns="0" tIns="0" rIns="0" bIns="0" anchor="t" anchorCtr="0">
              <a:spAutoFit/>
            </a:bodyPr>
            <a:lstStyle/>
            <a:p>
              <a:pPr algn="l"/>
              <a:r>
                <a:rPr lang="zh-CN" sz="1120" spc="150" dirty="0">
                  <a:solidFill>
                    <a:srgbClr val="F2EEE5"/>
                  </a:solidFill>
                  <a:latin typeface="+mn-lt"/>
                  <a:ea typeface="+mn-ea"/>
                  <a:cs typeface="+mn-cs"/>
                </a:rPr>
                <a:t>06 · 作品 · DESSAU 1926</a:t>
              </a:r>
            </a:p>
          </p:txBody>
        </p:sp>
        <p:sp>
          <p:nvSpPr>
            <p:cNvPr id="5" name="TextBox 5"/>
            <p:cNvSpPr txBox="1"/>
            <p:nvPr/>
          </p:nvSpPr>
          <p:spPr>
            <a:xfrm>
              <a:off x="594360" y="1117600"/>
              <a:ext cx="3261360" cy="586740"/>
            </a:xfrm>
            <a:prstGeom prst="rect">
              <a:avLst/>
            </a:prstGeom>
            <a:noFill/>
            <a:ln>
              <a:noFill/>
            </a:ln>
          </p:spPr>
          <p:txBody>
            <a:bodyPr wrap="none" lIns="0" tIns="0" rIns="0" bIns="0" anchor="t" anchorCtr="0">
              <a:spAutoFit/>
            </a:bodyPr>
            <a:lstStyle/>
            <a:p>
              <a:pPr algn="l"/>
              <a:r>
                <a:rPr lang="zh-CN" sz="3000" b="1" dirty="0">
                  <a:solidFill>
                    <a:srgbClr val="F2EEE5"/>
                  </a:solidFill>
                  <a:latin typeface="+mn-lt"/>
                  <a:ea typeface="+mn-ea"/>
                  <a:cs typeface="+mn-cs"/>
                </a:rPr>
                <a:t>校舍本身就是宣言</a:t>
              </a:r>
            </a:p>
          </p:txBody>
        </p:sp>
        <p:sp>
          <p:nvSpPr>
            <p:cNvPr id="6" name="TextBox 6"/>
            <p:cNvSpPr txBox="1"/>
            <p:nvPr/>
          </p:nvSpPr>
          <p:spPr>
            <a:xfrm>
              <a:off x="601218" y="1663700"/>
              <a:ext cx="3160014" cy="637032"/>
            </a:xfrm>
            <a:prstGeom prst="rect">
              <a:avLst/>
            </a:prstGeom>
            <a:noFill/>
            <a:ln>
              <a:noFill/>
            </a:ln>
          </p:spPr>
          <p:txBody>
            <a:bodyPr wrap="none" lIns="0" tIns="0" rIns="0" bIns="0" anchor="t" anchorCtr="0">
              <a:spAutoFit/>
            </a:bodyPr>
            <a:lstStyle/>
            <a:p>
              <a:pPr algn="l">
                <a:lnSpc>
                  <a:spcPts val="2475"/>
                </a:lnSpc>
              </a:pPr>
              <a:r>
                <a:rPr lang="zh-CN" sz="1650" dirty="0">
                  <a:solidFill>
                    <a:srgbClr val="F2EEE5"/>
                  </a:solidFill>
                  <a:latin typeface="+mn-lt"/>
                  <a:ea typeface="+mn-ea"/>
                  <a:cs typeface="+mn-cs"/>
                </a:rPr>
                <a:t>德绍校舍把玻璃幕墙与功能分区，</a:t>
              </a:r>
              <a:br>
                <a:rPr lang="zh-CN" sz="1650" dirty="0">
                  <a:solidFill>
                    <a:srgbClr val="F2EEE5"/>
                  </a:solidFill>
                  <a:latin typeface="+mn-lt"/>
                  <a:ea typeface="+mn-ea"/>
                  <a:cs typeface="+mn-cs"/>
                </a:rPr>
              </a:br>
              <a:r>
                <a:rPr lang="zh-CN" sz="1650" dirty="0">
                  <a:solidFill>
                    <a:srgbClr val="F2EEE5"/>
                  </a:solidFill>
                  <a:latin typeface="+mn-lt"/>
                  <a:ea typeface="+mn-ea"/>
                  <a:cs typeface="+mn-cs"/>
                </a:rPr>
                <a:t>变成了一本可以走进去的教材。</a:t>
              </a:r>
            </a:p>
          </p:txBody>
        </p:sp>
      </p:grpSp>
      <p:grpSp>
        <p:nvGrpSpPr>
          <p:cNvPr id="12" name="build-dates"/>
          <p:cNvGrpSpPr/>
          <p:nvPr/>
        </p:nvGrpSpPr>
        <p:grpSpPr>
          <a:xfrm>
            <a:off x="599694" y="2781300"/>
            <a:ext cx="3400806" cy="1492631"/>
            <a:chOff x="599694" y="2781300"/>
            <a:chExt cx="3400806" cy="1492631"/>
          </a:xfrm>
        </p:grpSpPr>
        <p:sp>
          <p:nvSpPr>
            <p:cNvPr id="8" name="Line 8"/>
            <p:cNvSpPr/>
            <p:nvPr/>
          </p:nvSpPr>
          <p:spPr>
            <a:xfrm>
              <a:off x="609600" y="2781300"/>
              <a:ext cx="3390900" cy="9525"/>
            </a:xfrm>
            <a:custGeom>
              <a:avLst/>
              <a:gdLst/>
              <a:ahLst/>
              <a:cxnLst/>
              <a:rect l="l" t="t" r="r" b="b"/>
              <a:pathLst>
                <a:path w="3390900" h="9525">
                  <a:moveTo>
                    <a:pt x="0" y="0"/>
                  </a:moveTo>
                  <a:lnTo>
                    <a:pt x="3390900" y="0"/>
                  </a:lnTo>
                </a:path>
              </a:pathLst>
            </a:custGeom>
            <a:noFill/>
            <a:ln w="9525">
              <a:solidFill>
                <a:srgbClr val="F2EEE5"/>
              </a:solidFill>
            </a:ln>
          </p:spPr>
        </p:sp>
        <p:sp>
          <p:nvSpPr>
            <p:cNvPr id="9" name="TextBox 9"/>
            <p:cNvSpPr txBox="1"/>
            <p:nvPr/>
          </p:nvSpPr>
          <p:spPr>
            <a:xfrm>
              <a:off x="599694" y="2940050"/>
              <a:ext cx="1335184" cy="381381"/>
            </a:xfrm>
            <a:prstGeom prst="rect">
              <a:avLst/>
            </a:prstGeom>
            <a:noFill/>
            <a:ln>
              <a:noFill/>
            </a:ln>
          </p:spPr>
          <p:txBody>
            <a:bodyPr wrap="none" lIns="0" tIns="0" rIns="0" bIns="0" anchor="t" anchorCtr="0">
              <a:spAutoFit/>
            </a:bodyPr>
            <a:lstStyle/>
            <a:p>
              <a:pPr algn="l"/>
              <a:r>
                <a:rPr lang="zh-CN" sz="1950" b="1" dirty="0">
                  <a:solidFill>
                    <a:srgbClr val="F2EEE5"/>
                  </a:solidFill>
                  <a:latin typeface="+mn-lt"/>
                  <a:ea typeface="+mn-ea"/>
                  <a:cs typeface="+mn-cs"/>
                </a:rPr>
                <a:t xml:space="preserve">1925.9 </a:t>
              </a:r>
              <a:r>
                <a:rPr lang="zh-CN" sz="1200" dirty="0">
                  <a:solidFill>
                    <a:srgbClr val="F2EEE5"/>
                  </a:solidFill>
                  <a:latin typeface="+mn-lt"/>
                  <a:ea typeface="+mn-ea"/>
                  <a:cs typeface="+mn-cs"/>
                </a:rPr>
                <a:t>动工</a:t>
              </a:r>
            </a:p>
          </p:txBody>
        </p:sp>
        <p:sp>
          <p:nvSpPr>
            <p:cNvPr id="10" name="TextBox 10"/>
            <p:cNvSpPr txBox="1"/>
            <p:nvPr/>
          </p:nvSpPr>
          <p:spPr>
            <a:xfrm>
              <a:off x="599694" y="3416300"/>
              <a:ext cx="1789981" cy="381381"/>
            </a:xfrm>
            <a:prstGeom prst="rect">
              <a:avLst/>
            </a:prstGeom>
            <a:noFill/>
            <a:ln>
              <a:noFill/>
            </a:ln>
          </p:spPr>
          <p:txBody>
            <a:bodyPr wrap="none" lIns="0" tIns="0" rIns="0" bIns="0" anchor="t" anchorCtr="0">
              <a:spAutoFit/>
            </a:bodyPr>
            <a:lstStyle/>
            <a:p>
              <a:pPr algn="l"/>
              <a:r>
                <a:rPr lang="zh-CN" sz="1950" b="1" dirty="0">
                  <a:solidFill>
                    <a:srgbClr val="F2EEE5"/>
                  </a:solidFill>
                  <a:latin typeface="+mn-lt"/>
                  <a:ea typeface="+mn-ea"/>
                  <a:cs typeface="+mn-cs"/>
                </a:rPr>
                <a:t xml:space="preserve">1926.3.21 </a:t>
              </a:r>
              <a:r>
                <a:rPr lang="zh-CN" sz="1200" dirty="0">
                  <a:solidFill>
                    <a:srgbClr val="F2EEE5"/>
                  </a:solidFill>
                  <a:latin typeface="+mn-lt"/>
                  <a:ea typeface="+mn-ea"/>
                  <a:cs typeface="+mn-cs"/>
                </a:rPr>
                <a:t>封顶</a:t>
              </a:r>
            </a:p>
          </p:txBody>
        </p:sp>
        <p:sp>
          <p:nvSpPr>
            <p:cNvPr id="11" name="TextBox 11"/>
            <p:cNvSpPr txBox="1"/>
            <p:nvPr/>
          </p:nvSpPr>
          <p:spPr>
            <a:xfrm>
              <a:off x="599694" y="3892550"/>
              <a:ext cx="1789981" cy="381381"/>
            </a:xfrm>
            <a:prstGeom prst="rect">
              <a:avLst/>
            </a:prstGeom>
            <a:noFill/>
            <a:ln>
              <a:noFill/>
            </a:ln>
          </p:spPr>
          <p:txBody>
            <a:bodyPr wrap="none" lIns="0" tIns="0" rIns="0" bIns="0" anchor="t" anchorCtr="0">
              <a:spAutoFit/>
            </a:bodyPr>
            <a:lstStyle/>
            <a:p>
              <a:pPr algn="l"/>
              <a:r>
                <a:rPr lang="zh-CN" sz="1950" b="1" dirty="0">
                  <a:solidFill>
                    <a:schemeClr val="accent2"/>
                  </a:solidFill>
                  <a:latin typeface="+mn-lt"/>
                  <a:ea typeface="+mn-ea"/>
                  <a:cs typeface="+mn-cs"/>
                </a:rPr>
                <a:t xml:space="preserve">1926.12.4 </a:t>
              </a:r>
              <a:r>
                <a:rPr lang="zh-CN" sz="1200" dirty="0">
                  <a:solidFill>
                    <a:srgbClr val="F2EEE5"/>
                  </a:solidFill>
                  <a:latin typeface="+mn-lt"/>
                  <a:ea typeface="+mn-ea"/>
                  <a:cs typeface="+mn-cs"/>
                </a:rPr>
                <a:t>落成</a:t>
              </a:r>
            </a:p>
          </p:txBody>
        </p:sp>
      </p:grpSp>
      <p:grpSp>
        <p:nvGrpSpPr>
          <p:cNvPr id="18" name="building-parts"/>
          <p:cNvGrpSpPr/>
          <p:nvPr/>
        </p:nvGrpSpPr>
        <p:grpSpPr>
          <a:xfrm>
            <a:off x="601218" y="4591050"/>
            <a:ext cx="3792855" cy="1530096"/>
            <a:chOff x="601218" y="4591050"/>
            <a:chExt cx="3792855" cy="1530096"/>
          </a:xfrm>
        </p:grpSpPr>
        <p:sp>
          <p:nvSpPr>
            <p:cNvPr id="13" name="Line 13"/>
            <p:cNvSpPr/>
            <p:nvPr/>
          </p:nvSpPr>
          <p:spPr>
            <a:xfrm>
              <a:off x="609600" y="4591050"/>
              <a:ext cx="3390900" cy="9525"/>
            </a:xfrm>
            <a:custGeom>
              <a:avLst/>
              <a:gdLst/>
              <a:ahLst/>
              <a:cxnLst/>
              <a:rect l="l" t="t" r="r" b="b"/>
              <a:pathLst>
                <a:path w="3390900" h="9525">
                  <a:moveTo>
                    <a:pt x="0" y="0"/>
                  </a:moveTo>
                  <a:lnTo>
                    <a:pt x="3390900" y="0"/>
                  </a:lnTo>
                </a:path>
              </a:pathLst>
            </a:custGeom>
            <a:noFill/>
            <a:ln w="9525">
              <a:solidFill>
                <a:srgbClr val="F2EEE5"/>
              </a:solidFill>
            </a:ln>
          </p:spPr>
        </p:sp>
        <p:sp>
          <p:nvSpPr>
            <p:cNvPr id="14" name="TextBox 14"/>
            <p:cNvSpPr txBox="1"/>
            <p:nvPr/>
          </p:nvSpPr>
          <p:spPr>
            <a:xfrm>
              <a:off x="601218" y="4730750"/>
              <a:ext cx="2904363" cy="322707"/>
            </a:xfrm>
            <a:prstGeom prst="rect">
              <a:avLst/>
            </a:prstGeom>
            <a:noFill/>
            <a:ln>
              <a:noFill/>
            </a:ln>
          </p:spPr>
          <p:txBody>
            <a:bodyPr wrap="none" lIns="0" tIns="0" rIns="0" bIns="0" anchor="t" anchorCtr="0">
              <a:spAutoFit/>
            </a:bodyPr>
            <a:lstStyle/>
            <a:p>
              <a:pPr algn="l"/>
              <a:r>
                <a:rPr lang="zh-CN" sz="1650" b="1" dirty="0">
                  <a:solidFill>
                    <a:srgbClr val="F2EEE5"/>
                  </a:solidFill>
                  <a:latin typeface="+mn-lt"/>
                  <a:ea typeface="+mn-ea"/>
                  <a:cs typeface="+mn-cs"/>
                </a:rPr>
                <a:t>工坊翼</a:t>
              </a:r>
              <a:r>
                <a:rPr lang="zh-CN" sz="1650" dirty="0">
                  <a:solidFill>
                    <a:srgbClr val="F2EEE5"/>
                  </a:solidFill>
                  <a:latin typeface="+mn-lt"/>
                  <a:ea typeface="+mn-ea"/>
                  <a:cs typeface="+mn-cs"/>
                </a:rPr>
                <a:t>：贯通三层的玻璃幕墙</a:t>
              </a:r>
            </a:p>
          </p:txBody>
        </p:sp>
        <p:sp>
          <p:nvSpPr>
            <p:cNvPr id="15" name="TextBox 15"/>
            <p:cNvSpPr txBox="1"/>
            <p:nvPr/>
          </p:nvSpPr>
          <p:spPr>
            <a:xfrm>
              <a:off x="601218" y="5073650"/>
              <a:ext cx="3437458" cy="322707"/>
            </a:xfrm>
            <a:prstGeom prst="rect">
              <a:avLst/>
            </a:prstGeom>
            <a:noFill/>
            <a:ln>
              <a:noFill/>
            </a:ln>
          </p:spPr>
          <p:txBody>
            <a:bodyPr wrap="none" lIns="0" tIns="0" rIns="0" bIns="0" anchor="t" anchorCtr="0">
              <a:spAutoFit/>
            </a:bodyPr>
            <a:lstStyle/>
            <a:p>
              <a:pPr algn="l"/>
              <a:r>
                <a:rPr lang="zh-CN" sz="1650" b="1" dirty="0">
                  <a:solidFill>
                    <a:srgbClr val="F2EEE5"/>
                  </a:solidFill>
                  <a:latin typeface="+mn-lt"/>
                  <a:ea typeface="+mn-ea"/>
                  <a:cs typeface="+mn-cs"/>
                </a:rPr>
                <a:t>普雷勒楼</a:t>
              </a:r>
              <a:r>
                <a:rPr lang="zh-CN" sz="1650" dirty="0">
                  <a:solidFill>
                    <a:srgbClr val="F2EEE5"/>
                  </a:solidFill>
                  <a:latin typeface="+mn-lt"/>
                  <a:ea typeface="+mn-ea"/>
                  <a:cs typeface="+mn-cs"/>
                </a:rPr>
                <a:t>：五层，28 间师生工作室</a:t>
              </a:r>
            </a:p>
          </p:txBody>
        </p:sp>
        <p:sp>
          <p:nvSpPr>
            <p:cNvPr id="16" name="TextBox 16"/>
            <p:cNvSpPr txBox="1"/>
            <p:nvPr/>
          </p:nvSpPr>
          <p:spPr>
            <a:xfrm>
              <a:off x="601218" y="5416550"/>
              <a:ext cx="3792855" cy="322707"/>
            </a:xfrm>
            <a:prstGeom prst="rect">
              <a:avLst/>
            </a:prstGeom>
            <a:noFill/>
            <a:ln>
              <a:noFill/>
            </a:ln>
          </p:spPr>
          <p:txBody>
            <a:bodyPr wrap="none" lIns="0" tIns="0" rIns="0" bIns="0" anchor="t" anchorCtr="0">
              <a:spAutoFit/>
            </a:bodyPr>
            <a:lstStyle/>
            <a:p>
              <a:pPr algn="l"/>
              <a:r>
                <a:rPr lang="zh-CN" sz="1650" b="1" dirty="0">
                  <a:solidFill>
                    <a:srgbClr val="F2EEE5"/>
                  </a:solidFill>
                  <a:latin typeface="+mn-lt"/>
                  <a:ea typeface="+mn-ea"/>
                  <a:cs typeface="+mn-cs"/>
                </a:rPr>
                <a:t>桥楼</a:t>
              </a:r>
              <a:r>
                <a:rPr lang="zh-CN" sz="1650" dirty="0">
                  <a:solidFill>
                    <a:srgbClr val="F2EEE5"/>
                  </a:solidFill>
                  <a:latin typeface="+mn-lt"/>
                  <a:ea typeface="+mn-ea"/>
                  <a:cs typeface="+mn-cs"/>
                </a:rPr>
                <a:t>：行政与格罗皮乌斯的建筑事务所</a:t>
              </a:r>
            </a:p>
          </p:txBody>
        </p:sp>
        <p:sp>
          <p:nvSpPr>
            <p:cNvPr id="17" name="TextBox 17"/>
            <p:cNvSpPr txBox="1"/>
            <p:nvPr/>
          </p:nvSpPr>
          <p:spPr>
            <a:xfrm>
              <a:off x="603504" y="5886450"/>
              <a:ext cx="1788033" cy="234696"/>
            </a:xfrm>
            <a:prstGeom prst="rect">
              <a:avLst/>
            </a:prstGeom>
            <a:noFill/>
            <a:ln>
              <a:noFill/>
            </a:ln>
          </p:spPr>
          <p:txBody>
            <a:bodyPr wrap="none" lIns="0" tIns="0" rIns="0" bIns="0" anchor="t" anchorCtr="0">
              <a:spAutoFit/>
            </a:bodyPr>
            <a:lstStyle/>
            <a:p>
              <a:pPr algn="l"/>
              <a:r>
                <a:rPr lang="zh-CN" sz="1200" b="1" spc="150" dirty="0">
                  <a:solidFill>
                    <a:schemeClr val="accent3"/>
                  </a:solidFill>
                  <a:latin typeface="+mn-lt"/>
                  <a:ea typeface="+mn-ea"/>
                  <a:cs typeface="+mn-cs"/>
                </a:rPr>
                <a:t>1996 年列入世界遗产</a:t>
              </a:r>
            </a:p>
          </p:txBody>
        </p:sp>
      </p:grpSp>
      <p:grpSp>
        <p:nvGrpSpPr>
          <p:cNvPr id="23" name="glass-callout"/>
          <p:cNvGrpSpPr/>
          <p:nvPr/>
        </p:nvGrpSpPr>
        <p:grpSpPr>
          <a:xfrm>
            <a:off x="6391275" y="3810000"/>
            <a:ext cx="1647825" cy="304800"/>
            <a:chOff x="6391275" y="3810000"/>
            <a:chExt cx="1647825" cy="304800"/>
          </a:xfrm>
        </p:grpSpPr>
        <p:sp>
          <p:nvSpPr>
            <p:cNvPr id="19" name="Ellipse 19"/>
            <p:cNvSpPr/>
            <p:nvPr/>
          </p:nvSpPr>
          <p:spPr>
            <a:xfrm>
              <a:off x="6391275" y="3876675"/>
              <a:ext cx="171450" cy="171450"/>
            </a:xfrm>
            <a:prstGeom prst="ellipse">
              <a:avLst/>
            </a:prstGeom>
            <a:noFill/>
            <a:ln w="28575">
              <a:solidFill>
                <a:schemeClr val="accent2"/>
              </a:solidFill>
            </a:ln>
          </p:spPr>
        </p:sp>
        <p:sp>
          <p:nvSpPr>
            <p:cNvPr id="20" name="Line 20"/>
            <p:cNvSpPr/>
            <p:nvPr/>
          </p:nvSpPr>
          <p:spPr>
            <a:xfrm>
              <a:off x="6562725" y="3962400"/>
              <a:ext cx="219075" cy="9525"/>
            </a:xfrm>
            <a:custGeom>
              <a:avLst/>
              <a:gdLst/>
              <a:ahLst/>
              <a:cxnLst/>
              <a:rect l="l" t="t" r="r" b="b"/>
              <a:pathLst>
                <a:path w="219075" h="9525">
                  <a:moveTo>
                    <a:pt x="0" y="0"/>
                  </a:moveTo>
                  <a:lnTo>
                    <a:pt x="219075" y="0"/>
                  </a:lnTo>
                </a:path>
              </a:pathLst>
            </a:custGeom>
            <a:noFill/>
            <a:ln w="19050">
              <a:solidFill>
                <a:schemeClr val="accent2"/>
              </a:solidFill>
            </a:ln>
          </p:spPr>
        </p:sp>
        <p:sp>
          <p:nvSpPr>
            <p:cNvPr id="21" name="Rectangle 21"/>
            <p:cNvSpPr/>
            <p:nvPr/>
          </p:nvSpPr>
          <p:spPr>
            <a:xfrm>
              <a:off x="6781800" y="3810000"/>
              <a:ext cx="1257300" cy="304800"/>
            </a:xfrm>
            <a:prstGeom prst="rect">
              <a:avLst/>
            </a:prstGeom>
            <a:solidFill>
              <a:schemeClr val="accent1"/>
            </a:solidFill>
            <a:ln>
              <a:noFill/>
            </a:ln>
          </p:spPr>
        </p:sp>
        <p:sp>
          <p:nvSpPr>
            <p:cNvPr id="22" name="TextBox 22"/>
            <p:cNvSpPr txBox="1"/>
            <p:nvPr/>
          </p:nvSpPr>
          <p:spPr>
            <a:xfrm>
              <a:off x="6890004" y="3867150"/>
              <a:ext cx="1143000" cy="234696"/>
            </a:xfrm>
            <a:prstGeom prst="rect">
              <a:avLst/>
            </a:prstGeom>
            <a:noFill/>
            <a:ln>
              <a:noFill/>
            </a:ln>
          </p:spPr>
          <p:txBody>
            <a:bodyPr wrap="none" lIns="0" tIns="0" rIns="0" bIns="0" anchor="t" anchorCtr="0">
              <a:spAutoFit/>
            </a:bodyPr>
            <a:lstStyle/>
            <a:p>
              <a:pPr algn="l"/>
              <a:r>
                <a:rPr lang="zh-CN" sz="1200" dirty="0">
                  <a:solidFill>
                    <a:srgbClr val="F2EEE5"/>
                  </a:solidFill>
                  <a:latin typeface="+mn-lt"/>
                  <a:ea typeface="+mn-ea"/>
                  <a:cs typeface="+mn-cs"/>
                </a:rPr>
                <a:t>工坊翼玻璃幕墙</a:t>
              </a:r>
            </a:p>
          </p:txBody>
        </p:sp>
      </p:grpSp>
      <p:grpSp>
        <p:nvGrpSpPr>
          <p:cNvPr id="26" name="credit"/>
          <p:cNvGrpSpPr/>
          <p:nvPr/>
        </p:nvGrpSpPr>
        <p:grpSpPr>
          <a:xfrm>
            <a:off x="8062081" y="6477000"/>
            <a:ext cx="3520319" cy="239268"/>
            <a:chOff x="8062081" y="6477000"/>
            <a:chExt cx="3520319" cy="239268"/>
          </a:xfrm>
        </p:grpSpPr>
        <p:sp>
          <p:nvSpPr>
            <p:cNvPr id="24" name="Rectangle 24"/>
            <p:cNvSpPr/>
            <p:nvPr/>
          </p:nvSpPr>
          <p:spPr>
            <a:xfrm>
              <a:off x="8115300" y="6477000"/>
              <a:ext cx="3467100" cy="228600"/>
            </a:xfrm>
            <a:prstGeom prst="rect">
              <a:avLst/>
            </a:prstGeom>
            <a:solidFill>
              <a:schemeClr val="accent1">
                <a:alpha val="75000"/>
              </a:schemeClr>
            </a:solidFill>
            <a:ln>
              <a:noFill/>
            </a:ln>
          </p:spPr>
        </p:sp>
        <p:sp>
          <p:nvSpPr>
            <p:cNvPr id="25" name="TextBox 25"/>
            <p:cNvSpPr txBox="1"/>
            <p:nvPr/>
          </p:nvSpPr>
          <p:spPr>
            <a:xfrm>
              <a:off x="8062081" y="6524625"/>
              <a:ext cx="3449072" cy="191643"/>
            </a:xfrm>
            <a:prstGeom prst="rect">
              <a:avLst/>
            </a:prstGeom>
            <a:noFill/>
            <a:ln>
              <a:noFill/>
            </a:ln>
          </p:spPr>
          <p:txBody>
            <a:bodyPr wrap="none" lIns="0" tIns="0" rIns="0" bIns="0" anchor="t" anchorCtr="0">
              <a:spAutoFit/>
            </a:bodyPr>
            <a:lstStyle/>
            <a:p>
              <a:pPr algn="r"/>
              <a:r>
                <a:rPr lang="zh-CN" sz="980" dirty="0">
                  <a:solidFill>
                    <a:srgbClr val="F2EEE5"/>
                  </a:solidFill>
                  <a:latin typeface="+mn-lt"/>
                  <a:ea typeface="+mn-ea"/>
                  <a:cs typeface="+mn-cs"/>
                </a:rPr>
                <a:t>图 © JensKunstfreund / Wikimedia / CC BY-SA 4.0 · 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3" name="!!object-field"/>
          <p:cNvGrpSpPr/>
          <p:nvPr/>
        </p:nvGrpSpPr>
        <p:grpSpPr>
          <a:xfrm>
            <a:off x="1066800" y="1181100"/>
            <a:ext cx="5105400" cy="5105400"/>
            <a:chOff x="1066800" y="1181100"/>
            <a:chExt cx="5105400" cy="5105400"/>
          </a:xfrm>
        </p:grpSpPr>
        <p:sp>
          <p:nvSpPr>
            <p:cNvPr id="2" name="Ellipse 2"/>
            <p:cNvSpPr/>
            <p:nvPr/>
          </p:nvSpPr>
          <p:spPr>
            <a:xfrm>
              <a:off x="1066800" y="1181100"/>
              <a:ext cx="5105400" cy="5105400"/>
            </a:xfrm>
            <a:prstGeom prst="ellipse">
              <a:avLst/>
            </a:prstGeom>
            <a:solidFill>
              <a:schemeClr val="lt2"/>
            </a:solidFill>
            <a:ln>
              <a:noFill/>
            </a:ln>
          </p:spPr>
        </p:sp>
      </p:grpSp>
      <p:grpSp>
        <p:nvGrpSpPr>
          <p:cNvPr id="7" name="object-photo"/>
          <p:cNvGrpSpPr/>
          <p:nvPr/>
        </p:nvGrpSpPr>
        <p:grpSpPr>
          <a:xfrm>
            <a:off x="1366647" y="1743075"/>
            <a:ext cx="4500753" cy="4487418"/>
            <a:chOff x="1366647" y="1743075"/>
            <a:chExt cx="4500753" cy="4487418"/>
          </a:xfrm>
        </p:grpSpPr>
        <p:pic>
          <p:nvPicPr>
            <p:cNvPr id="4" name="Image 4"/>
            <p:cNvPicPr>
              <a:picLocks noChangeAspect="1"/>
            </p:cNvPicPr>
            <p:nvPr/>
          </p:nvPicPr>
          <p:blipFill>
            <a:blip r:embed="rId2"/>
            <a:stretch>
              <a:fillRect/>
            </a:stretch>
          </p:blipFill>
          <p:spPr>
            <a:xfrm>
              <a:off x="1371600" y="1743075"/>
              <a:ext cx="4495800" cy="3981450"/>
            </a:xfrm>
            <a:prstGeom prst="rect">
              <a:avLst/>
            </a:prstGeom>
          </p:spPr>
        </p:pic>
        <p:sp>
          <p:nvSpPr>
            <p:cNvPr id="5" name="TextBox 5"/>
            <p:cNvSpPr txBox="1"/>
            <p:nvPr/>
          </p:nvSpPr>
          <p:spPr>
            <a:xfrm>
              <a:off x="1366647" y="5848350"/>
              <a:ext cx="4277764"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左：尤克尔玻璃底座版（1923–24） 右：瓦根菲尔德金属底座版（1924）</a:t>
              </a:r>
            </a:p>
          </p:txBody>
        </p:sp>
        <p:sp>
          <p:nvSpPr>
            <p:cNvPr id="6" name="TextBox 6"/>
            <p:cNvSpPr txBox="1"/>
            <p:nvPr/>
          </p:nvSpPr>
          <p:spPr>
            <a:xfrm>
              <a:off x="1366647" y="6038850"/>
              <a:ext cx="2420198"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图 © sailko / Wikimedia / CC BY-SA 3.0</a:t>
              </a:r>
            </a:p>
          </p:txBody>
        </p:sp>
      </p:grpSp>
      <p:grpSp>
        <p:nvGrpSpPr>
          <p:cNvPr id="11" name="header"/>
          <p:cNvGrpSpPr/>
          <p:nvPr/>
        </p:nvGrpSpPr>
        <p:grpSpPr>
          <a:xfrm>
            <a:off x="6652260" y="774700"/>
            <a:ext cx="4069080" cy="1487932"/>
            <a:chOff x="6652260" y="774700"/>
            <a:chExt cx="4069080" cy="1487932"/>
          </a:xfrm>
        </p:grpSpPr>
        <p:sp>
          <p:nvSpPr>
            <p:cNvPr id="8" name="TextBox 8"/>
            <p:cNvSpPr txBox="1"/>
            <p:nvPr/>
          </p:nvSpPr>
          <p:spPr>
            <a:xfrm>
              <a:off x="6661785" y="774700"/>
              <a:ext cx="2893309"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07 · 作品 ① · METALLWERKSTATT</a:t>
              </a:r>
            </a:p>
          </p:txBody>
        </p:sp>
        <p:sp>
          <p:nvSpPr>
            <p:cNvPr id="9" name="TextBox 9"/>
            <p:cNvSpPr txBox="1"/>
            <p:nvPr/>
          </p:nvSpPr>
          <p:spPr>
            <a:xfrm>
              <a:off x="6652260" y="1060450"/>
              <a:ext cx="40690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一盏灯里的圆、柱、球</a:t>
              </a:r>
            </a:p>
          </p:txBody>
        </p:sp>
        <p:sp>
          <p:nvSpPr>
            <p:cNvPr id="10" name="TextBox 10"/>
            <p:cNvSpPr txBox="1"/>
            <p:nvPr/>
          </p:nvSpPr>
          <p:spPr>
            <a:xfrm>
              <a:off x="6659118" y="1625600"/>
              <a:ext cx="3568637"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1924 年的 MT8 台灯以纯几何形构成，</a:t>
              </a:r>
              <a:br>
                <a:rPr lang="zh-CN" sz="1650" dirty="0">
                  <a:solidFill>
                    <a:schemeClr val="dk1"/>
                  </a:solidFill>
                  <a:latin typeface="+mn-lt"/>
                  <a:ea typeface="+mn-ea"/>
                  <a:cs typeface="+mn-cs"/>
                </a:rPr>
              </a:br>
              <a:r>
                <a:rPr lang="zh-CN" sz="1650" dirty="0">
                  <a:solidFill>
                    <a:schemeClr val="dk1"/>
                  </a:solidFill>
                  <a:latin typeface="+mn-lt"/>
                  <a:ea typeface="+mn-ea"/>
                  <a:cs typeface="+mn-cs"/>
                </a:rPr>
                <a:t>初期推销却因</a:t>
              </a:r>
              <a:r>
                <a:rPr lang="zh-CN" sz="1650" b="1" dirty="0">
                  <a:solidFill>
                    <a:schemeClr val="accent2"/>
                  </a:solidFill>
                  <a:latin typeface="+mn-lt"/>
                  <a:ea typeface="+mn-ea"/>
                  <a:cs typeface="+mn-cs"/>
                </a:rPr>
                <a:t>仍靠手工组装</a:t>
              </a:r>
              <a:r>
                <a:rPr lang="zh-CN" sz="1650" dirty="0">
                  <a:solidFill>
                    <a:schemeClr val="dk1"/>
                  </a:solidFill>
                  <a:latin typeface="+mn-lt"/>
                  <a:ea typeface="+mn-ea"/>
                  <a:cs typeface="+mn-cs"/>
                </a:rPr>
                <a:t>而失败。</a:t>
              </a:r>
            </a:p>
          </p:txBody>
        </p:sp>
      </p:grpSp>
      <p:grpSp>
        <p:nvGrpSpPr>
          <p:cNvPr id="28" name="object-specs"/>
          <p:cNvGrpSpPr/>
          <p:nvPr/>
        </p:nvGrpSpPr>
        <p:grpSpPr>
          <a:xfrm>
            <a:off x="6661404" y="2571750"/>
            <a:ext cx="4920996" cy="1685925"/>
            <a:chOff x="6661404" y="2571750"/>
            <a:chExt cx="4920996" cy="1685925"/>
          </a:xfrm>
        </p:grpSpPr>
        <p:grpSp>
          <p:nvGrpSpPr>
            <p:cNvPr id="17" name="Group 17"/>
            <p:cNvGrpSpPr/>
            <p:nvPr/>
          </p:nvGrpSpPr>
          <p:grpSpPr>
            <a:xfrm>
              <a:off x="6667500" y="2571750"/>
              <a:ext cx="4914900" cy="1685925"/>
              <a:chOff x="6667500" y="2571750"/>
              <a:chExt cx="4914900" cy="1685925"/>
            </a:xfrm>
          </p:grpSpPr>
          <p:sp>
            <p:nvSpPr>
              <p:cNvPr id="12" name="Line 12"/>
              <p:cNvSpPr/>
              <p:nvPr/>
            </p:nvSpPr>
            <p:spPr>
              <a:xfrm>
                <a:off x="6667500" y="25717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3" name="Line 13"/>
              <p:cNvSpPr/>
              <p:nvPr/>
            </p:nvSpPr>
            <p:spPr>
              <a:xfrm>
                <a:off x="6667500" y="29908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4" name="Line 14"/>
              <p:cNvSpPr/>
              <p:nvPr/>
            </p:nvSpPr>
            <p:spPr>
              <a:xfrm>
                <a:off x="6667500" y="34099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5" name="Line 15"/>
              <p:cNvSpPr/>
              <p:nvPr/>
            </p:nvSpPr>
            <p:spPr>
              <a:xfrm>
                <a:off x="6667500" y="38290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6" name="Line 16"/>
              <p:cNvSpPr/>
              <p:nvPr/>
            </p:nvSpPr>
            <p:spPr>
              <a:xfrm>
                <a:off x="6667500" y="4248150"/>
                <a:ext cx="4914900" cy="9525"/>
              </a:xfrm>
              <a:custGeom>
                <a:avLst/>
                <a:gdLst/>
                <a:ahLst/>
                <a:cxnLst/>
                <a:rect l="l" t="t" r="r" b="b"/>
                <a:pathLst>
                  <a:path w="4914900" h="9525">
                    <a:moveTo>
                      <a:pt x="0" y="0"/>
                    </a:moveTo>
                    <a:lnTo>
                      <a:pt x="4914900" y="0"/>
                    </a:lnTo>
                  </a:path>
                </a:pathLst>
              </a:custGeom>
              <a:noFill/>
              <a:ln w="9525">
                <a:solidFill>
                  <a:schemeClr val="accent6"/>
                </a:solidFill>
              </a:ln>
            </p:spPr>
          </p:sp>
        </p:grpSp>
        <p:grpSp>
          <p:nvGrpSpPr>
            <p:cNvPr id="22" name="Group 22"/>
            <p:cNvGrpSpPr/>
            <p:nvPr/>
          </p:nvGrpSpPr>
          <p:grpSpPr>
            <a:xfrm>
              <a:off x="6661404" y="2686050"/>
              <a:ext cx="496824" cy="1491996"/>
              <a:chOff x="6661404" y="2686050"/>
              <a:chExt cx="496824" cy="1491996"/>
            </a:xfrm>
          </p:grpSpPr>
          <p:sp>
            <p:nvSpPr>
              <p:cNvPr id="18" name="TextBox 18"/>
              <p:cNvSpPr txBox="1"/>
              <p:nvPr/>
            </p:nvSpPr>
            <p:spPr>
              <a:xfrm>
                <a:off x="6661404" y="2686050"/>
                <a:ext cx="4968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设计者</a:t>
                </a:r>
              </a:p>
            </p:txBody>
          </p:sp>
          <p:sp>
            <p:nvSpPr>
              <p:cNvPr id="19" name="TextBox 19"/>
              <p:cNvSpPr txBox="1"/>
              <p:nvPr/>
            </p:nvSpPr>
            <p:spPr>
              <a:xfrm>
                <a:off x="6661404" y="31051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工坊</a:t>
                </a:r>
              </a:p>
            </p:txBody>
          </p:sp>
          <p:sp>
            <p:nvSpPr>
              <p:cNvPr id="20" name="TextBox 20"/>
              <p:cNvSpPr txBox="1"/>
              <p:nvPr/>
            </p:nvSpPr>
            <p:spPr>
              <a:xfrm>
                <a:off x="6661404" y="35242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首批</a:t>
                </a:r>
              </a:p>
            </p:txBody>
          </p:sp>
          <p:sp>
            <p:nvSpPr>
              <p:cNvPr id="21" name="TextBox 21"/>
              <p:cNvSpPr txBox="1"/>
              <p:nvPr/>
            </p:nvSpPr>
            <p:spPr>
              <a:xfrm>
                <a:off x="6661404" y="39433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版本</a:t>
                </a:r>
              </a:p>
            </p:txBody>
          </p:sp>
        </p:grpSp>
        <p:grpSp>
          <p:nvGrpSpPr>
            <p:cNvPr id="27" name="Group 27"/>
            <p:cNvGrpSpPr/>
            <p:nvPr/>
          </p:nvGrpSpPr>
          <p:grpSpPr>
            <a:xfrm>
              <a:off x="7611618" y="2644775"/>
              <a:ext cx="2049189" cy="1580007"/>
              <a:chOff x="7611618" y="2644775"/>
              <a:chExt cx="2049189" cy="1580007"/>
            </a:xfrm>
          </p:grpSpPr>
          <p:sp>
            <p:nvSpPr>
              <p:cNvPr id="23" name="TextBox 23"/>
              <p:cNvSpPr txBox="1"/>
              <p:nvPr/>
            </p:nvSpPr>
            <p:spPr>
              <a:xfrm>
                <a:off x="7611618" y="2644775"/>
                <a:ext cx="2049189"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瓦根菲尔德 + 尤克尔</a:t>
                </a:r>
              </a:p>
            </p:txBody>
          </p:sp>
          <p:sp>
            <p:nvSpPr>
              <p:cNvPr id="24" name="TextBox 24"/>
              <p:cNvSpPr txBox="1"/>
              <p:nvPr/>
            </p:nvSpPr>
            <p:spPr>
              <a:xfrm>
                <a:off x="7611618" y="3063875"/>
                <a:ext cx="1349502"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魏玛金属工坊</a:t>
                </a:r>
              </a:p>
            </p:txBody>
          </p:sp>
          <p:sp>
            <p:nvSpPr>
              <p:cNvPr id="25" name="TextBox 25"/>
              <p:cNvSpPr txBox="1"/>
              <p:nvPr/>
            </p:nvSpPr>
            <p:spPr>
              <a:xfrm>
                <a:off x="7611618" y="3482975"/>
                <a:ext cx="1016318"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1924 年春</a:t>
                </a:r>
              </a:p>
            </p:txBody>
          </p:sp>
          <p:sp>
            <p:nvSpPr>
              <p:cNvPr id="26" name="TextBox 26"/>
              <p:cNvSpPr txBox="1"/>
              <p:nvPr/>
            </p:nvSpPr>
            <p:spPr>
              <a:xfrm>
                <a:off x="7611618" y="3902075"/>
                <a:ext cx="2049189"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金属底座 · 玻璃底座</a:t>
                </a:r>
              </a:p>
            </p:txBody>
          </p:sp>
        </p:grpSp>
      </p:grpSp>
      <p:grpSp>
        <p:nvGrpSpPr>
          <p:cNvPr id="36" name="geometry-key"/>
          <p:cNvGrpSpPr/>
          <p:nvPr/>
        </p:nvGrpSpPr>
        <p:grpSpPr>
          <a:xfrm>
            <a:off x="6661785" y="4546600"/>
            <a:ext cx="4631607" cy="939800"/>
            <a:chOff x="6661785" y="4546600"/>
            <a:chExt cx="4631607" cy="939800"/>
          </a:xfrm>
        </p:grpSpPr>
        <p:sp>
          <p:nvSpPr>
            <p:cNvPr id="29" name="TextBox 29"/>
            <p:cNvSpPr txBox="1"/>
            <p:nvPr/>
          </p:nvSpPr>
          <p:spPr>
            <a:xfrm>
              <a:off x="6661785" y="4546600"/>
              <a:ext cx="1188009"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拆成三个基本形</a:t>
              </a:r>
            </a:p>
          </p:txBody>
        </p:sp>
        <p:sp>
          <p:nvSpPr>
            <p:cNvPr id="30" name="Ellipse 30"/>
            <p:cNvSpPr/>
            <p:nvPr/>
          </p:nvSpPr>
          <p:spPr>
            <a:xfrm>
              <a:off x="6667500" y="4991100"/>
              <a:ext cx="457200" cy="457200"/>
            </a:xfrm>
            <a:prstGeom prst="ellipse">
              <a:avLst/>
            </a:prstGeom>
            <a:solidFill>
              <a:schemeClr val="accent1"/>
            </a:solidFill>
            <a:ln>
              <a:noFill/>
            </a:ln>
          </p:spPr>
        </p:sp>
        <p:sp>
          <p:nvSpPr>
            <p:cNvPr id="31" name="TextBox 31"/>
            <p:cNvSpPr txBox="1"/>
            <p:nvPr/>
          </p:nvSpPr>
          <p:spPr>
            <a:xfrm>
              <a:off x="7211568" y="5092700"/>
              <a:ext cx="938574"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灯罩 · 球</a:t>
              </a:r>
            </a:p>
          </p:txBody>
        </p:sp>
        <p:sp>
          <p:nvSpPr>
            <p:cNvPr id="32" name="Rectangle 32"/>
            <p:cNvSpPr/>
            <p:nvPr/>
          </p:nvSpPr>
          <p:spPr>
            <a:xfrm>
              <a:off x="8305800" y="4953000"/>
              <a:ext cx="152400" cy="533400"/>
            </a:xfrm>
            <a:prstGeom prst="rect">
              <a:avLst/>
            </a:prstGeom>
            <a:solidFill>
              <a:schemeClr val="accent1"/>
            </a:solidFill>
            <a:ln>
              <a:noFill/>
            </a:ln>
          </p:spPr>
        </p:sp>
        <p:sp>
          <p:nvSpPr>
            <p:cNvPr id="33" name="TextBox 33"/>
            <p:cNvSpPr txBox="1"/>
            <p:nvPr/>
          </p:nvSpPr>
          <p:spPr>
            <a:xfrm>
              <a:off x="8564118" y="5092700"/>
              <a:ext cx="938574"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灯杆 · 柱</a:t>
              </a:r>
            </a:p>
          </p:txBody>
        </p:sp>
        <p:sp>
          <p:nvSpPr>
            <p:cNvPr id="34" name="Ellipse 34"/>
            <p:cNvSpPr/>
            <p:nvPr/>
          </p:nvSpPr>
          <p:spPr>
            <a:xfrm>
              <a:off x="9658350" y="5238750"/>
              <a:ext cx="609600" cy="190500"/>
            </a:xfrm>
            <a:prstGeom prst="ellipse">
              <a:avLst/>
            </a:prstGeom>
            <a:solidFill>
              <a:schemeClr val="accent2"/>
            </a:solidFill>
            <a:ln>
              <a:noFill/>
            </a:ln>
          </p:spPr>
        </p:sp>
        <p:sp>
          <p:nvSpPr>
            <p:cNvPr id="35" name="TextBox 35"/>
            <p:cNvSpPr txBox="1"/>
            <p:nvPr/>
          </p:nvSpPr>
          <p:spPr>
            <a:xfrm>
              <a:off x="10354818" y="5092700"/>
              <a:ext cx="938574"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底座 · 圆</a:t>
              </a:r>
            </a:p>
          </p:txBody>
        </p:sp>
      </p:grpSp>
      <p:grpSp>
        <p:nvGrpSpPr>
          <p:cNvPr id="38" name="sources"/>
          <p:cNvGrpSpPr/>
          <p:nvPr/>
        </p:nvGrpSpPr>
        <p:grpSpPr>
          <a:xfrm>
            <a:off x="6662547" y="5886450"/>
            <a:ext cx="3980316" cy="191643"/>
            <a:chOff x="6662547" y="5886450"/>
            <a:chExt cx="3980316" cy="191643"/>
          </a:xfrm>
        </p:grpSpPr>
        <p:sp>
          <p:nvSpPr>
            <p:cNvPr id="37" name="TextBox 37"/>
            <p:cNvSpPr txBox="1"/>
            <p:nvPr/>
          </p:nvSpPr>
          <p:spPr>
            <a:xfrm>
              <a:off x="6662547" y="5886450"/>
              <a:ext cx="3980316"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来源：V&amp;A Collections「MT8 table lamp」· MoMA「Table lamp」</a:t>
              </a:r>
            </a:p>
          </p:txBody>
        </p:sp>
      </p:grpSp>
      <p:sp>
        <p:nvSpPr>
          <p:cNvPr id="39" name="TextBox 39"/>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08</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3" name="!!object-field"/>
          <p:cNvGrpSpPr/>
          <p:nvPr/>
        </p:nvGrpSpPr>
        <p:grpSpPr>
          <a:xfrm>
            <a:off x="1238250" y="1352550"/>
            <a:ext cx="4762500" cy="4762500"/>
            <a:chOff x="1238250" y="1352550"/>
            <a:chExt cx="4762500" cy="4762500"/>
          </a:xfrm>
        </p:grpSpPr>
        <p:sp>
          <p:nvSpPr>
            <p:cNvPr id="2" name="Rectangle 2"/>
            <p:cNvSpPr/>
            <p:nvPr/>
          </p:nvSpPr>
          <p:spPr>
            <a:xfrm>
              <a:off x="1238250" y="1352550"/>
              <a:ext cx="4762500" cy="4762500"/>
            </a:xfrm>
            <a:prstGeom prst="rect">
              <a:avLst/>
            </a:prstGeom>
            <a:solidFill>
              <a:schemeClr val="lt2"/>
            </a:solidFill>
            <a:ln>
              <a:noFill/>
            </a:ln>
          </p:spPr>
        </p:sp>
      </p:grpSp>
      <p:grpSp>
        <p:nvGrpSpPr>
          <p:cNvPr id="6" name="object-photo"/>
          <p:cNvGrpSpPr/>
          <p:nvPr/>
        </p:nvGrpSpPr>
        <p:grpSpPr>
          <a:xfrm>
            <a:off x="1233297" y="1638300"/>
            <a:ext cx="5069337" cy="4477893"/>
            <a:chOff x="1233297" y="1638300"/>
            <a:chExt cx="5069337" cy="4477893"/>
          </a:xfrm>
        </p:grpSpPr>
        <p:pic>
          <p:nvPicPr>
            <p:cNvPr id="4" name="Image 4"/>
            <p:cNvPicPr>
              <a:picLocks noChangeAspect="1"/>
            </p:cNvPicPr>
            <p:nvPr/>
          </p:nvPicPr>
          <p:blipFill>
            <a:blip r:embed="rId2"/>
            <a:srcRect l="10938" t="0" r="10937" b="0"/>
            <a:stretch>
              <a:fillRect/>
            </a:stretch>
          </p:blipFill>
          <p:spPr>
            <a:xfrm>
              <a:off x="1524000" y="1638300"/>
              <a:ext cx="4191000" cy="4191000"/>
            </a:xfrm>
            <a:prstGeom prst="rect">
              <a:avLst/>
            </a:prstGeom>
          </p:spPr>
        </p:pic>
        <p:sp>
          <p:nvSpPr>
            <p:cNvPr id="5" name="TextBox 5"/>
            <p:cNvSpPr txBox="1"/>
            <p:nvPr/>
          </p:nvSpPr>
          <p:spPr>
            <a:xfrm>
              <a:off x="1233297" y="5924550"/>
              <a:ext cx="5069337"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图 © Tim Evanson from Cleveland Heights, Ohio, USA / Wikimedia / CC BY-SA 2.0</a:t>
              </a:r>
            </a:p>
          </p:txBody>
        </p:sp>
      </p:grpSp>
      <p:grpSp>
        <p:nvGrpSpPr>
          <p:cNvPr id="10" name="header"/>
          <p:cNvGrpSpPr/>
          <p:nvPr/>
        </p:nvGrpSpPr>
        <p:grpSpPr>
          <a:xfrm>
            <a:off x="6652260" y="774700"/>
            <a:ext cx="4214622" cy="1487932"/>
            <a:chOff x="6652260" y="774700"/>
            <a:chExt cx="4214622" cy="1487932"/>
          </a:xfrm>
        </p:grpSpPr>
        <p:sp>
          <p:nvSpPr>
            <p:cNvPr id="7" name="TextBox 7"/>
            <p:cNvSpPr txBox="1"/>
            <p:nvPr/>
          </p:nvSpPr>
          <p:spPr>
            <a:xfrm>
              <a:off x="6661785" y="774700"/>
              <a:ext cx="2816215"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08 · 作品 ② · MÖBELWERKSTATT</a:t>
              </a:r>
            </a:p>
          </p:txBody>
        </p:sp>
        <p:sp>
          <p:nvSpPr>
            <p:cNvPr id="8" name="TextBox 8"/>
            <p:cNvSpPr txBox="1"/>
            <p:nvPr/>
          </p:nvSpPr>
          <p:spPr>
            <a:xfrm>
              <a:off x="6652260" y="1060450"/>
              <a:ext cx="28575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从自行车到椅子</a:t>
              </a:r>
            </a:p>
          </p:txBody>
        </p:sp>
        <p:sp>
          <p:nvSpPr>
            <p:cNvPr id="9" name="TextBox 9"/>
            <p:cNvSpPr txBox="1"/>
            <p:nvPr/>
          </p:nvSpPr>
          <p:spPr>
            <a:xfrm>
              <a:off x="6659118" y="1625600"/>
              <a:ext cx="4207764"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布劳耶在德绍家具工坊，把</a:t>
              </a:r>
              <a:r>
                <a:rPr lang="zh-CN" sz="1650" b="1" dirty="0">
                  <a:solidFill>
                    <a:schemeClr val="accent1"/>
                  </a:solidFill>
                  <a:latin typeface="+mn-lt"/>
                  <a:ea typeface="+mn-ea"/>
                  <a:cs typeface="+mn-cs"/>
                </a:rPr>
                <a:t>自行车的钢管车架</a:t>
              </a:r>
              <a:br>
                <a:rPr lang="zh-CN" sz="1650" b="1" dirty="0">
                  <a:solidFill>
                    <a:schemeClr val="accent1"/>
                  </a:solidFill>
                  <a:latin typeface="+mn-lt"/>
                  <a:ea typeface="+mn-ea"/>
                  <a:cs typeface="+mn-cs"/>
                </a:rPr>
              </a:br>
              <a:r>
                <a:rPr lang="zh-CN" sz="1650" dirty="0">
                  <a:solidFill>
                    <a:schemeClr val="dk1"/>
                  </a:solidFill>
                  <a:latin typeface="+mn-lt"/>
                  <a:ea typeface="+mn-ea"/>
                  <a:cs typeface="+mn-cs"/>
                </a:rPr>
                <a:t>变成了座椅结构。</a:t>
              </a:r>
            </a:p>
          </p:txBody>
        </p:sp>
      </p:grpSp>
      <p:grpSp>
        <p:nvGrpSpPr>
          <p:cNvPr id="27" name="object-specs"/>
          <p:cNvGrpSpPr/>
          <p:nvPr/>
        </p:nvGrpSpPr>
        <p:grpSpPr>
          <a:xfrm>
            <a:off x="6661404" y="2571750"/>
            <a:ext cx="4920996" cy="1685925"/>
            <a:chOff x="6661404" y="2571750"/>
            <a:chExt cx="4920996" cy="1685925"/>
          </a:xfrm>
        </p:grpSpPr>
        <p:grpSp>
          <p:nvGrpSpPr>
            <p:cNvPr id="16" name="Group 16"/>
            <p:cNvGrpSpPr/>
            <p:nvPr/>
          </p:nvGrpSpPr>
          <p:grpSpPr>
            <a:xfrm>
              <a:off x="6667500" y="2571750"/>
              <a:ext cx="4914900" cy="1685925"/>
              <a:chOff x="6667500" y="2571750"/>
              <a:chExt cx="4914900" cy="1685925"/>
            </a:xfrm>
          </p:grpSpPr>
          <p:sp>
            <p:nvSpPr>
              <p:cNvPr id="11" name="Line 11"/>
              <p:cNvSpPr/>
              <p:nvPr/>
            </p:nvSpPr>
            <p:spPr>
              <a:xfrm>
                <a:off x="6667500" y="25717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2" name="Line 12"/>
              <p:cNvSpPr/>
              <p:nvPr/>
            </p:nvSpPr>
            <p:spPr>
              <a:xfrm>
                <a:off x="6667500" y="29908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3" name="Line 13"/>
              <p:cNvSpPr/>
              <p:nvPr/>
            </p:nvSpPr>
            <p:spPr>
              <a:xfrm>
                <a:off x="6667500" y="34099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4" name="Line 14"/>
              <p:cNvSpPr/>
              <p:nvPr/>
            </p:nvSpPr>
            <p:spPr>
              <a:xfrm>
                <a:off x="6667500" y="38290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5" name="Line 15"/>
              <p:cNvSpPr/>
              <p:nvPr/>
            </p:nvSpPr>
            <p:spPr>
              <a:xfrm>
                <a:off x="6667500" y="4248150"/>
                <a:ext cx="4914900" cy="9525"/>
              </a:xfrm>
              <a:custGeom>
                <a:avLst/>
                <a:gdLst/>
                <a:ahLst/>
                <a:cxnLst/>
                <a:rect l="l" t="t" r="r" b="b"/>
                <a:pathLst>
                  <a:path w="4914900" h="9525">
                    <a:moveTo>
                      <a:pt x="0" y="0"/>
                    </a:moveTo>
                    <a:lnTo>
                      <a:pt x="4914900" y="0"/>
                    </a:lnTo>
                  </a:path>
                </a:pathLst>
              </a:custGeom>
              <a:noFill/>
              <a:ln w="9525">
                <a:solidFill>
                  <a:schemeClr val="accent6"/>
                </a:solidFill>
              </a:ln>
            </p:spPr>
          </p:sp>
        </p:grpSp>
        <p:grpSp>
          <p:nvGrpSpPr>
            <p:cNvPr id="21" name="Group 21"/>
            <p:cNvGrpSpPr/>
            <p:nvPr/>
          </p:nvGrpSpPr>
          <p:grpSpPr>
            <a:xfrm>
              <a:off x="6661404" y="2686050"/>
              <a:ext cx="496824" cy="1491996"/>
              <a:chOff x="6661404" y="2686050"/>
              <a:chExt cx="496824" cy="1491996"/>
            </a:xfrm>
          </p:grpSpPr>
          <p:sp>
            <p:nvSpPr>
              <p:cNvPr id="17" name="TextBox 17"/>
              <p:cNvSpPr txBox="1"/>
              <p:nvPr/>
            </p:nvSpPr>
            <p:spPr>
              <a:xfrm>
                <a:off x="6661404" y="2686050"/>
                <a:ext cx="4968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设计者</a:t>
                </a:r>
              </a:p>
            </p:txBody>
          </p:sp>
          <p:sp>
            <p:nvSpPr>
              <p:cNvPr id="18" name="TextBox 18"/>
              <p:cNvSpPr txBox="1"/>
              <p:nvPr/>
            </p:nvSpPr>
            <p:spPr>
              <a:xfrm>
                <a:off x="6661404" y="31051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年份</a:t>
                </a:r>
              </a:p>
            </p:txBody>
          </p:sp>
          <p:sp>
            <p:nvSpPr>
              <p:cNvPr id="19" name="TextBox 19"/>
              <p:cNvSpPr txBox="1"/>
              <p:nvPr/>
            </p:nvSpPr>
            <p:spPr>
              <a:xfrm>
                <a:off x="6661404" y="35242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型号</a:t>
                </a:r>
              </a:p>
            </p:txBody>
          </p:sp>
          <p:sp>
            <p:nvSpPr>
              <p:cNvPr id="20" name="TextBox 20"/>
              <p:cNvSpPr txBox="1"/>
              <p:nvPr/>
            </p:nvSpPr>
            <p:spPr>
              <a:xfrm>
                <a:off x="6661404" y="39433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生产</a:t>
                </a:r>
              </a:p>
            </p:txBody>
          </p:sp>
        </p:grpSp>
        <p:grpSp>
          <p:nvGrpSpPr>
            <p:cNvPr id="26" name="Group 26"/>
            <p:cNvGrpSpPr/>
            <p:nvPr/>
          </p:nvGrpSpPr>
          <p:grpSpPr>
            <a:xfrm>
              <a:off x="7611618" y="2644775"/>
              <a:ext cx="2937681" cy="1580007"/>
              <a:chOff x="7611618" y="2644775"/>
              <a:chExt cx="2937681" cy="1580007"/>
            </a:xfrm>
          </p:grpSpPr>
          <p:sp>
            <p:nvSpPr>
              <p:cNvPr id="22" name="TextBox 22"/>
              <p:cNvSpPr txBox="1"/>
              <p:nvPr/>
            </p:nvSpPr>
            <p:spPr>
              <a:xfrm>
                <a:off x="7611618" y="2644775"/>
                <a:ext cx="2937681"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布劳耶 · 德绍家具工坊负责人</a:t>
                </a:r>
              </a:p>
            </p:txBody>
          </p:sp>
          <p:sp>
            <p:nvSpPr>
              <p:cNvPr id="23" name="TextBox 23"/>
              <p:cNvSpPr txBox="1"/>
              <p:nvPr/>
            </p:nvSpPr>
            <p:spPr>
              <a:xfrm>
                <a:off x="7611618" y="3063875"/>
                <a:ext cx="1116273"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1925–1926</a:t>
                </a:r>
              </a:p>
            </p:txBody>
          </p:sp>
          <p:sp>
            <p:nvSpPr>
              <p:cNvPr id="24" name="TextBox 24"/>
              <p:cNvSpPr txBox="1"/>
              <p:nvPr/>
            </p:nvSpPr>
            <p:spPr>
              <a:xfrm>
                <a:off x="7611618" y="3482975"/>
                <a:ext cx="2074126"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B3，后称“瓦西里椅”</a:t>
                </a:r>
              </a:p>
            </p:txBody>
          </p:sp>
          <p:sp>
            <p:nvSpPr>
              <p:cNvPr id="25" name="TextBox 25"/>
              <p:cNvSpPr txBox="1"/>
              <p:nvPr/>
            </p:nvSpPr>
            <p:spPr>
              <a:xfrm>
                <a:off x="7611618" y="3902075"/>
                <a:ext cx="244607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早期版本由 Thonet 生产</a:t>
                </a:r>
              </a:p>
            </p:txBody>
          </p:sp>
        </p:grpSp>
      </p:grpSp>
      <p:grpSp>
        <p:nvGrpSpPr>
          <p:cNvPr id="33" name="inspiration-link"/>
          <p:cNvGrpSpPr/>
          <p:nvPr/>
        </p:nvGrpSpPr>
        <p:grpSpPr>
          <a:xfrm>
            <a:off x="6661785" y="4546600"/>
            <a:ext cx="4920615" cy="901700"/>
            <a:chOff x="6661785" y="4546600"/>
            <a:chExt cx="4920615" cy="901700"/>
          </a:xfrm>
        </p:grpSpPr>
        <p:sp>
          <p:nvSpPr>
            <p:cNvPr id="28" name="TextBox 28"/>
            <p:cNvSpPr txBox="1"/>
            <p:nvPr/>
          </p:nvSpPr>
          <p:spPr>
            <a:xfrm>
              <a:off x="6661785" y="4546600"/>
              <a:ext cx="1003729"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灵感 · 1925</a:t>
              </a:r>
            </a:p>
          </p:txBody>
        </p:sp>
        <p:sp>
          <p:nvSpPr>
            <p:cNvPr id="29" name="Rectangle 29"/>
            <p:cNvSpPr/>
            <p:nvPr/>
          </p:nvSpPr>
          <p:spPr>
            <a:xfrm>
              <a:off x="6667500" y="4876800"/>
              <a:ext cx="1943100" cy="571500"/>
            </a:xfrm>
            <a:prstGeom prst="rect">
              <a:avLst/>
            </a:prstGeom>
            <a:noFill/>
            <a:ln w="19050">
              <a:solidFill>
                <a:schemeClr val="accent1"/>
              </a:solidFill>
            </a:ln>
          </p:spPr>
        </p:sp>
        <p:sp>
          <p:nvSpPr>
            <p:cNvPr id="30" name="TextBox 30"/>
            <p:cNvSpPr txBox="1"/>
            <p:nvPr/>
          </p:nvSpPr>
          <p:spPr>
            <a:xfrm>
              <a:off x="6853238" y="5026025"/>
              <a:ext cx="1571625" cy="322707"/>
            </a:xfrm>
            <a:prstGeom prst="rect">
              <a:avLst/>
            </a:prstGeom>
            <a:noFill/>
            <a:ln>
              <a:noFill/>
            </a:ln>
          </p:spPr>
          <p:txBody>
            <a:bodyPr wrap="none" lIns="0" tIns="0" rIns="0" bIns="0" anchor="t" anchorCtr="0">
              <a:spAutoFit/>
            </a:bodyPr>
            <a:lstStyle/>
            <a:p>
              <a:pPr algn="ctr"/>
              <a:r>
                <a:rPr lang="zh-CN" sz="1650" dirty="0">
                  <a:solidFill>
                    <a:schemeClr val="accent1"/>
                  </a:solidFill>
                  <a:latin typeface="+mn-lt"/>
                  <a:ea typeface="+mn-ea"/>
                  <a:cs typeface="+mn-cs"/>
                </a:rPr>
                <a:t>自行车钢管车架</a:t>
              </a:r>
            </a:p>
          </p:txBody>
        </p:sp>
        <p:sp>
          <p:nvSpPr>
            <p:cNvPr id="31" name="Rectangle 31"/>
            <p:cNvSpPr/>
            <p:nvPr/>
          </p:nvSpPr>
          <p:spPr>
            <a:xfrm>
              <a:off x="9410700" y="4876800"/>
              <a:ext cx="2171700" cy="571500"/>
            </a:xfrm>
            <a:prstGeom prst="rect">
              <a:avLst/>
            </a:prstGeom>
            <a:solidFill>
              <a:schemeClr val="accent1"/>
            </a:solidFill>
            <a:ln>
              <a:noFill/>
            </a:ln>
          </p:spPr>
        </p:sp>
        <p:sp>
          <p:nvSpPr>
            <p:cNvPr id="32" name="TextBox 32"/>
            <p:cNvSpPr txBox="1"/>
            <p:nvPr/>
          </p:nvSpPr>
          <p:spPr>
            <a:xfrm>
              <a:off x="9821799" y="5026025"/>
              <a:ext cx="1349502" cy="322707"/>
            </a:xfrm>
            <a:prstGeom prst="rect">
              <a:avLst/>
            </a:prstGeom>
            <a:noFill/>
            <a:ln>
              <a:noFill/>
            </a:ln>
          </p:spPr>
          <p:txBody>
            <a:bodyPr wrap="none" lIns="0" tIns="0" rIns="0" bIns="0" anchor="t" anchorCtr="0">
              <a:spAutoFit/>
            </a:bodyPr>
            <a:lstStyle/>
            <a:p>
              <a:pPr algn="ctr"/>
              <a:r>
                <a:rPr lang="zh-CN" sz="1650" b="1" dirty="0">
                  <a:solidFill>
                    <a:srgbClr val="F2EEE5"/>
                  </a:solidFill>
                  <a:latin typeface="+mn-lt"/>
                  <a:ea typeface="+mn-ea"/>
                  <a:cs typeface="+mn-cs"/>
                </a:rPr>
                <a:t>钢管座椅结构</a:t>
              </a:r>
            </a:p>
          </p:txBody>
        </p:sp>
      </p:grpSp>
      <p:sp>
        <p:nvSpPr>
          <p:cNvPr id="34" name="Freeform 34"/>
          <p:cNvSpPr/>
          <p:nvPr/>
        </p:nvSpPr>
        <p:spPr>
          <a:xfrm>
            <a:off x="8705850" y="5010150"/>
            <a:ext cx="590550" cy="304800"/>
          </a:xfrm>
          <a:prstGeom prst="rightArrow">
            <a:avLst/>
          </a:prstGeom>
          <a:solidFill>
            <a:schemeClr val="accent2"/>
          </a:solidFill>
          <a:ln>
            <a:noFill/>
          </a:ln>
        </p:spPr>
      </p:sp>
      <p:grpSp>
        <p:nvGrpSpPr>
          <p:cNvPr id="36" name="sources"/>
          <p:cNvGrpSpPr/>
          <p:nvPr/>
        </p:nvGrpSpPr>
        <p:grpSpPr>
          <a:xfrm>
            <a:off x="6662547" y="5886450"/>
            <a:ext cx="2099320" cy="191643"/>
            <a:chOff x="6662547" y="5886450"/>
            <a:chExt cx="2099320" cy="191643"/>
          </a:xfrm>
        </p:grpSpPr>
        <p:sp>
          <p:nvSpPr>
            <p:cNvPr id="35" name="TextBox 35"/>
            <p:cNvSpPr txBox="1"/>
            <p:nvPr/>
          </p:nvSpPr>
          <p:spPr>
            <a:xfrm>
              <a:off x="6662547" y="5886450"/>
              <a:ext cx="2099320"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来源：Wikipedia「Wassily Chair」</a:t>
              </a:r>
            </a:p>
          </p:txBody>
        </p:sp>
      </p:grpSp>
      <p:sp>
        <p:nvSpPr>
          <p:cNvPr id="37" name="TextBox 37"/>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09</a:t>
            </a:r>
          </a:p>
        </p:txBody>
      </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3" name="!!object-field"/>
          <p:cNvGrpSpPr/>
          <p:nvPr/>
        </p:nvGrpSpPr>
        <p:grpSpPr>
          <a:xfrm>
            <a:off x="1047750" y="1162050"/>
            <a:ext cx="5143500" cy="4953000"/>
            <a:chOff x="1047750" y="1162050"/>
            <a:chExt cx="5143500" cy="4953000"/>
          </a:xfrm>
        </p:grpSpPr>
        <p:sp>
          <p:nvSpPr>
            <p:cNvPr id="2" name="Freeform 2"/>
            <p:cNvSpPr/>
            <p:nvPr/>
          </p:nvSpPr>
          <p:spPr>
            <a:xfrm>
              <a:off x="1047750" y="1162050"/>
              <a:ext cx="5143500" cy="4953000"/>
            </a:xfrm>
            <a:prstGeom prst="triangle">
              <a:avLst/>
            </a:prstGeom>
            <a:solidFill>
              <a:schemeClr val="lt2"/>
            </a:solidFill>
            <a:ln>
              <a:noFill/>
            </a:ln>
          </p:spPr>
        </p:sp>
      </p:grpSp>
      <p:grpSp>
        <p:nvGrpSpPr>
          <p:cNvPr id="6" name="type-specimen"/>
          <p:cNvGrpSpPr/>
          <p:nvPr/>
        </p:nvGrpSpPr>
        <p:grpSpPr>
          <a:xfrm>
            <a:off x="2540923" y="3213100"/>
            <a:ext cx="2157153" cy="3105150"/>
            <a:chOff x="2540923" y="3213100"/>
            <a:chExt cx="2157153" cy="3105150"/>
          </a:xfrm>
        </p:grpSpPr>
        <p:sp>
          <p:nvSpPr>
            <p:cNvPr id="4" name="TextBox 4"/>
            <p:cNvSpPr txBox="1"/>
            <p:nvPr/>
          </p:nvSpPr>
          <p:spPr>
            <a:xfrm>
              <a:off x="2894099" y="3213100"/>
              <a:ext cx="1450802" cy="1733550"/>
            </a:xfrm>
            <a:prstGeom prst="rect">
              <a:avLst/>
            </a:prstGeom>
            <a:noFill/>
            <a:ln>
              <a:noFill/>
            </a:ln>
          </p:spPr>
          <p:txBody>
            <a:bodyPr wrap="none" lIns="0" tIns="0" rIns="0" bIns="0" anchor="t" anchorCtr="0">
              <a:spAutoFit/>
            </a:bodyPr>
            <a:lstStyle/>
            <a:p>
              <a:pPr algn="ctr"/>
              <a:r>
                <a:rPr lang="en-US" sz="9000" dirty="0">
                  <a:solidFill>
                    <a:schemeClr val="accent1"/>
                  </a:solidFill>
                  <a:latin typeface="Arial Black"/>
                  <a:ea typeface="Arial Black"/>
                  <a:cs typeface="Arial Black"/>
                </a:rPr>
                <a:t>ab</a:t>
              </a:r>
            </a:p>
          </p:txBody>
        </p:sp>
        <p:sp>
          <p:nvSpPr>
            <p:cNvPr id="5" name="TextBox 5"/>
            <p:cNvSpPr txBox="1"/>
            <p:nvPr/>
          </p:nvSpPr>
          <p:spPr>
            <a:xfrm>
              <a:off x="2540923" y="4584700"/>
              <a:ext cx="2157153" cy="1733550"/>
            </a:xfrm>
            <a:prstGeom prst="rect">
              <a:avLst/>
            </a:prstGeom>
            <a:noFill/>
            <a:ln>
              <a:noFill/>
            </a:ln>
          </p:spPr>
          <p:txBody>
            <a:bodyPr wrap="none" lIns="0" tIns="0" rIns="0" bIns="0" anchor="t" anchorCtr="0">
              <a:spAutoFit/>
            </a:bodyPr>
            <a:lstStyle/>
            <a:p>
              <a:pPr algn="ctr"/>
              <a:r>
                <a:rPr lang="en-US" sz="9000" dirty="0">
                  <a:solidFill>
                    <a:schemeClr val="accent2"/>
                  </a:solidFill>
                  <a:latin typeface="Arial Black"/>
                  <a:ea typeface="Arial Black"/>
                  <a:cs typeface="Arial Black"/>
                </a:rPr>
                <a:t>cde</a:t>
              </a:r>
            </a:p>
          </p:txBody>
        </p:sp>
      </p:grpSp>
      <p:grpSp>
        <p:nvGrpSpPr>
          <p:cNvPr id="8" name="specimen-note"/>
          <p:cNvGrpSpPr/>
          <p:nvPr/>
        </p:nvGrpSpPr>
        <p:grpSpPr>
          <a:xfrm>
            <a:off x="1042797" y="6229350"/>
            <a:ext cx="2912313" cy="191643"/>
            <a:chOff x="1042797" y="6229350"/>
            <a:chExt cx="2912313" cy="191643"/>
          </a:xfrm>
        </p:grpSpPr>
        <p:sp>
          <p:nvSpPr>
            <p:cNvPr id="7" name="TextBox 7"/>
            <p:cNvSpPr txBox="1"/>
            <p:nvPr/>
          </p:nvSpPr>
          <p:spPr>
            <a:xfrm>
              <a:off x="1042797" y="6229350"/>
              <a:ext cx="2912313"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示意：以几何无衬线小写字母模拟，并非拜耳原稿</a:t>
              </a:r>
            </a:p>
          </p:txBody>
        </p:sp>
      </p:grpSp>
      <p:grpSp>
        <p:nvGrpSpPr>
          <p:cNvPr id="12" name="header"/>
          <p:cNvGrpSpPr/>
          <p:nvPr/>
        </p:nvGrpSpPr>
        <p:grpSpPr>
          <a:xfrm>
            <a:off x="6652260" y="774700"/>
            <a:ext cx="3292602" cy="1487932"/>
            <a:chOff x="6652260" y="774700"/>
            <a:chExt cx="3292602" cy="1487932"/>
          </a:xfrm>
        </p:grpSpPr>
        <p:sp>
          <p:nvSpPr>
            <p:cNvPr id="9" name="TextBox 9"/>
            <p:cNvSpPr txBox="1"/>
            <p:nvPr/>
          </p:nvSpPr>
          <p:spPr>
            <a:xfrm>
              <a:off x="6661785" y="774700"/>
              <a:ext cx="2276841"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09 · 作品 ③ · TYPOGRAFIE</a:t>
              </a:r>
            </a:p>
          </p:txBody>
        </p:sp>
        <p:sp>
          <p:nvSpPr>
            <p:cNvPr id="10" name="TextBox 10"/>
            <p:cNvSpPr txBox="1"/>
            <p:nvPr/>
          </p:nvSpPr>
          <p:spPr>
            <a:xfrm>
              <a:off x="6652260" y="1060450"/>
              <a:ext cx="24536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只用小写字母</a:t>
              </a:r>
            </a:p>
          </p:txBody>
        </p:sp>
        <p:sp>
          <p:nvSpPr>
            <p:cNvPr id="11" name="TextBox 11"/>
            <p:cNvSpPr txBox="1"/>
            <p:nvPr/>
          </p:nvSpPr>
          <p:spPr>
            <a:xfrm>
              <a:off x="6659118" y="1625600"/>
              <a:ext cx="3285744" cy="637032"/>
            </a:xfrm>
            <a:prstGeom prst="rect">
              <a:avLst/>
            </a:prstGeom>
            <a:noFill/>
            <a:ln>
              <a:noFill/>
            </a:ln>
          </p:spPr>
          <p:txBody>
            <a:bodyPr wrap="none" lIns="0" tIns="0" rIns="0" bIns="0" anchor="t" anchorCtr="0">
              <a:spAutoFit/>
            </a:bodyPr>
            <a:lstStyle/>
            <a:p>
              <a:pPr algn="l">
                <a:lnSpc>
                  <a:spcPts val="2475"/>
                </a:lnSpc>
              </a:pPr>
              <a:r>
                <a:rPr lang="zh-CN" sz="1650" dirty="0">
                  <a:solidFill>
                    <a:schemeClr val="dk1"/>
                  </a:solidFill>
                  <a:latin typeface="+mn-lt"/>
                  <a:ea typeface="+mn-ea"/>
                  <a:cs typeface="+mn-cs"/>
                </a:rPr>
                <a:t>1925 年起，拜耳设计“通用字体”：</a:t>
              </a:r>
              <a:br>
                <a:rPr lang="zh-CN" sz="1650" dirty="0">
                  <a:solidFill>
                    <a:schemeClr val="dk1"/>
                  </a:solidFill>
                  <a:latin typeface="+mn-lt"/>
                  <a:ea typeface="+mn-ea"/>
                  <a:cs typeface="+mn-cs"/>
                </a:rPr>
              </a:br>
              <a:r>
                <a:rPr lang="zh-CN" sz="1650" b="1" dirty="0">
                  <a:solidFill>
                    <a:schemeClr val="accent2"/>
                  </a:solidFill>
                  <a:latin typeface="+mn-lt"/>
                  <a:ea typeface="+mn-ea"/>
                  <a:cs typeface="+mn-cs"/>
                </a:rPr>
                <a:t>取消大写</a:t>
              </a:r>
              <a:r>
                <a:rPr lang="zh-CN" sz="1650" dirty="0">
                  <a:solidFill>
                    <a:schemeClr val="dk1"/>
                  </a:solidFill>
                  <a:latin typeface="+mn-lt"/>
                  <a:ea typeface="+mn-ea"/>
                  <a:cs typeface="+mn-cs"/>
                </a:rPr>
                <a:t>，主张更高效的书写。</a:t>
              </a:r>
            </a:p>
          </p:txBody>
        </p:sp>
      </p:grpSp>
      <p:grpSp>
        <p:nvGrpSpPr>
          <p:cNvPr id="29" name="object-specs"/>
          <p:cNvGrpSpPr/>
          <p:nvPr/>
        </p:nvGrpSpPr>
        <p:grpSpPr>
          <a:xfrm>
            <a:off x="6661404" y="2571750"/>
            <a:ext cx="4920996" cy="1685925"/>
            <a:chOff x="6661404" y="2571750"/>
            <a:chExt cx="4920996" cy="1685925"/>
          </a:xfrm>
        </p:grpSpPr>
        <p:grpSp>
          <p:nvGrpSpPr>
            <p:cNvPr id="18" name="Group 18"/>
            <p:cNvGrpSpPr/>
            <p:nvPr/>
          </p:nvGrpSpPr>
          <p:grpSpPr>
            <a:xfrm>
              <a:off x="6667500" y="2571750"/>
              <a:ext cx="4914900" cy="1685925"/>
              <a:chOff x="6667500" y="2571750"/>
              <a:chExt cx="4914900" cy="1685925"/>
            </a:xfrm>
          </p:grpSpPr>
          <p:sp>
            <p:nvSpPr>
              <p:cNvPr id="13" name="Line 13"/>
              <p:cNvSpPr/>
              <p:nvPr/>
            </p:nvSpPr>
            <p:spPr>
              <a:xfrm>
                <a:off x="6667500" y="25717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4" name="Line 14"/>
              <p:cNvSpPr/>
              <p:nvPr/>
            </p:nvSpPr>
            <p:spPr>
              <a:xfrm>
                <a:off x="6667500" y="29908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5" name="Line 15"/>
              <p:cNvSpPr/>
              <p:nvPr/>
            </p:nvSpPr>
            <p:spPr>
              <a:xfrm>
                <a:off x="6667500" y="34099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6" name="Line 16"/>
              <p:cNvSpPr/>
              <p:nvPr/>
            </p:nvSpPr>
            <p:spPr>
              <a:xfrm>
                <a:off x="6667500" y="3829050"/>
                <a:ext cx="4914900" cy="9525"/>
              </a:xfrm>
              <a:custGeom>
                <a:avLst/>
                <a:gdLst/>
                <a:ahLst/>
                <a:cxnLst/>
                <a:rect l="l" t="t" r="r" b="b"/>
                <a:pathLst>
                  <a:path w="4914900" h="9525">
                    <a:moveTo>
                      <a:pt x="0" y="0"/>
                    </a:moveTo>
                    <a:lnTo>
                      <a:pt x="4914900" y="0"/>
                    </a:lnTo>
                  </a:path>
                </a:pathLst>
              </a:custGeom>
              <a:noFill/>
              <a:ln w="9525">
                <a:solidFill>
                  <a:schemeClr val="accent6"/>
                </a:solidFill>
              </a:ln>
            </p:spPr>
          </p:sp>
          <p:sp>
            <p:nvSpPr>
              <p:cNvPr id="17" name="Line 17"/>
              <p:cNvSpPr/>
              <p:nvPr/>
            </p:nvSpPr>
            <p:spPr>
              <a:xfrm>
                <a:off x="6667500" y="4248150"/>
                <a:ext cx="4914900" cy="9525"/>
              </a:xfrm>
              <a:custGeom>
                <a:avLst/>
                <a:gdLst/>
                <a:ahLst/>
                <a:cxnLst/>
                <a:rect l="l" t="t" r="r" b="b"/>
                <a:pathLst>
                  <a:path w="4914900" h="9525">
                    <a:moveTo>
                      <a:pt x="0" y="0"/>
                    </a:moveTo>
                    <a:lnTo>
                      <a:pt x="4914900" y="0"/>
                    </a:lnTo>
                  </a:path>
                </a:pathLst>
              </a:custGeom>
              <a:noFill/>
              <a:ln w="9525">
                <a:solidFill>
                  <a:schemeClr val="accent6"/>
                </a:solidFill>
              </a:ln>
            </p:spPr>
          </p:sp>
        </p:grpSp>
        <p:grpSp>
          <p:nvGrpSpPr>
            <p:cNvPr id="23" name="Group 23"/>
            <p:cNvGrpSpPr/>
            <p:nvPr/>
          </p:nvGrpSpPr>
          <p:grpSpPr>
            <a:xfrm>
              <a:off x="6661404" y="2686050"/>
              <a:ext cx="496824" cy="1491996"/>
              <a:chOff x="6661404" y="2686050"/>
              <a:chExt cx="496824" cy="1491996"/>
            </a:xfrm>
          </p:grpSpPr>
          <p:sp>
            <p:nvSpPr>
              <p:cNvPr id="19" name="TextBox 19"/>
              <p:cNvSpPr txBox="1"/>
              <p:nvPr/>
            </p:nvSpPr>
            <p:spPr>
              <a:xfrm>
                <a:off x="6661404" y="2686050"/>
                <a:ext cx="4968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设计者</a:t>
                </a:r>
              </a:p>
            </p:txBody>
          </p:sp>
          <p:sp>
            <p:nvSpPr>
              <p:cNvPr id="20" name="TextBox 20"/>
              <p:cNvSpPr txBox="1"/>
              <p:nvPr/>
            </p:nvSpPr>
            <p:spPr>
              <a:xfrm>
                <a:off x="6661404" y="31051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年份</a:t>
                </a:r>
              </a:p>
            </p:txBody>
          </p:sp>
          <p:sp>
            <p:nvSpPr>
              <p:cNvPr id="21" name="TextBox 21"/>
              <p:cNvSpPr txBox="1"/>
              <p:nvPr/>
            </p:nvSpPr>
            <p:spPr>
              <a:xfrm>
                <a:off x="6661404" y="35242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形式</a:t>
                </a:r>
              </a:p>
            </p:txBody>
          </p:sp>
          <p:sp>
            <p:nvSpPr>
              <p:cNvPr id="22" name="TextBox 22"/>
              <p:cNvSpPr txBox="1"/>
              <p:nvPr/>
            </p:nvSpPr>
            <p:spPr>
              <a:xfrm>
                <a:off x="6661404" y="3943350"/>
                <a:ext cx="33528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命运</a:t>
                </a:r>
              </a:p>
            </p:txBody>
          </p:sp>
        </p:grpSp>
        <p:grpSp>
          <p:nvGrpSpPr>
            <p:cNvPr id="28" name="Group 28"/>
            <p:cNvGrpSpPr/>
            <p:nvPr/>
          </p:nvGrpSpPr>
          <p:grpSpPr>
            <a:xfrm>
              <a:off x="7611618" y="2644775"/>
              <a:ext cx="2715558" cy="1580007"/>
              <a:chOff x="7611618" y="2644775"/>
              <a:chExt cx="2715558" cy="1580007"/>
            </a:xfrm>
          </p:grpSpPr>
          <p:sp>
            <p:nvSpPr>
              <p:cNvPr id="24" name="TextBox 24"/>
              <p:cNvSpPr txBox="1"/>
              <p:nvPr/>
            </p:nvSpPr>
            <p:spPr>
              <a:xfrm>
                <a:off x="7611618" y="2644775"/>
                <a:ext cx="2604497"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拜耳 · 1928 年离开包豪斯</a:t>
                </a:r>
              </a:p>
            </p:txBody>
          </p:sp>
          <p:sp>
            <p:nvSpPr>
              <p:cNvPr id="25" name="TextBox 25"/>
              <p:cNvSpPr txBox="1"/>
              <p:nvPr/>
            </p:nvSpPr>
            <p:spPr>
              <a:xfrm>
                <a:off x="7611618" y="3063875"/>
                <a:ext cx="1016318"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1925 年起</a:t>
                </a:r>
              </a:p>
            </p:txBody>
          </p:sp>
          <p:sp>
            <p:nvSpPr>
              <p:cNvPr id="26" name="TextBox 26"/>
              <p:cNvSpPr txBox="1"/>
              <p:nvPr/>
            </p:nvSpPr>
            <p:spPr>
              <a:xfrm>
                <a:off x="7611618" y="3482975"/>
                <a:ext cx="2715558"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几何无衬线 · 取消大写字母</a:t>
                </a:r>
              </a:p>
            </p:txBody>
          </p:sp>
          <p:sp>
            <p:nvSpPr>
              <p:cNvPr id="27" name="TextBox 27"/>
              <p:cNvSpPr txBox="1"/>
              <p:nvPr/>
            </p:nvSpPr>
            <p:spPr>
              <a:xfrm>
                <a:off x="7611618" y="3902075"/>
                <a:ext cx="2682240" cy="322707"/>
              </a:xfrm>
              <a:prstGeom prst="rect">
                <a:avLst/>
              </a:prstGeom>
              <a:noFill/>
              <a:ln>
                <a:noFill/>
              </a:ln>
            </p:spPr>
            <p:txBody>
              <a:bodyPr wrap="none" lIns="0" tIns="0" rIns="0" bIns="0" anchor="t" anchorCtr="0">
                <a:spAutoFit/>
              </a:bodyPr>
              <a:lstStyle/>
              <a:p>
                <a:pPr algn="l"/>
                <a:r>
                  <a:rPr lang="zh-CN" sz="1650" dirty="0">
                    <a:solidFill>
                      <a:schemeClr val="accent1"/>
                    </a:solidFill>
                    <a:latin typeface="+mn-lt"/>
                    <a:ea typeface="+mn-ea"/>
                    <a:cs typeface="+mn-cs"/>
                  </a:rPr>
                  <a:t>只存在于设计稿，</a:t>
                </a:r>
                <a:r>
                  <a:rPr lang="zh-CN" sz="1650" b="1" dirty="0">
                    <a:solidFill>
                      <a:schemeClr val="accent1"/>
                    </a:solidFill>
                    <a:latin typeface="+mn-lt"/>
                    <a:ea typeface="+mn-ea"/>
                    <a:cs typeface="+mn-cs"/>
                  </a:rPr>
                  <a:t>从未铸字</a:t>
                </a:r>
              </a:p>
            </p:txBody>
          </p:sp>
        </p:grpSp>
      </p:grpSp>
      <p:grpSp>
        <p:nvGrpSpPr>
          <p:cNvPr id="33" name="case-contrast"/>
          <p:cNvGrpSpPr/>
          <p:nvPr/>
        </p:nvGrpSpPr>
        <p:grpSpPr>
          <a:xfrm>
            <a:off x="6648450" y="4546600"/>
            <a:ext cx="2786011" cy="1384300"/>
            <a:chOff x="6648450" y="4546600"/>
            <a:chExt cx="2786011" cy="1384300"/>
          </a:xfrm>
        </p:grpSpPr>
        <p:sp>
          <p:nvSpPr>
            <p:cNvPr id="30" name="TextBox 30"/>
            <p:cNvSpPr txBox="1"/>
            <p:nvPr/>
          </p:nvSpPr>
          <p:spPr>
            <a:xfrm>
              <a:off x="6661785" y="4546600"/>
              <a:ext cx="1871878"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一个字母，只留一种形状</a:t>
              </a:r>
            </a:p>
          </p:txBody>
        </p:sp>
        <p:sp>
          <p:nvSpPr>
            <p:cNvPr id="31" name="TextBox 31"/>
            <p:cNvSpPr txBox="1"/>
            <p:nvPr/>
          </p:nvSpPr>
          <p:spPr>
            <a:xfrm>
              <a:off x="6648450" y="4883150"/>
              <a:ext cx="987827" cy="1047750"/>
            </a:xfrm>
            <a:prstGeom prst="rect">
              <a:avLst/>
            </a:prstGeom>
            <a:noFill/>
            <a:ln>
              <a:noFill/>
            </a:ln>
          </p:spPr>
          <p:txBody>
            <a:bodyPr wrap="none" lIns="0" tIns="0" rIns="0" bIns="0" anchor="t" anchorCtr="0">
              <a:spAutoFit/>
            </a:bodyPr>
            <a:lstStyle/>
            <a:p>
              <a:pPr algn="l"/>
              <a:r>
                <a:rPr lang="en-US" sz="5400" dirty="0">
                  <a:solidFill>
                    <a:schemeClr val="accent1"/>
                  </a:solidFill>
                  <a:latin typeface="Arial Black"/>
                  <a:ea typeface="Arial Black"/>
                  <a:cs typeface="Arial Black"/>
                </a:rPr>
                <a:t>Aa</a:t>
              </a:r>
            </a:p>
          </p:txBody>
        </p:sp>
        <p:sp>
          <p:nvSpPr>
            <p:cNvPr id="32" name="TextBox 32"/>
            <p:cNvSpPr txBox="1"/>
            <p:nvPr/>
          </p:nvSpPr>
          <p:spPr>
            <a:xfrm>
              <a:off x="8972550" y="4883150"/>
              <a:ext cx="461911" cy="1047750"/>
            </a:xfrm>
            <a:prstGeom prst="rect">
              <a:avLst/>
            </a:prstGeom>
            <a:noFill/>
            <a:ln>
              <a:noFill/>
            </a:ln>
          </p:spPr>
          <p:txBody>
            <a:bodyPr wrap="none" lIns="0" tIns="0" rIns="0" bIns="0" anchor="t" anchorCtr="0">
              <a:spAutoFit/>
            </a:bodyPr>
            <a:lstStyle/>
            <a:p>
              <a:pPr algn="l"/>
              <a:r>
                <a:rPr lang="en-US" sz="5400" dirty="0">
                  <a:solidFill>
                    <a:schemeClr val="accent2"/>
                  </a:solidFill>
                  <a:latin typeface="Arial Black"/>
                  <a:ea typeface="Arial Black"/>
                  <a:cs typeface="Arial Black"/>
                </a:rPr>
                <a:t>a</a:t>
              </a:r>
            </a:p>
          </p:txBody>
        </p:sp>
      </p:grpSp>
      <p:sp>
        <p:nvSpPr>
          <p:cNvPr id="34" name="Freeform 34"/>
          <p:cNvSpPr/>
          <p:nvPr/>
        </p:nvSpPr>
        <p:spPr>
          <a:xfrm>
            <a:off x="8210550" y="5143500"/>
            <a:ext cx="590550" cy="304800"/>
          </a:xfrm>
          <a:prstGeom prst="rightArrow">
            <a:avLst/>
          </a:prstGeom>
          <a:solidFill>
            <a:schemeClr val="accent2"/>
          </a:solidFill>
          <a:ln>
            <a:noFill/>
          </a:ln>
        </p:spPr>
      </p:sp>
      <p:grpSp>
        <p:nvGrpSpPr>
          <p:cNvPr id="36" name="sources"/>
          <p:cNvGrpSpPr/>
          <p:nvPr/>
        </p:nvGrpSpPr>
        <p:grpSpPr>
          <a:xfrm>
            <a:off x="6662547" y="6019800"/>
            <a:ext cx="2172564" cy="191643"/>
            <a:chOff x="6662547" y="6019800"/>
            <a:chExt cx="2172564" cy="191643"/>
          </a:xfrm>
        </p:grpSpPr>
        <p:sp>
          <p:nvSpPr>
            <p:cNvPr id="35" name="TextBox 35"/>
            <p:cNvSpPr txBox="1"/>
            <p:nvPr/>
          </p:nvSpPr>
          <p:spPr>
            <a:xfrm>
              <a:off x="6662547" y="6019800"/>
              <a:ext cx="2172564"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来源：Wikipedia「Herbert Bayer」</a:t>
              </a:r>
            </a:p>
          </p:txBody>
        </p:sp>
      </p:grpSp>
      <p:sp>
        <p:nvSpPr>
          <p:cNvPr id="37" name="TextBox 37"/>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10</a:t>
            </a:r>
          </a:p>
        </p:txBody>
      </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extBox 2"/>
          <p:cNvSpPr txBox="1"/>
          <p:nvPr/>
        </p:nvSpPr>
        <p:spPr>
          <a:xfrm>
            <a:off x="8737945" y="1250950"/>
            <a:ext cx="2863505" cy="1733550"/>
          </a:xfrm>
          <a:prstGeom prst="rect">
            <a:avLst/>
          </a:prstGeom>
          <a:noFill/>
          <a:ln>
            <a:noFill/>
          </a:ln>
        </p:spPr>
        <p:txBody>
          <a:bodyPr wrap="none" lIns="0" tIns="0" rIns="0" bIns="0" anchor="t" anchorCtr="0">
            <a:spAutoFit/>
          </a:bodyPr>
          <a:lstStyle/>
          <a:p>
            <a:pPr algn="r"/>
            <a:r>
              <a:rPr lang="zh-CN" sz="9000" dirty="0">
                <a:solidFill>
                  <a:srgbClr val="F2EEE5">
                    <a:alphaMod val="7000"/>
                  </a:srgbClr>
                </a:solidFill>
                <a:latin typeface="Arial Black"/>
                <a:ea typeface="Arial Black"/>
                <a:cs typeface="Arial Black"/>
              </a:rPr>
              <a:t>1933</a:t>
            </a:r>
          </a:p>
        </p:txBody>
      </p:sp>
      <p:grpSp>
        <p:nvGrpSpPr>
          <p:cNvPr id="6" name="header"/>
          <p:cNvGrpSpPr/>
          <p:nvPr/>
        </p:nvGrpSpPr>
        <p:grpSpPr>
          <a:xfrm>
            <a:off x="594360" y="774700"/>
            <a:ext cx="6020943" cy="1268857"/>
            <a:chOff x="594360" y="774700"/>
            <a:chExt cx="6020943" cy="1268857"/>
          </a:xfrm>
        </p:grpSpPr>
        <p:sp>
          <p:nvSpPr>
            <p:cNvPr id="3" name="TextBox 3"/>
            <p:cNvSpPr txBox="1"/>
            <p:nvPr/>
          </p:nvSpPr>
          <p:spPr>
            <a:xfrm>
              <a:off x="603885" y="774700"/>
              <a:ext cx="2680802" cy="220028"/>
            </a:xfrm>
            <a:prstGeom prst="rect">
              <a:avLst/>
            </a:prstGeom>
            <a:noFill/>
            <a:ln>
              <a:noFill/>
            </a:ln>
          </p:spPr>
          <p:txBody>
            <a:bodyPr wrap="none" lIns="0" tIns="0" rIns="0" bIns="0" anchor="t" anchorCtr="0">
              <a:spAutoFit/>
            </a:bodyPr>
            <a:lstStyle/>
            <a:p>
              <a:pPr algn="l"/>
              <a:r>
                <a:rPr lang="zh-CN" sz="1120" spc="150" dirty="0">
                  <a:solidFill>
                    <a:schemeClr val="accent6"/>
                  </a:solidFill>
                  <a:latin typeface="+mn-lt"/>
                  <a:ea typeface="+mn-ea"/>
                  <a:cs typeface="+mn-cs"/>
                </a:rPr>
                <a:t>10 · 关闭 · BERLIN 1932–1933</a:t>
              </a:r>
            </a:p>
          </p:txBody>
        </p:sp>
        <p:sp>
          <p:nvSpPr>
            <p:cNvPr id="4" name="TextBox 4"/>
            <p:cNvSpPr txBox="1"/>
            <p:nvPr/>
          </p:nvSpPr>
          <p:spPr>
            <a:xfrm>
              <a:off x="594360" y="1117600"/>
              <a:ext cx="2982697" cy="586740"/>
            </a:xfrm>
            <a:prstGeom prst="rect">
              <a:avLst/>
            </a:prstGeom>
            <a:noFill/>
            <a:ln>
              <a:noFill/>
            </a:ln>
          </p:spPr>
          <p:txBody>
            <a:bodyPr wrap="none" lIns="0" tIns="0" rIns="0" bIns="0" anchor="t" anchorCtr="0">
              <a:spAutoFit/>
            </a:bodyPr>
            <a:lstStyle/>
            <a:p>
              <a:pPr algn="l"/>
              <a:r>
                <a:rPr lang="zh-CN" sz="3000" b="1" dirty="0">
                  <a:solidFill>
                    <a:srgbClr val="F2EEE5"/>
                  </a:solidFill>
                  <a:latin typeface="+mn-lt"/>
                  <a:ea typeface="+mn-ea"/>
                  <a:cs typeface="+mn-cs"/>
                </a:rPr>
                <a:t>1933：被迫落幕</a:t>
              </a:r>
            </a:p>
          </p:txBody>
        </p:sp>
        <p:sp>
          <p:nvSpPr>
            <p:cNvPr id="5" name="TextBox 5"/>
            <p:cNvSpPr txBox="1"/>
            <p:nvPr/>
          </p:nvSpPr>
          <p:spPr>
            <a:xfrm>
              <a:off x="601218" y="1720850"/>
              <a:ext cx="6014085" cy="322707"/>
            </a:xfrm>
            <a:prstGeom prst="rect">
              <a:avLst/>
            </a:prstGeom>
            <a:noFill/>
            <a:ln>
              <a:noFill/>
            </a:ln>
          </p:spPr>
          <p:txBody>
            <a:bodyPr wrap="none" lIns="0" tIns="0" rIns="0" bIns="0" anchor="t" anchorCtr="0">
              <a:spAutoFit/>
            </a:bodyPr>
            <a:lstStyle/>
            <a:p>
              <a:pPr algn="l"/>
              <a:r>
                <a:rPr lang="zh-CN" sz="1650" dirty="0">
                  <a:solidFill>
                    <a:srgbClr val="E4DDCF"/>
                  </a:solidFill>
                  <a:latin typeface="+mn-lt"/>
                  <a:ea typeface="+mn-ea"/>
                  <a:cs typeface="+mn-cs"/>
                </a:rPr>
                <a:t>从德绍被关到柏林自行解散，最后的包豪斯只撑了约十个月。</a:t>
              </a:r>
            </a:p>
          </p:txBody>
        </p:sp>
      </p:grpSp>
      <p:grpSp>
        <p:nvGrpSpPr>
          <p:cNvPr id="25" name="closure-sequence"/>
          <p:cNvGrpSpPr/>
          <p:nvPr/>
        </p:nvGrpSpPr>
        <p:grpSpPr>
          <a:xfrm>
            <a:off x="1018794" y="3467100"/>
            <a:ext cx="10038588" cy="1576832"/>
            <a:chOff x="1018794" y="3467100"/>
            <a:chExt cx="10038588" cy="1576832"/>
          </a:xfrm>
        </p:grpSpPr>
        <p:grpSp>
          <p:nvGrpSpPr>
            <p:cNvPr id="10" name="Group 10"/>
            <p:cNvGrpSpPr/>
            <p:nvPr/>
          </p:nvGrpSpPr>
          <p:grpSpPr>
            <a:xfrm>
              <a:off x="1295400" y="3619500"/>
              <a:ext cx="8001000" cy="1"/>
              <a:chOff x="1295400" y="3619500"/>
              <a:chExt cx="8001000" cy="1"/>
            </a:xfrm>
          </p:grpSpPr>
          <p:sp>
            <p:nvSpPr>
              <p:cNvPr id="7" name="Line 7"/>
              <p:cNvSpPr/>
              <p:nvPr/>
            </p:nvSpPr>
            <p:spPr>
              <a:xfrm>
                <a:off x="1295400" y="3619500"/>
                <a:ext cx="2495550" cy="1"/>
              </a:xfrm>
              <a:prstGeom prst="line">
                <a:avLst/>
              </a:prstGeom>
              <a:noFill/>
              <a:ln w="19050">
                <a:solidFill>
                  <a:schemeClr val="accent6"/>
                </a:solidFill>
                <a:tailEnd type="triangle" w="lg" len="lg"/>
              </a:ln>
            </p:spPr>
          </p:sp>
          <p:sp>
            <p:nvSpPr>
              <p:cNvPr id="8" name="Line 8"/>
              <p:cNvSpPr/>
              <p:nvPr/>
            </p:nvSpPr>
            <p:spPr>
              <a:xfrm>
                <a:off x="4152900" y="3619500"/>
                <a:ext cx="2495550" cy="1"/>
              </a:xfrm>
              <a:prstGeom prst="line">
                <a:avLst/>
              </a:prstGeom>
              <a:noFill/>
              <a:ln w="19050">
                <a:solidFill>
                  <a:schemeClr val="accent6"/>
                </a:solidFill>
                <a:tailEnd type="triangle" w="lg" len="lg"/>
              </a:ln>
            </p:spPr>
          </p:sp>
          <p:sp>
            <p:nvSpPr>
              <p:cNvPr id="9" name="Line 9"/>
              <p:cNvSpPr/>
              <p:nvPr/>
            </p:nvSpPr>
            <p:spPr>
              <a:xfrm>
                <a:off x="7010400" y="3619500"/>
                <a:ext cx="2286000" cy="1"/>
              </a:xfrm>
              <a:prstGeom prst="line">
                <a:avLst/>
              </a:prstGeom>
              <a:noFill/>
              <a:ln w="19050">
                <a:solidFill>
                  <a:schemeClr val="accent6"/>
                </a:solidFill>
                <a:tailEnd type="triangle" w="lg" len="lg"/>
              </a:ln>
            </p:spPr>
          </p:sp>
        </p:grpSp>
        <p:sp>
          <p:nvSpPr>
            <p:cNvPr id="11" name="Ellipse 11"/>
            <p:cNvSpPr/>
            <p:nvPr/>
          </p:nvSpPr>
          <p:spPr>
            <a:xfrm>
              <a:off x="1028700" y="3505200"/>
              <a:ext cx="228600" cy="228600"/>
            </a:xfrm>
            <a:prstGeom prst="ellipse">
              <a:avLst/>
            </a:prstGeom>
            <a:noFill/>
            <a:ln w="28575">
              <a:solidFill>
                <a:srgbClr val="F2EEE5"/>
              </a:solidFill>
            </a:ln>
          </p:spPr>
        </p:sp>
        <p:sp>
          <p:nvSpPr>
            <p:cNvPr id="12" name="Ellipse 12"/>
            <p:cNvSpPr/>
            <p:nvPr/>
          </p:nvSpPr>
          <p:spPr>
            <a:xfrm>
              <a:off x="3886200" y="3505200"/>
              <a:ext cx="228600" cy="228600"/>
            </a:xfrm>
            <a:prstGeom prst="ellipse">
              <a:avLst/>
            </a:prstGeom>
            <a:noFill/>
            <a:ln w="28575">
              <a:solidFill>
                <a:srgbClr val="F2EEE5"/>
              </a:solidFill>
            </a:ln>
          </p:spPr>
        </p:sp>
        <p:sp>
          <p:nvSpPr>
            <p:cNvPr id="13" name="Ellipse 13"/>
            <p:cNvSpPr/>
            <p:nvPr/>
          </p:nvSpPr>
          <p:spPr>
            <a:xfrm>
              <a:off x="6743700" y="3505200"/>
              <a:ext cx="228600" cy="228600"/>
            </a:xfrm>
            <a:prstGeom prst="ellipse">
              <a:avLst/>
            </a:prstGeom>
            <a:noFill/>
            <a:ln w="28575">
              <a:solidFill>
                <a:srgbClr val="F2EEE5"/>
              </a:solidFill>
            </a:ln>
          </p:spPr>
        </p:sp>
        <p:sp>
          <p:nvSpPr>
            <p:cNvPr id="14" name="Ellipse 14"/>
            <p:cNvSpPr/>
            <p:nvPr/>
          </p:nvSpPr>
          <p:spPr>
            <a:xfrm>
              <a:off x="9372600" y="3467100"/>
              <a:ext cx="304800" cy="304800"/>
            </a:xfrm>
            <a:prstGeom prst="ellipse">
              <a:avLst/>
            </a:prstGeom>
            <a:solidFill>
              <a:schemeClr val="accent2"/>
            </a:solidFill>
            <a:ln>
              <a:noFill/>
            </a:ln>
          </p:spPr>
        </p:sp>
        <p:grpSp>
          <p:nvGrpSpPr>
            <p:cNvPr id="19" name="Group 19"/>
            <p:cNvGrpSpPr/>
            <p:nvPr/>
          </p:nvGrpSpPr>
          <p:grpSpPr>
            <a:xfrm>
              <a:off x="1018794" y="4006850"/>
              <a:ext cx="9273306" cy="381381"/>
              <a:chOff x="1018794" y="4006850"/>
              <a:chExt cx="9273306" cy="381381"/>
            </a:xfrm>
          </p:grpSpPr>
          <p:sp>
            <p:nvSpPr>
              <p:cNvPr id="15" name="TextBox 15"/>
              <p:cNvSpPr txBox="1"/>
              <p:nvPr/>
            </p:nvSpPr>
            <p:spPr>
              <a:xfrm>
                <a:off x="1018794" y="4006850"/>
                <a:ext cx="626208" cy="381381"/>
              </a:xfrm>
              <a:prstGeom prst="rect">
                <a:avLst/>
              </a:prstGeom>
              <a:noFill/>
              <a:ln>
                <a:noFill/>
              </a:ln>
            </p:spPr>
            <p:txBody>
              <a:bodyPr wrap="none" lIns="0" tIns="0" rIns="0" bIns="0" anchor="t" anchorCtr="0">
                <a:spAutoFit/>
              </a:bodyPr>
              <a:lstStyle/>
              <a:p>
                <a:pPr algn="l"/>
                <a:r>
                  <a:rPr lang="zh-CN" sz="1950" b="1" dirty="0">
                    <a:solidFill>
                      <a:srgbClr val="F2EEE5"/>
                    </a:solidFill>
                    <a:latin typeface="+mn-lt"/>
                    <a:ea typeface="+mn-ea"/>
                    <a:cs typeface="+mn-cs"/>
                  </a:rPr>
                  <a:t>1932</a:t>
                </a:r>
              </a:p>
            </p:txBody>
          </p:sp>
          <p:sp>
            <p:nvSpPr>
              <p:cNvPr id="16" name="TextBox 16"/>
              <p:cNvSpPr txBox="1"/>
              <p:nvPr/>
            </p:nvSpPr>
            <p:spPr>
              <a:xfrm>
                <a:off x="3876294" y="4006850"/>
                <a:ext cx="1233916" cy="381381"/>
              </a:xfrm>
              <a:prstGeom prst="rect">
                <a:avLst/>
              </a:prstGeom>
              <a:noFill/>
              <a:ln>
                <a:noFill/>
              </a:ln>
            </p:spPr>
            <p:txBody>
              <a:bodyPr wrap="none" lIns="0" tIns="0" rIns="0" bIns="0" anchor="t" anchorCtr="0">
                <a:spAutoFit/>
              </a:bodyPr>
              <a:lstStyle/>
              <a:p>
                <a:pPr algn="l"/>
                <a:r>
                  <a:rPr lang="zh-CN" sz="1950" b="1" dirty="0">
                    <a:solidFill>
                      <a:srgbClr val="F2EEE5"/>
                    </a:solidFill>
                    <a:latin typeface="+mn-lt"/>
                    <a:ea typeface="+mn-ea"/>
                    <a:cs typeface="+mn-cs"/>
                  </a:rPr>
                  <a:t>1932 年末</a:t>
                </a:r>
              </a:p>
            </p:txBody>
          </p:sp>
          <p:sp>
            <p:nvSpPr>
              <p:cNvPr id="17" name="TextBox 17"/>
              <p:cNvSpPr txBox="1"/>
              <p:nvPr/>
            </p:nvSpPr>
            <p:spPr>
              <a:xfrm>
                <a:off x="6733794" y="4006850"/>
                <a:ext cx="929406" cy="381381"/>
              </a:xfrm>
              <a:prstGeom prst="rect">
                <a:avLst/>
              </a:prstGeom>
              <a:noFill/>
              <a:ln>
                <a:noFill/>
              </a:ln>
            </p:spPr>
            <p:txBody>
              <a:bodyPr wrap="none" lIns="0" tIns="0" rIns="0" bIns="0" anchor="t" anchorCtr="0">
                <a:spAutoFit/>
              </a:bodyPr>
              <a:lstStyle/>
              <a:p>
                <a:pPr algn="l"/>
                <a:r>
                  <a:rPr lang="zh-CN" sz="1950" b="1" dirty="0">
                    <a:solidFill>
                      <a:srgbClr val="F2EEE5"/>
                    </a:solidFill>
                    <a:latin typeface="+mn-lt"/>
                    <a:ea typeface="+mn-ea"/>
                    <a:cs typeface="+mn-cs"/>
                  </a:rPr>
                  <a:t>1933.4</a:t>
                </a:r>
              </a:p>
            </p:txBody>
          </p:sp>
          <p:sp>
            <p:nvSpPr>
              <p:cNvPr id="18" name="TextBox 18"/>
              <p:cNvSpPr txBox="1"/>
              <p:nvPr/>
            </p:nvSpPr>
            <p:spPr>
              <a:xfrm>
                <a:off x="9362694" y="4006850"/>
                <a:ext cx="929406" cy="381381"/>
              </a:xfrm>
              <a:prstGeom prst="rect">
                <a:avLst/>
              </a:prstGeom>
              <a:noFill/>
              <a:ln>
                <a:noFill/>
              </a:ln>
            </p:spPr>
            <p:txBody>
              <a:bodyPr wrap="none" lIns="0" tIns="0" rIns="0" bIns="0" anchor="t" anchorCtr="0">
                <a:spAutoFit/>
              </a:bodyPr>
              <a:lstStyle/>
              <a:p>
                <a:pPr algn="l"/>
                <a:r>
                  <a:rPr lang="zh-CN" sz="1950" b="1" dirty="0">
                    <a:solidFill>
                      <a:schemeClr val="accent2"/>
                    </a:solidFill>
                    <a:latin typeface="+mn-lt"/>
                    <a:ea typeface="+mn-ea"/>
                    <a:cs typeface="+mn-cs"/>
                  </a:rPr>
                  <a:t>1933.7</a:t>
                </a:r>
              </a:p>
            </p:txBody>
          </p:sp>
        </p:grpSp>
        <p:grpSp>
          <p:nvGrpSpPr>
            <p:cNvPr id="24" name="Group 24"/>
            <p:cNvGrpSpPr/>
            <p:nvPr/>
          </p:nvGrpSpPr>
          <p:grpSpPr>
            <a:xfrm>
              <a:off x="1020318" y="4406900"/>
              <a:ext cx="10037064" cy="637032"/>
              <a:chOff x="1020318" y="4406900"/>
              <a:chExt cx="10037064" cy="637032"/>
            </a:xfrm>
          </p:grpSpPr>
          <p:sp>
            <p:nvSpPr>
              <p:cNvPr id="20" name="TextBox 20"/>
              <p:cNvSpPr txBox="1"/>
              <p:nvPr/>
            </p:nvSpPr>
            <p:spPr>
              <a:xfrm>
                <a:off x="1020318" y="4406900"/>
                <a:ext cx="2112264" cy="637032"/>
              </a:xfrm>
              <a:prstGeom prst="rect">
                <a:avLst/>
              </a:prstGeom>
              <a:noFill/>
              <a:ln>
                <a:noFill/>
              </a:ln>
            </p:spPr>
            <p:txBody>
              <a:bodyPr wrap="none" lIns="0" tIns="0" rIns="0" bIns="0" anchor="t" anchorCtr="0">
                <a:spAutoFit/>
              </a:bodyPr>
              <a:lstStyle/>
              <a:p>
                <a:pPr algn="l">
                  <a:lnSpc>
                    <a:spcPts val="2475"/>
                  </a:lnSpc>
                </a:pPr>
                <a:r>
                  <a:rPr lang="zh-CN" sz="1650" dirty="0">
                    <a:solidFill>
                      <a:srgbClr val="E4DDCF"/>
                    </a:solidFill>
                    <a:latin typeface="+mn-lt"/>
                    <a:ea typeface="+mn-ea"/>
                    <a:cs typeface="+mn-cs"/>
                  </a:rPr>
                  <a:t>纳粹党接管安哈尔特州</a:t>
                </a:r>
                <a:br>
                  <a:rPr lang="zh-CN" sz="1650" dirty="0">
                    <a:solidFill>
                      <a:srgbClr val="E4DDCF"/>
                    </a:solidFill>
                    <a:latin typeface="+mn-lt"/>
                    <a:ea typeface="+mn-ea"/>
                    <a:cs typeface="+mn-cs"/>
                  </a:rPr>
                </a:br>
                <a:r>
                  <a:rPr lang="zh-CN" sz="1650" dirty="0">
                    <a:solidFill>
                      <a:srgbClr val="E4DDCF"/>
                    </a:solidFill>
                    <a:latin typeface="+mn-lt"/>
                    <a:ea typeface="+mn-ea"/>
                    <a:cs typeface="+mn-cs"/>
                  </a:rPr>
                  <a:t>政府，德绍校区关闭</a:t>
                </a:r>
              </a:p>
            </p:txBody>
          </p:sp>
          <p:sp>
            <p:nvSpPr>
              <p:cNvPr id="21" name="TextBox 21"/>
              <p:cNvSpPr txBox="1"/>
              <p:nvPr/>
            </p:nvSpPr>
            <p:spPr>
              <a:xfrm>
                <a:off x="3877818" y="4406900"/>
                <a:ext cx="1902714" cy="637032"/>
              </a:xfrm>
              <a:prstGeom prst="rect">
                <a:avLst/>
              </a:prstGeom>
              <a:noFill/>
              <a:ln>
                <a:noFill/>
              </a:ln>
            </p:spPr>
            <p:txBody>
              <a:bodyPr wrap="none" lIns="0" tIns="0" rIns="0" bIns="0" anchor="t" anchorCtr="0">
                <a:spAutoFit/>
              </a:bodyPr>
              <a:lstStyle/>
              <a:p>
                <a:pPr algn="l">
                  <a:lnSpc>
                    <a:spcPts val="2475"/>
                  </a:lnSpc>
                </a:pPr>
                <a:r>
                  <a:rPr lang="zh-CN" sz="1650" dirty="0">
                    <a:solidFill>
                      <a:srgbClr val="E4DDCF"/>
                    </a:solidFill>
                    <a:latin typeface="+mn-lt"/>
                    <a:ea typeface="+mn-ea"/>
                    <a:cs typeface="+mn-cs"/>
                  </a:rPr>
                  <a:t>密斯在柏林租下一座</a:t>
                </a:r>
                <a:br>
                  <a:rPr lang="zh-CN" sz="1650" dirty="0">
                    <a:solidFill>
                      <a:srgbClr val="E4DDCF"/>
                    </a:solidFill>
                    <a:latin typeface="+mn-lt"/>
                    <a:ea typeface="+mn-ea"/>
                    <a:cs typeface="+mn-cs"/>
                  </a:rPr>
                </a:br>
                <a:r>
                  <a:rPr lang="zh-CN" sz="1650" dirty="0">
                    <a:solidFill>
                      <a:srgbClr val="E4DDCF"/>
                    </a:solidFill>
                    <a:latin typeface="+mn-lt"/>
                    <a:ea typeface="+mn-ea"/>
                    <a:cs typeface="+mn-cs"/>
                  </a:rPr>
                  <a:t>废弃电话工厂续办</a:t>
                </a:r>
              </a:p>
            </p:txBody>
          </p:sp>
          <p:sp>
            <p:nvSpPr>
              <p:cNvPr id="22" name="TextBox 22"/>
              <p:cNvSpPr txBox="1"/>
              <p:nvPr/>
            </p:nvSpPr>
            <p:spPr>
              <a:xfrm>
                <a:off x="6735318" y="4406900"/>
                <a:ext cx="1483614" cy="637032"/>
              </a:xfrm>
              <a:prstGeom prst="rect">
                <a:avLst/>
              </a:prstGeom>
              <a:noFill/>
              <a:ln>
                <a:noFill/>
              </a:ln>
            </p:spPr>
            <p:txBody>
              <a:bodyPr wrap="none" lIns="0" tIns="0" rIns="0" bIns="0" anchor="t" anchorCtr="0">
                <a:spAutoFit/>
              </a:bodyPr>
              <a:lstStyle/>
              <a:p>
                <a:pPr algn="l">
                  <a:lnSpc>
                    <a:spcPts val="2475"/>
                  </a:lnSpc>
                </a:pPr>
                <a:r>
                  <a:rPr lang="zh-CN" sz="1650" dirty="0">
                    <a:solidFill>
                      <a:srgbClr val="E4DDCF"/>
                    </a:solidFill>
                    <a:latin typeface="+mn-lt"/>
                    <a:ea typeface="+mn-ea"/>
                    <a:cs typeface="+mn-cs"/>
                  </a:rPr>
                  <a:t>盖世太保搜查、</a:t>
                </a:r>
                <a:br>
                  <a:rPr lang="zh-CN" sz="1650" dirty="0">
                    <a:solidFill>
                      <a:srgbClr val="E4DDCF"/>
                    </a:solidFill>
                    <a:latin typeface="+mn-lt"/>
                    <a:ea typeface="+mn-ea"/>
                    <a:cs typeface="+mn-cs"/>
                  </a:rPr>
                </a:br>
                <a:r>
                  <a:rPr lang="zh-CN" sz="1650" dirty="0">
                    <a:solidFill>
                      <a:srgbClr val="E4DDCF"/>
                    </a:solidFill>
                    <a:latin typeface="+mn-lt"/>
                    <a:ea typeface="+mn-ea"/>
                    <a:cs typeface="+mn-cs"/>
                  </a:rPr>
                  <a:t>查封学校</a:t>
                </a:r>
              </a:p>
            </p:txBody>
          </p:sp>
          <p:sp>
            <p:nvSpPr>
              <p:cNvPr id="23" name="TextBox 23"/>
              <p:cNvSpPr txBox="1"/>
              <p:nvPr/>
            </p:nvSpPr>
            <p:spPr>
              <a:xfrm>
                <a:off x="9364218" y="4406900"/>
                <a:ext cx="1693164" cy="637032"/>
              </a:xfrm>
              <a:prstGeom prst="rect">
                <a:avLst/>
              </a:prstGeom>
              <a:noFill/>
              <a:ln>
                <a:noFill/>
              </a:ln>
            </p:spPr>
            <p:txBody>
              <a:bodyPr wrap="none" lIns="0" tIns="0" rIns="0" bIns="0" anchor="t" anchorCtr="0">
                <a:spAutoFit/>
              </a:bodyPr>
              <a:lstStyle/>
              <a:p>
                <a:pPr algn="l">
                  <a:lnSpc>
                    <a:spcPts val="2475"/>
                  </a:lnSpc>
                </a:pPr>
                <a:r>
                  <a:rPr lang="zh-CN" sz="1650" dirty="0">
                    <a:solidFill>
                      <a:srgbClr val="E4DDCF"/>
                    </a:solidFill>
                    <a:latin typeface="+mn-lt"/>
                    <a:ea typeface="+mn-ea"/>
                    <a:cs typeface="+mn-cs"/>
                  </a:rPr>
                  <a:t>密斯与教员投票，</a:t>
                </a:r>
                <a:br>
                  <a:rPr lang="zh-CN" sz="1650" dirty="0">
                    <a:solidFill>
                      <a:srgbClr val="E4DDCF"/>
                    </a:solidFill>
                    <a:latin typeface="+mn-lt"/>
                    <a:ea typeface="+mn-ea"/>
                    <a:cs typeface="+mn-cs"/>
                  </a:rPr>
                </a:br>
                <a:r>
                  <a:rPr lang="zh-CN" sz="1650" b="1" dirty="0">
                    <a:solidFill>
                      <a:srgbClr val="F2EEE5"/>
                    </a:solidFill>
                    <a:latin typeface="+mn-lt"/>
                    <a:ea typeface="+mn-ea"/>
                    <a:cs typeface="+mn-cs"/>
                  </a:rPr>
                  <a:t>自行解散</a:t>
                </a:r>
              </a:p>
            </p:txBody>
          </p:sp>
        </p:grpSp>
      </p:grpSp>
      <p:grpSp>
        <p:nvGrpSpPr>
          <p:cNvPr id="27" name="sources"/>
          <p:cNvGrpSpPr/>
          <p:nvPr/>
        </p:nvGrpSpPr>
        <p:grpSpPr>
          <a:xfrm>
            <a:off x="604647" y="6438900"/>
            <a:ext cx="3639438" cy="191643"/>
            <a:chOff x="604647" y="6438900"/>
            <a:chExt cx="3639438" cy="191643"/>
          </a:xfrm>
        </p:grpSpPr>
        <p:sp>
          <p:nvSpPr>
            <p:cNvPr id="26" name="TextBox 26"/>
            <p:cNvSpPr txBox="1"/>
            <p:nvPr/>
          </p:nvSpPr>
          <p:spPr>
            <a:xfrm>
              <a:off x="604647" y="6438900"/>
              <a:ext cx="3639438" cy="191643"/>
            </a:xfrm>
            <a:prstGeom prst="rect">
              <a:avLst/>
            </a:prstGeom>
            <a:noFill/>
            <a:ln>
              <a:noFill/>
            </a:ln>
          </p:spPr>
          <p:txBody>
            <a:bodyPr wrap="none" lIns="0" tIns="0" rIns="0" bIns="0" anchor="t" anchorCtr="0">
              <a:spAutoFit/>
            </a:bodyPr>
            <a:lstStyle/>
            <a:p>
              <a:pPr algn="l"/>
              <a:r>
                <a:rPr lang="zh-CN" sz="980" dirty="0">
                  <a:solidFill>
                    <a:schemeClr val="accent6"/>
                  </a:solidFill>
                  <a:latin typeface="+mn-lt"/>
                  <a:ea typeface="+mn-ea"/>
                  <a:cs typeface="+mn-cs"/>
                </a:rPr>
                <a:t>来源：Wikipedia「Bauhaus」「Ludwig Mies van der Rohe」</a:t>
              </a:r>
            </a:p>
          </p:txBody>
        </p:sp>
      </p:grpSp>
      <p:sp>
        <p:nvSpPr>
          <p:cNvPr id="28" name="TextBox 28"/>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6"/>
                </a:solidFill>
                <a:latin typeface="+mn-lt"/>
                <a:ea typeface="+mn-ea"/>
                <a:cs typeface="+mn-cs"/>
              </a:rPr>
              <a:t>包豪斯 1919–1933 · 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12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94360" y="774700"/>
            <a:ext cx="6465189" cy="1192657"/>
            <a:chOff x="594360" y="774700"/>
            <a:chExt cx="6465189" cy="1192657"/>
          </a:xfrm>
        </p:grpSpPr>
        <p:sp>
          <p:nvSpPr>
            <p:cNvPr id="2" name="TextBox 2"/>
            <p:cNvSpPr txBox="1"/>
            <p:nvPr/>
          </p:nvSpPr>
          <p:spPr>
            <a:xfrm>
              <a:off x="603885" y="774700"/>
              <a:ext cx="2090791"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11 · 流散 · EMIGRATION</a:t>
              </a:r>
            </a:p>
          </p:txBody>
        </p:sp>
        <p:sp>
          <p:nvSpPr>
            <p:cNvPr id="3" name="TextBox 3"/>
            <p:cNvSpPr txBox="1"/>
            <p:nvPr/>
          </p:nvSpPr>
          <p:spPr>
            <a:xfrm>
              <a:off x="594360" y="10604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关门之后，方法出发</a:t>
              </a:r>
            </a:p>
          </p:txBody>
        </p:sp>
        <p:sp>
          <p:nvSpPr>
            <p:cNvPr id="4" name="TextBox 4"/>
            <p:cNvSpPr txBox="1"/>
            <p:nvPr/>
          </p:nvSpPr>
          <p:spPr>
            <a:xfrm>
              <a:off x="601218" y="1644650"/>
              <a:ext cx="645833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关闭让包豪斯的人四散，也让它的方法在新的学校与城市里落地。</a:t>
              </a:r>
            </a:p>
          </p:txBody>
        </p:sp>
      </p:grpSp>
      <p:grpSp>
        <p:nvGrpSpPr>
          <p:cNvPr id="7" name="!!motif-origin"/>
          <p:cNvGrpSpPr/>
          <p:nvPr/>
        </p:nvGrpSpPr>
        <p:grpSpPr>
          <a:xfrm>
            <a:off x="1085850" y="2990850"/>
            <a:ext cx="1447800" cy="1447800"/>
            <a:chOff x="1085850" y="2990850"/>
            <a:chExt cx="1447800" cy="1447800"/>
          </a:xfrm>
        </p:grpSpPr>
        <p:sp>
          <p:nvSpPr>
            <p:cNvPr id="6" name="Ellipse 6"/>
            <p:cNvSpPr/>
            <p:nvPr/>
          </p:nvSpPr>
          <p:spPr>
            <a:xfrm>
              <a:off x="1085850" y="2990850"/>
              <a:ext cx="1447800" cy="1447800"/>
            </a:xfrm>
            <a:prstGeom prst="ellipse">
              <a:avLst/>
            </a:prstGeom>
            <a:solidFill>
              <a:schemeClr val="accent2"/>
            </a:solidFill>
            <a:ln>
              <a:noFill/>
            </a:ln>
          </p:spPr>
        </p:sp>
      </p:grpSp>
      <p:grpSp>
        <p:nvGrpSpPr>
          <p:cNvPr id="10" name="origin-label"/>
          <p:cNvGrpSpPr/>
          <p:nvPr/>
        </p:nvGrpSpPr>
        <p:grpSpPr>
          <a:xfrm>
            <a:off x="1440180" y="3454400"/>
            <a:ext cx="739140" cy="552196"/>
            <a:chOff x="1440180" y="3454400"/>
            <a:chExt cx="739140" cy="552196"/>
          </a:xfrm>
        </p:grpSpPr>
        <p:sp>
          <p:nvSpPr>
            <p:cNvPr id="8" name="TextBox 8"/>
            <p:cNvSpPr txBox="1"/>
            <p:nvPr/>
          </p:nvSpPr>
          <p:spPr>
            <a:xfrm>
              <a:off x="1579245" y="3454400"/>
              <a:ext cx="461010" cy="322707"/>
            </a:xfrm>
            <a:prstGeom prst="rect">
              <a:avLst/>
            </a:prstGeom>
            <a:noFill/>
            <a:ln>
              <a:noFill/>
            </a:ln>
          </p:spPr>
          <p:txBody>
            <a:bodyPr wrap="none" lIns="0" tIns="0" rIns="0" bIns="0" anchor="t" anchorCtr="0">
              <a:spAutoFit/>
            </a:bodyPr>
            <a:lstStyle/>
            <a:p>
              <a:pPr algn="ctr"/>
              <a:r>
                <a:rPr lang="zh-CN" sz="1650" b="1" dirty="0">
                  <a:solidFill>
                    <a:srgbClr val="F2EEE5"/>
                  </a:solidFill>
                  <a:latin typeface="+mn-lt"/>
                  <a:ea typeface="+mn-ea"/>
                  <a:cs typeface="+mn-cs"/>
                </a:rPr>
                <a:t>德国</a:t>
              </a:r>
            </a:p>
          </p:txBody>
        </p:sp>
        <p:sp>
          <p:nvSpPr>
            <p:cNvPr id="9" name="TextBox 9"/>
            <p:cNvSpPr txBox="1"/>
            <p:nvPr/>
          </p:nvSpPr>
          <p:spPr>
            <a:xfrm>
              <a:off x="1440180" y="3771900"/>
              <a:ext cx="739140" cy="234696"/>
            </a:xfrm>
            <a:prstGeom prst="rect">
              <a:avLst/>
            </a:prstGeom>
            <a:noFill/>
            <a:ln>
              <a:noFill/>
            </a:ln>
          </p:spPr>
          <p:txBody>
            <a:bodyPr wrap="none" lIns="0" tIns="0" rIns="0" bIns="0" anchor="t" anchorCtr="0">
              <a:spAutoFit/>
            </a:bodyPr>
            <a:lstStyle/>
            <a:p>
              <a:pPr algn="ctr"/>
              <a:r>
                <a:rPr lang="zh-CN" sz="1200" dirty="0">
                  <a:solidFill>
                    <a:srgbClr val="F2EEE5"/>
                  </a:solidFill>
                  <a:latin typeface="+mn-lt"/>
                  <a:ea typeface="+mn-ea"/>
                  <a:cs typeface="+mn-cs"/>
                </a:rPr>
                <a:t>1933 年后</a:t>
              </a:r>
            </a:p>
          </p:txBody>
        </p:sp>
      </p:grpSp>
      <p:grpSp>
        <p:nvGrpSpPr>
          <p:cNvPr id="16" name="routes"/>
          <p:cNvGrpSpPr/>
          <p:nvPr/>
        </p:nvGrpSpPr>
        <p:grpSpPr>
          <a:xfrm>
            <a:off x="2552700" y="2457450"/>
            <a:ext cx="1847850" cy="2743200"/>
            <a:chOff x="2552700" y="2457450"/>
            <a:chExt cx="1847850" cy="2743200"/>
          </a:xfrm>
        </p:grpSpPr>
        <p:sp>
          <p:nvSpPr>
            <p:cNvPr id="11" name="Line 11"/>
            <p:cNvSpPr/>
            <p:nvPr/>
          </p:nvSpPr>
          <p:spPr>
            <a:xfrm flipV="1">
              <a:off x="2552700" y="2457450"/>
              <a:ext cx="1847850" cy="1085850"/>
            </a:xfrm>
            <a:prstGeom prst="line">
              <a:avLst/>
            </a:prstGeom>
            <a:noFill/>
            <a:ln w="14288">
              <a:solidFill>
                <a:schemeClr val="accent1"/>
              </a:solidFill>
              <a:tailEnd type="triangle" w="lg" len="lg"/>
            </a:ln>
          </p:spPr>
        </p:sp>
        <p:sp>
          <p:nvSpPr>
            <p:cNvPr id="12" name="Line 12"/>
            <p:cNvSpPr/>
            <p:nvPr/>
          </p:nvSpPr>
          <p:spPr>
            <a:xfrm flipV="1">
              <a:off x="2552700" y="3143250"/>
              <a:ext cx="1847850" cy="495300"/>
            </a:xfrm>
            <a:prstGeom prst="line">
              <a:avLst/>
            </a:prstGeom>
            <a:noFill/>
            <a:ln w="14288">
              <a:solidFill>
                <a:schemeClr val="accent1"/>
              </a:solidFill>
              <a:tailEnd type="triangle" w="lg" len="lg"/>
            </a:ln>
          </p:spPr>
        </p:sp>
        <p:sp>
          <p:nvSpPr>
            <p:cNvPr id="13" name="Line 13"/>
            <p:cNvSpPr/>
            <p:nvPr/>
          </p:nvSpPr>
          <p:spPr>
            <a:xfrm>
              <a:off x="2552700" y="3733800"/>
              <a:ext cx="1847850" cy="95250"/>
            </a:xfrm>
            <a:prstGeom prst="line">
              <a:avLst/>
            </a:prstGeom>
            <a:noFill/>
            <a:ln w="14288">
              <a:solidFill>
                <a:schemeClr val="accent1"/>
              </a:solidFill>
              <a:tailEnd type="triangle" w="lg" len="lg"/>
            </a:ln>
          </p:spPr>
        </p:sp>
        <p:sp>
          <p:nvSpPr>
            <p:cNvPr id="14" name="Line 14"/>
            <p:cNvSpPr/>
            <p:nvPr/>
          </p:nvSpPr>
          <p:spPr>
            <a:xfrm>
              <a:off x="2552700" y="3829050"/>
              <a:ext cx="1847850" cy="685800"/>
            </a:xfrm>
            <a:prstGeom prst="line">
              <a:avLst/>
            </a:prstGeom>
            <a:noFill/>
            <a:ln w="14288">
              <a:solidFill>
                <a:schemeClr val="accent1"/>
              </a:solidFill>
              <a:tailEnd type="triangle" w="lg" len="lg"/>
            </a:ln>
          </p:spPr>
        </p:sp>
        <p:sp>
          <p:nvSpPr>
            <p:cNvPr id="15" name="Line 15"/>
            <p:cNvSpPr/>
            <p:nvPr/>
          </p:nvSpPr>
          <p:spPr>
            <a:xfrm>
              <a:off x="2552700" y="3924300"/>
              <a:ext cx="1847850" cy="1276350"/>
            </a:xfrm>
            <a:prstGeom prst="line">
              <a:avLst/>
            </a:prstGeom>
            <a:noFill/>
            <a:ln w="14288">
              <a:solidFill>
                <a:schemeClr val="accent1"/>
              </a:solidFill>
              <a:prstDash val="lgDash"/>
              <a:tailEnd type="triangle" w="lg" len="lg"/>
            </a:ln>
          </p:spPr>
        </p:sp>
      </p:grpSp>
      <p:grpSp>
        <p:nvGrpSpPr>
          <p:cNvPr id="27" name="destinations"/>
          <p:cNvGrpSpPr/>
          <p:nvPr/>
        </p:nvGrpSpPr>
        <p:grpSpPr>
          <a:xfrm>
            <a:off x="4563618" y="2254250"/>
            <a:ext cx="4384243" cy="3257296"/>
            <a:chOff x="4563618" y="2254250"/>
            <a:chExt cx="4384243" cy="3257296"/>
          </a:xfrm>
        </p:grpSpPr>
        <p:sp>
          <p:nvSpPr>
            <p:cNvPr id="17" name="TextBox 17"/>
            <p:cNvSpPr txBox="1"/>
            <p:nvPr/>
          </p:nvSpPr>
          <p:spPr>
            <a:xfrm>
              <a:off x="4563618" y="2254250"/>
              <a:ext cx="28432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1933 · 阿尔伯斯 → 黑山学院</a:t>
              </a:r>
            </a:p>
          </p:txBody>
        </p:sp>
        <p:sp>
          <p:nvSpPr>
            <p:cNvPr id="18" name="TextBox 18"/>
            <p:cNvSpPr txBox="1"/>
            <p:nvPr/>
          </p:nvSpPr>
          <p:spPr>
            <a:xfrm>
              <a:off x="4565904" y="2533650"/>
              <a:ext cx="405079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北卡罗来纳州，执教至 1949；1950 年起主持耶鲁设计系</a:t>
              </a:r>
            </a:p>
          </p:txBody>
        </p:sp>
        <p:sp>
          <p:nvSpPr>
            <p:cNvPr id="19" name="TextBox 19"/>
            <p:cNvSpPr txBox="1"/>
            <p:nvPr/>
          </p:nvSpPr>
          <p:spPr>
            <a:xfrm>
              <a:off x="4563618" y="2940050"/>
              <a:ext cx="2621156"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1937 · 格罗皮乌斯 → 哈佛</a:t>
              </a:r>
            </a:p>
          </p:txBody>
        </p:sp>
        <p:sp>
          <p:nvSpPr>
            <p:cNvPr id="20" name="TextBox 20"/>
            <p:cNvSpPr txBox="1"/>
            <p:nvPr/>
          </p:nvSpPr>
          <p:spPr>
            <a:xfrm>
              <a:off x="4565904" y="3219450"/>
              <a:ext cx="263728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1937–1952 年任教哈佛设计研究生院</a:t>
              </a:r>
            </a:p>
          </p:txBody>
        </p:sp>
        <p:sp>
          <p:nvSpPr>
            <p:cNvPr id="21" name="TextBox 21"/>
            <p:cNvSpPr txBox="1"/>
            <p:nvPr/>
          </p:nvSpPr>
          <p:spPr>
            <a:xfrm>
              <a:off x="4563618" y="3625850"/>
              <a:ext cx="2971555"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1937 · 莫霍利-纳吉 → 芝加哥</a:t>
              </a:r>
            </a:p>
          </p:txBody>
        </p:sp>
        <p:sp>
          <p:nvSpPr>
            <p:cNvPr id="22" name="TextBox 22"/>
            <p:cNvSpPr txBox="1"/>
            <p:nvPr/>
          </p:nvSpPr>
          <p:spPr>
            <a:xfrm>
              <a:off x="4565904" y="3905250"/>
              <a:ext cx="397520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创办新包豪斯；1944 年改名设计学院，1949 年并入 IIT</a:t>
              </a:r>
            </a:p>
          </p:txBody>
        </p:sp>
        <p:sp>
          <p:nvSpPr>
            <p:cNvPr id="23" name="TextBox 23"/>
            <p:cNvSpPr txBox="1"/>
            <p:nvPr/>
          </p:nvSpPr>
          <p:spPr>
            <a:xfrm>
              <a:off x="4563618" y="4311650"/>
              <a:ext cx="2561738"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1937/38 · 密斯 → 芝加哥</a:t>
              </a:r>
            </a:p>
          </p:txBody>
        </p:sp>
        <p:sp>
          <p:nvSpPr>
            <p:cNvPr id="24" name="TextBox 24"/>
            <p:cNvSpPr txBox="1"/>
            <p:nvPr/>
          </p:nvSpPr>
          <p:spPr>
            <a:xfrm>
              <a:off x="4565904" y="4591050"/>
              <a:ext cx="340979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主持阿穆尔理工学院建筑系（1940 年并入 IIT）</a:t>
              </a:r>
            </a:p>
          </p:txBody>
        </p:sp>
        <p:sp>
          <p:nvSpPr>
            <p:cNvPr id="25" name="TextBox 25"/>
            <p:cNvSpPr txBox="1"/>
            <p:nvPr/>
          </p:nvSpPr>
          <p:spPr>
            <a:xfrm>
              <a:off x="4563618" y="4997450"/>
              <a:ext cx="2352943"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mn-lt"/>
                  <a:ea typeface="+mn-ea"/>
                  <a:cs typeface="+mn-cs"/>
                </a:rPr>
                <a:t>1953 · 乌尔姆设计学院</a:t>
              </a:r>
            </a:p>
          </p:txBody>
        </p:sp>
        <p:sp>
          <p:nvSpPr>
            <p:cNvPr id="26" name="TextBox 26"/>
            <p:cNvSpPr txBox="1"/>
            <p:nvPr/>
          </p:nvSpPr>
          <p:spPr>
            <a:xfrm>
              <a:off x="4565904" y="5276850"/>
              <a:ext cx="4381957"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比尔、艾舍-绍尔与艾舍创办，延续包豪斯理念，1968 年关闭</a:t>
              </a:r>
            </a:p>
          </p:txBody>
        </p:sp>
      </p:grpSp>
      <p:grpSp>
        <p:nvGrpSpPr>
          <p:cNvPr id="30" name="faculty-stat"/>
          <p:cNvGrpSpPr/>
          <p:nvPr/>
        </p:nvGrpSpPr>
        <p:grpSpPr>
          <a:xfrm>
            <a:off x="601218" y="5594350"/>
            <a:ext cx="3286415" cy="621157"/>
            <a:chOff x="601218" y="5594350"/>
            <a:chExt cx="3286415" cy="621157"/>
          </a:xfrm>
        </p:grpSpPr>
        <p:sp>
          <p:nvSpPr>
            <p:cNvPr id="28" name="TextBox 28"/>
            <p:cNvSpPr txBox="1"/>
            <p:nvPr/>
          </p:nvSpPr>
          <p:spPr>
            <a:xfrm>
              <a:off x="603885" y="5594350"/>
              <a:ext cx="956624" cy="220028"/>
            </a:xfrm>
            <a:prstGeom prst="rect">
              <a:avLst/>
            </a:prstGeom>
            <a:noFill/>
            <a:ln>
              <a:noFill/>
            </a:ln>
          </p:spPr>
          <p:txBody>
            <a:bodyPr wrap="none" lIns="0" tIns="0" rIns="0" bIns="0" anchor="t" anchorCtr="0">
              <a:spAutoFit/>
            </a:bodyPr>
            <a:lstStyle/>
            <a:p>
              <a:pPr algn="l"/>
              <a:r>
                <a:rPr lang="zh-CN" sz="1120" b="1" spc="150" dirty="0">
                  <a:solidFill>
                    <a:schemeClr val="accent3"/>
                  </a:solidFill>
                  <a:latin typeface="+mn-lt"/>
                  <a:ea typeface="+mn-ea"/>
                  <a:cs typeface="+mn-cs"/>
                </a:rPr>
                <a:t>1933–1938</a:t>
              </a:r>
            </a:p>
          </p:txBody>
        </p:sp>
        <p:sp>
          <p:nvSpPr>
            <p:cNvPr id="29" name="TextBox 29"/>
            <p:cNvSpPr txBox="1"/>
            <p:nvPr/>
          </p:nvSpPr>
          <p:spPr>
            <a:xfrm>
              <a:off x="601218" y="5892800"/>
              <a:ext cx="3286415"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119 名教员中，约 </a:t>
              </a:r>
              <a:r>
                <a:rPr lang="zh-CN" sz="1650" b="1" dirty="0">
                  <a:solidFill>
                    <a:schemeClr val="accent2"/>
                  </a:solidFill>
                  <a:latin typeface="+mn-lt"/>
                  <a:ea typeface="+mn-ea"/>
                  <a:cs typeface="+mn-cs"/>
                </a:rPr>
                <a:t>15 人</a:t>
              </a:r>
              <a:r>
                <a:rPr lang="zh-CN" sz="1650" dirty="0">
                  <a:solidFill>
                    <a:schemeClr val="dk1"/>
                  </a:solidFill>
                  <a:latin typeface="+mn-lt"/>
                  <a:ea typeface="+mn-ea"/>
                  <a:cs typeface="+mn-cs"/>
                </a:rPr>
                <a:t>移居国外</a:t>
              </a:r>
            </a:p>
          </p:txBody>
        </p:sp>
      </p:grpSp>
      <p:grpSp>
        <p:nvGrpSpPr>
          <p:cNvPr id="34" name="white-city"/>
          <p:cNvGrpSpPr/>
          <p:nvPr/>
        </p:nvGrpSpPr>
        <p:grpSpPr>
          <a:xfrm>
            <a:off x="9328404" y="2209800"/>
            <a:ext cx="2253996" cy="3807968"/>
            <a:chOff x="9328404" y="2209800"/>
            <a:chExt cx="2253996" cy="3807968"/>
          </a:xfrm>
        </p:grpSpPr>
        <p:pic>
          <p:nvPicPr>
            <p:cNvPr id="31" name="Image 31"/>
            <p:cNvPicPr>
              <a:picLocks noChangeAspect="1"/>
            </p:cNvPicPr>
            <p:nvPr/>
          </p:nvPicPr>
          <p:blipFill>
            <a:blip r:embed="rId2"/>
            <a:srcRect l="21266" t="0" r="21266" b="0"/>
            <a:stretch>
              <a:fillRect/>
            </a:stretch>
          </p:blipFill>
          <p:spPr>
            <a:xfrm>
              <a:off x="9334500" y="2209800"/>
              <a:ext cx="2247900" cy="2933700"/>
            </a:xfrm>
            <a:custGeom>
              <a:avLst/>
              <a:gdLst/>
              <a:ahLst/>
              <a:cxnLst/>
              <a:rect l="l" t="t" r="r" b="b"/>
              <a:pathLst>
                <a:path w="2247900" h="2933700">
                  <a:moveTo>
                    <a:pt x="285750" y="0"/>
                  </a:moveTo>
                  <a:lnTo>
                    <a:pt x="2247900" y="0"/>
                  </a:lnTo>
                  <a:lnTo>
                    <a:pt x="1962150" y="2933700"/>
                  </a:lnTo>
                  <a:lnTo>
                    <a:pt x="0" y="2933700"/>
                  </a:lnTo>
                  <a:close/>
                </a:path>
              </a:pathLst>
            </a:custGeom>
          </p:spPr>
        </p:pic>
        <p:sp>
          <p:nvSpPr>
            <p:cNvPr id="32" name="TextBox 32"/>
            <p:cNvSpPr txBox="1"/>
            <p:nvPr/>
          </p:nvSpPr>
          <p:spPr>
            <a:xfrm>
              <a:off x="9328404" y="5264150"/>
              <a:ext cx="1848612" cy="444246"/>
            </a:xfrm>
            <a:prstGeom prst="rect">
              <a:avLst/>
            </a:prstGeom>
            <a:noFill/>
            <a:ln>
              <a:noFill/>
            </a:ln>
          </p:spPr>
          <p:txBody>
            <a:bodyPr wrap="none" lIns="0" tIns="0" rIns="0" bIns="0" anchor="t" anchorCtr="0">
              <a:spAutoFit/>
            </a:bodyPr>
            <a:lstStyle/>
            <a:p>
              <a:pPr algn="l">
                <a:lnSpc>
                  <a:spcPts val="1650"/>
                </a:lnSpc>
              </a:pPr>
              <a:r>
                <a:rPr lang="zh-CN" sz="1200" b="1" dirty="0">
                  <a:solidFill>
                    <a:schemeClr val="accent1"/>
                  </a:solidFill>
                  <a:latin typeface="+mn-lt"/>
                  <a:ea typeface="+mn-ea"/>
                  <a:cs typeface="+mn-cs"/>
                </a:rPr>
                <a:t>特拉维夫白城</a:t>
              </a:r>
              <a:r>
                <a:rPr lang="zh-CN" sz="1200" dirty="0">
                  <a:solidFill>
                    <a:schemeClr val="accent1"/>
                  </a:solidFill>
                  <a:latin typeface="+mn-lt"/>
                  <a:ea typeface="+mn-ea"/>
                  <a:cs typeface="+mn-cs"/>
                </a:rPr>
                <a:t>：4,000 余座</a:t>
              </a:r>
              <a:br>
                <a:rPr lang="zh-CN" sz="1200" dirty="0">
                  <a:solidFill>
                    <a:schemeClr val="accent1"/>
                  </a:solidFill>
                  <a:latin typeface="+mn-lt"/>
                  <a:ea typeface="+mn-ea"/>
                  <a:cs typeface="+mn-cs"/>
                </a:rPr>
              </a:br>
              <a:r>
                <a:rPr lang="zh-CN" sz="1200" dirty="0">
                  <a:solidFill>
                    <a:schemeClr val="accent1"/>
                  </a:solidFill>
                  <a:latin typeface="+mn-lt"/>
                  <a:ea typeface="+mn-ea"/>
                  <a:cs typeface="+mn-cs"/>
                </a:rPr>
                <a:t>建筑，2003 年世界遗产</a:t>
              </a:r>
            </a:p>
          </p:txBody>
        </p:sp>
        <p:sp>
          <p:nvSpPr>
            <p:cNvPr id="33" name="TextBox 33"/>
            <p:cNvSpPr txBox="1"/>
            <p:nvPr/>
          </p:nvSpPr>
          <p:spPr>
            <a:xfrm>
              <a:off x="9329547" y="5664200"/>
              <a:ext cx="1870583" cy="353568"/>
            </a:xfrm>
            <a:prstGeom prst="rect">
              <a:avLst/>
            </a:prstGeom>
            <a:noFill/>
            <a:ln>
              <a:noFill/>
            </a:ln>
          </p:spPr>
          <p:txBody>
            <a:bodyPr wrap="none" lIns="0" tIns="0" rIns="0" bIns="0" anchor="t" anchorCtr="0">
              <a:spAutoFit/>
            </a:bodyPr>
            <a:lstStyle/>
            <a:p>
              <a:pPr algn="l">
                <a:lnSpc>
                  <a:spcPts val="1275"/>
                </a:lnSpc>
              </a:pPr>
              <a:r>
                <a:rPr lang="zh-CN" sz="980" dirty="0">
                  <a:solidFill>
                    <a:schemeClr val="accent5"/>
                  </a:solidFill>
                  <a:latin typeface="+mn-lt"/>
                  <a:ea typeface="+mn-ea"/>
                  <a:cs typeface="+mn-cs"/>
                  <a:rtl val="1"/>
                </a:rPr>
                <a:t>图 © Lior Golgher • ליאור גולגר</a:t>
              </a:r>
              <a:br>
                <a:rPr lang="zh-CN" sz="980" dirty="0">
                  <a:solidFill>
                    <a:schemeClr val="accent5"/>
                  </a:solidFill>
                  <a:latin typeface="+mn-lt"/>
                  <a:ea typeface="+mn-ea"/>
                  <a:cs typeface="+mn-cs"/>
                  <a:rtl val="1"/>
                </a:rPr>
              </a:br>
              <a:r>
                <a:rPr lang="en-US" sz="980" dirty="0">
                  <a:solidFill>
                    <a:schemeClr val="accent5"/>
                  </a:solidFill>
                  <a:latin typeface="+mn-lt"/>
                  <a:ea typeface="+mn-ea"/>
                  <a:cs typeface="+mn-cs"/>
                </a:rPr>
                <a:t>Wikimedia / CC BY 2.5</a:t>
              </a:r>
            </a:p>
          </p:txBody>
        </p:sp>
      </p:grpSp>
      <p:grpSp>
        <p:nvGrpSpPr>
          <p:cNvPr id="36" name="sources"/>
          <p:cNvGrpSpPr/>
          <p:nvPr/>
        </p:nvGrpSpPr>
        <p:grpSpPr>
          <a:xfrm>
            <a:off x="604647" y="6438900"/>
            <a:ext cx="6996067" cy="191643"/>
            <a:chOff x="604647" y="6438900"/>
            <a:chExt cx="6996067" cy="191643"/>
          </a:xfrm>
        </p:grpSpPr>
        <p:sp>
          <p:nvSpPr>
            <p:cNvPr id="35" name="TextBox 35"/>
            <p:cNvSpPr txBox="1"/>
            <p:nvPr/>
          </p:nvSpPr>
          <p:spPr>
            <a:xfrm>
              <a:off x="604647" y="6438900"/>
              <a:ext cx="6996067"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来源：Wikipedia「Bauhaus」「Walter Gropius」「Josef Albers」「New Bauhaus」「Ludwig Mies van der Rohe」</a:t>
              </a:r>
            </a:p>
          </p:txBody>
        </p:sp>
      </p:grpSp>
      <p:sp>
        <p:nvSpPr>
          <p:cNvPr id="37" name="TextBox 37"/>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12</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800"/>
                                        <p:tgtEl>
                                          <p:spTgt spid="16"/>
                                        </p:tgtEl>
                                      </p:cBhvr>
                                    </p:animEffect>
                                  </p:childTnLst>
                                </p:cTn>
                              </p:par>
                            </p:childTnLst>
                          </p:cTn>
                        </p:par>
                        <p:par>
                          <p:cTn id="8" fill="hold">
                            <p:stCondLst>
                              <p:cond delay="800"/>
                            </p:stCondLst>
                            <p:childTnLst>
                              <p:par>
                                <p:cTn id="9" presetID="10" presetClass="entr" presetSubtype="0" fill="hold" grpId="0" nodeType="afterEffect">
                                  <p:stCondLst>
                                    <p:cond delay="50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3" name="kicker"/>
          <p:cNvGrpSpPr/>
          <p:nvPr/>
        </p:nvGrpSpPr>
        <p:grpSpPr>
          <a:xfrm>
            <a:off x="603885" y="774700"/>
            <a:ext cx="2207712" cy="220028"/>
            <a:chOff x="603885" y="774700"/>
            <a:chExt cx="2207712" cy="220028"/>
          </a:xfrm>
        </p:grpSpPr>
        <p:sp>
          <p:nvSpPr>
            <p:cNvPr id="2" name="TextBox 2"/>
            <p:cNvSpPr txBox="1"/>
            <p:nvPr/>
          </p:nvSpPr>
          <p:spPr>
            <a:xfrm>
              <a:off x="603885" y="774700"/>
              <a:ext cx="2207712" cy="220028"/>
            </a:xfrm>
            <a:prstGeom prst="rect">
              <a:avLst/>
            </a:prstGeom>
            <a:noFill/>
            <a:ln>
              <a:noFill/>
            </a:ln>
          </p:spPr>
          <p:txBody>
            <a:bodyPr wrap="none" lIns="0" tIns="0" rIns="0" bIns="0" anchor="t" anchorCtr="0">
              <a:spAutoFit/>
            </a:bodyPr>
            <a:lstStyle/>
            <a:p>
              <a:pPr algn="l"/>
              <a:r>
                <a:rPr lang="zh-CN" sz="1120" spc="150" dirty="0">
                  <a:solidFill>
                    <a:schemeClr val="accent5"/>
                  </a:solidFill>
                  <a:latin typeface="+mn-lt"/>
                  <a:ea typeface="+mn-ea"/>
                  <a:cs typeface="+mn-cs"/>
                </a:rPr>
                <a:t>12 · 结语 · NACHWIRKUNG</a:t>
              </a:r>
            </a:p>
          </p:txBody>
        </p:sp>
      </p:grpSp>
      <p:grpSp>
        <p:nvGrpSpPr>
          <p:cNvPr id="5" name="!!motif-origin"/>
          <p:cNvGrpSpPr/>
          <p:nvPr/>
        </p:nvGrpSpPr>
        <p:grpSpPr>
          <a:xfrm>
            <a:off x="3905250" y="914400"/>
            <a:ext cx="4381500" cy="4381500"/>
            <a:chOff x="3905250" y="914400"/>
            <a:chExt cx="4381500" cy="4381500"/>
          </a:xfrm>
        </p:grpSpPr>
        <p:sp>
          <p:nvSpPr>
            <p:cNvPr id="4" name="Ellipse 4"/>
            <p:cNvSpPr/>
            <p:nvPr/>
          </p:nvSpPr>
          <p:spPr>
            <a:xfrm>
              <a:off x="3905250" y="914400"/>
              <a:ext cx="4381500" cy="4381500"/>
            </a:xfrm>
            <a:prstGeom prst="ellipse">
              <a:avLst/>
            </a:prstGeom>
            <a:solidFill>
              <a:schemeClr val="accent2"/>
            </a:solidFill>
            <a:ln>
              <a:noFill/>
            </a:ln>
          </p:spPr>
        </p:sp>
      </p:grpSp>
      <p:grpSp>
        <p:nvGrpSpPr>
          <p:cNvPr id="8" name="closing-claim"/>
          <p:cNvGrpSpPr/>
          <p:nvPr/>
        </p:nvGrpSpPr>
        <p:grpSpPr>
          <a:xfrm>
            <a:off x="4210050" y="2374900"/>
            <a:ext cx="3771900" cy="1973707"/>
            <a:chOff x="4210050" y="2374900"/>
            <a:chExt cx="3771900" cy="1973707"/>
          </a:xfrm>
        </p:grpSpPr>
        <p:sp>
          <p:nvSpPr>
            <p:cNvPr id="6" name="TextBox 6"/>
            <p:cNvSpPr txBox="1"/>
            <p:nvPr/>
          </p:nvSpPr>
          <p:spPr>
            <a:xfrm>
              <a:off x="4210050" y="2374900"/>
              <a:ext cx="3771900" cy="1504950"/>
            </a:xfrm>
            <a:prstGeom prst="rect">
              <a:avLst/>
            </a:prstGeom>
            <a:noFill/>
            <a:ln>
              <a:noFill/>
            </a:ln>
          </p:spPr>
          <p:txBody>
            <a:bodyPr wrap="none" lIns="0" tIns="0" rIns="0" bIns="0" anchor="t" anchorCtr="0">
              <a:spAutoFit/>
            </a:bodyPr>
            <a:lstStyle/>
            <a:p>
              <a:pPr algn="ctr">
                <a:lnSpc>
                  <a:spcPts val="5400"/>
                </a:lnSpc>
              </a:pPr>
              <a:r>
                <a:rPr lang="zh-CN" sz="4200" b="1" dirty="0">
                  <a:solidFill>
                    <a:srgbClr val="F2EEE5"/>
                  </a:solidFill>
                  <a:latin typeface="+mn-lt"/>
                  <a:ea typeface="+mn-ea"/>
                  <a:cs typeface="+mn-cs"/>
                </a:rPr>
                <a:t>留下的是方法，</a:t>
              </a:r>
              <a:br>
                <a:rPr lang="zh-CN" sz="4200" b="1" dirty="0">
                  <a:solidFill>
                    <a:srgbClr val="F2EEE5"/>
                  </a:solidFill>
                  <a:latin typeface="+mn-lt"/>
                  <a:ea typeface="+mn-ea"/>
                  <a:cs typeface="+mn-cs"/>
                </a:rPr>
              </a:br>
              <a:r>
                <a:rPr lang="zh-CN" sz="4200" b="1" dirty="0">
                  <a:solidFill>
                    <a:srgbClr val="F2EEE5"/>
                  </a:solidFill>
                  <a:latin typeface="+mn-lt"/>
                  <a:ea typeface="+mn-ea"/>
                  <a:cs typeface="+mn-cs"/>
                </a:rPr>
                <a:t>不是风格</a:t>
              </a:r>
            </a:p>
          </p:txBody>
        </p:sp>
        <p:sp>
          <p:nvSpPr>
            <p:cNvPr id="7" name="TextBox 7"/>
            <p:cNvSpPr txBox="1"/>
            <p:nvPr/>
          </p:nvSpPr>
          <p:spPr>
            <a:xfrm>
              <a:off x="5054746" y="4025900"/>
              <a:ext cx="2082508" cy="322707"/>
            </a:xfrm>
            <a:prstGeom prst="rect">
              <a:avLst/>
            </a:prstGeom>
            <a:noFill/>
            <a:ln>
              <a:noFill/>
            </a:ln>
          </p:spPr>
          <p:txBody>
            <a:bodyPr wrap="none" lIns="0" tIns="0" rIns="0" bIns="0" anchor="t" anchorCtr="0">
              <a:spAutoFit/>
            </a:bodyPr>
            <a:lstStyle/>
            <a:p>
              <a:pPr algn="ctr"/>
              <a:r>
                <a:rPr lang="zh-CN" sz="1650" dirty="0">
                  <a:solidFill>
                    <a:srgbClr val="F2EEE5"/>
                  </a:solidFill>
                  <a:latin typeface="+mn-lt"/>
                  <a:ea typeface="+mn-ea"/>
                  <a:cs typeface="+mn-cs"/>
                </a:rPr>
                <a:t>基础课 + 工坊 + 工业</a:t>
              </a:r>
            </a:p>
          </p:txBody>
        </p:sp>
      </p:grpSp>
      <p:grpSp>
        <p:nvGrpSpPr>
          <p:cNvPr id="20" name="evidence-row"/>
          <p:cNvGrpSpPr/>
          <p:nvPr/>
        </p:nvGrpSpPr>
        <p:grpSpPr>
          <a:xfrm>
            <a:off x="609600" y="5600700"/>
            <a:ext cx="10972800" cy="672846"/>
            <a:chOff x="609600" y="5600700"/>
            <a:chExt cx="10972800" cy="672846"/>
          </a:xfrm>
        </p:grpSpPr>
        <p:grpSp>
          <p:nvGrpSpPr>
            <p:cNvPr id="12" name="Group 12"/>
            <p:cNvGrpSpPr/>
            <p:nvPr/>
          </p:nvGrpSpPr>
          <p:grpSpPr>
            <a:xfrm>
              <a:off x="609600" y="5600700"/>
              <a:ext cx="10972800" cy="609600"/>
              <a:chOff x="609600" y="5600700"/>
              <a:chExt cx="10972800" cy="609600"/>
            </a:xfrm>
          </p:grpSpPr>
          <p:sp>
            <p:nvSpPr>
              <p:cNvPr id="9" name="Line 9"/>
              <p:cNvSpPr/>
              <p:nvPr/>
            </p:nvSpPr>
            <p:spPr>
              <a:xfrm>
                <a:off x="609600" y="56007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Line 10"/>
              <p:cNvSpPr/>
              <p:nvPr/>
            </p:nvSpPr>
            <p:spPr>
              <a:xfrm>
                <a:off x="4267200" y="5715000"/>
                <a:ext cx="9525" cy="495300"/>
              </a:xfrm>
              <a:custGeom>
                <a:avLst/>
                <a:gdLst/>
                <a:ahLst/>
                <a:cxnLst/>
                <a:rect l="l" t="t" r="r" b="b"/>
                <a:pathLst>
                  <a:path w="9525" h="495300">
                    <a:moveTo>
                      <a:pt x="0" y="0"/>
                    </a:moveTo>
                    <a:lnTo>
                      <a:pt x="0" y="495300"/>
                    </a:lnTo>
                  </a:path>
                </a:pathLst>
              </a:custGeom>
              <a:noFill/>
              <a:ln w="9525">
                <a:solidFill>
                  <a:schemeClr val="accent6"/>
                </a:solidFill>
              </a:ln>
            </p:spPr>
          </p:sp>
          <p:sp>
            <p:nvSpPr>
              <p:cNvPr id="11" name="Line 11"/>
              <p:cNvSpPr/>
              <p:nvPr/>
            </p:nvSpPr>
            <p:spPr>
              <a:xfrm>
                <a:off x="7924800" y="5715000"/>
                <a:ext cx="9525" cy="495300"/>
              </a:xfrm>
              <a:custGeom>
                <a:avLst/>
                <a:gdLst/>
                <a:ahLst/>
                <a:cxnLst/>
                <a:rect l="l" t="t" r="r" b="b"/>
                <a:pathLst>
                  <a:path w="9525" h="495300">
                    <a:moveTo>
                      <a:pt x="0" y="0"/>
                    </a:moveTo>
                    <a:lnTo>
                      <a:pt x="0" y="495300"/>
                    </a:lnTo>
                  </a:path>
                </a:pathLst>
              </a:custGeom>
              <a:noFill/>
              <a:ln w="9525">
                <a:solidFill>
                  <a:schemeClr val="accent6"/>
                </a:solidFill>
              </a:ln>
            </p:spPr>
          </p:sp>
        </p:grpSp>
        <p:grpSp>
          <p:nvGrpSpPr>
            <p:cNvPr id="19" name="Group 19"/>
            <p:cNvGrpSpPr/>
            <p:nvPr/>
          </p:nvGrpSpPr>
          <p:grpSpPr>
            <a:xfrm>
              <a:off x="1269187" y="5702300"/>
              <a:ext cx="9782861" cy="571246"/>
              <a:chOff x="1269187" y="5702300"/>
              <a:chExt cx="9782861" cy="571246"/>
            </a:xfrm>
          </p:grpSpPr>
          <p:sp>
            <p:nvSpPr>
              <p:cNvPr id="13" name="TextBox 13"/>
              <p:cNvSpPr txBox="1"/>
              <p:nvPr/>
            </p:nvSpPr>
            <p:spPr>
              <a:xfrm>
                <a:off x="2104295" y="5702300"/>
                <a:ext cx="668209" cy="381381"/>
              </a:xfrm>
              <a:prstGeom prst="rect">
                <a:avLst/>
              </a:prstGeom>
              <a:noFill/>
              <a:ln>
                <a:noFill/>
              </a:ln>
            </p:spPr>
            <p:txBody>
              <a:bodyPr wrap="none" lIns="0" tIns="0" rIns="0" bIns="0" anchor="t" anchorCtr="0">
                <a:spAutoFit/>
              </a:bodyPr>
              <a:lstStyle/>
              <a:p>
                <a:pPr algn="ctr"/>
                <a:r>
                  <a:rPr lang="zh-CN" sz="1950" b="1" dirty="0">
                    <a:solidFill>
                      <a:schemeClr val="accent1"/>
                    </a:solidFill>
                    <a:latin typeface="+mn-lt"/>
                    <a:ea typeface="+mn-ea"/>
                    <a:cs typeface="+mn-cs"/>
                  </a:rPr>
                  <a:t>14 年</a:t>
                </a:r>
              </a:p>
            </p:txBody>
          </p:sp>
          <p:sp>
            <p:nvSpPr>
              <p:cNvPr id="14" name="TextBox 14"/>
              <p:cNvSpPr txBox="1"/>
              <p:nvPr/>
            </p:nvSpPr>
            <p:spPr>
              <a:xfrm>
                <a:off x="1269187" y="6038850"/>
                <a:ext cx="2338426"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1919–1933 · 魏玛 · 德绍 · 柏林</a:t>
                </a:r>
              </a:p>
            </p:txBody>
          </p:sp>
          <p:sp>
            <p:nvSpPr>
              <p:cNvPr id="15" name="TextBox 15"/>
              <p:cNvSpPr txBox="1"/>
              <p:nvPr/>
            </p:nvSpPr>
            <p:spPr>
              <a:xfrm>
                <a:off x="5140733" y="5702300"/>
                <a:ext cx="1910533" cy="381381"/>
              </a:xfrm>
              <a:prstGeom prst="rect">
                <a:avLst/>
              </a:prstGeom>
              <a:noFill/>
              <a:ln>
                <a:noFill/>
              </a:ln>
            </p:spPr>
            <p:txBody>
              <a:bodyPr wrap="none" lIns="0" tIns="0" rIns="0" bIns="0" anchor="t" anchorCtr="0">
                <a:spAutoFit/>
              </a:bodyPr>
              <a:lstStyle/>
              <a:p>
                <a:pPr algn="ctr"/>
                <a:r>
                  <a:rPr lang="zh-CN" sz="1950" b="1" dirty="0">
                    <a:solidFill>
                      <a:schemeClr val="accent1"/>
                    </a:solidFill>
                    <a:latin typeface="+mn-lt"/>
                    <a:ea typeface="+mn-ea"/>
                    <a:cs typeface="+mn-cs"/>
                  </a:rPr>
                  <a:t>1,250 余名学生</a:t>
                </a:r>
              </a:p>
            </p:txBody>
          </p:sp>
          <p:sp>
            <p:nvSpPr>
              <p:cNvPr id="16" name="TextBox 16"/>
              <p:cNvSpPr txBox="1"/>
              <p:nvPr/>
            </p:nvSpPr>
            <p:spPr>
              <a:xfrm>
                <a:off x="5548732" y="6038850"/>
                <a:ext cx="1094537"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来自 29 个国家</a:t>
                </a:r>
              </a:p>
            </p:txBody>
          </p:sp>
          <p:sp>
            <p:nvSpPr>
              <p:cNvPr id="17" name="TextBox 17"/>
              <p:cNvSpPr txBox="1"/>
              <p:nvPr/>
            </p:nvSpPr>
            <p:spPr>
              <a:xfrm>
                <a:off x="8978808" y="5702300"/>
                <a:ext cx="1549583" cy="381381"/>
              </a:xfrm>
              <a:prstGeom prst="rect">
                <a:avLst/>
              </a:prstGeom>
              <a:noFill/>
              <a:ln>
                <a:noFill/>
              </a:ln>
            </p:spPr>
            <p:txBody>
              <a:bodyPr wrap="none" lIns="0" tIns="0" rIns="0" bIns="0" anchor="t" anchorCtr="0">
                <a:spAutoFit/>
              </a:bodyPr>
              <a:lstStyle/>
              <a:p>
                <a:pPr algn="ctr"/>
                <a:r>
                  <a:rPr lang="zh-CN" sz="1950" b="1" dirty="0">
                    <a:solidFill>
                      <a:schemeClr val="accent1"/>
                    </a:solidFill>
                    <a:latin typeface="+mn-lt"/>
                    <a:ea typeface="+mn-ea"/>
                    <a:cs typeface="+mn-cs"/>
                  </a:rPr>
                  <a:t>1996 · 2017</a:t>
                </a:r>
              </a:p>
            </p:txBody>
          </p:sp>
          <p:sp>
            <p:nvSpPr>
              <p:cNvPr id="18" name="TextBox 18"/>
              <p:cNvSpPr txBox="1"/>
              <p:nvPr/>
            </p:nvSpPr>
            <p:spPr>
              <a:xfrm>
                <a:off x="8455152" y="6038850"/>
                <a:ext cx="2596896"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遗址列入世界遗产，后扩展至贝尔瑙</a:t>
                </a:r>
              </a:p>
            </p:txBody>
          </p:sp>
        </p:grpSp>
      </p:grpSp>
      <p:grpSp>
        <p:nvGrpSpPr>
          <p:cNvPr id="22" name="sources"/>
          <p:cNvGrpSpPr/>
          <p:nvPr/>
        </p:nvGrpSpPr>
        <p:grpSpPr>
          <a:xfrm>
            <a:off x="604647" y="6438900"/>
            <a:ext cx="4063809" cy="191643"/>
            <a:chOff x="604647" y="6438900"/>
            <a:chExt cx="4063809" cy="191643"/>
          </a:xfrm>
        </p:grpSpPr>
        <p:sp>
          <p:nvSpPr>
            <p:cNvPr id="21" name="TextBox 21"/>
            <p:cNvSpPr txBox="1"/>
            <p:nvPr/>
          </p:nvSpPr>
          <p:spPr>
            <a:xfrm>
              <a:off x="604647" y="6438900"/>
              <a:ext cx="4063809" cy="191643"/>
            </a:xfrm>
            <a:prstGeom prst="rect">
              <a:avLst/>
            </a:prstGeom>
            <a:noFill/>
            <a:ln>
              <a:noFill/>
            </a:ln>
          </p:spPr>
          <p:txBody>
            <a:bodyPr wrap="none" lIns="0" tIns="0" rIns="0" bIns="0" anchor="t" anchorCtr="0">
              <a:spAutoFit/>
            </a:bodyPr>
            <a:lstStyle/>
            <a:p>
              <a:pPr algn="l"/>
              <a:r>
                <a:rPr lang="zh-CN" sz="980" dirty="0">
                  <a:solidFill>
                    <a:schemeClr val="accent5"/>
                  </a:solidFill>
                  <a:latin typeface="+mn-lt"/>
                  <a:ea typeface="+mn-ea"/>
                  <a:cs typeface="+mn-cs"/>
                </a:rPr>
                <a:t>来源：Bauhaus Kooperation「The Bauhaus」· 维基百科「包豪斯」</a:t>
              </a:r>
            </a:p>
          </p:txBody>
        </p:sp>
      </p:grpSp>
      <p:sp>
        <p:nvSpPr>
          <p:cNvPr id="23" name="TextBox 23"/>
          <p:cNvSpPr txBox="1"/>
          <p:nvPr/>
        </p:nvSpPr>
        <p:spPr>
          <a:xfrm>
            <a:off x="10192207" y="6438900"/>
            <a:ext cx="1395146" cy="191643"/>
          </a:xfrm>
          <a:prstGeom prst="rect">
            <a:avLst/>
          </a:prstGeom>
          <a:noFill/>
          <a:ln>
            <a:noFill/>
          </a:ln>
        </p:spPr>
        <p:txBody>
          <a:bodyPr wrap="none" lIns="0" tIns="0" rIns="0" bIns="0" anchor="t" anchorCtr="0">
            <a:spAutoFit/>
          </a:bodyPr>
          <a:lstStyle/>
          <a:p>
            <a:pPr algn="r"/>
            <a:r>
              <a:rPr lang="zh-CN" sz="980" dirty="0">
                <a:solidFill>
                  <a:schemeClr val="accent5"/>
                </a:solidFill>
                <a:latin typeface="+mn-lt"/>
                <a:ea typeface="+mn-ea"/>
                <a:cs typeface="+mn-cs"/>
              </a:rPr>
              <a:t>包豪斯 1919–1933 · 13</a:t>
            </a:r>
          </a:p>
        </p:txBody>
      </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bauhaus_1919_1933">
  <a:themeElements>
    <a:clrScheme name="ppt169_bauhaus_1919_1933">
      <a:dk1>
        <a:srgbClr val="1E1E1C"/>
      </a:dk1>
      <a:lt1>
        <a:srgbClr val="F2EEE5"/>
      </a:lt1>
      <a:dk2>
        <a:srgbClr val="1F497D"/>
      </a:dk2>
      <a:lt2>
        <a:srgbClr val="E4DDCF"/>
      </a:lt2>
      <a:accent1>
        <a:srgbClr val="161616"/>
      </a:accent1>
      <a:accent2>
        <a:srgbClr val="C23B22"/>
      </a:accent2>
      <a:accent3>
        <a:srgbClr val="B8862B"/>
      </a:accent3>
      <a:accent4>
        <a:srgbClr val="161616"/>
      </a:accent4>
      <a:accent5>
        <a:srgbClr val="6B665C"/>
      </a:accent5>
      <a:accent6>
        <a:srgbClr val="BDB5A6"/>
      </a:accent6>
      <a:hlink>
        <a:srgbClr val="C23B22"/>
      </a:hlink>
      <a:folHlink>
        <a:srgbClr val="B8862B"/>
      </a:folHlink>
    </a:clrScheme>
    <a:fontScheme name="ppt169_bauhaus_1919_193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bauhaus_1919_193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bauhaus_1919_1933">
  <a:themeElements>
    <a:clrScheme name="ppt169_bauhaus_1919_1933">
      <a:dk1>
        <a:srgbClr val="1E1E1C"/>
      </a:dk1>
      <a:lt1>
        <a:srgbClr val="F2EEE5"/>
      </a:lt1>
      <a:dk2>
        <a:srgbClr val="1F497D"/>
      </a:dk2>
      <a:lt2>
        <a:srgbClr val="E4DDCF"/>
      </a:lt2>
      <a:accent1>
        <a:srgbClr val="161616"/>
      </a:accent1>
      <a:accent2>
        <a:srgbClr val="C23B22"/>
      </a:accent2>
      <a:accent3>
        <a:srgbClr val="B8862B"/>
      </a:accent3>
      <a:accent4>
        <a:srgbClr val="161616"/>
      </a:accent4>
      <a:accent5>
        <a:srgbClr val="6B665C"/>
      </a:accent5>
      <a:accent6>
        <a:srgbClr val="BDB5A6"/>
      </a:accent6>
      <a:hlink>
        <a:srgbClr val="C23B22"/>
      </a:hlink>
      <a:folHlink>
        <a:srgbClr val="B8862B"/>
      </a:folHlink>
    </a:clrScheme>
    <a:fontScheme name="ppt169_bauhaus_1919_193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bauhaus_1919_193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2026-10-24T08:10:36Z</dcterms:created>
  <dcterms:modified xsi:type="dcterms:W3CDTF">2026-10-24T08:10:36Z</dcterms:modified>
  <cp:category/>
  <cp:contentStatus/>
</cp:coreProperties>
</file>