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16x9"/>
  <p:notesSz cx="6858000" cy="9144000"/>
  <p:defaultTextStyle>
    <a:defPPr>
      <a:defRPr lang="en"/>
    </a:defPPr>
    <a:lvl1pPr marL="0" algn="l" defTabSz="457200" rtl="0" eaLnBrk="1" latinLnBrk="0" hangingPunct="1">
      <a:defRPr sz="1800" kern="1200" lang="en">
        <a:solidFill>
          <a:schemeClr val="tx1"/>
        </a:solidFill>
        <a:latin typeface="+mn-lt"/>
        <a:ea typeface="+mn-ea"/>
        <a:cs typeface="+mn-cs"/>
      </a:defRPr>
    </a:lvl1pPr>
    <a:lvl2pPr marL="457200" algn="l" defTabSz="457200" rtl="0" eaLnBrk="1" latinLnBrk="0" hangingPunct="1">
      <a:defRPr sz="1800" kern="1200" lang="en">
        <a:solidFill>
          <a:schemeClr val="tx1"/>
        </a:solidFill>
        <a:latin typeface="+mn-lt"/>
        <a:ea typeface="+mn-ea"/>
        <a:cs typeface="+mn-cs"/>
      </a:defRPr>
    </a:lvl2pPr>
    <a:lvl3pPr marL="914400" algn="l" defTabSz="457200" rtl="0" eaLnBrk="1" latinLnBrk="0" hangingPunct="1">
      <a:defRPr sz="1800" kern="1200" lang="en">
        <a:solidFill>
          <a:schemeClr val="tx1"/>
        </a:solidFill>
        <a:latin typeface="+mn-lt"/>
        <a:ea typeface="+mn-ea"/>
        <a:cs typeface="+mn-cs"/>
      </a:defRPr>
    </a:lvl3pPr>
    <a:lvl4pPr marL="1371600" algn="l" defTabSz="457200" rtl="0" eaLnBrk="1" latinLnBrk="0" hangingPunct="1">
      <a:defRPr sz="1800" kern="1200" lang="en">
        <a:solidFill>
          <a:schemeClr val="tx1"/>
        </a:solidFill>
        <a:latin typeface="+mn-lt"/>
        <a:ea typeface="+mn-ea"/>
        <a:cs typeface="+mn-cs"/>
      </a:defRPr>
    </a:lvl4pPr>
    <a:lvl5pPr marL="1828800" algn="l" defTabSz="457200" rtl="0" eaLnBrk="1" latinLnBrk="0" hangingPunct="1">
      <a:defRPr sz="1800" kern="1200" lang="en">
        <a:solidFill>
          <a:schemeClr val="tx1"/>
        </a:solidFill>
        <a:latin typeface="+mn-lt"/>
        <a:ea typeface="+mn-ea"/>
        <a:cs typeface="+mn-cs"/>
      </a:defRPr>
    </a:lvl5pPr>
    <a:lvl6pPr marL="2286000" algn="l" defTabSz="457200" rtl="0" eaLnBrk="1" latinLnBrk="0" hangingPunct="1">
      <a:defRPr sz="1800" kern="1200" lang="en">
        <a:solidFill>
          <a:schemeClr val="tx1"/>
        </a:solidFill>
        <a:latin typeface="+mn-lt"/>
        <a:ea typeface="+mn-ea"/>
        <a:cs typeface="+mn-cs"/>
      </a:defRPr>
    </a:lvl6pPr>
    <a:lvl7pPr marL="2743200" algn="l" defTabSz="457200" rtl="0" eaLnBrk="1" latinLnBrk="0" hangingPunct="1">
      <a:defRPr sz="1800" kern="1200" lang="en">
        <a:solidFill>
          <a:schemeClr val="tx1"/>
        </a:solidFill>
        <a:latin typeface="+mn-lt"/>
        <a:ea typeface="+mn-ea"/>
        <a:cs typeface="+mn-cs"/>
      </a:defRPr>
    </a:lvl7pPr>
    <a:lvl8pPr marL="3200400" algn="l" defTabSz="457200" rtl="0" eaLnBrk="1" latinLnBrk="0" hangingPunct="1">
      <a:defRPr sz="1800" kern="1200" lang="en">
        <a:solidFill>
          <a:schemeClr val="tx1"/>
        </a:solidFill>
        <a:latin typeface="+mn-lt"/>
        <a:ea typeface="+mn-ea"/>
        <a:cs typeface="+mn-cs"/>
      </a:defRPr>
    </a:lvl8pPr>
    <a:lvl9pPr marL="3657600" algn="l" defTabSz="457200" rtl="0" eaLnBrk="1" latinLnBrk="0" hangingPunct="1">
      <a:defRPr sz="1800" kern="1200" lang="e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  <Relationship Id="rId1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Most of us meet SQLite as the little database in a test suite, so it is easy to file it under toys. The SQLite authors put it differently: think of SQLite not as a replacement for Oracle, but as a replacement for fopen. That one sentence explains almost everything in the next twenty minutes. The drawing behind me is the whole idea in one picture: a single file that opens up into fixed-size pages, starting with page one. Every figure I quote today comes straight from the official documentation on sqlite.org.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Start with the claim that sounds like marketing: SQLite is likely used more than all other database engines combined. The evidence is a list of hosts. It ships in every Android device, every iPhone and iOS device, every Mac, every Windows 10 and 11 installation, and in Firefox, Chrome, and Safari. It is inside every copy of Skype, iTunes, the Dropbox client, TurboTax and QuickBooks; it comes with PHP and Python; and it runs in most television sets, set-top boxes, and car multimedia systems. Now the arithmetic: there are more than four billion smartphones in active use, each holding hundreds of SQLite database files, so there are probably over one trillion SQLite databases in use right now. The project's own best guess is that it is the second most deployed library after zlib, and because it is often statically linked many times per device, it might even be the first.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Why can it be everywhere? Because there is nothing to deploy. On the left is the model we all know: the application sends SQL over the network to a long-running server process, which owns its data files, and someone has to install, configure, and administer that server first. On the right, SQLite is a library linked into the application's own process, and it reads and writes one ordinary disk file directly. There is no separate server. That single file holds every table, index, trigger, and view, and it copies freely between 32-bit and 64-bit machines and between big-endian and little-endian ones. The library is under 900 kibibytes with every feature enabled, a database can reach 281 terabytes, and the US Library of Congress lists the format as a recommended storage format.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what is inside that library? SQLite compiles SQL into bytecode and then runs that bytecode on a virtual machine, and the code is organised as one stack of eight layers. At the top is the interface. The next three layers, tokenizer, parser, and code generator, form the SQL compiler. The bytecode engine, the VDBE, executes the program, and together with the interface it forms the core. Below it, the backend has three layers: the B-tree, the pager or page cache, and the OS interface, called the VFS. In API terms, sqlite3 prepare v2 is the compile step that produces a bytecode program in a sqlite3 statement object, sqlite3 step runs it on the virtual machine, and the backend stores everything as B-trees made of fixed-size pages. We will now walk down this stack, compiler first.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 is the top half of the stack, layers two to four, highlighted on the rail. Take one statement, a select with a bound parameter. The tokenizer, hand-coded in tokenize.c, splits the text into tokens, and here is a detail worth remembering: in SQLite the tokenizer calls the parser, the reverse of the YACC and Bison habit, which makes it thread-safe and faster. The parser gives tokens meaning from their context; it is generated by the Lemon parser generator from parse.y, and it is reentrant, thread-safe, and does not leak memory on syntax errors. The code generator walks the parse tree and emits bytecode; the files where.c and select.c form the query planner, which picks among possibly millions of ways to compute the answer. All of that is what sqlite3 prepare v2 does. The result is one bytecode program in a sqlite3 statement object, and sqlite3 step runs it on the VDBE until it finishes, produces a row, hits a fatal error, or is interrupted.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Now the bottom half of the rail, layers six to eight. The B-tree layer asks for a page by number, the pager caches pages and provides rollback, atomic commit, and file locking, and the VFS does the actual reads and writes on the operating system's file. Every read and write is a whole page, 4096 bytes by default, and the page size can be any power of two from 512 to 65,536. This strip is one B-tree page in file order: a 100-byte database header that exists only on page one, an 8-byte header for leaf pages or 12 bytes for interior pages, the cell pointer array growing forward, unallocated space, the cell content area growing back from the end, and a reserved region that is usually empty. An interior page holds K keys and K plus one child pointers. Table B-trees use a 64-bit signed rowid key and keep data only in the leaves; index B-trees use arbitrary keys and store no data. There is one B-tree per table and per index, all in the same file, with the schema table rooted at page one. About 4.29 billion pages of 64 kibibytes is where the 281 terabyte limit comes from, and every valid file begins with the string SQLite format 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Pages have to change atomically, even if the power fails, and SQLite has two ways to do it. The default is the rollback journal: first copy the original pages into a separate journal file, then write the changes directly into the database. The commit happens at the moment the journal file is deleted, and if the process crashes or rolls back, the journal is played back into the database to restore it. Since version 3.7.0, released in July 2010, there is the write-ahead log, which inverts the idea. The database file is left alone, the writer appends the changed pages to a separate WAL file, and a commit is simply a commit record appended to that log. Because the database file is never touched to commit, readers can keep using the original while commits proceed.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Let's zoom into that WAL file. Frames are appended in order by the single writer. When a read transaction starts, it remembers the last valid commit record as its end mark, so each reader sees one consistent snapshot even while the writer keeps appending. A reader takes the newest copy of a page that appears before its own end mark, otherwise it reads the database file, and a shared-memory wal-index makes that lookup fast. That shared memory is also why every process must be on the same host. Eventually a checkpoint copies WAL pages back into the database, stopping at the oldest active reader's end mark, which is why one long-running reader can stall it. By default this happens automatically once the WAL reaches 1000 pages, and when everything is checkpointed and idle the WAL rewinds to its start. The payoff is real: WAL is significantly faster in most scenarios, readers and the writer run concurrently, disk I/O is more sequential, and there are far fewer fsync calls. The costs are that it works only on one host and not over a network filesystem, it adds the wal and shm files beside the database, it can be one or two percent slower for read-mostly work, and it prefers small transactions, so rollback modes suit transactions beyond roughly a hundred megabytes.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Why trust a library that sits in a trillion places? Look at the testing. As of version 3.42.0, the library is about 155.8 thousand lines of C, and the project carries about 92 million lines of test code and test scripts, roughly 590 times as much. The two squares are drawn to scale. That test effort is split across four independent harnesses. The TCL tests are the primary suite during development, with 51,445 distinct test cases that expand to millions of runs. TH3 is a proprietary harness of about 1,055 thousand lines of C that delivers 100 percent branch coverage and 100 percent MC/DC coverage of the core, the coverage level behind what sqlite.org calls aviation-grade testing. SQL Logic Test runs 7.2 million queries and checks that SQLite gives the same answers as PostgreSQL, MySQL, SQL Server, and Oracle 10g. And the dbsqlfuzz fuzzer runs about a billion mutations a day, mutating SQL and the database file together. On top of that come out-of-memory, I/O error, crash, and power-loss tests, and a pre-release TH3 soak of about 248.5 million tests.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second trust factor is legal, and it is the simplest one in this deck: there is no license to comply with. In the project's own words, anyone is free to copy, modify, publish, use, compile, sell, or distribute the original SQLite code for any purpose, commercial or non-commercial, and by any means. That holds because every author signs an affidavit dedicating their work to the public domain, with the originals kept in a firesafe at Hwaci, and because every line is written from scratch and traceable to its author. The consequence is that SQLite is open-source but not open-contribution: no patch is accepted without such an affidavit. And for organisations in places that do not recognise the public domain, Hwaci sells a Warranty of Title, and the proceeds fund SQLite's continued development.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when should you reach for it? The official checklist is three questions, asked in order. First, is the data separated from the application by a network? If so, choose a client/server engine, because the high-bandwidth link between engine and disk should not cross the network. Second, do many writers need to write at the same instant without queuing? SQLite allows unlimited readers but one writer at a time, and since a write usually takes milliseconds, writers can often take turns, but if they cannot, use client/server. Third, will the data outgrow one file? The limit is 281 terabytes, and long before that a centralised server is worth considering. If the answer to all three is no, choose SQLite. That covers a lot of ground: embedded and IoT devices, application file formats, websites under about 100,000 hits a day, data analysis, caching enterprise data, server-side databases such as one database per user, data transfer, archives, and internal or temporary databases. And that 100,000 figure is conservative; SQLite has been shown to handle ten times that traffic.</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Put it together and the opening line makes sense: SQLite competes with fopen, not with Oracle. It is in-process, one ordinary file, with zero configuration. Its test code is 590 times the size of the library, with 100 percent branch and MC/DC coverage. And it is in the public domain, free for any purpose with no license. So the takeaway for us is practical: wherever you would have reached for fopen and a home-grown file format, reach for SQLite instead. Or, as the project's motto puts it: small, fast, reliable, choose any three.</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sqlite_everywher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 smtClean="0"/>
              <a:t>1/27/13</a:t>
            </a:fld>
            <a:endParaRPr lang="en"/>
          </a:p>
        </p:txBody>
      </p:sp>
      <p:sp>
        <p:nvSpPr>
          <p:cNvPr id="3" name="Footer Placeholder 2"/>
          <p:cNvSpPr>
            <a:spLocks noGrp="1"/>
          </p:cNvSpPr>
          <p:nvPr>
            <p:ph type="ftr" sz="quarter" idx="11"/>
          </p:nvPr>
        </p:nvSpPr>
        <p:spPr/>
        <p:txBody>
          <a:bodyPr/>
          <a:lstStyle/>
          <a:p>
            <a:endParaRPr lang="en"/>
          </a:p>
        </p:txBody>
      </p:sp>
      <p:sp>
        <p:nvSpPr>
          <p:cNvPr id="4" name="Slide Number Placeholder 3"/>
          <p:cNvSpPr>
            <a:spLocks noGrp="1"/>
          </p:cNvSpPr>
          <p:nvPr>
            <p:ph type="sldNum" sz="quarter" idx="12"/>
          </p:nvPr>
        </p:nvSpPr>
        <p:spPr/>
        <p:txBody>
          <a:bodyPr/>
          <a:lstStyle/>
          <a:p>
            <a:fld id="{C1FF6DA9-008F-8B48-92A6-B652298478BF}" type="slidenum">
              <a:rPr lang="en" smtClean="0"/>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sqlite_everywher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
                <a:solidFill>
                  <a:schemeClr val="tx1">
                    <a:tint val="75000"/>
                  </a:schemeClr>
                </a:solidFill>
              </a:defRPr>
            </a:lvl1pPr>
          </a:lstStyle>
          <a:p>
            <a:fld id="{5BCAD085-E8A6-8845-BD4E-CB4CCA059FC4}" type="datetimeFigureOut">
              <a:rPr lang="en" smtClean="0"/>
              <a:t>1/27/13</a:t>
            </a:fld>
            <a:endParaRPr lang="e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
                <a:solidFill>
                  <a:schemeClr val="tx1">
                    <a:tint val="75000"/>
                  </a:schemeClr>
                </a:solidFill>
              </a:defRPr>
            </a:lvl1pPr>
          </a:lstStyle>
          <a:p>
            <a:endParaRPr lang="e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
                <a:solidFill>
                  <a:schemeClr val="tx1">
                    <a:tint val="75000"/>
                  </a:schemeClr>
                </a:solidFill>
              </a:defRPr>
            </a:lvl1pPr>
          </a:lstStyle>
          <a:p>
            <a:fld id="{C1FF6DA9-008F-8B48-92A6-B652298478BF}" type="slidenum">
              <a:rPr lang="en" smtClean="0"/>
              <a:t>‹#›</a:t>
            </a:fld>
            <a:endParaRPr lang="e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e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650" kern="1200" lang="e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550" kern="1200" lang="e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450" kern="1200" lang="e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350" kern="1200" lang="e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50" kern="1200" lang="e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150" kern="1200" lang="e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050" kern="1200" lang="e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950" kern="1200" lang="e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lang="en">
          <a:solidFill>
            <a:schemeClr val="tx1"/>
          </a:solidFill>
          <a:latin typeface="+mn-lt"/>
          <a:ea typeface="+mn-ea"/>
          <a:cs typeface="+mn-cs"/>
        </a:defRPr>
      </a:lvl9pPr>
    </p:bodyStyle>
    <p:otherStyle>
      <a:defPPr>
        <a:defRPr lang="en"/>
      </a:defPPr>
      <a:lvl1pPr marL="0" algn="l" defTabSz="457200" rtl="0" eaLnBrk="1" latinLnBrk="0" hangingPunct="1">
        <a:defRPr sz="1650" kern="1200" lang="en">
          <a:solidFill>
            <a:schemeClr val="tx1"/>
          </a:solidFill>
          <a:latin typeface="+mn-lt"/>
          <a:ea typeface="+mn-ea"/>
          <a:cs typeface="+mn-cs"/>
        </a:defRPr>
      </a:lvl1pPr>
      <a:lvl2pPr marL="457200" algn="l" defTabSz="457200" rtl="0" eaLnBrk="1" latinLnBrk="0" hangingPunct="1">
        <a:defRPr sz="1550" kern="1200" lang="en">
          <a:solidFill>
            <a:schemeClr val="tx1"/>
          </a:solidFill>
          <a:latin typeface="+mn-lt"/>
          <a:ea typeface="+mn-ea"/>
          <a:cs typeface="+mn-cs"/>
        </a:defRPr>
      </a:lvl2pPr>
      <a:lvl3pPr marL="914400" algn="l" defTabSz="457200" rtl="0" eaLnBrk="1" latinLnBrk="0" hangingPunct="1">
        <a:defRPr sz="1450" kern="1200" lang="en">
          <a:solidFill>
            <a:schemeClr val="tx1"/>
          </a:solidFill>
          <a:latin typeface="+mn-lt"/>
          <a:ea typeface="+mn-ea"/>
          <a:cs typeface="+mn-cs"/>
        </a:defRPr>
      </a:lvl3pPr>
      <a:lvl4pPr marL="1371600" algn="l" defTabSz="457200" rtl="0" eaLnBrk="1" latinLnBrk="0" hangingPunct="1">
        <a:defRPr sz="1350" kern="1200" lang="en">
          <a:solidFill>
            <a:schemeClr val="tx1"/>
          </a:solidFill>
          <a:latin typeface="+mn-lt"/>
          <a:ea typeface="+mn-ea"/>
          <a:cs typeface="+mn-cs"/>
        </a:defRPr>
      </a:lvl4pPr>
      <a:lvl5pPr marL="1828800" algn="l" defTabSz="457200" rtl="0" eaLnBrk="1" latinLnBrk="0" hangingPunct="1">
        <a:defRPr sz="1250" kern="1200" lang="en">
          <a:solidFill>
            <a:schemeClr val="tx1"/>
          </a:solidFill>
          <a:latin typeface="+mn-lt"/>
          <a:ea typeface="+mn-ea"/>
          <a:cs typeface="+mn-cs"/>
        </a:defRPr>
      </a:lvl5pPr>
      <a:lvl6pPr marL="2286000" algn="l" defTabSz="457200" rtl="0" eaLnBrk="1" latinLnBrk="0" hangingPunct="1">
        <a:defRPr sz="1150" kern="1200" lang="en">
          <a:solidFill>
            <a:schemeClr val="tx1"/>
          </a:solidFill>
          <a:latin typeface="+mn-lt"/>
          <a:ea typeface="+mn-ea"/>
          <a:cs typeface="+mn-cs"/>
        </a:defRPr>
      </a:lvl6pPr>
      <a:lvl7pPr marL="2743200" algn="l" defTabSz="457200" rtl="0" eaLnBrk="1" latinLnBrk="0" hangingPunct="1">
        <a:defRPr sz="1050" kern="1200" lang="en">
          <a:solidFill>
            <a:schemeClr val="tx1"/>
          </a:solidFill>
          <a:latin typeface="+mn-lt"/>
          <a:ea typeface="+mn-ea"/>
          <a:cs typeface="+mn-cs"/>
        </a:defRPr>
      </a:lvl7pPr>
      <a:lvl8pPr marL="3200400" algn="l" defTabSz="457200" rtl="0" eaLnBrk="1" latinLnBrk="0" hangingPunct="1">
        <a:defRPr sz="950" kern="1200" lang="en">
          <a:solidFill>
            <a:schemeClr val="tx1"/>
          </a:solidFill>
          <a:latin typeface="+mn-lt"/>
          <a:ea typeface="+mn-ea"/>
          <a:cs typeface="+mn-cs"/>
        </a:defRPr>
      </a:lvl8pPr>
      <a:lvl9pPr marL="3657600" algn="l" defTabSz="457200" rtl="0" eaLnBrk="1" latinLnBrk="0" hangingPunct="1">
        <a:defRPr sz="800" kern="1200" lang="e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2b7343216db7317.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67147fa2a3dac9c.jpg"/>
  <Relationship Id="rId3"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cover-drawing"/>
          <p:cNvPicPr>
            <a:picLocks noChangeAspect="1"/>
          </p:cNvPicPr>
          <p:nvPr/>
        </p:nvPicPr>
        <p:blipFill>
          <a:blip r:embed="rId2"/>
          <a:srcRect l="389" t="0" r="389" b="0"/>
          <a:stretch>
            <a:fillRect/>
          </a:stretch>
        </p:blipFill>
        <p:spPr>
          <a:xfrm>
            <a:off x="0" y="0"/>
            <a:ext cx="12192000" cy="6858000"/>
          </a:xfrm>
          <a:prstGeom prst="rect">
            <a:avLst/>
          </a:prstGeom>
        </p:spPr>
      </p:pic>
      <p:sp>
        <p:nvSpPr>
          <p:cNvPr id="3" name="cover-scrim"/>
          <p:cNvSpPr/>
          <p:nvPr/>
        </p:nvSpPr>
        <p:spPr>
          <a:xfrm>
            <a:off x="0" y="0"/>
            <a:ext cx="12192000" cy="6858000"/>
          </a:xfrm>
          <a:prstGeom prst="rect">
            <a:avLst/>
          </a:prstGeom>
          <a:gradFill>
            <a:gsLst>
              <a:gs pos="0">
                <a:schemeClr val="lt1">
                  <a:alpha val="92000"/>
                </a:schemeClr>
              </a:gs>
              <a:gs pos="38000">
                <a:schemeClr val="lt1">
                  <a:alpha val="72000"/>
                </a:schemeClr>
              </a:gs>
              <a:gs pos="58000">
                <a:schemeClr val="lt1">
                  <a:alpha val="0"/>
                </a:schemeClr>
              </a:gs>
            </a:gsLst>
            <a:lin ang="0" scaled="1"/>
          </a:gradFill>
          <a:ln>
            <a:noFill/>
          </a:ln>
        </p:spPr>
      </p:sp>
      <p:grpSp>
        <p:nvGrpSpPr>
          <p:cNvPr id="8" name="cover-tags"/>
          <p:cNvGrpSpPr/>
          <p:nvPr/>
        </p:nvGrpSpPr>
        <p:grpSpPr>
          <a:xfrm>
            <a:off x="10671170" y="647700"/>
            <a:ext cx="651353" cy="4249293"/>
            <a:chOff x="10671170" y="647700"/>
            <a:chExt cx="651353" cy="4249293"/>
          </a:xfrm>
        </p:grpSpPr>
        <p:sp>
          <p:nvSpPr>
            <p:cNvPr id="4" name="TextBox 4"/>
            <p:cNvSpPr txBox="1"/>
            <p:nvPr/>
          </p:nvSpPr>
          <p:spPr>
            <a:xfrm>
              <a:off x="10671170" y="647700"/>
              <a:ext cx="469910" cy="191643"/>
            </a:xfrm>
            <a:prstGeom prst="rect">
              <a:avLst/>
            </a:prstGeom>
            <a:noFill/>
            <a:ln>
              <a:noFill/>
            </a:ln>
          </p:spPr>
          <p:txBody>
            <a:bodyPr wrap="none" lIns="0" tIns="0" rIns="0" bIns="0" anchor="t" anchorCtr="0">
              <a:spAutoFit/>
            </a:bodyPr>
            <a:lstStyle/>
            <a:p>
              <a:pPr algn="ctr"/>
              <a:r>
                <a:rPr lang="en" sz="980" dirty="0">
                  <a:solidFill>
                    <a:schemeClr val="accent2"/>
                  </a:solidFill>
                  <a:latin typeface="Consolas"/>
                  <a:ea typeface="Consolas"/>
                  <a:cs typeface="Consolas"/>
                </a:rPr>
                <a:t>PAGE 1</a:t>
              </a:r>
            </a:p>
          </p:txBody>
        </p:sp>
        <p:sp>
          <p:nvSpPr>
            <p:cNvPr id="5" name="TextBox 5"/>
            <p:cNvSpPr txBox="1"/>
            <p:nvPr/>
          </p:nvSpPr>
          <p:spPr>
            <a:xfrm>
              <a:off x="10775945" y="1790700"/>
              <a:ext cx="469910" cy="191643"/>
            </a:xfrm>
            <a:prstGeom prst="rect">
              <a:avLst/>
            </a:prstGeom>
            <a:noFill/>
            <a:ln>
              <a:noFill/>
            </a:ln>
          </p:spPr>
          <p:txBody>
            <a:bodyPr wrap="none" lIns="0" tIns="0" rIns="0" bIns="0" anchor="t" anchorCtr="0">
              <a:spAutoFit/>
            </a:bodyPr>
            <a:lstStyle/>
            <a:p>
              <a:pPr algn="ctr"/>
              <a:r>
                <a:rPr lang="en" sz="980" dirty="0">
                  <a:solidFill>
                    <a:schemeClr val="accent1"/>
                  </a:solidFill>
                  <a:latin typeface="Consolas"/>
                  <a:ea typeface="Consolas"/>
                  <a:cs typeface="Consolas"/>
                </a:rPr>
                <a:t>B-TREE</a:t>
              </a:r>
            </a:p>
          </p:txBody>
        </p:sp>
        <p:sp>
          <p:nvSpPr>
            <p:cNvPr id="6" name="TextBox 6"/>
            <p:cNvSpPr txBox="1"/>
            <p:nvPr/>
          </p:nvSpPr>
          <p:spPr>
            <a:xfrm>
              <a:off x="10775945" y="3124200"/>
              <a:ext cx="469910" cy="191643"/>
            </a:xfrm>
            <a:prstGeom prst="rect">
              <a:avLst/>
            </a:prstGeom>
            <a:noFill/>
            <a:ln>
              <a:noFill/>
            </a:ln>
          </p:spPr>
          <p:txBody>
            <a:bodyPr wrap="none" lIns="0" tIns="0" rIns="0" bIns="0" anchor="t" anchorCtr="0">
              <a:spAutoFit/>
            </a:bodyPr>
            <a:lstStyle/>
            <a:p>
              <a:pPr algn="ctr"/>
              <a:r>
                <a:rPr lang="en" sz="980" dirty="0">
                  <a:solidFill>
                    <a:schemeClr val="accent1"/>
                  </a:solidFill>
                  <a:latin typeface="Consolas"/>
                  <a:ea typeface="Consolas"/>
                  <a:cs typeface="Consolas"/>
                </a:rPr>
                <a:t>4096 B</a:t>
              </a:r>
            </a:p>
          </p:txBody>
        </p:sp>
        <p:sp>
          <p:nvSpPr>
            <p:cNvPr id="7" name="TextBox 7"/>
            <p:cNvSpPr txBox="1"/>
            <p:nvPr/>
          </p:nvSpPr>
          <p:spPr>
            <a:xfrm>
              <a:off x="10699278" y="4705350"/>
              <a:ext cx="623245" cy="191643"/>
            </a:xfrm>
            <a:prstGeom prst="rect">
              <a:avLst/>
            </a:prstGeom>
            <a:noFill/>
            <a:ln>
              <a:noFill/>
            </a:ln>
          </p:spPr>
          <p:txBody>
            <a:bodyPr wrap="none" lIns="0" tIns="0" rIns="0" bIns="0" anchor="t" anchorCtr="0">
              <a:spAutoFit/>
            </a:bodyPr>
            <a:lstStyle/>
            <a:p>
              <a:pPr algn="ctr"/>
              <a:r>
                <a:rPr lang="en" sz="980" dirty="0">
                  <a:solidFill>
                    <a:schemeClr val="accent1"/>
                  </a:solidFill>
                  <a:latin typeface="Consolas"/>
                  <a:ea typeface="Consolas"/>
                  <a:cs typeface="Consolas"/>
                </a:rPr>
                <a:t>ONE FILE</a:t>
              </a:r>
            </a:p>
          </p:txBody>
        </p:sp>
      </p:grpSp>
      <p:grpSp>
        <p:nvGrpSpPr>
          <p:cNvPr id="11" name="cover-kicker"/>
          <p:cNvGrpSpPr/>
          <p:nvPr/>
        </p:nvGrpSpPr>
        <p:grpSpPr>
          <a:xfrm>
            <a:off x="701929" y="1518933"/>
            <a:ext cx="3664286" cy="309867"/>
            <a:chOff x="701929" y="1518933"/>
            <a:chExt cx="3664286" cy="309867"/>
          </a:xfrm>
        </p:grpSpPr>
        <p:sp>
          <p:nvSpPr>
            <p:cNvPr id="9" name="Freeform 9"/>
            <p:cNvSpPr/>
            <p:nvPr/>
          </p:nvSpPr>
          <p:spPr>
            <a:xfrm>
              <a:off x="701929" y="1518933"/>
              <a:ext cx="291147" cy="309867"/>
            </a:xfrm>
            <a:custGeom>
              <a:avLst/>
              <a:gdLst/>
              <a:ahLst/>
              <a:cxnLst/>
              <a:rect l="l" t="t" r="r" b="b"/>
              <a:pathLst>
                <a:path w="291147" h="309867">
                  <a:moveTo>
                    <a:pt x="259181" y="11684"/>
                  </a:moveTo>
                  <a:cubicBezTo>
                    <a:pt x="246075" y="0"/>
                    <a:pt x="230225" y="4699"/>
                    <a:pt x="214566" y="18593"/>
                  </a:cubicBezTo>
                  <a:cubicBezTo>
                    <a:pt x="212152" y="20755"/>
                    <a:pt x="209834" y="23022"/>
                    <a:pt x="207619" y="25387"/>
                  </a:cubicBezTo>
                  <a:cubicBezTo>
                    <a:pt x="180835" y="53797"/>
                    <a:pt x="155981" y="106413"/>
                    <a:pt x="148259" y="146596"/>
                  </a:cubicBezTo>
                  <a:cubicBezTo>
                    <a:pt x="151269" y="152692"/>
                    <a:pt x="153619" y="160477"/>
                    <a:pt x="155168" y="166420"/>
                  </a:cubicBezTo>
                  <a:cubicBezTo>
                    <a:pt x="155945" y="169377"/>
                    <a:pt x="156639" y="172354"/>
                    <a:pt x="157251" y="175348"/>
                  </a:cubicBezTo>
                  <a:cubicBezTo>
                    <a:pt x="157251" y="175348"/>
                    <a:pt x="157010" y="174447"/>
                    <a:pt x="156032" y="171589"/>
                  </a:cubicBezTo>
                  <a:lnTo>
                    <a:pt x="155397" y="169735"/>
                  </a:lnTo>
                  <a:cubicBezTo>
                    <a:pt x="155266" y="169393"/>
                    <a:pt x="155126" y="169054"/>
                    <a:pt x="154978" y="168719"/>
                  </a:cubicBezTo>
                  <a:cubicBezTo>
                    <a:pt x="153225" y="164655"/>
                    <a:pt x="148399" y="156083"/>
                    <a:pt x="146266" y="152349"/>
                  </a:cubicBezTo>
                  <a:cubicBezTo>
                    <a:pt x="144449" y="157721"/>
                    <a:pt x="142837" y="162737"/>
                    <a:pt x="141490" y="167284"/>
                  </a:cubicBezTo>
                  <a:cubicBezTo>
                    <a:pt x="147637" y="178511"/>
                    <a:pt x="151371" y="197764"/>
                    <a:pt x="151371" y="197764"/>
                  </a:cubicBezTo>
                  <a:cubicBezTo>
                    <a:pt x="151371" y="197764"/>
                    <a:pt x="151053" y="196507"/>
                    <a:pt x="149504" y="192151"/>
                  </a:cubicBezTo>
                  <a:cubicBezTo>
                    <a:pt x="148145" y="188302"/>
                    <a:pt x="141325" y="176352"/>
                    <a:pt x="139700" y="173558"/>
                  </a:cubicBezTo>
                  <a:cubicBezTo>
                    <a:pt x="136944" y="183769"/>
                    <a:pt x="135839" y="190652"/>
                    <a:pt x="136829" y="192328"/>
                  </a:cubicBezTo>
                  <a:cubicBezTo>
                    <a:pt x="138760" y="195580"/>
                    <a:pt x="140589" y="201193"/>
                    <a:pt x="142189" y="207390"/>
                  </a:cubicBezTo>
                  <a:cubicBezTo>
                    <a:pt x="145821" y="221360"/>
                    <a:pt x="148348" y="238378"/>
                    <a:pt x="148348" y="238378"/>
                  </a:cubicBezTo>
                  <a:lnTo>
                    <a:pt x="148564" y="241223"/>
                  </a:lnTo>
                  <a:cubicBezTo>
                    <a:pt x="148087" y="252860"/>
                    <a:pt x="148325" y="264515"/>
                    <a:pt x="149275" y="276123"/>
                  </a:cubicBezTo>
                  <a:cubicBezTo>
                    <a:pt x="150482" y="290677"/>
                    <a:pt x="152743" y="303174"/>
                    <a:pt x="155625" y="309867"/>
                  </a:cubicBezTo>
                  <a:lnTo>
                    <a:pt x="157594" y="308800"/>
                  </a:lnTo>
                  <a:cubicBezTo>
                    <a:pt x="153352" y="295617"/>
                    <a:pt x="151625" y="278333"/>
                    <a:pt x="152387" y="258419"/>
                  </a:cubicBezTo>
                  <a:cubicBezTo>
                    <a:pt x="153530" y="227964"/>
                    <a:pt x="160540" y="191236"/>
                    <a:pt x="173482" y="152958"/>
                  </a:cubicBezTo>
                  <a:cubicBezTo>
                    <a:pt x="195364" y="95174"/>
                    <a:pt x="225717" y="48806"/>
                    <a:pt x="253491" y="26657"/>
                  </a:cubicBezTo>
                  <a:cubicBezTo>
                    <a:pt x="228180" y="49517"/>
                    <a:pt x="193903" y="123558"/>
                    <a:pt x="183642" y="150965"/>
                  </a:cubicBezTo>
                  <a:cubicBezTo>
                    <a:pt x="172161" y="181648"/>
                    <a:pt x="164020" y="210451"/>
                    <a:pt x="159118" y="238048"/>
                  </a:cubicBezTo>
                  <a:cubicBezTo>
                    <a:pt x="167576" y="212178"/>
                    <a:pt x="194945" y="201066"/>
                    <a:pt x="194945" y="201066"/>
                  </a:cubicBezTo>
                  <a:cubicBezTo>
                    <a:pt x="194945" y="201066"/>
                    <a:pt x="208368" y="184505"/>
                    <a:pt x="224053" y="160858"/>
                  </a:cubicBezTo>
                  <a:cubicBezTo>
                    <a:pt x="214655" y="163004"/>
                    <a:pt x="199224" y="166674"/>
                    <a:pt x="194056" y="168846"/>
                  </a:cubicBezTo>
                  <a:cubicBezTo>
                    <a:pt x="186436" y="172034"/>
                    <a:pt x="184378" y="173126"/>
                    <a:pt x="184378" y="173126"/>
                  </a:cubicBezTo>
                  <a:cubicBezTo>
                    <a:pt x="184378" y="173126"/>
                    <a:pt x="209080" y="158089"/>
                    <a:pt x="230263" y="151282"/>
                  </a:cubicBezTo>
                  <a:cubicBezTo>
                    <a:pt x="259397" y="105397"/>
                    <a:pt x="291147" y="40208"/>
                    <a:pt x="259181" y="11684"/>
                  </a:cubicBezTo>
                  <a:moveTo>
                    <a:pt x="23304" y="18580"/>
                  </a:moveTo>
                  <a:cubicBezTo>
                    <a:pt x="10449" y="18629"/>
                    <a:pt x="42" y="29042"/>
                    <a:pt x="0" y="41897"/>
                  </a:cubicBezTo>
                  <a:lnTo>
                    <a:pt x="0" y="252818"/>
                  </a:lnTo>
                  <a:cubicBezTo>
                    <a:pt x="42" y="265670"/>
                    <a:pt x="10453" y="276075"/>
                    <a:pt x="23304" y="276110"/>
                  </a:cubicBezTo>
                  <a:lnTo>
                    <a:pt x="142913" y="276110"/>
                  </a:lnTo>
                  <a:cubicBezTo>
                    <a:pt x="142016" y="264673"/>
                    <a:pt x="141796" y="253194"/>
                    <a:pt x="142252" y="241731"/>
                  </a:cubicBezTo>
                  <a:cubicBezTo>
                    <a:pt x="142176" y="240944"/>
                    <a:pt x="142113" y="239941"/>
                    <a:pt x="142049" y="239191"/>
                  </a:cubicBezTo>
                  <a:cubicBezTo>
                    <a:pt x="140500" y="229040"/>
                    <a:pt x="138495" y="218963"/>
                    <a:pt x="136042" y="208991"/>
                  </a:cubicBezTo>
                  <a:cubicBezTo>
                    <a:pt x="134505" y="203022"/>
                    <a:pt x="132550" y="197586"/>
                    <a:pt x="131356" y="195567"/>
                  </a:cubicBezTo>
                  <a:cubicBezTo>
                    <a:pt x="129883" y="193065"/>
                    <a:pt x="130111" y="191630"/>
                    <a:pt x="130124" y="190080"/>
                  </a:cubicBezTo>
                  <a:cubicBezTo>
                    <a:pt x="130124" y="188556"/>
                    <a:pt x="130314" y="186969"/>
                    <a:pt x="130594" y="185178"/>
                  </a:cubicBezTo>
                  <a:cubicBezTo>
                    <a:pt x="131346" y="180704"/>
                    <a:pt x="132338" y="176274"/>
                    <a:pt x="133566" y="171907"/>
                  </a:cubicBezTo>
                  <a:lnTo>
                    <a:pt x="136321" y="171551"/>
                  </a:lnTo>
                  <a:cubicBezTo>
                    <a:pt x="136106" y="171107"/>
                    <a:pt x="136144" y="170726"/>
                    <a:pt x="135928" y="170319"/>
                  </a:cubicBezTo>
                  <a:lnTo>
                    <a:pt x="135407" y="165481"/>
                  </a:lnTo>
                  <a:cubicBezTo>
                    <a:pt x="136927" y="160396"/>
                    <a:pt x="138545" y="155340"/>
                    <a:pt x="140258" y="150317"/>
                  </a:cubicBezTo>
                  <a:lnTo>
                    <a:pt x="142798" y="150076"/>
                  </a:lnTo>
                  <a:cubicBezTo>
                    <a:pt x="142697" y="149872"/>
                    <a:pt x="142671" y="149593"/>
                    <a:pt x="142570" y="149402"/>
                  </a:cubicBezTo>
                  <a:lnTo>
                    <a:pt x="142024" y="145389"/>
                  </a:lnTo>
                  <a:cubicBezTo>
                    <a:pt x="150025" y="103733"/>
                    <a:pt x="174879" y="50863"/>
                    <a:pt x="202984" y="21044"/>
                  </a:cubicBezTo>
                  <a:cubicBezTo>
                    <a:pt x="203822" y="20168"/>
                    <a:pt x="204673" y="19418"/>
                    <a:pt x="205498" y="18580"/>
                  </a:cubicBezTo>
                  <a:close/>
                </a:path>
              </a:pathLst>
            </a:custGeom>
            <a:solidFill>
              <a:schemeClr val="accent1"/>
            </a:solidFill>
            <a:ln>
              <a:noFill/>
            </a:ln>
          </p:spPr>
        </p:sp>
        <p:sp>
          <p:nvSpPr>
            <p:cNvPr id="10" name="TextBox 10"/>
            <p:cNvSpPr txBox="1"/>
            <p:nvPr/>
          </p:nvSpPr>
          <p:spPr>
            <a:xfrm>
              <a:off x="1099185" y="1603375"/>
              <a:ext cx="3267030"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SHEET 00 · ENGINEERING TECH TALK</a:t>
              </a:r>
            </a:p>
          </p:txBody>
        </p:sp>
      </p:grpSp>
      <p:grpSp>
        <p:nvGrpSpPr>
          <p:cNvPr id="13" name="cover-title"/>
          <p:cNvGrpSpPr/>
          <p:nvPr/>
        </p:nvGrpSpPr>
        <p:grpSpPr>
          <a:xfrm>
            <a:off x="666750" y="2197100"/>
            <a:ext cx="5016722" cy="1943100"/>
            <a:chOff x="666750" y="2197100"/>
            <a:chExt cx="5016722" cy="1943100"/>
          </a:xfrm>
        </p:grpSpPr>
        <p:sp>
          <p:nvSpPr>
            <p:cNvPr id="12" name="TextBox 12"/>
            <p:cNvSpPr txBox="1"/>
            <p:nvPr/>
          </p:nvSpPr>
          <p:spPr>
            <a:xfrm>
              <a:off x="666750" y="2197100"/>
              <a:ext cx="5016722" cy="1943100"/>
            </a:xfrm>
            <a:prstGeom prst="rect">
              <a:avLst/>
            </a:prstGeom>
            <a:noFill/>
            <a:ln>
              <a:noFill/>
            </a:ln>
          </p:spPr>
          <p:txBody>
            <a:bodyPr wrap="none" lIns="0" tIns="0" rIns="0" bIns="0" anchor="t" anchorCtr="0">
              <a:spAutoFit/>
            </a:bodyPr>
            <a:lstStyle/>
            <a:p>
              <a:pPr algn="l">
                <a:lnSpc>
                  <a:spcPts val="6600"/>
                </a:lnSpc>
              </a:pPr>
              <a:r>
                <a:rPr lang="en" sz="5700" b="1" dirty="0">
                  <a:solidFill>
                    <a:schemeClr val="dk1"/>
                  </a:solidFill>
                  <a:latin typeface="+mj-lt"/>
                  <a:ea typeface="+mj-ea"/>
                  <a:cs typeface="+mj-cs"/>
                </a:rPr>
                <a:t>Why SQLite Is</a:t>
              </a:r>
              <a:br>
                <a:rPr lang="en" sz="5700" b="1" dirty="0">
                  <a:solidFill>
                    <a:schemeClr val="dk1"/>
                  </a:solidFill>
                  <a:latin typeface="+mj-lt"/>
                  <a:ea typeface="+mj-ea"/>
                  <a:cs typeface="+mj-cs"/>
                </a:rPr>
              </a:br>
              <a:r>
                <a:rPr lang="en" sz="5700" b="1" dirty="0">
                  <a:solidFill>
                    <a:schemeClr val="accent2"/>
                  </a:solidFill>
                  <a:latin typeface="+mj-lt"/>
                  <a:ea typeface="+mj-ea"/>
                  <a:cs typeface="+mj-cs"/>
                </a:rPr>
                <a:t>Everywhere</a:t>
              </a:r>
            </a:p>
          </p:txBody>
        </p:sp>
      </p:grpSp>
      <p:grpSp>
        <p:nvGrpSpPr>
          <p:cNvPr id="15" name="cover-subtitle"/>
          <p:cNvGrpSpPr/>
          <p:nvPr/>
        </p:nvGrpSpPr>
        <p:grpSpPr>
          <a:xfrm>
            <a:off x="675132" y="4064000"/>
            <a:ext cx="4061841" cy="772668"/>
            <a:chOff x="675132" y="4064000"/>
            <a:chExt cx="4061841" cy="772668"/>
          </a:xfrm>
        </p:grpSpPr>
        <p:sp>
          <p:nvSpPr>
            <p:cNvPr id="14" name="TextBox 14"/>
            <p:cNvSpPr txBox="1"/>
            <p:nvPr/>
          </p:nvSpPr>
          <p:spPr>
            <a:xfrm>
              <a:off x="675132" y="4064000"/>
              <a:ext cx="4061841" cy="772668"/>
            </a:xfrm>
            <a:prstGeom prst="rect">
              <a:avLst/>
            </a:prstGeom>
            <a:noFill/>
            <a:ln>
              <a:noFill/>
            </a:ln>
          </p:spPr>
          <p:txBody>
            <a:bodyPr wrap="none" lIns="0" tIns="0" rIns="0" bIns="0" anchor="t" anchorCtr="0">
              <a:spAutoFit/>
            </a:bodyPr>
            <a:lstStyle/>
            <a:p>
              <a:pPr algn="l">
                <a:lnSpc>
                  <a:spcPts val="2850"/>
                </a:lnSpc>
              </a:pPr>
              <a:r>
                <a:rPr lang="en" sz="2100" dirty="0">
                  <a:solidFill>
                    <a:schemeClr val="dk1"/>
                  </a:solidFill>
                  <a:latin typeface="+mj-lt"/>
                  <a:ea typeface="+mj-ea"/>
                  <a:cs typeface="+mj-cs"/>
                </a:rPr>
                <a:t>Not a replacement for Oracle —</a:t>
              </a:r>
              <a:br>
                <a:rPr lang="en" sz="2100" dirty="0">
                  <a:solidFill>
                    <a:schemeClr val="dk1"/>
                  </a:solidFill>
                  <a:latin typeface="+mj-lt"/>
                  <a:ea typeface="+mj-ea"/>
                  <a:cs typeface="+mj-cs"/>
                </a:rPr>
              </a:br>
              <a:r>
                <a:rPr lang="en" sz="2100" dirty="0">
                  <a:solidFill>
                    <a:schemeClr val="dk1"/>
                  </a:solidFill>
                  <a:latin typeface="+mj-lt"/>
                  <a:ea typeface="+mj-ea"/>
                  <a:cs typeface="+mj-cs"/>
                </a:rPr>
                <a:t xml:space="preserve">a replacement for </a:t>
              </a:r>
              <a:r>
                <a:rPr lang="en" sz="2100" dirty="0">
                  <a:solidFill>
                    <a:schemeClr val="accent2"/>
                  </a:solidFill>
                  <a:latin typeface="Consolas"/>
                  <a:ea typeface="Consolas"/>
                  <a:cs typeface="Consolas"/>
                </a:rPr>
                <a:t>fopen()</a:t>
              </a:r>
            </a:p>
          </p:txBody>
        </p:sp>
      </p:grpSp>
      <p:grpSp>
        <p:nvGrpSpPr>
          <p:cNvPr id="17" name="cover-rule"/>
          <p:cNvGrpSpPr/>
          <p:nvPr/>
        </p:nvGrpSpPr>
        <p:grpSpPr>
          <a:xfrm>
            <a:off x="685800" y="5086350"/>
            <a:ext cx="3810000" cy="9525"/>
            <a:chOff x="685800" y="5086350"/>
            <a:chExt cx="3810000" cy="9525"/>
          </a:xfrm>
        </p:grpSpPr>
        <p:sp>
          <p:nvSpPr>
            <p:cNvPr id="16" name="Line 16"/>
            <p:cNvSpPr/>
            <p:nvPr/>
          </p:nvSpPr>
          <p:spPr>
            <a:xfrm>
              <a:off x="685800" y="5086350"/>
              <a:ext cx="3810000" cy="9525"/>
            </a:xfrm>
            <a:custGeom>
              <a:avLst/>
              <a:gdLst/>
              <a:ahLst/>
              <a:cxnLst/>
              <a:rect l="l" t="t" r="r" b="b"/>
              <a:pathLst>
                <a:path w="3810000" h="9525">
                  <a:moveTo>
                    <a:pt x="0" y="0"/>
                  </a:moveTo>
                  <a:lnTo>
                    <a:pt x="3810000" y="0"/>
                  </a:lnTo>
                </a:path>
              </a:pathLst>
            </a:custGeom>
            <a:noFill/>
            <a:ln w="11906">
              <a:solidFill>
                <a:schemeClr val="accent1"/>
              </a:solidFill>
              <a:prstDash val="lgDashDot"/>
            </a:ln>
          </p:spPr>
        </p:sp>
      </p:grpSp>
      <p:grpSp>
        <p:nvGrpSpPr>
          <p:cNvPr id="19" name="cover-source"/>
          <p:cNvGrpSpPr/>
          <p:nvPr/>
        </p:nvGrpSpPr>
        <p:grpSpPr>
          <a:xfrm>
            <a:off x="680847" y="5969000"/>
            <a:ext cx="4172867" cy="191643"/>
            <a:chOff x="680847" y="5969000"/>
            <a:chExt cx="4172867" cy="191643"/>
          </a:xfrm>
        </p:grpSpPr>
        <p:sp>
          <p:nvSpPr>
            <p:cNvPr id="18" name="TextBox 18"/>
            <p:cNvSpPr txBox="1"/>
            <p:nvPr/>
          </p:nvSpPr>
          <p:spPr>
            <a:xfrm>
              <a:off x="680847" y="5969000"/>
              <a:ext cx="4172867"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Quote and figures throughout: official SQLite documentation, sqlite.org</a:t>
              </a:r>
            </a:p>
          </p:txBody>
        </p:sp>
      </p:grpSp>
    </p:spTree>
  </p:cSld>
  <p:clrMapOvr>
    <a:masterClrMapping/>
  </p:clrMapOvr>
  <p:transition xmlns:p14="http://schemas.microsoft.com/office/powerpoint/2010/mai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800"/>
                                        <p:tgtEl>
                                          <p:spTgt spid="13"/>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600"/>
                                        <p:tgtEl>
                                          <p:spTgt spid="15"/>
                                        </p:tgtEl>
                                      </p:cBhvr>
                                    </p:animEffect>
                                  </p:childTnLst>
                                </p:cTn>
                              </p:par>
                            </p:childTnLst>
                          </p:cTn>
                        </p:par>
                        <p:par>
                          <p:cTn id="12" fill="hold">
                            <p:stCondLst>
                              <p:cond delay="1900"/>
                            </p:stCondLst>
                            <p:childTnLst>
                              <p:par>
                                <p:cTn xmlns:p="http://schemas.openxmlformats.org/presentationml/2006/main" id="13" presetID="22" presetClass="entr" presetSubtype="4" fill="hold" grpId="0" nodeType="afterEffect">
                                  <p:stCondLst>
                                    <p:cond delay="500"/>
                                  </p:stCondLst>
                                  <p:childTnLst>
                                    <p:set>
                                      <p:cBhvr>
                                        <p:cTn id="14" dur="1" fill="hold">
                                          <p:stCondLst>
                                            <p:cond delay="0"/>
                                          </p:stCondLst>
                                        </p:cTn>
                                        <p:tgtEl>
                                          <p:spTgt spid="8"/>
                                        </p:tgtEl>
                                        <p:attrNameLst>
                                          <p:attrName>style.visibility</p:attrName>
                                        </p:attrNameLst>
                                      </p:cBhvr>
                                      <p:to>
                                        <p:strVal val="visible"/>
                                      </p:to>
                                    </p:set>
                                    <p:animEffect transition="in" filter="wipe(down)">
                                      <p:cBhvr>
                                        <p:cTn id="15" dur="8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10225888" cy="815340"/>
            <a:chOff x="594360" y="603250"/>
            <a:chExt cx="10225888" cy="815340"/>
          </a:xfrm>
        </p:grpSpPr>
        <p:sp>
          <p:nvSpPr>
            <p:cNvPr id="18" name="TextBox 18"/>
            <p:cNvSpPr txBox="1"/>
            <p:nvPr/>
          </p:nvSpPr>
          <p:spPr>
            <a:xfrm>
              <a:off x="603885" y="603250"/>
              <a:ext cx="1565567"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01 · EVERYWHERE</a:t>
              </a:r>
            </a:p>
          </p:txBody>
        </p:sp>
        <p:sp>
          <p:nvSpPr>
            <p:cNvPr id="19" name="TextBox 19"/>
            <p:cNvSpPr txBox="1"/>
            <p:nvPr/>
          </p:nvSpPr>
          <p:spPr>
            <a:xfrm>
              <a:off x="594360" y="831850"/>
              <a:ext cx="10225888"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SQLite likely outnumbers all other engines combined</a:t>
              </a:r>
            </a:p>
          </p:txBody>
        </p:sp>
      </p:grpSp>
      <p:grpSp>
        <p:nvGrpSpPr>
          <p:cNvPr id="30" name="arithmetic"/>
          <p:cNvGrpSpPr/>
          <p:nvPr/>
        </p:nvGrpSpPr>
        <p:grpSpPr>
          <a:xfrm>
            <a:off x="533400" y="1631950"/>
            <a:ext cx="4109602" cy="4368800"/>
            <a:chOff x="533400" y="1631950"/>
            <a:chExt cx="4109602" cy="4368800"/>
          </a:xfrm>
        </p:grpSpPr>
        <p:sp>
          <p:nvSpPr>
            <p:cNvPr id="21" name="TextBox 21"/>
            <p:cNvSpPr txBox="1"/>
            <p:nvPr/>
          </p:nvSpPr>
          <p:spPr>
            <a:xfrm>
              <a:off x="603885" y="1631950"/>
              <a:ext cx="1494734"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THE ARITHMETIC</a:t>
              </a:r>
            </a:p>
          </p:txBody>
        </p:sp>
        <p:sp>
          <p:nvSpPr>
            <p:cNvPr id="22" name="TextBox 22"/>
            <p:cNvSpPr txBox="1"/>
            <p:nvPr/>
          </p:nvSpPr>
          <p:spPr>
            <a:xfrm>
              <a:off x="594360" y="2032000"/>
              <a:ext cx="2191131" cy="586740"/>
            </a:xfrm>
            <a:prstGeom prst="rect">
              <a:avLst/>
            </a:prstGeom>
            <a:noFill/>
            <a:ln>
              <a:noFill/>
            </a:ln>
          </p:spPr>
          <p:txBody>
            <a:bodyPr wrap="none" lIns="0" tIns="0" rIns="0" bIns="0" anchor="t" anchorCtr="0">
              <a:spAutoFit/>
            </a:bodyPr>
            <a:lstStyle/>
            <a:p>
              <a:pPr algn="l"/>
              <a:r>
                <a:rPr lang="en" sz="3000" dirty="0">
                  <a:solidFill>
                    <a:schemeClr val="accent1"/>
                  </a:solidFill>
                  <a:latin typeface="+mj-lt"/>
                  <a:ea typeface="+mj-ea"/>
                  <a:cs typeface="+mj-cs"/>
                </a:rPr>
                <a:t>&gt;4.0 billion</a:t>
              </a:r>
            </a:p>
          </p:txBody>
        </p:sp>
        <p:sp>
          <p:nvSpPr>
            <p:cNvPr id="23" name="TextBox 23"/>
            <p:cNvSpPr txBox="1"/>
            <p:nvPr/>
          </p:nvSpPr>
          <p:spPr>
            <a:xfrm>
              <a:off x="603504" y="2476500"/>
              <a:ext cx="238128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smartphones in active use (4.0e9)</a:t>
              </a:r>
            </a:p>
          </p:txBody>
        </p:sp>
        <p:sp>
          <p:nvSpPr>
            <p:cNvPr id="24" name="Freeform 24"/>
            <p:cNvSpPr/>
            <p:nvPr/>
          </p:nvSpPr>
          <p:spPr>
            <a:xfrm>
              <a:off x="609600" y="2686050"/>
              <a:ext cx="381000" cy="381000"/>
            </a:xfrm>
            <a:prstGeom prst="mathMultiply">
              <a:avLst/>
            </a:prstGeom>
            <a:solidFill>
              <a:schemeClr val="accent1"/>
            </a:solidFill>
            <a:ln>
              <a:noFill/>
            </a:ln>
          </p:spPr>
        </p:sp>
        <p:sp>
          <p:nvSpPr>
            <p:cNvPr id="25" name="TextBox 25"/>
            <p:cNvSpPr txBox="1"/>
            <p:nvPr/>
          </p:nvSpPr>
          <p:spPr>
            <a:xfrm>
              <a:off x="594360" y="3232150"/>
              <a:ext cx="1807464" cy="586740"/>
            </a:xfrm>
            <a:prstGeom prst="rect">
              <a:avLst/>
            </a:prstGeom>
            <a:noFill/>
            <a:ln>
              <a:noFill/>
            </a:ln>
          </p:spPr>
          <p:txBody>
            <a:bodyPr wrap="none" lIns="0" tIns="0" rIns="0" bIns="0" anchor="t" anchorCtr="0">
              <a:spAutoFit/>
            </a:bodyPr>
            <a:lstStyle/>
            <a:p>
              <a:pPr algn="l"/>
              <a:r>
                <a:rPr lang="en" sz="3000" dirty="0">
                  <a:solidFill>
                    <a:schemeClr val="accent1"/>
                  </a:solidFill>
                  <a:latin typeface="+mj-lt"/>
                  <a:ea typeface="+mj-ea"/>
                  <a:cs typeface="+mj-cs"/>
                </a:rPr>
                <a:t>hundreds</a:t>
              </a:r>
            </a:p>
          </p:txBody>
        </p:sp>
        <p:sp>
          <p:nvSpPr>
            <p:cNvPr id="26" name="TextBox 26"/>
            <p:cNvSpPr txBox="1"/>
            <p:nvPr/>
          </p:nvSpPr>
          <p:spPr>
            <a:xfrm>
              <a:off x="603504" y="3676650"/>
              <a:ext cx="3156092"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of SQLite database files held on each phone</a:t>
              </a:r>
            </a:p>
          </p:txBody>
        </p:sp>
        <p:sp>
          <p:nvSpPr>
            <p:cNvPr id="27" name="Freeform 27"/>
            <p:cNvSpPr/>
            <p:nvPr/>
          </p:nvSpPr>
          <p:spPr>
            <a:xfrm>
              <a:off x="609600" y="3962400"/>
              <a:ext cx="381000" cy="381000"/>
            </a:xfrm>
            <a:prstGeom prst="mathEqual">
              <a:avLst/>
            </a:prstGeom>
            <a:solidFill>
              <a:schemeClr val="accent2"/>
            </a:solidFill>
            <a:ln>
              <a:noFill/>
            </a:ln>
          </p:spPr>
        </p:sp>
        <p:sp>
          <p:nvSpPr>
            <p:cNvPr id="28" name="TextBox 28"/>
            <p:cNvSpPr txBox="1"/>
            <p:nvPr/>
          </p:nvSpPr>
          <p:spPr>
            <a:xfrm>
              <a:off x="533400" y="4381500"/>
              <a:ext cx="3303308" cy="1619250"/>
            </a:xfrm>
            <a:prstGeom prst="rect">
              <a:avLst/>
            </a:prstGeom>
            <a:noFill/>
            <a:ln>
              <a:noFill/>
            </a:ln>
          </p:spPr>
          <p:txBody>
            <a:bodyPr wrap="none" lIns="0" tIns="0" rIns="0" bIns="0" anchor="t" anchorCtr="0">
              <a:spAutoFit/>
            </a:bodyPr>
            <a:lstStyle/>
            <a:p>
              <a:pPr algn="l"/>
              <a:r>
                <a:rPr lang="en" sz="8400" b="1" dirty="0">
                  <a:solidFill>
                    <a:schemeClr val="accent2"/>
                  </a:solidFill>
                  <a:latin typeface="+mj-lt"/>
                  <a:ea typeface="+mj-ea"/>
                  <a:cs typeface="+mj-cs"/>
                </a:rPr>
                <a:t>&gt;1e12</a:t>
              </a:r>
            </a:p>
          </p:txBody>
        </p:sp>
        <p:sp>
          <p:nvSpPr>
            <p:cNvPr id="29" name="TextBox 29"/>
            <p:cNvSpPr txBox="1"/>
            <p:nvPr/>
          </p:nvSpPr>
          <p:spPr>
            <a:xfrm>
              <a:off x="603504" y="5600700"/>
              <a:ext cx="4039498"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SQLite databases likely in active use — </a:t>
              </a:r>
              <a:r>
                <a:rPr lang="en" sz="1200" b="1" dirty="0">
                  <a:solidFill>
                    <a:schemeClr val="accent2"/>
                  </a:solidFill>
                  <a:latin typeface="+mn-lt"/>
                  <a:ea typeface="+mn-ea"/>
                  <a:cs typeface="+mn-cs"/>
                </a:rPr>
                <a:t>over one trillion</a:t>
              </a:r>
            </a:p>
          </p:txBody>
        </p:sp>
      </p:grpSp>
      <p:grpSp>
        <p:nvGrpSpPr>
          <p:cNvPr id="57" name="hosts-every"/>
          <p:cNvGrpSpPr/>
          <p:nvPr/>
        </p:nvGrpSpPr>
        <p:grpSpPr>
          <a:xfrm>
            <a:off x="6096000" y="1470025"/>
            <a:ext cx="5486400" cy="2416175"/>
            <a:chOff x="6096000" y="1470025"/>
            <a:chExt cx="5486400" cy="2416175"/>
          </a:xfrm>
        </p:grpSpPr>
        <p:sp>
          <p:nvSpPr>
            <p:cNvPr id="31" name="Rectangle 31"/>
            <p:cNvSpPr/>
            <p:nvPr/>
          </p:nvSpPr>
          <p:spPr>
            <a:xfrm>
              <a:off x="6096000" y="1562100"/>
              <a:ext cx="5486400" cy="2324100"/>
            </a:xfrm>
            <a:prstGeom prst="roundRect">
              <a:avLst>
                <a:gd name="adj" fmla="val 820"/>
              </a:avLst>
            </a:prstGeom>
            <a:noFill/>
            <a:ln w="11906">
              <a:solidFill>
                <a:schemeClr val="accent1"/>
              </a:solidFill>
            </a:ln>
          </p:spPr>
        </p:sp>
        <p:sp>
          <p:nvSpPr>
            <p:cNvPr id="32" name="Rectangle 32"/>
            <p:cNvSpPr/>
            <p:nvPr/>
          </p:nvSpPr>
          <p:spPr>
            <a:xfrm>
              <a:off x="6210300" y="1485900"/>
              <a:ext cx="1104900" cy="152400"/>
            </a:xfrm>
            <a:prstGeom prst="rect">
              <a:avLst/>
            </a:prstGeom>
            <a:solidFill>
              <a:schemeClr val="lt1"/>
            </a:solidFill>
            <a:ln>
              <a:noFill/>
            </a:ln>
          </p:spPr>
        </p:sp>
        <p:sp>
          <p:nvSpPr>
            <p:cNvPr id="33" name="TextBox 33"/>
            <p:cNvSpPr txBox="1"/>
            <p:nvPr/>
          </p:nvSpPr>
          <p:spPr>
            <a:xfrm>
              <a:off x="6280785" y="1470025"/>
              <a:ext cx="947533"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IN EVERY…</a:t>
              </a:r>
            </a:p>
          </p:txBody>
        </p:sp>
        <p:grpSp>
          <p:nvGrpSpPr>
            <p:cNvPr id="56" name="Group 56"/>
            <p:cNvGrpSpPr/>
            <p:nvPr/>
          </p:nvGrpSpPr>
          <p:grpSpPr>
            <a:xfrm>
              <a:off x="6286465" y="1790700"/>
              <a:ext cx="4836977" cy="1968246"/>
              <a:chOff x="6286465" y="1790700"/>
              <a:chExt cx="4836977" cy="1968246"/>
            </a:xfrm>
          </p:grpSpPr>
          <p:sp>
            <p:nvSpPr>
              <p:cNvPr id="34" name="Freeform 34"/>
              <p:cNvSpPr/>
              <p:nvPr/>
            </p:nvSpPr>
            <p:spPr>
              <a:xfrm>
                <a:off x="6286500" y="1837212"/>
                <a:ext cx="228600" cy="134369"/>
              </a:xfrm>
              <a:custGeom>
                <a:avLst/>
                <a:gdLst/>
                <a:ahLst/>
                <a:cxnLst/>
                <a:rect l="l" t="t" r="r" b="b"/>
                <a:pathLst>
                  <a:path w="228600" h="134369">
                    <a:moveTo>
                      <a:pt x="175636" y="6433"/>
                    </a:moveTo>
                    <a:cubicBezTo>
                      <a:pt x="169207" y="17543"/>
                      <a:pt x="162758" y="28644"/>
                      <a:pt x="156325" y="39752"/>
                    </a:cubicBezTo>
                    <a:cubicBezTo>
                      <a:pt x="155977" y="39604"/>
                      <a:pt x="155618" y="39479"/>
                      <a:pt x="155265" y="39342"/>
                    </a:cubicBezTo>
                    <a:cubicBezTo>
                      <a:pt x="137883" y="32716"/>
                      <a:pt x="122080" y="31722"/>
                      <a:pt x="113165" y="31846"/>
                    </a:cubicBezTo>
                    <a:cubicBezTo>
                      <a:pt x="95495" y="32022"/>
                      <a:pt x="81214" y="36268"/>
                      <a:pt x="72591" y="39659"/>
                    </a:cubicBezTo>
                    <a:cubicBezTo>
                      <a:pt x="71791" y="38236"/>
                      <a:pt x="55897" y="10884"/>
                      <a:pt x="53336" y="6451"/>
                    </a:cubicBezTo>
                    <a:cubicBezTo>
                      <a:pt x="52954" y="5799"/>
                      <a:pt x="52505" y="5188"/>
                      <a:pt x="51997" y="4628"/>
                    </a:cubicBezTo>
                    <a:cubicBezTo>
                      <a:pt x="48842" y="1161"/>
                      <a:pt x="43373" y="0"/>
                      <a:pt x="38862" y="2695"/>
                    </a:cubicBezTo>
                    <a:cubicBezTo>
                      <a:pt x="34338" y="5381"/>
                      <a:pt x="32065" y="11611"/>
                      <a:pt x="35161" y="17000"/>
                    </a:cubicBezTo>
                    <a:cubicBezTo>
                      <a:pt x="53702" y="49096"/>
                      <a:pt x="34240" y="14945"/>
                      <a:pt x="53709" y="48998"/>
                    </a:cubicBezTo>
                    <a:cubicBezTo>
                      <a:pt x="53872" y="49293"/>
                      <a:pt x="48998" y="51514"/>
                      <a:pt x="40444" y="58691"/>
                    </a:cubicBezTo>
                    <a:cubicBezTo>
                      <a:pt x="27610" y="69464"/>
                      <a:pt x="4305" y="94191"/>
                      <a:pt x="0" y="134369"/>
                    </a:cubicBezTo>
                    <a:lnTo>
                      <a:pt x="228600" y="134369"/>
                    </a:lnTo>
                    <a:cubicBezTo>
                      <a:pt x="227467" y="123789"/>
                      <a:pt x="225089" y="114376"/>
                      <a:pt x="221493" y="105144"/>
                    </a:cubicBezTo>
                    <a:cubicBezTo>
                      <a:pt x="214409" y="86934"/>
                      <a:pt x="203934" y="73780"/>
                      <a:pt x="195393" y="65295"/>
                    </a:cubicBezTo>
                    <a:cubicBezTo>
                      <a:pt x="189252" y="59192"/>
                      <a:pt x="182444" y="53800"/>
                      <a:pt x="175096" y="49221"/>
                    </a:cubicBezTo>
                    <a:cubicBezTo>
                      <a:pt x="181377" y="38534"/>
                      <a:pt x="187593" y="27734"/>
                      <a:pt x="193812" y="16981"/>
                    </a:cubicBezTo>
                    <a:cubicBezTo>
                      <a:pt x="195790" y="13538"/>
                      <a:pt x="195608" y="9403"/>
                      <a:pt x="193737" y="6322"/>
                    </a:cubicBezTo>
                    <a:cubicBezTo>
                      <a:pt x="192009" y="3421"/>
                      <a:pt x="188990" y="1530"/>
                      <a:pt x="185626" y="1243"/>
                    </a:cubicBezTo>
                    <a:cubicBezTo>
                      <a:pt x="180649" y="732"/>
                      <a:pt x="176680" y="4222"/>
                      <a:pt x="175636" y="6433"/>
                    </a:cubicBezTo>
                    <a:close/>
                    <a:moveTo>
                      <a:pt x="175264" y="87024"/>
                    </a:moveTo>
                    <a:cubicBezTo>
                      <a:pt x="179020" y="92669"/>
                      <a:pt x="178350" y="99698"/>
                      <a:pt x="173775" y="102743"/>
                    </a:cubicBezTo>
                    <a:cubicBezTo>
                      <a:pt x="169204" y="105788"/>
                      <a:pt x="162459" y="103682"/>
                      <a:pt x="158707" y="98037"/>
                    </a:cubicBezTo>
                    <a:cubicBezTo>
                      <a:pt x="154950" y="92392"/>
                      <a:pt x="155620" y="85362"/>
                      <a:pt x="160195" y="82317"/>
                    </a:cubicBezTo>
                    <a:cubicBezTo>
                      <a:pt x="164698" y="79317"/>
                      <a:pt x="171446" y="81283"/>
                      <a:pt x="175264" y="87023"/>
                    </a:cubicBezTo>
                    <a:close/>
                    <a:moveTo>
                      <a:pt x="68647" y="82335"/>
                    </a:moveTo>
                    <a:cubicBezTo>
                      <a:pt x="73222" y="85380"/>
                      <a:pt x="73891" y="92410"/>
                      <a:pt x="70135" y="98055"/>
                    </a:cubicBezTo>
                    <a:cubicBezTo>
                      <a:pt x="66383" y="103700"/>
                      <a:pt x="59622" y="105807"/>
                      <a:pt x="55048" y="102761"/>
                    </a:cubicBezTo>
                    <a:cubicBezTo>
                      <a:pt x="50476" y="99716"/>
                      <a:pt x="49806" y="92687"/>
                      <a:pt x="53559" y="87041"/>
                    </a:cubicBezTo>
                    <a:cubicBezTo>
                      <a:pt x="57377" y="81306"/>
                      <a:pt x="64119" y="79320"/>
                      <a:pt x="68647" y="82335"/>
                    </a:cubicBezTo>
                    <a:close/>
                  </a:path>
                </a:pathLst>
              </a:custGeom>
              <a:solidFill>
                <a:schemeClr val="accent1"/>
              </a:solidFill>
              <a:ln>
                <a:noFill/>
              </a:ln>
            </p:spPr>
          </p:sp>
          <p:sp>
            <p:nvSpPr>
              <p:cNvPr id="35" name="TextBox 35"/>
              <p:cNvSpPr txBox="1"/>
              <p:nvPr/>
            </p:nvSpPr>
            <p:spPr>
              <a:xfrm>
                <a:off x="6604254" y="1809750"/>
                <a:ext cx="109217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Android device</a:t>
                </a:r>
              </a:p>
            </p:txBody>
          </p:sp>
          <p:sp>
            <p:nvSpPr>
              <p:cNvPr id="36" name="Freeform 36"/>
              <p:cNvSpPr/>
              <p:nvPr/>
            </p:nvSpPr>
            <p:spPr>
              <a:xfrm>
                <a:off x="6297111" y="2133600"/>
                <a:ext cx="196796" cy="229076"/>
              </a:xfrm>
              <a:custGeom>
                <a:avLst/>
                <a:gdLst/>
                <a:ahLst/>
                <a:cxnLst/>
                <a:rect l="l" t="t" r="r" b="b"/>
                <a:pathLst>
                  <a:path w="196796" h="229076">
                    <a:moveTo>
                      <a:pt x="105137" y="65684"/>
                    </a:moveTo>
                    <a:cubicBezTo>
                      <a:pt x="96107" y="65684"/>
                      <a:pt x="82134" y="55416"/>
                      <a:pt x="67418" y="55778"/>
                    </a:cubicBezTo>
                    <a:cubicBezTo>
                      <a:pt x="47987" y="56036"/>
                      <a:pt x="30175" y="67046"/>
                      <a:pt x="20164" y="84487"/>
                    </a:cubicBezTo>
                    <a:cubicBezTo>
                      <a:pt x="0" y="119491"/>
                      <a:pt x="14964" y="171193"/>
                      <a:pt x="34633" y="199644"/>
                    </a:cubicBezTo>
                    <a:cubicBezTo>
                      <a:pt x="44282" y="213493"/>
                      <a:pt x="55664" y="229076"/>
                      <a:pt x="70752" y="228590"/>
                    </a:cubicBezTo>
                    <a:cubicBezTo>
                      <a:pt x="85230" y="227971"/>
                      <a:pt x="90659" y="219189"/>
                      <a:pt x="108233" y="219189"/>
                    </a:cubicBezTo>
                    <a:cubicBezTo>
                      <a:pt x="125673" y="219189"/>
                      <a:pt x="130616" y="228590"/>
                      <a:pt x="145952" y="228219"/>
                    </a:cubicBezTo>
                    <a:cubicBezTo>
                      <a:pt x="161544" y="227971"/>
                      <a:pt x="171440" y="214122"/>
                      <a:pt x="180965" y="200139"/>
                    </a:cubicBezTo>
                    <a:cubicBezTo>
                      <a:pt x="191976" y="184061"/>
                      <a:pt x="196548" y="168469"/>
                      <a:pt x="196796" y="167611"/>
                    </a:cubicBezTo>
                    <a:cubicBezTo>
                      <a:pt x="196425" y="167488"/>
                      <a:pt x="166487" y="155981"/>
                      <a:pt x="166126" y="121349"/>
                    </a:cubicBezTo>
                    <a:cubicBezTo>
                      <a:pt x="165878" y="92393"/>
                      <a:pt x="189748" y="78543"/>
                      <a:pt x="190862" y="77924"/>
                    </a:cubicBezTo>
                    <a:cubicBezTo>
                      <a:pt x="177251" y="58017"/>
                      <a:pt x="156353" y="55788"/>
                      <a:pt x="149047" y="55293"/>
                    </a:cubicBezTo>
                    <a:cubicBezTo>
                      <a:pt x="129997" y="53807"/>
                      <a:pt x="114043" y="65675"/>
                      <a:pt x="105137" y="65675"/>
                    </a:cubicBezTo>
                    <a:close/>
                    <a:moveTo>
                      <a:pt x="137312" y="36481"/>
                    </a:moveTo>
                    <a:cubicBezTo>
                      <a:pt x="145342" y="26841"/>
                      <a:pt x="150647" y="13364"/>
                      <a:pt x="149171" y="0"/>
                    </a:cubicBezTo>
                    <a:cubicBezTo>
                      <a:pt x="137674" y="495"/>
                      <a:pt x="123815" y="7668"/>
                      <a:pt x="115529" y="17316"/>
                    </a:cubicBezTo>
                    <a:cubicBezTo>
                      <a:pt x="108099" y="25851"/>
                      <a:pt x="101679" y="39586"/>
                      <a:pt x="103403" y="52692"/>
                    </a:cubicBezTo>
                    <a:cubicBezTo>
                      <a:pt x="116148" y="53683"/>
                      <a:pt x="129264" y="46139"/>
                      <a:pt x="137303" y="36490"/>
                    </a:cubicBezTo>
                  </a:path>
                </a:pathLst>
              </a:custGeom>
              <a:solidFill>
                <a:schemeClr val="accent1"/>
              </a:solidFill>
              <a:ln>
                <a:noFill/>
              </a:ln>
            </p:spPr>
          </p:sp>
          <p:sp>
            <p:nvSpPr>
              <p:cNvPr id="37" name="TextBox 37"/>
              <p:cNvSpPr txBox="1"/>
              <p:nvPr/>
            </p:nvSpPr>
            <p:spPr>
              <a:xfrm>
                <a:off x="6604254" y="2152650"/>
                <a:ext cx="162226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iPhone and iOS device</a:t>
                </a:r>
              </a:p>
            </p:txBody>
          </p:sp>
          <p:sp>
            <p:nvSpPr>
              <p:cNvPr id="38" name="Freeform 38"/>
              <p:cNvSpPr/>
              <p:nvPr/>
            </p:nvSpPr>
            <p:spPr>
              <a:xfrm>
                <a:off x="6297111" y="2476500"/>
                <a:ext cx="196796" cy="229076"/>
              </a:xfrm>
              <a:custGeom>
                <a:avLst/>
                <a:gdLst/>
                <a:ahLst/>
                <a:cxnLst/>
                <a:rect l="l" t="t" r="r" b="b"/>
                <a:pathLst>
                  <a:path w="196796" h="229076">
                    <a:moveTo>
                      <a:pt x="105137" y="65684"/>
                    </a:moveTo>
                    <a:cubicBezTo>
                      <a:pt x="96107" y="65684"/>
                      <a:pt x="82134" y="55416"/>
                      <a:pt x="67418" y="55778"/>
                    </a:cubicBezTo>
                    <a:cubicBezTo>
                      <a:pt x="47987" y="56036"/>
                      <a:pt x="30175" y="67046"/>
                      <a:pt x="20164" y="84487"/>
                    </a:cubicBezTo>
                    <a:cubicBezTo>
                      <a:pt x="0" y="119491"/>
                      <a:pt x="14964" y="171193"/>
                      <a:pt x="34633" y="199644"/>
                    </a:cubicBezTo>
                    <a:cubicBezTo>
                      <a:pt x="44282" y="213493"/>
                      <a:pt x="55664" y="229076"/>
                      <a:pt x="70752" y="228590"/>
                    </a:cubicBezTo>
                    <a:cubicBezTo>
                      <a:pt x="85230" y="227971"/>
                      <a:pt x="90659" y="219189"/>
                      <a:pt x="108233" y="219189"/>
                    </a:cubicBezTo>
                    <a:cubicBezTo>
                      <a:pt x="125673" y="219189"/>
                      <a:pt x="130616" y="228590"/>
                      <a:pt x="145952" y="228219"/>
                    </a:cubicBezTo>
                    <a:cubicBezTo>
                      <a:pt x="161544" y="227971"/>
                      <a:pt x="171440" y="214122"/>
                      <a:pt x="180965" y="200139"/>
                    </a:cubicBezTo>
                    <a:cubicBezTo>
                      <a:pt x="191976" y="184061"/>
                      <a:pt x="196548" y="168469"/>
                      <a:pt x="196796" y="167611"/>
                    </a:cubicBezTo>
                    <a:cubicBezTo>
                      <a:pt x="196425" y="167488"/>
                      <a:pt x="166487" y="155981"/>
                      <a:pt x="166126" y="121349"/>
                    </a:cubicBezTo>
                    <a:cubicBezTo>
                      <a:pt x="165878" y="92392"/>
                      <a:pt x="189748" y="78543"/>
                      <a:pt x="190862" y="77924"/>
                    </a:cubicBezTo>
                    <a:cubicBezTo>
                      <a:pt x="177251" y="58017"/>
                      <a:pt x="156353" y="55788"/>
                      <a:pt x="149047" y="55293"/>
                    </a:cubicBezTo>
                    <a:cubicBezTo>
                      <a:pt x="129997" y="53807"/>
                      <a:pt x="114043" y="65675"/>
                      <a:pt x="105137" y="65675"/>
                    </a:cubicBezTo>
                    <a:close/>
                    <a:moveTo>
                      <a:pt x="137312" y="36481"/>
                    </a:moveTo>
                    <a:cubicBezTo>
                      <a:pt x="145342" y="26841"/>
                      <a:pt x="150647" y="13364"/>
                      <a:pt x="149171" y="0"/>
                    </a:cubicBezTo>
                    <a:cubicBezTo>
                      <a:pt x="137674" y="495"/>
                      <a:pt x="123815" y="7668"/>
                      <a:pt x="115529" y="17316"/>
                    </a:cubicBezTo>
                    <a:cubicBezTo>
                      <a:pt x="108099" y="25851"/>
                      <a:pt x="101679" y="39586"/>
                      <a:pt x="103403" y="52692"/>
                    </a:cubicBezTo>
                    <a:cubicBezTo>
                      <a:pt x="116148" y="53683"/>
                      <a:pt x="129264" y="46139"/>
                      <a:pt x="137303" y="36490"/>
                    </a:cubicBezTo>
                  </a:path>
                </a:pathLst>
              </a:custGeom>
              <a:solidFill>
                <a:schemeClr val="accent1"/>
              </a:solidFill>
              <a:ln>
                <a:noFill/>
              </a:ln>
            </p:spPr>
          </p:sp>
          <p:sp>
            <p:nvSpPr>
              <p:cNvPr id="39" name="TextBox 39"/>
              <p:cNvSpPr txBox="1"/>
              <p:nvPr/>
            </p:nvSpPr>
            <p:spPr>
              <a:xfrm>
                <a:off x="6604254" y="2495550"/>
                <a:ext cx="31976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Mac</a:t>
                </a:r>
              </a:p>
            </p:txBody>
          </p:sp>
          <p:sp>
            <p:nvSpPr>
              <p:cNvPr id="40" name="Freeform 40"/>
              <p:cNvSpPr/>
              <p:nvPr/>
            </p:nvSpPr>
            <p:spPr>
              <a:xfrm>
                <a:off x="6286500" y="2819400"/>
                <a:ext cx="228600" cy="228600"/>
              </a:xfrm>
              <a:custGeom>
                <a:avLst/>
                <a:gdLst/>
                <a:ahLst/>
                <a:cxnLst/>
                <a:rect l="l" t="t" r="r" b="b"/>
                <a:pathLst>
                  <a:path w="228600" h="228600">
                    <a:moveTo>
                      <a:pt x="0" y="0"/>
                    </a:moveTo>
                    <a:lnTo>
                      <a:pt x="108366" y="0"/>
                    </a:lnTo>
                    <a:lnTo>
                      <a:pt x="108366" y="108318"/>
                    </a:lnTo>
                    <a:lnTo>
                      <a:pt x="0" y="108318"/>
                    </a:lnTo>
                    <a:close/>
                    <a:moveTo>
                      <a:pt x="120234" y="0"/>
                    </a:moveTo>
                    <a:lnTo>
                      <a:pt x="228600" y="0"/>
                    </a:lnTo>
                    <a:lnTo>
                      <a:pt x="228600" y="108318"/>
                    </a:lnTo>
                    <a:lnTo>
                      <a:pt x="120234" y="108318"/>
                    </a:lnTo>
                    <a:close/>
                    <a:moveTo>
                      <a:pt x="0" y="120234"/>
                    </a:moveTo>
                    <a:lnTo>
                      <a:pt x="108366" y="120234"/>
                    </a:lnTo>
                    <a:lnTo>
                      <a:pt x="108366" y="228600"/>
                    </a:lnTo>
                    <a:lnTo>
                      <a:pt x="0" y="228600"/>
                    </a:lnTo>
                    <a:close/>
                    <a:moveTo>
                      <a:pt x="120234" y="120234"/>
                    </a:moveTo>
                    <a:lnTo>
                      <a:pt x="228600" y="120234"/>
                    </a:lnTo>
                    <a:lnTo>
                      <a:pt x="228600" y="228600"/>
                    </a:lnTo>
                    <a:lnTo>
                      <a:pt x="120234" y="228600"/>
                    </a:lnTo>
                  </a:path>
                </a:pathLst>
              </a:custGeom>
              <a:solidFill>
                <a:schemeClr val="accent1"/>
              </a:solidFill>
              <a:ln>
                <a:noFill/>
              </a:ln>
            </p:spPr>
          </p:sp>
          <p:sp>
            <p:nvSpPr>
              <p:cNvPr id="41" name="TextBox 41"/>
              <p:cNvSpPr txBox="1"/>
              <p:nvPr/>
            </p:nvSpPr>
            <p:spPr>
              <a:xfrm>
                <a:off x="6604254" y="2838450"/>
                <a:ext cx="1950678"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Windows 10/11 installation</a:t>
                </a:r>
              </a:p>
            </p:txBody>
          </p:sp>
          <p:sp>
            <p:nvSpPr>
              <p:cNvPr id="42" name="Freeform 42"/>
              <p:cNvSpPr/>
              <p:nvPr/>
            </p:nvSpPr>
            <p:spPr>
              <a:xfrm>
                <a:off x="6290177" y="3162300"/>
                <a:ext cx="222666" cy="228600"/>
              </a:xfrm>
              <a:custGeom>
                <a:avLst/>
                <a:gdLst/>
                <a:ahLst/>
                <a:cxnLst/>
                <a:rect l="l" t="t" r="r" b="b"/>
                <a:pathLst>
                  <a:path w="222666" h="228600">
                    <a:moveTo>
                      <a:pt x="80372" y="69409"/>
                    </a:moveTo>
                    <a:cubicBezTo>
                      <a:pt x="80448" y="69409"/>
                      <a:pt x="80410" y="69409"/>
                      <a:pt x="80372" y="69409"/>
                    </a:cubicBezTo>
                    <a:close/>
                    <a:moveTo>
                      <a:pt x="53702" y="56074"/>
                    </a:moveTo>
                    <a:cubicBezTo>
                      <a:pt x="53759" y="56074"/>
                      <a:pt x="53731" y="56074"/>
                      <a:pt x="53702" y="56074"/>
                    </a:cubicBezTo>
                    <a:close/>
                    <a:moveTo>
                      <a:pt x="213284" y="76657"/>
                    </a:moveTo>
                    <a:cubicBezTo>
                      <a:pt x="208474" y="65084"/>
                      <a:pt x="198711" y="52578"/>
                      <a:pt x="191062" y="48625"/>
                    </a:cubicBezTo>
                    <a:cubicBezTo>
                      <a:pt x="197291" y="60846"/>
                      <a:pt x="200901" y="73104"/>
                      <a:pt x="202273" y="82248"/>
                    </a:cubicBezTo>
                    <a:lnTo>
                      <a:pt x="202292" y="82439"/>
                    </a:lnTo>
                    <a:cubicBezTo>
                      <a:pt x="189776" y="51216"/>
                      <a:pt x="168535" y="38624"/>
                      <a:pt x="151181" y="11220"/>
                    </a:cubicBezTo>
                    <a:cubicBezTo>
                      <a:pt x="150314" y="9820"/>
                      <a:pt x="149428" y="8439"/>
                      <a:pt x="148580" y="6972"/>
                    </a:cubicBezTo>
                    <a:cubicBezTo>
                      <a:pt x="148139" y="6226"/>
                      <a:pt x="147725" y="5464"/>
                      <a:pt x="147342" y="4686"/>
                    </a:cubicBezTo>
                    <a:cubicBezTo>
                      <a:pt x="146628" y="3294"/>
                      <a:pt x="146078" y="1824"/>
                      <a:pt x="145704" y="305"/>
                    </a:cubicBezTo>
                    <a:cubicBezTo>
                      <a:pt x="145705" y="158"/>
                      <a:pt x="145593" y="34"/>
                      <a:pt x="145447" y="19"/>
                    </a:cubicBezTo>
                    <a:cubicBezTo>
                      <a:pt x="145381" y="0"/>
                      <a:pt x="145312" y="0"/>
                      <a:pt x="145247" y="19"/>
                    </a:cubicBezTo>
                    <a:lnTo>
                      <a:pt x="145190" y="29"/>
                    </a:lnTo>
                    <a:cubicBezTo>
                      <a:pt x="145156" y="40"/>
                      <a:pt x="145123" y="56"/>
                      <a:pt x="145094" y="76"/>
                    </a:cubicBezTo>
                    <a:lnTo>
                      <a:pt x="145142" y="0"/>
                    </a:lnTo>
                    <a:cubicBezTo>
                      <a:pt x="120520" y="14430"/>
                      <a:pt x="110309" y="39700"/>
                      <a:pt x="107690" y="55778"/>
                    </a:cubicBezTo>
                    <a:cubicBezTo>
                      <a:pt x="100079" y="56207"/>
                      <a:pt x="92623" y="58106"/>
                      <a:pt x="85735" y="61370"/>
                    </a:cubicBezTo>
                    <a:cubicBezTo>
                      <a:pt x="84433" y="62011"/>
                      <a:pt x="83828" y="63534"/>
                      <a:pt x="84334" y="64894"/>
                    </a:cubicBezTo>
                    <a:cubicBezTo>
                      <a:pt x="84877" y="66437"/>
                      <a:pt x="86620" y="67180"/>
                      <a:pt x="88106" y="66513"/>
                    </a:cubicBezTo>
                    <a:cubicBezTo>
                      <a:pt x="94117" y="63680"/>
                      <a:pt x="100603" y="61991"/>
                      <a:pt x="107232" y="61531"/>
                    </a:cubicBezTo>
                    <a:lnTo>
                      <a:pt x="107871" y="61484"/>
                    </a:lnTo>
                    <a:cubicBezTo>
                      <a:pt x="114159" y="61130"/>
                      <a:pt x="120462" y="61845"/>
                      <a:pt x="126511" y="63598"/>
                    </a:cubicBezTo>
                    <a:lnTo>
                      <a:pt x="127416" y="63884"/>
                    </a:lnTo>
                    <a:cubicBezTo>
                      <a:pt x="129411" y="64497"/>
                      <a:pt x="131370" y="65222"/>
                      <a:pt x="133283" y="66056"/>
                    </a:cubicBezTo>
                    <a:cubicBezTo>
                      <a:pt x="134045" y="66399"/>
                      <a:pt x="134807" y="66751"/>
                      <a:pt x="135550" y="67123"/>
                    </a:cubicBezTo>
                    <a:lnTo>
                      <a:pt x="136569" y="67647"/>
                    </a:lnTo>
                    <a:cubicBezTo>
                      <a:pt x="137762" y="68274"/>
                      <a:pt x="138931" y="68944"/>
                      <a:pt x="140075" y="69656"/>
                    </a:cubicBezTo>
                    <a:cubicBezTo>
                      <a:pt x="148100" y="74620"/>
                      <a:pt x="154759" y="81509"/>
                      <a:pt x="159449" y="89697"/>
                    </a:cubicBezTo>
                    <a:cubicBezTo>
                      <a:pt x="153543" y="85535"/>
                      <a:pt x="142942" y="81429"/>
                      <a:pt x="132750" y="83210"/>
                    </a:cubicBezTo>
                    <a:cubicBezTo>
                      <a:pt x="172593" y="103118"/>
                      <a:pt x="161896" y="171717"/>
                      <a:pt x="106680" y="169126"/>
                    </a:cubicBezTo>
                    <a:cubicBezTo>
                      <a:pt x="101764" y="168925"/>
                      <a:pt x="96906" y="167987"/>
                      <a:pt x="92269" y="166345"/>
                    </a:cubicBezTo>
                    <a:cubicBezTo>
                      <a:pt x="90514" y="165722"/>
                      <a:pt x="88802" y="164984"/>
                      <a:pt x="87144" y="164135"/>
                    </a:cubicBezTo>
                    <a:cubicBezTo>
                      <a:pt x="73619" y="157134"/>
                      <a:pt x="62446" y="143932"/>
                      <a:pt x="61046" y="127883"/>
                    </a:cubicBezTo>
                    <a:cubicBezTo>
                      <a:pt x="61046" y="127883"/>
                      <a:pt x="66161" y="108833"/>
                      <a:pt x="97669" y="108833"/>
                    </a:cubicBezTo>
                    <a:cubicBezTo>
                      <a:pt x="101070" y="108833"/>
                      <a:pt x="110814" y="99327"/>
                      <a:pt x="110985" y="96574"/>
                    </a:cubicBezTo>
                    <a:cubicBezTo>
                      <a:pt x="110938" y="95669"/>
                      <a:pt x="91659" y="88001"/>
                      <a:pt x="84153" y="80601"/>
                    </a:cubicBezTo>
                    <a:cubicBezTo>
                      <a:pt x="80134" y="76638"/>
                      <a:pt x="78229" y="74733"/>
                      <a:pt x="76533" y="73295"/>
                    </a:cubicBezTo>
                    <a:cubicBezTo>
                      <a:pt x="75618" y="72523"/>
                      <a:pt x="74660" y="71801"/>
                      <a:pt x="73666" y="71133"/>
                    </a:cubicBezTo>
                    <a:cubicBezTo>
                      <a:pt x="71144" y="62299"/>
                      <a:pt x="71039" y="52951"/>
                      <a:pt x="73362" y="44063"/>
                    </a:cubicBezTo>
                    <a:cubicBezTo>
                      <a:pt x="61979" y="49244"/>
                      <a:pt x="53130" y="57426"/>
                      <a:pt x="46692" y="64665"/>
                    </a:cubicBezTo>
                    <a:lnTo>
                      <a:pt x="46634" y="64665"/>
                    </a:lnTo>
                    <a:cubicBezTo>
                      <a:pt x="42253" y="59103"/>
                      <a:pt x="42558" y="40757"/>
                      <a:pt x="42805" y="36919"/>
                    </a:cubicBezTo>
                    <a:cubicBezTo>
                      <a:pt x="42748" y="36681"/>
                      <a:pt x="39538" y="38595"/>
                      <a:pt x="39100" y="38881"/>
                    </a:cubicBezTo>
                    <a:cubicBezTo>
                      <a:pt x="35233" y="41643"/>
                      <a:pt x="31604" y="44748"/>
                      <a:pt x="28280" y="48158"/>
                    </a:cubicBezTo>
                    <a:cubicBezTo>
                      <a:pt x="24498" y="51997"/>
                      <a:pt x="21041" y="56150"/>
                      <a:pt x="17945" y="60569"/>
                    </a:cubicBezTo>
                    <a:cubicBezTo>
                      <a:pt x="10821" y="70653"/>
                      <a:pt x="5764" y="82049"/>
                      <a:pt x="3067" y="94097"/>
                    </a:cubicBezTo>
                    <a:cubicBezTo>
                      <a:pt x="3038" y="94221"/>
                      <a:pt x="2019" y="98736"/>
                      <a:pt x="1257" y="104318"/>
                    </a:cubicBezTo>
                    <a:cubicBezTo>
                      <a:pt x="1133" y="105175"/>
                      <a:pt x="1010" y="106042"/>
                      <a:pt x="905" y="106909"/>
                    </a:cubicBezTo>
                    <a:cubicBezTo>
                      <a:pt x="595" y="109016"/>
                      <a:pt x="376" y="111136"/>
                      <a:pt x="248" y="113262"/>
                    </a:cubicBezTo>
                    <a:lnTo>
                      <a:pt x="229" y="113586"/>
                    </a:lnTo>
                    <a:lnTo>
                      <a:pt x="10" y="117272"/>
                    </a:lnTo>
                    <a:lnTo>
                      <a:pt x="0" y="117843"/>
                    </a:lnTo>
                    <a:cubicBezTo>
                      <a:pt x="0" y="179022"/>
                      <a:pt x="49597" y="228600"/>
                      <a:pt x="110776" y="228600"/>
                    </a:cubicBezTo>
                    <a:cubicBezTo>
                      <a:pt x="165564" y="228600"/>
                      <a:pt x="211045" y="188824"/>
                      <a:pt x="219961" y="136579"/>
                    </a:cubicBezTo>
                    <a:cubicBezTo>
                      <a:pt x="220151" y="135160"/>
                      <a:pt x="220294" y="133741"/>
                      <a:pt x="220456" y="132312"/>
                    </a:cubicBezTo>
                    <a:cubicBezTo>
                      <a:pt x="222666" y="113319"/>
                      <a:pt x="220218" y="93355"/>
                      <a:pt x="213284" y="76648"/>
                    </a:cubicBezTo>
                    <a:close/>
                  </a:path>
                </a:pathLst>
              </a:custGeom>
              <a:solidFill>
                <a:schemeClr val="accent1"/>
              </a:solidFill>
              <a:ln>
                <a:noFill/>
              </a:ln>
            </p:spPr>
          </p:sp>
          <p:sp>
            <p:nvSpPr>
              <p:cNvPr id="43" name="TextBox 43"/>
              <p:cNvSpPr txBox="1"/>
              <p:nvPr/>
            </p:nvSpPr>
            <p:spPr>
              <a:xfrm>
                <a:off x="6604254" y="3181350"/>
                <a:ext cx="145143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Firefox web browser</a:t>
                </a:r>
              </a:p>
            </p:txBody>
          </p:sp>
          <p:sp>
            <p:nvSpPr>
              <p:cNvPr id="44" name="Freeform 44"/>
              <p:cNvSpPr/>
              <p:nvPr/>
            </p:nvSpPr>
            <p:spPr>
              <a:xfrm>
                <a:off x="6286465" y="3505191"/>
                <a:ext cx="228635" cy="228609"/>
              </a:xfrm>
              <a:custGeom>
                <a:avLst/>
                <a:gdLst/>
                <a:ahLst/>
                <a:cxnLst/>
                <a:rect l="l" t="t" r="r" b="b"/>
                <a:pathLst>
                  <a:path w="228635" h="228609">
                    <a:moveTo>
                      <a:pt x="114335" y="9"/>
                    </a:moveTo>
                    <a:cubicBezTo>
                      <a:pt x="78235" y="9"/>
                      <a:pt x="46050" y="16745"/>
                      <a:pt x="25105" y="42881"/>
                    </a:cubicBezTo>
                    <a:lnTo>
                      <a:pt x="62757" y="108108"/>
                    </a:lnTo>
                    <a:cubicBezTo>
                      <a:pt x="65891" y="82000"/>
                      <a:pt x="88039" y="62351"/>
                      <a:pt x="114335" y="62350"/>
                    </a:cubicBezTo>
                    <a:lnTo>
                      <a:pt x="216167" y="62350"/>
                    </a:lnTo>
                    <a:cubicBezTo>
                      <a:pt x="196636" y="24083"/>
                      <a:pt x="157297" y="0"/>
                      <a:pt x="114335" y="9"/>
                    </a:cubicBezTo>
                    <a:close/>
                    <a:moveTo>
                      <a:pt x="18428" y="52111"/>
                    </a:moveTo>
                    <a:cubicBezTo>
                      <a:pt x="6391" y="70619"/>
                      <a:pt x="0" y="92231"/>
                      <a:pt x="35" y="114309"/>
                    </a:cubicBezTo>
                    <a:cubicBezTo>
                      <a:pt x="35" y="171573"/>
                      <a:pt x="42135" y="218998"/>
                      <a:pt x="97085" y="227314"/>
                    </a:cubicBezTo>
                    <a:lnTo>
                      <a:pt x="134737" y="162096"/>
                    </a:lnTo>
                    <a:cubicBezTo>
                      <a:pt x="110562" y="172434"/>
                      <a:pt x="82475" y="163065"/>
                      <a:pt x="69348" y="140284"/>
                    </a:cubicBezTo>
                    <a:close/>
                    <a:moveTo>
                      <a:pt x="145510" y="72742"/>
                    </a:moveTo>
                    <a:cubicBezTo>
                      <a:pt x="166567" y="88497"/>
                      <a:pt x="172502" y="117517"/>
                      <a:pt x="159321" y="140274"/>
                    </a:cubicBezTo>
                    <a:lnTo>
                      <a:pt x="159340" y="140284"/>
                    </a:lnTo>
                    <a:lnTo>
                      <a:pt x="159321" y="140284"/>
                    </a:lnTo>
                    <a:lnTo>
                      <a:pt x="108420" y="228457"/>
                    </a:lnTo>
                    <a:cubicBezTo>
                      <a:pt x="110382" y="228552"/>
                      <a:pt x="112354" y="228609"/>
                      <a:pt x="114335" y="228609"/>
                    </a:cubicBezTo>
                    <a:cubicBezTo>
                      <a:pt x="177457" y="228609"/>
                      <a:pt x="228635" y="177431"/>
                      <a:pt x="228635" y="114309"/>
                    </a:cubicBezTo>
                    <a:cubicBezTo>
                      <a:pt x="228635" y="99641"/>
                      <a:pt x="225873" y="85629"/>
                      <a:pt x="220843" y="72742"/>
                    </a:cubicBezTo>
                    <a:close/>
                    <a:moveTo>
                      <a:pt x="114335" y="155876"/>
                    </a:moveTo>
                    <a:cubicBezTo>
                      <a:pt x="91378" y="155876"/>
                      <a:pt x="72768" y="137266"/>
                      <a:pt x="72768" y="114309"/>
                    </a:cubicBezTo>
                    <a:cubicBezTo>
                      <a:pt x="72768" y="91352"/>
                      <a:pt x="91378" y="72742"/>
                      <a:pt x="114335" y="72742"/>
                    </a:cubicBezTo>
                    <a:cubicBezTo>
                      <a:pt x="137292" y="72742"/>
                      <a:pt x="155902" y="91352"/>
                      <a:pt x="155902" y="114309"/>
                    </a:cubicBezTo>
                    <a:cubicBezTo>
                      <a:pt x="155902" y="137266"/>
                      <a:pt x="137292" y="155876"/>
                      <a:pt x="114335" y="155876"/>
                    </a:cubicBezTo>
                    <a:close/>
                  </a:path>
                </a:pathLst>
              </a:custGeom>
              <a:solidFill>
                <a:schemeClr val="accent1"/>
              </a:solidFill>
              <a:ln>
                <a:noFill/>
              </a:ln>
            </p:spPr>
          </p:sp>
          <p:sp>
            <p:nvSpPr>
              <p:cNvPr id="45" name="TextBox 45"/>
              <p:cNvSpPr txBox="1"/>
              <p:nvPr/>
            </p:nvSpPr>
            <p:spPr>
              <a:xfrm>
                <a:off x="6604254" y="3524250"/>
                <a:ext cx="1539887"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Chrome web browser</a:t>
                </a:r>
              </a:p>
            </p:txBody>
          </p:sp>
          <p:sp>
            <p:nvSpPr>
              <p:cNvPr id="46" name="Freeform 46"/>
              <p:cNvSpPr/>
              <p:nvPr/>
            </p:nvSpPr>
            <p:spPr>
              <a:xfrm>
                <a:off x="8915400" y="1790700"/>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114262" y="9077"/>
                    </a:moveTo>
                    <a:lnTo>
                      <a:pt x="114319" y="9077"/>
                    </a:lnTo>
                    <a:cubicBezTo>
                      <a:pt x="114919" y="9077"/>
                      <a:pt x="115395" y="9554"/>
                      <a:pt x="115395" y="10154"/>
                    </a:cubicBezTo>
                    <a:lnTo>
                      <a:pt x="115395" y="27699"/>
                    </a:lnTo>
                    <a:cubicBezTo>
                      <a:pt x="115395" y="28299"/>
                      <a:pt x="114919" y="28775"/>
                      <a:pt x="114319" y="28775"/>
                    </a:cubicBezTo>
                    <a:lnTo>
                      <a:pt x="114262" y="28775"/>
                    </a:lnTo>
                    <a:cubicBezTo>
                      <a:pt x="113976" y="28778"/>
                      <a:pt x="113700" y="28665"/>
                      <a:pt x="113498" y="28463"/>
                    </a:cubicBezTo>
                    <a:cubicBezTo>
                      <a:pt x="113296" y="28260"/>
                      <a:pt x="113183" y="27985"/>
                      <a:pt x="113186" y="27699"/>
                    </a:cubicBezTo>
                    <a:lnTo>
                      <a:pt x="113186" y="10154"/>
                    </a:lnTo>
                    <a:cubicBezTo>
                      <a:pt x="113186" y="9554"/>
                      <a:pt x="113662" y="9077"/>
                      <a:pt x="114262" y="9077"/>
                    </a:cubicBezTo>
                    <a:close/>
                    <a:moveTo>
                      <a:pt x="105299" y="9468"/>
                    </a:moveTo>
                    <a:cubicBezTo>
                      <a:pt x="105832" y="9477"/>
                      <a:pt x="106289" y="9906"/>
                      <a:pt x="106347" y="10458"/>
                    </a:cubicBezTo>
                    <a:lnTo>
                      <a:pt x="107080" y="19202"/>
                    </a:lnTo>
                    <a:cubicBezTo>
                      <a:pt x="107124" y="19782"/>
                      <a:pt x="106696" y="20290"/>
                      <a:pt x="106118" y="20345"/>
                    </a:cubicBezTo>
                    <a:lnTo>
                      <a:pt x="106023" y="20345"/>
                    </a:lnTo>
                    <a:cubicBezTo>
                      <a:pt x="105745" y="20372"/>
                      <a:pt x="105467" y="20286"/>
                      <a:pt x="105253" y="20107"/>
                    </a:cubicBezTo>
                    <a:cubicBezTo>
                      <a:pt x="105038" y="19928"/>
                      <a:pt x="104904" y="19671"/>
                      <a:pt x="104880" y="19393"/>
                    </a:cubicBezTo>
                    <a:lnTo>
                      <a:pt x="104118" y="10639"/>
                    </a:lnTo>
                    <a:cubicBezTo>
                      <a:pt x="104074" y="10057"/>
                      <a:pt x="104507" y="9547"/>
                      <a:pt x="105089" y="9496"/>
                    </a:cubicBezTo>
                    <a:lnTo>
                      <a:pt x="105185" y="9496"/>
                    </a:lnTo>
                    <a:lnTo>
                      <a:pt x="105299" y="9468"/>
                    </a:lnTo>
                    <a:close/>
                    <a:moveTo>
                      <a:pt x="123320" y="9468"/>
                    </a:moveTo>
                    <a:lnTo>
                      <a:pt x="123492" y="9468"/>
                    </a:lnTo>
                    <a:cubicBezTo>
                      <a:pt x="124079" y="9518"/>
                      <a:pt x="124517" y="10032"/>
                      <a:pt x="124473" y="10620"/>
                    </a:cubicBezTo>
                    <a:lnTo>
                      <a:pt x="123711" y="19383"/>
                    </a:lnTo>
                    <a:cubicBezTo>
                      <a:pt x="123689" y="19664"/>
                      <a:pt x="123556" y="19925"/>
                      <a:pt x="123341" y="20107"/>
                    </a:cubicBezTo>
                    <a:cubicBezTo>
                      <a:pt x="123127" y="20289"/>
                      <a:pt x="122848" y="20379"/>
                      <a:pt x="122568" y="20355"/>
                    </a:cubicBezTo>
                    <a:lnTo>
                      <a:pt x="122482" y="20355"/>
                    </a:lnTo>
                    <a:cubicBezTo>
                      <a:pt x="122201" y="20331"/>
                      <a:pt x="121942" y="20195"/>
                      <a:pt x="121761" y="19979"/>
                    </a:cubicBezTo>
                    <a:cubicBezTo>
                      <a:pt x="121580" y="19763"/>
                      <a:pt x="121494" y="19483"/>
                      <a:pt x="121520" y="19202"/>
                    </a:cubicBezTo>
                    <a:lnTo>
                      <a:pt x="122263" y="10439"/>
                    </a:lnTo>
                    <a:cubicBezTo>
                      <a:pt x="122312" y="9891"/>
                      <a:pt x="122770" y="9471"/>
                      <a:pt x="123320" y="9468"/>
                    </a:cubicBezTo>
                    <a:close/>
                    <a:moveTo>
                      <a:pt x="96288" y="10639"/>
                    </a:moveTo>
                    <a:cubicBezTo>
                      <a:pt x="96792" y="10651"/>
                      <a:pt x="97216" y="11019"/>
                      <a:pt x="97298" y="11516"/>
                    </a:cubicBezTo>
                    <a:lnTo>
                      <a:pt x="100346" y="28832"/>
                    </a:lnTo>
                    <a:cubicBezTo>
                      <a:pt x="100441" y="29404"/>
                      <a:pt x="100060" y="29966"/>
                      <a:pt x="99489" y="30070"/>
                    </a:cubicBezTo>
                    <a:lnTo>
                      <a:pt x="99393" y="30080"/>
                    </a:lnTo>
                    <a:cubicBezTo>
                      <a:pt x="98820" y="30178"/>
                      <a:pt x="98276" y="29795"/>
                      <a:pt x="98174" y="29223"/>
                    </a:cubicBezTo>
                    <a:lnTo>
                      <a:pt x="95126" y="11906"/>
                    </a:lnTo>
                    <a:cubicBezTo>
                      <a:pt x="95076" y="11630"/>
                      <a:pt x="95139" y="11344"/>
                      <a:pt x="95300" y="11114"/>
                    </a:cubicBezTo>
                    <a:cubicBezTo>
                      <a:pt x="95460" y="10883"/>
                      <a:pt x="95707" y="10726"/>
                      <a:pt x="95983" y="10678"/>
                    </a:cubicBezTo>
                    <a:lnTo>
                      <a:pt x="96079" y="10658"/>
                    </a:lnTo>
                    <a:cubicBezTo>
                      <a:pt x="96148" y="10645"/>
                      <a:pt x="96218" y="10638"/>
                      <a:pt x="96288" y="10639"/>
                    </a:cubicBezTo>
                    <a:close/>
                    <a:moveTo>
                      <a:pt x="132331" y="10658"/>
                    </a:moveTo>
                    <a:lnTo>
                      <a:pt x="132531" y="10658"/>
                    </a:lnTo>
                    <a:lnTo>
                      <a:pt x="132607" y="10678"/>
                    </a:lnTo>
                    <a:cubicBezTo>
                      <a:pt x="133188" y="10773"/>
                      <a:pt x="133579" y="11344"/>
                      <a:pt x="133483" y="11925"/>
                    </a:cubicBezTo>
                    <a:lnTo>
                      <a:pt x="130435" y="29204"/>
                    </a:lnTo>
                    <a:cubicBezTo>
                      <a:pt x="130331" y="29794"/>
                      <a:pt x="129769" y="30166"/>
                      <a:pt x="129178" y="30061"/>
                    </a:cubicBezTo>
                    <a:lnTo>
                      <a:pt x="129130" y="30061"/>
                    </a:lnTo>
                    <a:cubicBezTo>
                      <a:pt x="128548" y="29959"/>
                      <a:pt x="128156" y="29406"/>
                      <a:pt x="128254" y="28823"/>
                    </a:cubicBezTo>
                    <a:lnTo>
                      <a:pt x="131302" y="11535"/>
                    </a:lnTo>
                    <a:cubicBezTo>
                      <a:pt x="131389" y="11033"/>
                      <a:pt x="131822" y="10665"/>
                      <a:pt x="132331" y="10658"/>
                    </a:cubicBezTo>
                    <a:close/>
                    <a:moveTo>
                      <a:pt x="87420" y="12592"/>
                    </a:moveTo>
                    <a:cubicBezTo>
                      <a:pt x="87878" y="12611"/>
                      <a:pt x="88278" y="12925"/>
                      <a:pt x="88402" y="13392"/>
                    </a:cubicBezTo>
                    <a:lnTo>
                      <a:pt x="90678" y="21898"/>
                    </a:lnTo>
                    <a:cubicBezTo>
                      <a:pt x="90757" y="22173"/>
                      <a:pt x="90721" y="22469"/>
                      <a:pt x="90580" y="22718"/>
                    </a:cubicBezTo>
                    <a:cubicBezTo>
                      <a:pt x="90438" y="22967"/>
                      <a:pt x="90202" y="23149"/>
                      <a:pt x="89926" y="23222"/>
                    </a:cubicBezTo>
                    <a:lnTo>
                      <a:pt x="89878" y="23231"/>
                    </a:lnTo>
                    <a:cubicBezTo>
                      <a:pt x="89600" y="23307"/>
                      <a:pt x="89303" y="23270"/>
                      <a:pt x="89053" y="23127"/>
                    </a:cubicBezTo>
                    <a:cubicBezTo>
                      <a:pt x="88803" y="22984"/>
                      <a:pt x="88620" y="22747"/>
                      <a:pt x="88544" y="22469"/>
                    </a:cubicBezTo>
                    <a:lnTo>
                      <a:pt x="86287" y="13954"/>
                    </a:lnTo>
                    <a:cubicBezTo>
                      <a:pt x="86208" y="13682"/>
                      <a:pt x="86243" y="13391"/>
                      <a:pt x="86383" y="13145"/>
                    </a:cubicBezTo>
                    <a:cubicBezTo>
                      <a:pt x="86523" y="12899"/>
                      <a:pt x="86756" y="12720"/>
                      <a:pt x="87030" y="12649"/>
                    </a:cubicBezTo>
                    <a:lnTo>
                      <a:pt x="87087" y="12630"/>
                    </a:lnTo>
                    <a:cubicBezTo>
                      <a:pt x="87196" y="12602"/>
                      <a:pt x="87308" y="12589"/>
                      <a:pt x="87420" y="12592"/>
                    </a:cubicBezTo>
                    <a:close/>
                    <a:moveTo>
                      <a:pt x="141180" y="12592"/>
                    </a:moveTo>
                    <a:cubicBezTo>
                      <a:pt x="141286" y="12589"/>
                      <a:pt x="141392" y="12602"/>
                      <a:pt x="141494" y="12630"/>
                    </a:cubicBezTo>
                    <a:lnTo>
                      <a:pt x="141551" y="12649"/>
                    </a:lnTo>
                    <a:cubicBezTo>
                      <a:pt x="142123" y="12802"/>
                      <a:pt x="142475" y="13402"/>
                      <a:pt x="142313" y="13973"/>
                    </a:cubicBezTo>
                    <a:lnTo>
                      <a:pt x="140027" y="22469"/>
                    </a:lnTo>
                    <a:cubicBezTo>
                      <a:pt x="139955" y="22744"/>
                      <a:pt x="139778" y="22978"/>
                      <a:pt x="139533" y="23121"/>
                    </a:cubicBezTo>
                    <a:cubicBezTo>
                      <a:pt x="139288" y="23264"/>
                      <a:pt x="138996" y="23304"/>
                      <a:pt x="138722" y="23231"/>
                    </a:cubicBezTo>
                    <a:lnTo>
                      <a:pt x="138674" y="23212"/>
                    </a:lnTo>
                    <a:cubicBezTo>
                      <a:pt x="138105" y="23055"/>
                      <a:pt x="137767" y="22470"/>
                      <a:pt x="137912" y="21898"/>
                    </a:cubicBezTo>
                    <a:lnTo>
                      <a:pt x="140198" y="13392"/>
                    </a:lnTo>
                    <a:cubicBezTo>
                      <a:pt x="140315" y="12939"/>
                      <a:pt x="140713" y="12615"/>
                      <a:pt x="141180" y="12592"/>
                    </a:cubicBezTo>
                    <a:close/>
                    <a:moveTo>
                      <a:pt x="78676" y="15307"/>
                    </a:moveTo>
                    <a:cubicBezTo>
                      <a:pt x="79131" y="15293"/>
                      <a:pt x="79543" y="15574"/>
                      <a:pt x="79696" y="16002"/>
                    </a:cubicBezTo>
                    <a:lnTo>
                      <a:pt x="85725" y="32575"/>
                    </a:lnTo>
                    <a:cubicBezTo>
                      <a:pt x="85823" y="32832"/>
                      <a:pt x="85814" y="33117"/>
                      <a:pt x="85699" y="33366"/>
                    </a:cubicBezTo>
                    <a:cubicBezTo>
                      <a:pt x="85584" y="33615"/>
                      <a:pt x="85374" y="33807"/>
                      <a:pt x="85115" y="33899"/>
                    </a:cubicBezTo>
                    <a:lnTo>
                      <a:pt x="85001" y="33947"/>
                    </a:lnTo>
                    <a:cubicBezTo>
                      <a:pt x="84459" y="34139"/>
                      <a:pt x="83865" y="33858"/>
                      <a:pt x="83668" y="33318"/>
                    </a:cubicBezTo>
                    <a:lnTo>
                      <a:pt x="77629" y="16764"/>
                    </a:lnTo>
                    <a:cubicBezTo>
                      <a:pt x="77436" y="16225"/>
                      <a:pt x="77712" y="15631"/>
                      <a:pt x="78248" y="15431"/>
                    </a:cubicBezTo>
                    <a:lnTo>
                      <a:pt x="78381" y="15383"/>
                    </a:lnTo>
                    <a:cubicBezTo>
                      <a:pt x="78472" y="15344"/>
                      <a:pt x="78569" y="15318"/>
                      <a:pt x="78667" y="15307"/>
                    </a:cubicBezTo>
                    <a:close/>
                    <a:moveTo>
                      <a:pt x="149819" y="15326"/>
                    </a:moveTo>
                    <a:cubicBezTo>
                      <a:pt x="149952" y="15326"/>
                      <a:pt x="150085" y="15335"/>
                      <a:pt x="150219" y="15383"/>
                    </a:cubicBezTo>
                    <a:lnTo>
                      <a:pt x="150333" y="15440"/>
                    </a:lnTo>
                    <a:cubicBezTo>
                      <a:pt x="150876" y="15631"/>
                      <a:pt x="151162" y="16221"/>
                      <a:pt x="150971" y="16764"/>
                    </a:cubicBezTo>
                    <a:lnTo>
                      <a:pt x="144942" y="33318"/>
                    </a:lnTo>
                    <a:cubicBezTo>
                      <a:pt x="144745" y="33858"/>
                      <a:pt x="144150" y="34139"/>
                      <a:pt x="143608" y="33947"/>
                    </a:cubicBezTo>
                    <a:lnTo>
                      <a:pt x="143485" y="33919"/>
                    </a:lnTo>
                    <a:cubicBezTo>
                      <a:pt x="142947" y="33714"/>
                      <a:pt x="142675" y="33115"/>
                      <a:pt x="142875" y="32575"/>
                    </a:cubicBezTo>
                    <a:lnTo>
                      <a:pt x="148904" y="16021"/>
                    </a:lnTo>
                    <a:cubicBezTo>
                      <a:pt x="149039" y="15625"/>
                      <a:pt x="149401" y="15350"/>
                      <a:pt x="149819" y="15326"/>
                    </a:cubicBezTo>
                    <a:close/>
                    <a:moveTo>
                      <a:pt x="70266" y="18812"/>
                    </a:moveTo>
                    <a:cubicBezTo>
                      <a:pt x="70691" y="18798"/>
                      <a:pt x="71084" y="19037"/>
                      <a:pt x="71266" y="19421"/>
                    </a:cubicBezTo>
                    <a:lnTo>
                      <a:pt x="75009" y="27403"/>
                    </a:lnTo>
                    <a:cubicBezTo>
                      <a:pt x="75252" y="27937"/>
                      <a:pt x="75018" y="28567"/>
                      <a:pt x="74486" y="28813"/>
                    </a:cubicBezTo>
                    <a:lnTo>
                      <a:pt x="74409" y="28851"/>
                    </a:lnTo>
                    <a:cubicBezTo>
                      <a:pt x="74157" y="28968"/>
                      <a:pt x="73868" y="28979"/>
                      <a:pt x="73607" y="28882"/>
                    </a:cubicBezTo>
                    <a:cubicBezTo>
                      <a:pt x="73346" y="28786"/>
                      <a:pt x="73135" y="28590"/>
                      <a:pt x="73019" y="28337"/>
                    </a:cubicBezTo>
                    <a:lnTo>
                      <a:pt x="69256" y="20355"/>
                    </a:lnTo>
                    <a:cubicBezTo>
                      <a:pt x="69137" y="20097"/>
                      <a:pt x="69125" y="19803"/>
                      <a:pt x="69223" y="19536"/>
                    </a:cubicBezTo>
                    <a:cubicBezTo>
                      <a:pt x="69321" y="19270"/>
                      <a:pt x="69522" y="19054"/>
                      <a:pt x="69780" y="18936"/>
                    </a:cubicBezTo>
                    <a:lnTo>
                      <a:pt x="69856" y="18898"/>
                    </a:lnTo>
                    <a:cubicBezTo>
                      <a:pt x="69985" y="18838"/>
                      <a:pt x="70124" y="18806"/>
                      <a:pt x="70266" y="18802"/>
                    </a:cubicBezTo>
                    <a:close/>
                    <a:moveTo>
                      <a:pt x="158334" y="18812"/>
                    </a:moveTo>
                    <a:cubicBezTo>
                      <a:pt x="158476" y="18816"/>
                      <a:pt x="158615" y="18848"/>
                      <a:pt x="158744" y="18907"/>
                    </a:cubicBezTo>
                    <a:lnTo>
                      <a:pt x="158801" y="18936"/>
                    </a:lnTo>
                    <a:cubicBezTo>
                      <a:pt x="159059" y="19053"/>
                      <a:pt x="159259" y="19271"/>
                      <a:pt x="159354" y="19538"/>
                    </a:cubicBezTo>
                    <a:cubicBezTo>
                      <a:pt x="159449" y="19806"/>
                      <a:pt x="159432" y="20101"/>
                      <a:pt x="159306" y="20355"/>
                    </a:cubicBezTo>
                    <a:lnTo>
                      <a:pt x="155581" y="28337"/>
                    </a:lnTo>
                    <a:cubicBezTo>
                      <a:pt x="155332" y="28866"/>
                      <a:pt x="154703" y="29095"/>
                      <a:pt x="154172" y="28851"/>
                    </a:cubicBezTo>
                    <a:lnTo>
                      <a:pt x="154114" y="28832"/>
                    </a:lnTo>
                    <a:cubicBezTo>
                      <a:pt x="153582" y="28586"/>
                      <a:pt x="153348" y="27956"/>
                      <a:pt x="153591" y="27422"/>
                    </a:cubicBezTo>
                    <a:lnTo>
                      <a:pt x="157334" y="19421"/>
                    </a:lnTo>
                    <a:cubicBezTo>
                      <a:pt x="157516" y="19037"/>
                      <a:pt x="157909" y="18798"/>
                      <a:pt x="158334" y="18812"/>
                    </a:cubicBezTo>
                    <a:close/>
                    <a:moveTo>
                      <a:pt x="62208" y="23003"/>
                    </a:moveTo>
                    <a:cubicBezTo>
                      <a:pt x="62589" y="22984"/>
                      <a:pt x="62970" y="23174"/>
                      <a:pt x="63179" y="23536"/>
                    </a:cubicBezTo>
                    <a:lnTo>
                      <a:pt x="71961" y="38748"/>
                    </a:lnTo>
                    <a:cubicBezTo>
                      <a:pt x="72106" y="38995"/>
                      <a:pt x="72147" y="39290"/>
                      <a:pt x="72073" y="39567"/>
                    </a:cubicBezTo>
                    <a:cubicBezTo>
                      <a:pt x="72000" y="39844"/>
                      <a:pt x="71819" y="40081"/>
                      <a:pt x="71571" y="40224"/>
                    </a:cubicBezTo>
                    <a:lnTo>
                      <a:pt x="71514" y="40243"/>
                    </a:lnTo>
                    <a:cubicBezTo>
                      <a:pt x="71001" y="40539"/>
                      <a:pt x="70345" y="40364"/>
                      <a:pt x="70047" y="39853"/>
                    </a:cubicBezTo>
                    <a:lnTo>
                      <a:pt x="61265" y="24632"/>
                    </a:lnTo>
                    <a:cubicBezTo>
                      <a:pt x="60968" y="24121"/>
                      <a:pt x="61138" y="23466"/>
                      <a:pt x="61646" y="23165"/>
                    </a:cubicBezTo>
                    <a:lnTo>
                      <a:pt x="61712" y="23146"/>
                    </a:lnTo>
                    <a:cubicBezTo>
                      <a:pt x="61862" y="23054"/>
                      <a:pt x="62033" y="23002"/>
                      <a:pt x="62208" y="22993"/>
                    </a:cubicBezTo>
                    <a:close/>
                    <a:moveTo>
                      <a:pt x="166411" y="23012"/>
                    </a:moveTo>
                    <a:cubicBezTo>
                      <a:pt x="166583" y="23012"/>
                      <a:pt x="166745" y="23050"/>
                      <a:pt x="166907" y="23146"/>
                    </a:cubicBezTo>
                    <a:lnTo>
                      <a:pt x="166945" y="23165"/>
                    </a:lnTo>
                    <a:cubicBezTo>
                      <a:pt x="167194" y="23310"/>
                      <a:pt x="167375" y="23548"/>
                      <a:pt x="167448" y="23827"/>
                    </a:cubicBezTo>
                    <a:cubicBezTo>
                      <a:pt x="167521" y="24106"/>
                      <a:pt x="167481" y="24402"/>
                      <a:pt x="167335" y="24651"/>
                    </a:cubicBezTo>
                    <a:lnTo>
                      <a:pt x="158544" y="39853"/>
                    </a:lnTo>
                    <a:cubicBezTo>
                      <a:pt x="158397" y="40103"/>
                      <a:pt x="158156" y="40283"/>
                      <a:pt x="157875" y="40355"/>
                    </a:cubicBezTo>
                    <a:cubicBezTo>
                      <a:pt x="157594" y="40427"/>
                      <a:pt x="157297" y="40383"/>
                      <a:pt x="157048" y="40234"/>
                    </a:cubicBezTo>
                    <a:lnTo>
                      <a:pt x="157010" y="40224"/>
                    </a:lnTo>
                    <a:cubicBezTo>
                      <a:pt x="156761" y="40081"/>
                      <a:pt x="156581" y="39844"/>
                      <a:pt x="156509" y="39566"/>
                    </a:cubicBezTo>
                    <a:cubicBezTo>
                      <a:pt x="156438" y="39288"/>
                      <a:pt x="156481" y="38993"/>
                      <a:pt x="156629" y="38748"/>
                    </a:cubicBezTo>
                    <a:lnTo>
                      <a:pt x="165440" y="23555"/>
                    </a:lnTo>
                    <a:cubicBezTo>
                      <a:pt x="165638" y="23208"/>
                      <a:pt x="166012" y="22999"/>
                      <a:pt x="166411" y="23012"/>
                    </a:cubicBezTo>
                    <a:close/>
                    <a:moveTo>
                      <a:pt x="54569" y="27908"/>
                    </a:moveTo>
                    <a:cubicBezTo>
                      <a:pt x="54920" y="27899"/>
                      <a:pt x="55253" y="28067"/>
                      <a:pt x="55455" y="28356"/>
                    </a:cubicBezTo>
                    <a:lnTo>
                      <a:pt x="60522" y="35528"/>
                    </a:lnTo>
                    <a:cubicBezTo>
                      <a:pt x="60688" y="35764"/>
                      <a:pt x="60753" y="36057"/>
                      <a:pt x="60703" y="36341"/>
                    </a:cubicBezTo>
                    <a:cubicBezTo>
                      <a:pt x="60653" y="36625"/>
                      <a:pt x="60492" y="36878"/>
                      <a:pt x="60255" y="37043"/>
                    </a:cubicBezTo>
                    <a:lnTo>
                      <a:pt x="60217" y="37062"/>
                    </a:lnTo>
                    <a:cubicBezTo>
                      <a:pt x="59727" y="37401"/>
                      <a:pt x="59056" y="37282"/>
                      <a:pt x="58712" y="36795"/>
                    </a:cubicBezTo>
                    <a:lnTo>
                      <a:pt x="53654" y="29632"/>
                    </a:lnTo>
                    <a:cubicBezTo>
                      <a:pt x="53313" y="29145"/>
                      <a:pt x="53428" y="28474"/>
                      <a:pt x="53911" y="28127"/>
                    </a:cubicBezTo>
                    <a:lnTo>
                      <a:pt x="53969" y="28108"/>
                    </a:lnTo>
                    <a:cubicBezTo>
                      <a:pt x="54144" y="27983"/>
                      <a:pt x="54353" y="27913"/>
                      <a:pt x="54569" y="27908"/>
                    </a:cubicBezTo>
                    <a:close/>
                    <a:moveTo>
                      <a:pt x="174031" y="27908"/>
                    </a:moveTo>
                    <a:cubicBezTo>
                      <a:pt x="174246" y="27909"/>
                      <a:pt x="174456" y="27975"/>
                      <a:pt x="174631" y="28099"/>
                    </a:cubicBezTo>
                    <a:lnTo>
                      <a:pt x="174689" y="28127"/>
                    </a:lnTo>
                    <a:cubicBezTo>
                      <a:pt x="175170" y="28467"/>
                      <a:pt x="175285" y="29132"/>
                      <a:pt x="174946" y="29613"/>
                    </a:cubicBezTo>
                    <a:lnTo>
                      <a:pt x="169888" y="36814"/>
                    </a:lnTo>
                    <a:cubicBezTo>
                      <a:pt x="169726" y="37047"/>
                      <a:pt x="169479" y="37205"/>
                      <a:pt x="169200" y="37255"/>
                    </a:cubicBezTo>
                    <a:cubicBezTo>
                      <a:pt x="168922" y="37306"/>
                      <a:pt x="168634" y="37243"/>
                      <a:pt x="168402" y="37081"/>
                    </a:cubicBezTo>
                    <a:lnTo>
                      <a:pt x="168345" y="37043"/>
                    </a:lnTo>
                    <a:cubicBezTo>
                      <a:pt x="168110" y="36881"/>
                      <a:pt x="167949" y="36632"/>
                      <a:pt x="167899" y="36351"/>
                    </a:cubicBezTo>
                    <a:cubicBezTo>
                      <a:pt x="167849" y="36070"/>
                      <a:pt x="167913" y="35780"/>
                      <a:pt x="168078" y="35547"/>
                    </a:cubicBezTo>
                    <a:lnTo>
                      <a:pt x="173145" y="28356"/>
                    </a:lnTo>
                    <a:cubicBezTo>
                      <a:pt x="173347" y="28067"/>
                      <a:pt x="173680" y="27899"/>
                      <a:pt x="174031" y="27908"/>
                    </a:cubicBezTo>
                    <a:close/>
                    <a:moveTo>
                      <a:pt x="181146" y="33414"/>
                    </a:moveTo>
                    <a:cubicBezTo>
                      <a:pt x="181425" y="33395"/>
                      <a:pt x="181699" y="33487"/>
                      <a:pt x="181908" y="33671"/>
                    </a:cubicBezTo>
                    <a:lnTo>
                      <a:pt x="181966" y="33709"/>
                    </a:lnTo>
                    <a:cubicBezTo>
                      <a:pt x="182413" y="34090"/>
                      <a:pt x="182470" y="34766"/>
                      <a:pt x="182089" y="35214"/>
                    </a:cubicBezTo>
                    <a:lnTo>
                      <a:pt x="170802" y="48673"/>
                    </a:lnTo>
                    <a:cubicBezTo>
                      <a:pt x="170627" y="48895"/>
                      <a:pt x="170369" y="49036"/>
                      <a:pt x="170087" y="49065"/>
                    </a:cubicBezTo>
                    <a:cubicBezTo>
                      <a:pt x="169805" y="49094"/>
                      <a:pt x="169524" y="49007"/>
                      <a:pt x="169307" y="48825"/>
                    </a:cubicBezTo>
                    <a:lnTo>
                      <a:pt x="169259" y="48768"/>
                    </a:lnTo>
                    <a:cubicBezTo>
                      <a:pt x="169043" y="48590"/>
                      <a:pt x="168907" y="48332"/>
                      <a:pt x="168882" y="48053"/>
                    </a:cubicBezTo>
                    <a:cubicBezTo>
                      <a:pt x="168857" y="47774"/>
                      <a:pt x="168945" y="47496"/>
                      <a:pt x="169126" y="47282"/>
                    </a:cubicBezTo>
                    <a:lnTo>
                      <a:pt x="180413" y="33814"/>
                    </a:lnTo>
                    <a:cubicBezTo>
                      <a:pt x="180596" y="33591"/>
                      <a:pt x="180860" y="33451"/>
                      <a:pt x="181146" y="33423"/>
                    </a:cubicBezTo>
                    <a:close/>
                    <a:moveTo>
                      <a:pt x="47473" y="33433"/>
                    </a:moveTo>
                    <a:cubicBezTo>
                      <a:pt x="47757" y="33451"/>
                      <a:pt x="48022" y="33586"/>
                      <a:pt x="48206" y="33804"/>
                    </a:cubicBezTo>
                    <a:lnTo>
                      <a:pt x="59474" y="47244"/>
                    </a:lnTo>
                    <a:cubicBezTo>
                      <a:pt x="59656" y="47461"/>
                      <a:pt x="59745" y="47742"/>
                      <a:pt x="59720" y="48024"/>
                    </a:cubicBezTo>
                    <a:cubicBezTo>
                      <a:pt x="59695" y="48307"/>
                      <a:pt x="59558" y="48567"/>
                      <a:pt x="59341" y="48749"/>
                    </a:cubicBezTo>
                    <a:lnTo>
                      <a:pt x="59312" y="48787"/>
                    </a:lnTo>
                    <a:cubicBezTo>
                      <a:pt x="59095" y="48972"/>
                      <a:pt x="58812" y="49063"/>
                      <a:pt x="58527" y="49037"/>
                    </a:cubicBezTo>
                    <a:cubicBezTo>
                      <a:pt x="58242" y="49012"/>
                      <a:pt x="57980" y="48874"/>
                      <a:pt x="57798" y="48654"/>
                    </a:cubicBezTo>
                    <a:lnTo>
                      <a:pt x="46511" y="35214"/>
                    </a:lnTo>
                    <a:cubicBezTo>
                      <a:pt x="46327" y="34998"/>
                      <a:pt x="46237" y="34718"/>
                      <a:pt x="46260" y="34436"/>
                    </a:cubicBezTo>
                    <a:cubicBezTo>
                      <a:pt x="46284" y="34153"/>
                      <a:pt x="46418" y="33892"/>
                      <a:pt x="46634" y="33709"/>
                    </a:cubicBezTo>
                    <a:lnTo>
                      <a:pt x="46692" y="33671"/>
                    </a:lnTo>
                    <a:cubicBezTo>
                      <a:pt x="46910" y="33490"/>
                      <a:pt x="47191" y="33404"/>
                      <a:pt x="47473" y="33433"/>
                    </a:cubicBezTo>
                    <a:close/>
                    <a:moveTo>
                      <a:pt x="40672" y="39529"/>
                    </a:moveTo>
                    <a:cubicBezTo>
                      <a:pt x="40929" y="39529"/>
                      <a:pt x="41196" y="39624"/>
                      <a:pt x="41396" y="39834"/>
                    </a:cubicBezTo>
                    <a:lnTo>
                      <a:pt x="47663" y="46120"/>
                    </a:lnTo>
                    <a:cubicBezTo>
                      <a:pt x="47856" y="46311"/>
                      <a:pt x="47965" y="46572"/>
                      <a:pt x="47965" y="46844"/>
                    </a:cubicBezTo>
                    <a:cubicBezTo>
                      <a:pt x="47965" y="47116"/>
                      <a:pt x="47856" y="47376"/>
                      <a:pt x="47663" y="47568"/>
                    </a:cubicBezTo>
                    <a:lnTo>
                      <a:pt x="47568" y="47663"/>
                    </a:lnTo>
                    <a:cubicBezTo>
                      <a:pt x="47376" y="47856"/>
                      <a:pt x="47116" y="47965"/>
                      <a:pt x="46844" y="47965"/>
                    </a:cubicBezTo>
                    <a:cubicBezTo>
                      <a:pt x="46572" y="47965"/>
                      <a:pt x="46311" y="47856"/>
                      <a:pt x="46120" y="47663"/>
                    </a:cubicBezTo>
                    <a:lnTo>
                      <a:pt x="39834" y="41396"/>
                    </a:lnTo>
                    <a:cubicBezTo>
                      <a:pt x="39428" y="40987"/>
                      <a:pt x="39428" y="40328"/>
                      <a:pt x="39834" y="39919"/>
                    </a:cubicBezTo>
                    <a:lnTo>
                      <a:pt x="39929" y="39824"/>
                    </a:lnTo>
                    <a:cubicBezTo>
                      <a:pt x="40130" y="39636"/>
                      <a:pt x="40396" y="39533"/>
                      <a:pt x="40672" y="39538"/>
                    </a:cubicBezTo>
                    <a:close/>
                    <a:moveTo>
                      <a:pt x="187947" y="39529"/>
                    </a:moveTo>
                    <a:cubicBezTo>
                      <a:pt x="188214" y="39529"/>
                      <a:pt x="188471" y="39624"/>
                      <a:pt x="188681" y="39834"/>
                    </a:cubicBezTo>
                    <a:lnTo>
                      <a:pt x="188747" y="39900"/>
                    </a:lnTo>
                    <a:cubicBezTo>
                      <a:pt x="188945" y="40095"/>
                      <a:pt x="189056" y="40361"/>
                      <a:pt x="189056" y="40638"/>
                    </a:cubicBezTo>
                    <a:cubicBezTo>
                      <a:pt x="189056" y="40916"/>
                      <a:pt x="188945" y="41182"/>
                      <a:pt x="188747" y="41377"/>
                    </a:cubicBezTo>
                    <a:lnTo>
                      <a:pt x="182480" y="47663"/>
                    </a:lnTo>
                    <a:cubicBezTo>
                      <a:pt x="182075" y="48068"/>
                      <a:pt x="181418" y="48068"/>
                      <a:pt x="181013" y="47663"/>
                    </a:cubicBezTo>
                    <a:lnTo>
                      <a:pt x="180937" y="47587"/>
                    </a:lnTo>
                    <a:cubicBezTo>
                      <a:pt x="180532" y="47182"/>
                      <a:pt x="180532" y="46525"/>
                      <a:pt x="180937" y="46120"/>
                    </a:cubicBezTo>
                    <a:lnTo>
                      <a:pt x="187204" y="39834"/>
                    </a:lnTo>
                    <a:cubicBezTo>
                      <a:pt x="187402" y="39637"/>
                      <a:pt x="187669" y="39528"/>
                      <a:pt x="187947" y="39529"/>
                    </a:cubicBezTo>
                    <a:close/>
                    <a:moveTo>
                      <a:pt x="194681" y="45815"/>
                    </a:moveTo>
                    <a:cubicBezTo>
                      <a:pt x="195043" y="45815"/>
                      <a:pt x="195358" y="46006"/>
                      <a:pt x="195558" y="46530"/>
                    </a:cubicBezTo>
                    <a:cubicBezTo>
                      <a:pt x="195705" y="46912"/>
                      <a:pt x="195620" y="47346"/>
                      <a:pt x="195339" y="47644"/>
                    </a:cubicBezTo>
                    <a:lnTo>
                      <a:pt x="122892" y="124606"/>
                    </a:lnTo>
                    <a:cubicBezTo>
                      <a:pt x="93516" y="143885"/>
                      <a:pt x="64322" y="163087"/>
                      <a:pt x="35052" y="182232"/>
                    </a:cubicBezTo>
                    <a:cubicBezTo>
                      <a:pt x="34309" y="182718"/>
                      <a:pt x="33433" y="183013"/>
                      <a:pt x="33042" y="181966"/>
                    </a:cubicBezTo>
                    <a:cubicBezTo>
                      <a:pt x="32891" y="181580"/>
                      <a:pt x="32976" y="181142"/>
                      <a:pt x="33261" y="180842"/>
                    </a:cubicBezTo>
                    <a:lnTo>
                      <a:pt x="105594" y="103880"/>
                    </a:lnTo>
                    <a:cubicBezTo>
                      <a:pt x="134969" y="84611"/>
                      <a:pt x="164278" y="65408"/>
                      <a:pt x="193548" y="46263"/>
                    </a:cubicBezTo>
                    <a:cubicBezTo>
                      <a:pt x="193884" y="46019"/>
                      <a:pt x="194278" y="45867"/>
                      <a:pt x="194691" y="45825"/>
                    </a:cubicBezTo>
                    <a:close/>
                    <a:moveTo>
                      <a:pt x="34433" y="46244"/>
                    </a:moveTo>
                    <a:cubicBezTo>
                      <a:pt x="34710" y="46221"/>
                      <a:pt x="34984" y="46310"/>
                      <a:pt x="35195" y="46492"/>
                    </a:cubicBezTo>
                    <a:lnTo>
                      <a:pt x="48682" y="57798"/>
                    </a:lnTo>
                    <a:cubicBezTo>
                      <a:pt x="48902" y="57976"/>
                      <a:pt x="49039" y="58236"/>
                      <a:pt x="49065" y="58517"/>
                    </a:cubicBezTo>
                    <a:cubicBezTo>
                      <a:pt x="49090" y="58799"/>
                      <a:pt x="49000" y="59079"/>
                      <a:pt x="48816" y="59293"/>
                    </a:cubicBezTo>
                    <a:lnTo>
                      <a:pt x="48758" y="59341"/>
                    </a:lnTo>
                    <a:cubicBezTo>
                      <a:pt x="48580" y="59557"/>
                      <a:pt x="48323" y="59693"/>
                      <a:pt x="48043" y="59718"/>
                    </a:cubicBezTo>
                    <a:cubicBezTo>
                      <a:pt x="47764" y="59743"/>
                      <a:pt x="47487" y="59655"/>
                      <a:pt x="47273" y="59474"/>
                    </a:cubicBezTo>
                    <a:lnTo>
                      <a:pt x="33804" y="48168"/>
                    </a:lnTo>
                    <a:cubicBezTo>
                      <a:pt x="33588" y="47991"/>
                      <a:pt x="33453" y="47735"/>
                      <a:pt x="33428" y="47458"/>
                    </a:cubicBezTo>
                    <a:cubicBezTo>
                      <a:pt x="33403" y="47180"/>
                      <a:pt x="33490" y="46904"/>
                      <a:pt x="33671" y="46692"/>
                    </a:cubicBezTo>
                    <a:lnTo>
                      <a:pt x="33728" y="46625"/>
                    </a:lnTo>
                    <a:cubicBezTo>
                      <a:pt x="33902" y="46408"/>
                      <a:pt x="34156" y="46270"/>
                      <a:pt x="34433" y="46244"/>
                    </a:cubicBezTo>
                    <a:close/>
                    <a:moveTo>
                      <a:pt x="199558" y="53445"/>
                    </a:moveTo>
                    <a:cubicBezTo>
                      <a:pt x="199901" y="53445"/>
                      <a:pt x="200244" y="53607"/>
                      <a:pt x="200454" y="53921"/>
                    </a:cubicBezTo>
                    <a:lnTo>
                      <a:pt x="200492" y="53950"/>
                    </a:lnTo>
                    <a:cubicBezTo>
                      <a:pt x="200831" y="54439"/>
                      <a:pt x="200712" y="55111"/>
                      <a:pt x="200225" y="55455"/>
                    </a:cubicBezTo>
                    <a:lnTo>
                      <a:pt x="193053" y="60503"/>
                    </a:lnTo>
                    <a:cubicBezTo>
                      <a:pt x="192820" y="60668"/>
                      <a:pt x="192530" y="60732"/>
                      <a:pt x="192249" y="60682"/>
                    </a:cubicBezTo>
                    <a:cubicBezTo>
                      <a:pt x="191968" y="60632"/>
                      <a:pt x="191719" y="60471"/>
                      <a:pt x="191557" y="60236"/>
                    </a:cubicBezTo>
                    <a:lnTo>
                      <a:pt x="191519" y="60198"/>
                    </a:lnTo>
                    <a:cubicBezTo>
                      <a:pt x="191180" y="59708"/>
                      <a:pt x="191299" y="59037"/>
                      <a:pt x="191786" y="58693"/>
                    </a:cubicBezTo>
                    <a:lnTo>
                      <a:pt x="198968" y="53645"/>
                    </a:lnTo>
                    <a:cubicBezTo>
                      <a:pt x="199142" y="53525"/>
                      <a:pt x="199347" y="53458"/>
                      <a:pt x="199558" y="53454"/>
                    </a:cubicBezTo>
                    <a:close/>
                    <a:moveTo>
                      <a:pt x="29023" y="53464"/>
                    </a:moveTo>
                    <a:cubicBezTo>
                      <a:pt x="29213" y="53464"/>
                      <a:pt x="29423" y="53531"/>
                      <a:pt x="29594" y="53654"/>
                    </a:cubicBezTo>
                    <a:lnTo>
                      <a:pt x="36833" y="58712"/>
                    </a:lnTo>
                    <a:cubicBezTo>
                      <a:pt x="37309" y="59045"/>
                      <a:pt x="37405" y="59693"/>
                      <a:pt x="37081" y="60160"/>
                    </a:cubicBezTo>
                    <a:lnTo>
                      <a:pt x="37024" y="60255"/>
                    </a:lnTo>
                    <a:cubicBezTo>
                      <a:pt x="36864" y="60483"/>
                      <a:pt x="36621" y="60637"/>
                      <a:pt x="36347" y="60684"/>
                    </a:cubicBezTo>
                    <a:cubicBezTo>
                      <a:pt x="36073" y="60730"/>
                      <a:pt x="35792" y="60665"/>
                      <a:pt x="35566" y="60503"/>
                    </a:cubicBezTo>
                    <a:lnTo>
                      <a:pt x="28327" y="55435"/>
                    </a:lnTo>
                    <a:cubicBezTo>
                      <a:pt x="27862" y="55101"/>
                      <a:pt x="27756" y="54453"/>
                      <a:pt x="28089" y="53988"/>
                    </a:cubicBezTo>
                    <a:lnTo>
                      <a:pt x="28146" y="53892"/>
                    </a:lnTo>
                    <a:cubicBezTo>
                      <a:pt x="28348" y="53611"/>
                      <a:pt x="28677" y="53450"/>
                      <a:pt x="29023" y="53464"/>
                    </a:cubicBezTo>
                    <a:close/>
                    <a:moveTo>
                      <a:pt x="24146" y="61112"/>
                    </a:moveTo>
                    <a:cubicBezTo>
                      <a:pt x="24317" y="61112"/>
                      <a:pt x="24489" y="61170"/>
                      <a:pt x="24651" y="61265"/>
                    </a:cubicBezTo>
                    <a:lnTo>
                      <a:pt x="39853" y="70056"/>
                    </a:lnTo>
                    <a:cubicBezTo>
                      <a:pt x="40098" y="70198"/>
                      <a:pt x="40276" y="70431"/>
                      <a:pt x="40348" y="70705"/>
                    </a:cubicBezTo>
                    <a:cubicBezTo>
                      <a:pt x="40420" y="70979"/>
                      <a:pt x="40378" y="71270"/>
                      <a:pt x="40234" y="71514"/>
                    </a:cubicBezTo>
                    <a:lnTo>
                      <a:pt x="40205" y="71571"/>
                    </a:lnTo>
                    <a:cubicBezTo>
                      <a:pt x="40064" y="71816"/>
                      <a:pt x="39830" y="71995"/>
                      <a:pt x="39556" y="72066"/>
                    </a:cubicBezTo>
                    <a:cubicBezTo>
                      <a:pt x="39282" y="72138"/>
                      <a:pt x="38991" y="72097"/>
                      <a:pt x="38748" y="71952"/>
                    </a:cubicBezTo>
                    <a:lnTo>
                      <a:pt x="23555" y="63151"/>
                    </a:lnTo>
                    <a:cubicBezTo>
                      <a:pt x="23311" y="63011"/>
                      <a:pt x="23132" y="62780"/>
                      <a:pt x="23059" y="62508"/>
                    </a:cubicBezTo>
                    <a:cubicBezTo>
                      <a:pt x="22986" y="62236"/>
                      <a:pt x="23024" y="61947"/>
                      <a:pt x="23165" y="61703"/>
                    </a:cubicBezTo>
                    <a:lnTo>
                      <a:pt x="23203" y="61646"/>
                    </a:lnTo>
                    <a:cubicBezTo>
                      <a:pt x="23398" y="61307"/>
                      <a:pt x="23765" y="61105"/>
                      <a:pt x="24155" y="61122"/>
                    </a:cubicBezTo>
                    <a:close/>
                    <a:moveTo>
                      <a:pt x="204473" y="61112"/>
                    </a:moveTo>
                    <a:cubicBezTo>
                      <a:pt x="204864" y="61096"/>
                      <a:pt x="205231" y="61298"/>
                      <a:pt x="205426" y="61636"/>
                    </a:cubicBezTo>
                    <a:lnTo>
                      <a:pt x="205435" y="61674"/>
                    </a:lnTo>
                    <a:cubicBezTo>
                      <a:pt x="205732" y="62185"/>
                      <a:pt x="205562" y="62840"/>
                      <a:pt x="205054" y="63141"/>
                    </a:cubicBezTo>
                    <a:lnTo>
                      <a:pt x="189852" y="71961"/>
                    </a:lnTo>
                    <a:cubicBezTo>
                      <a:pt x="189605" y="72106"/>
                      <a:pt x="189310" y="72147"/>
                      <a:pt x="189033" y="72073"/>
                    </a:cubicBezTo>
                    <a:cubicBezTo>
                      <a:pt x="188756" y="72000"/>
                      <a:pt x="188519" y="71819"/>
                      <a:pt x="188376" y="71571"/>
                    </a:cubicBezTo>
                    <a:lnTo>
                      <a:pt x="188357" y="71533"/>
                    </a:lnTo>
                    <a:cubicBezTo>
                      <a:pt x="188212" y="71285"/>
                      <a:pt x="188172" y="70990"/>
                      <a:pt x="188245" y="70713"/>
                    </a:cubicBezTo>
                    <a:cubicBezTo>
                      <a:pt x="188318" y="70436"/>
                      <a:pt x="188499" y="70200"/>
                      <a:pt x="188747" y="70056"/>
                    </a:cubicBezTo>
                    <a:lnTo>
                      <a:pt x="203949" y="61246"/>
                    </a:lnTo>
                    <a:cubicBezTo>
                      <a:pt x="204110" y="61158"/>
                      <a:pt x="204290" y="61112"/>
                      <a:pt x="204473" y="61112"/>
                    </a:cubicBezTo>
                    <a:close/>
                    <a:moveTo>
                      <a:pt x="19945" y="69171"/>
                    </a:moveTo>
                    <a:cubicBezTo>
                      <a:pt x="20079" y="69171"/>
                      <a:pt x="20222" y="69199"/>
                      <a:pt x="20355" y="69266"/>
                    </a:cubicBezTo>
                    <a:lnTo>
                      <a:pt x="28337" y="73000"/>
                    </a:lnTo>
                    <a:cubicBezTo>
                      <a:pt x="28589" y="73119"/>
                      <a:pt x="28783" y="73334"/>
                      <a:pt x="28875" y="73597"/>
                    </a:cubicBezTo>
                    <a:cubicBezTo>
                      <a:pt x="28968" y="73860"/>
                      <a:pt x="28953" y="74149"/>
                      <a:pt x="28832" y="74400"/>
                    </a:cubicBezTo>
                    <a:lnTo>
                      <a:pt x="28794" y="74495"/>
                    </a:lnTo>
                    <a:cubicBezTo>
                      <a:pt x="28545" y="75014"/>
                      <a:pt x="27924" y="75235"/>
                      <a:pt x="27403" y="74990"/>
                    </a:cubicBezTo>
                    <a:lnTo>
                      <a:pt x="19421" y="71247"/>
                    </a:lnTo>
                    <a:cubicBezTo>
                      <a:pt x="18899" y="71002"/>
                      <a:pt x="18673" y="70380"/>
                      <a:pt x="18917" y="69856"/>
                    </a:cubicBezTo>
                    <a:lnTo>
                      <a:pt x="18955" y="69761"/>
                    </a:lnTo>
                    <a:cubicBezTo>
                      <a:pt x="19135" y="69382"/>
                      <a:pt x="19526" y="69149"/>
                      <a:pt x="19945" y="69171"/>
                    </a:cubicBezTo>
                    <a:close/>
                    <a:moveTo>
                      <a:pt x="208636" y="69190"/>
                    </a:moveTo>
                    <a:cubicBezTo>
                      <a:pt x="209061" y="69163"/>
                      <a:pt x="209460" y="69396"/>
                      <a:pt x="209645" y="69780"/>
                    </a:cubicBezTo>
                    <a:lnTo>
                      <a:pt x="209664" y="69856"/>
                    </a:lnTo>
                    <a:cubicBezTo>
                      <a:pt x="209908" y="70380"/>
                      <a:pt x="209682" y="71002"/>
                      <a:pt x="209159" y="71247"/>
                    </a:cubicBezTo>
                    <a:lnTo>
                      <a:pt x="201178" y="74990"/>
                    </a:lnTo>
                    <a:cubicBezTo>
                      <a:pt x="200654" y="75234"/>
                      <a:pt x="200032" y="75008"/>
                      <a:pt x="199787" y="74485"/>
                    </a:cubicBezTo>
                    <a:lnTo>
                      <a:pt x="199749" y="74409"/>
                    </a:lnTo>
                    <a:cubicBezTo>
                      <a:pt x="199504" y="73888"/>
                      <a:pt x="199725" y="73267"/>
                      <a:pt x="200244" y="73019"/>
                    </a:cubicBezTo>
                    <a:lnTo>
                      <a:pt x="208226" y="69275"/>
                    </a:lnTo>
                    <a:cubicBezTo>
                      <a:pt x="208355" y="69216"/>
                      <a:pt x="208494" y="69184"/>
                      <a:pt x="208636" y="69180"/>
                    </a:cubicBezTo>
                    <a:close/>
                    <a:moveTo>
                      <a:pt x="16393" y="77572"/>
                    </a:moveTo>
                    <a:cubicBezTo>
                      <a:pt x="16526" y="77572"/>
                      <a:pt x="16659" y="77581"/>
                      <a:pt x="16802" y="77629"/>
                    </a:cubicBezTo>
                    <a:lnTo>
                      <a:pt x="33299" y="83639"/>
                    </a:lnTo>
                    <a:cubicBezTo>
                      <a:pt x="33569" y="83736"/>
                      <a:pt x="33788" y="83936"/>
                      <a:pt x="33908" y="84196"/>
                    </a:cubicBezTo>
                    <a:cubicBezTo>
                      <a:pt x="34028" y="84456"/>
                      <a:pt x="34039" y="84753"/>
                      <a:pt x="33938" y="85020"/>
                    </a:cubicBezTo>
                    <a:lnTo>
                      <a:pt x="33919" y="85077"/>
                    </a:lnTo>
                    <a:cubicBezTo>
                      <a:pt x="33824" y="85344"/>
                      <a:pt x="33626" y="85560"/>
                      <a:pt x="33370" y="85679"/>
                    </a:cubicBezTo>
                    <a:cubicBezTo>
                      <a:pt x="33114" y="85797"/>
                      <a:pt x="32820" y="85807"/>
                      <a:pt x="32556" y="85706"/>
                    </a:cubicBezTo>
                    <a:lnTo>
                      <a:pt x="16059" y="79705"/>
                    </a:lnTo>
                    <a:cubicBezTo>
                      <a:pt x="15788" y="79610"/>
                      <a:pt x="15566" y="79411"/>
                      <a:pt x="15443" y="79152"/>
                    </a:cubicBezTo>
                    <a:cubicBezTo>
                      <a:pt x="15319" y="78892"/>
                      <a:pt x="15304" y="78594"/>
                      <a:pt x="15402" y="78324"/>
                    </a:cubicBezTo>
                    <a:lnTo>
                      <a:pt x="15421" y="78286"/>
                    </a:lnTo>
                    <a:cubicBezTo>
                      <a:pt x="15576" y="77879"/>
                      <a:pt x="15957" y="77602"/>
                      <a:pt x="16393" y="77581"/>
                    </a:cubicBezTo>
                    <a:close/>
                    <a:moveTo>
                      <a:pt x="212122" y="77572"/>
                    </a:moveTo>
                    <a:cubicBezTo>
                      <a:pt x="212589" y="77557"/>
                      <a:pt x="213012" y="77846"/>
                      <a:pt x="213169" y="78286"/>
                    </a:cubicBezTo>
                    <a:lnTo>
                      <a:pt x="213198" y="78324"/>
                    </a:lnTo>
                    <a:cubicBezTo>
                      <a:pt x="213396" y="78889"/>
                      <a:pt x="213103" y="79509"/>
                      <a:pt x="212541" y="79715"/>
                    </a:cubicBezTo>
                    <a:lnTo>
                      <a:pt x="196044" y="85706"/>
                    </a:lnTo>
                    <a:cubicBezTo>
                      <a:pt x="195777" y="85807"/>
                      <a:pt x="195481" y="85798"/>
                      <a:pt x="195222" y="85680"/>
                    </a:cubicBezTo>
                    <a:cubicBezTo>
                      <a:pt x="194962" y="85562"/>
                      <a:pt x="194761" y="85345"/>
                      <a:pt x="194662" y="85077"/>
                    </a:cubicBezTo>
                    <a:lnTo>
                      <a:pt x="194653" y="85020"/>
                    </a:lnTo>
                    <a:cubicBezTo>
                      <a:pt x="194555" y="84751"/>
                      <a:pt x="194568" y="84454"/>
                      <a:pt x="194690" y="84195"/>
                    </a:cubicBezTo>
                    <a:cubicBezTo>
                      <a:pt x="194811" y="83936"/>
                      <a:pt x="195031" y="83736"/>
                      <a:pt x="195301" y="83639"/>
                    </a:cubicBezTo>
                    <a:lnTo>
                      <a:pt x="211798" y="77638"/>
                    </a:lnTo>
                    <a:cubicBezTo>
                      <a:pt x="211902" y="77602"/>
                      <a:pt x="212011" y="77583"/>
                      <a:pt x="212122" y="77581"/>
                    </a:cubicBezTo>
                    <a:close/>
                    <a:moveTo>
                      <a:pt x="13659" y="86230"/>
                    </a:moveTo>
                    <a:cubicBezTo>
                      <a:pt x="13765" y="86227"/>
                      <a:pt x="13871" y="86239"/>
                      <a:pt x="13973" y="86268"/>
                    </a:cubicBezTo>
                    <a:lnTo>
                      <a:pt x="22469" y="88554"/>
                    </a:lnTo>
                    <a:cubicBezTo>
                      <a:pt x="23041" y="88706"/>
                      <a:pt x="23384" y="89287"/>
                      <a:pt x="23231" y="89859"/>
                    </a:cubicBezTo>
                    <a:lnTo>
                      <a:pt x="23212" y="89926"/>
                    </a:lnTo>
                    <a:cubicBezTo>
                      <a:pt x="23143" y="90199"/>
                      <a:pt x="22967" y="90433"/>
                      <a:pt x="22723" y="90574"/>
                    </a:cubicBezTo>
                    <a:cubicBezTo>
                      <a:pt x="22479" y="90716"/>
                      <a:pt x="22189" y="90753"/>
                      <a:pt x="21917" y="90678"/>
                    </a:cubicBezTo>
                    <a:lnTo>
                      <a:pt x="13392" y="88402"/>
                    </a:lnTo>
                    <a:cubicBezTo>
                      <a:pt x="12827" y="88240"/>
                      <a:pt x="12496" y="87655"/>
                      <a:pt x="12649" y="87087"/>
                    </a:cubicBezTo>
                    <a:lnTo>
                      <a:pt x="12668" y="87030"/>
                    </a:lnTo>
                    <a:cubicBezTo>
                      <a:pt x="12788" y="86576"/>
                      <a:pt x="13189" y="86252"/>
                      <a:pt x="13659" y="86230"/>
                    </a:cubicBezTo>
                    <a:close/>
                    <a:moveTo>
                      <a:pt x="214922" y="86249"/>
                    </a:moveTo>
                    <a:cubicBezTo>
                      <a:pt x="215396" y="86269"/>
                      <a:pt x="215804" y="86592"/>
                      <a:pt x="215932" y="87049"/>
                    </a:cubicBezTo>
                    <a:lnTo>
                      <a:pt x="215932" y="87087"/>
                    </a:lnTo>
                    <a:cubicBezTo>
                      <a:pt x="216008" y="87360"/>
                      <a:pt x="215972" y="87652"/>
                      <a:pt x="215833" y="87898"/>
                    </a:cubicBezTo>
                    <a:cubicBezTo>
                      <a:pt x="215693" y="88145"/>
                      <a:pt x="215462" y="88326"/>
                      <a:pt x="215189" y="88402"/>
                    </a:cubicBezTo>
                    <a:lnTo>
                      <a:pt x="206683" y="90678"/>
                    </a:lnTo>
                    <a:cubicBezTo>
                      <a:pt x="206409" y="90754"/>
                      <a:pt x="206116" y="90717"/>
                      <a:pt x="205869" y="90576"/>
                    </a:cubicBezTo>
                    <a:cubicBezTo>
                      <a:pt x="205622" y="90434"/>
                      <a:pt x="205442" y="90200"/>
                      <a:pt x="205369" y="89926"/>
                    </a:cubicBezTo>
                    <a:lnTo>
                      <a:pt x="205369" y="89878"/>
                    </a:lnTo>
                    <a:cubicBezTo>
                      <a:pt x="205287" y="89602"/>
                      <a:pt x="205319" y="89306"/>
                      <a:pt x="205459" y="89055"/>
                    </a:cubicBezTo>
                    <a:cubicBezTo>
                      <a:pt x="205599" y="88804"/>
                      <a:pt x="205834" y="88620"/>
                      <a:pt x="206111" y="88544"/>
                    </a:cubicBezTo>
                    <a:lnTo>
                      <a:pt x="214608" y="86287"/>
                    </a:lnTo>
                    <a:cubicBezTo>
                      <a:pt x="214710" y="86258"/>
                      <a:pt x="214816" y="86246"/>
                      <a:pt x="214922" y="86249"/>
                    </a:cubicBezTo>
                    <a:close/>
                    <a:moveTo>
                      <a:pt x="11706" y="95107"/>
                    </a:moveTo>
                    <a:lnTo>
                      <a:pt x="11925" y="95117"/>
                    </a:lnTo>
                    <a:lnTo>
                      <a:pt x="29204" y="98193"/>
                    </a:lnTo>
                    <a:cubicBezTo>
                      <a:pt x="29794" y="98288"/>
                      <a:pt x="30166" y="98850"/>
                      <a:pt x="30061" y="99431"/>
                    </a:cubicBezTo>
                    <a:lnTo>
                      <a:pt x="30061" y="99489"/>
                    </a:lnTo>
                    <a:cubicBezTo>
                      <a:pt x="30012" y="99767"/>
                      <a:pt x="29854" y="100015"/>
                      <a:pt x="29621" y="100176"/>
                    </a:cubicBezTo>
                    <a:cubicBezTo>
                      <a:pt x="29388" y="100337"/>
                      <a:pt x="29101" y="100399"/>
                      <a:pt x="28823" y="100346"/>
                    </a:cubicBezTo>
                    <a:lnTo>
                      <a:pt x="11535" y="97279"/>
                    </a:lnTo>
                    <a:cubicBezTo>
                      <a:pt x="11253" y="97230"/>
                      <a:pt x="11002" y="97071"/>
                      <a:pt x="10838" y="96837"/>
                    </a:cubicBezTo>
                    <a:cubicBezTo>
                      <a:pt x="10673" y="96603"/>
                      <a:pt x="10609" y="96313"/>
                      <a:pt x="10658" y="96031"/>
                    </a:cubicBezTo>
                    <a:lnTo>
                      <a:pt x="10678" y="95974"/>
                    </a:lnTo>
                    <a:cubicBezTo>
                      <a:pt x="10761" y="95470"/>
                      <a:pt x="11196" y="95100"/>
                      <a:pt x="11706" y="95098"/>
                    </a:cubicBezTo>
                    <a:close/>
                    <a:moveTo>
                      <a:pt x="216675" y="95117"/>
                    </a:moveTo>
                    <a:lnTo>
                      <a:pt x="216884" y="95117"/>
                    </a:lnTo>
                    <a:cubicBezTo>
                      <a:pt x="217380" y="95136"/>
                      <a:pt x="217837" y="95479"/>
                      <a:pt x="217922" y="95993"/>
                    </a:cubicBezTo>
                    <a:lnTo>
                      <a:pt x="217922" y="96050"/>
                    </a:lnTo>
                    <a:cubicBezTo>
                      <a:pt x="218018" y="96641"/>
                      <a:pt x="217637" y="97193"/>
                      <a:pt x="217046" y="97288"/>
                    </a:cubicBezTo>
                    <a:lnTo>
                      <a:pt x="199768" y="100346"/>
                    </a:lnTo>
                    <a:cubicBezTo>
                      <a:pt x="199486" y="100396"/>
                      <a:pt x="199196" y="100331"/>
                      <a:pt x="198962" y="100167"/>
                    </a:cubicBezTo>
                    <a:cubicBezTo>
                      <a:pt x="198728" y="100002"/>
                      <a:pt x="198569" y="99751"/>
                      <a:pt x="198520" y="99470"/>
                    </a:cubicBezTo>
                    <a:lnTo>
                      <a:pt x="198520" y="99422"/>
                    </a:lnTo>
                    <a:cubicBezTo>
                      <a:pt x="198470" y="99140"/>
                      <a:pt x="198535" y="98850"/>
                      <a:pt x="198699" y="98616"/>
                    </a:cubicBezTo>
                    <a:cubicBezTo>
                      <a:pt x="198864" y="98382"/>
                      <a:pt x="199114" y="98223"/>
                      <a:pt x="199396" y="98174"/>
                    </a:cubicBezTo>
                    <a:lnTo>
                      <a:pt x="216675" y="95126"/>
                    </a:lnTo>
                    <a:close/>
                    <a:moveTo>
                      <a:pt x="10516" y="104108"/>
                    </a:moveTo>
                    <a:lnTo>
                      <a:pt x="10620" y="104108"/>
                    </a:lnTo>
                    <a:lnTo>
                      <a:pt x="19402" y="104908"/>
                    </a:lnTo>
                    <a:cubicBezTo>
                      <a:pt x="19682" y="104928"/>
                      <a:pt x="19943" y="105059"/>
                      <a:pt x="20125" y="105272"/>
                    </a:cubicBezTo>
                    <a:cubicBezTo>
                      <a:pt x="20308" y="105485"/>
                      <a:pt x="20398" y="105762"/>
                      <a:pt x="20374" y="106042"/>
                    </a:cubicBezTo>
                    <a:lnTo>
                      <a:pt x="20355" y="106137"/>
                    </a:lnTo>
                    <a:cubicBezTo>
                      <a:pt x="20331" y="106417"/>
                      <a:pt x="20195" y="106676"/>
                      <a:pt x="19978" y="106855"/>
                    </a:cubicBezTo>
                    <a:cubicBezTo>
                      <a:pt x="19762" y="107034"/>
                      <a:pt x="19482" y="107119"/>
                      <a:pt x="19202" y="107090"/>
                    </a:cubicBezTo>
                    <a:lnTo>
                      <a:pt x="10420" y="106299"/>
                    </a:lnTo>
                    <a:cubicBezTo>
                      <a:pt x="10142" y="106275"/>
                      <a:pt x="9885" y="106141"/>
                      <a:pt x="9706" y="105926"/>
                    </a:cubicBezTo>
                    <a:cubicBezTo>
                      <a:pt x="9527" y="105711"/>
                      <a:pt x="9441" y="105434"/>
                      <a:pt x="9468" y="105156"/>
                    </a:cubicBezTo>
                    <a:lnTo>
                      <a:pt x="9468" y="105070"/>
                    </a:lnTo>
                    <a:cubicBezTo>
                      <a:pt x="9517" y="104527"/>
                      <a:pt x="9971" y="104111"/>
                      <a:pt x="10516" y="104108"/>
                    </a:cubicBezTo>
                    <a:close/>
                    <a:moveTo>
                      <a:pt x="217961" y="104127"/>
                    </a:moveTo>
                    <a:lnTo>
                      <a:pt x="218075" y="104127"/>
                    </a:lnTo>
                    <a:cubicBezTo>
                      <a:pt x="218608" y="104127"/>
                      <a:pt x="219085" y="104537"/>
                      <a:pt x="219123" y="105089"/>
                    </a:cubicBezTo>
                    <a:lnTo>
                      <a:pt x="219123" y="105166"/>
                    </a:lnTo>
                    <a:cubicBezTo>
                      <a:pt x="219178" y="105747"/>
                      <a:pt x="218751" y="106263"/>
                      <a:pt x="218170" y="106318"/>
                    </a:cubicBezTo>
                    <a:lnTo>
                      <a:pt x="209379" y="107080"/>
                    </a:lnTo>
                    <a:cubicBezTo>
                      <a:pt x="208797" y="107130"/>
                      <a:pt x="208286" y="106699"/>
                      <a:pt x="208236" y="106118"/>
                    </a:cubicBezTo>
                    <a:lnTo>
                      <a:pt x="208236" y="106042"/>
                    </a:lnTo>
                    <a:cubicBezTo>
                      <a:pt x="208180" y="105461"/>
                      <a:pt x="208607" y="104945"/>
                      <a:pt x="209188" y="104889"/>
                    </a:cubicBezTo>
                    <a:lnTo>
                      <a:pt x="217951" y="104127"/>
                    </a:lnTo>
                    <a:close/>
                    <a:moveTo>
                      <a:pt x="105375" y="111081"/>
                    </a:moveTo>
                    <a:lnTo>
                      <a:pt x="58017" y="161449"/>
                    </a:lnTo>
                    <a:cubicBezTo>
                      <a:pt x="77257" y="148838"/>
                      <a:pt x="96488" y="136246"/>
                      <a:pt x="115795" y="123577"/>
                    </a:cubicBezTo>
                    <a:lnTo>
                      <a:pt x="105366" y="111100"/>
                    </a:lnTo>
                    <a:close/>
                    <a:moveTo>
                      <a:pt x="218437" y="113167"/>
                    </a:moveTo>
                    <a:cubicBezTo>
                      <a:pt x="219037" y="113167"/>
                      <a:pt x="219523" y="113643"/>
                      <a:pt x="219523" y="114243"/>
                    </a:cubicBezTo>
                    <a:lnTo>
                      <a:pt x="219523" y="114281"/>
                    </a:lnTo>
                    <a:cubicBezTo>
                      <a:pt x="219523" y="114881"/>
                      <a:pt x="219046" y="115357"/>
                      <a:pt x="218446" y="115357"/>
                    </a:cubicBezTo>
                    <a:lnTo>
                      <a:pt x="200882" y="115395"/>
                    </a:lnTo>
                    <a:cubicBezTo>
                      <a:pt x="200288" y="115395"/>
                      <a:pt x="199806" y="114913"/>
                      <a:pt x="199806" y="114319"/>
                    </a:cubicBezTo>
                    <a:lnTo>
                      <a:pt x="199806" y="114281"/>
                    </a:lnTo>
                    <a:cubicBezTo>
                      <a:pt x="199806" y="113681"/>
                      <a:pt x="200282" y="113205"/>
                      <a:pt x="200882" y="113205"/>
                    </a:cubicBezTo>
                    <a:lnTo>
                      <a:pt x="218446" y="113167"/>
                    </a:lnTo>
                    <a:close/>
                    <a:moveTo>
                      <a:pt x="10135" y="113186"/>
                    </a:moveTo>
                    <a:lnTo>
                      <a:pt x="27699" y="113186"/>
                    </a:lnTo>
                    <a:cubicBezTo>
                      <a:pt x="28289" y="113186"/>
                      <a:pt x="28765" y="113662"/>
                      <a:pt x="28765" y="114243"/>
                    </a:cubicBezTo>
                    <a:lnTo>
                      <a:pt x="28765" y="114319"/>
                    </a:lnTo>
                    <a:cubicBezTo>
                      <a:pt x="28765" y="114910"/>
                      <a:pt x="28289" y="115376"/>
                      <a:pt x="27699" y="115376"/>
                    </a:cubicBezTo>
                    <a:lnTo>
                      <a:pt x="10135" y="115376"/>
                    </a:lnTo>
                    <a:cubicBezTo>
                      <a:pt x="9554" y="115371"/>
                      <a:pt x="9087" y="114899"/>
                      <a:pt x="9087" y="114319"/>
                    </a:cubicBezTo>
                    <a:lnTo>
                      <a:pt x="9087" y="114243"/>
                    </a:lnTo>
                    <a:cubicBezTo>
                      <a:pt x="9087" y="113662"/>
                      <a:pt x="9554" y="113186"/>
                      <a:pt x="10135" y="113186"/>
                    </a:cubicBezTo>
                    <a:close/>
                    <a:moveTo>
                      <a:pt x="19202" y="121520"/>
                    </a:moveTo>
                    <a:lnTo>
                      <a:pt x="19307" y="121520"/>
                    </a:lnTo>
                    <a:cubicBezTo>
                      <a:pt x="19854" y="121518"/>
                      <a:pt x="20310" y="121937"/>
                      <a:pt x="20355" y="122482"/>
                    </a:cubicBezTo>
                    <a:lnTo>
                      <a:pt x="20355" y="122539"/>
                    </a:lnTo>
                    <a:cubicBezTo>
                      <a:pt x="20381" y="122821"/>
                      <a:pt x="20293" y="123102"/>
                      <a:pt x="20111" y="123319"/>
                    </a:cubicBezTo>
                    <a:cubicBezTo>
                      <a:pt x="19928" y="123536"/>
                      <a:pt x="19666" y="123670"/>
                      <a:pt x="19383" y="123692"/>
                    </a:cubicBezTo>
                    <a:lnTo>
                      <a:pt x="10601" y="124454"/>
                    </a:lnTo>
                    <a:cubicBezTo>
                      <a:pt x="10323" y="124477"/>
                      <a:pt x="10047" y="124389"/>
                      <a:pt x="9834" y="124208"/>
                    </a:cubicBezTo>
                    <a:cubicBezTo>
                      <a:pt x="9622" y="124028"/>
                      <a:pt x="9490" y="123770"/>
                      <a:pt x="9468" y="123492"/>
                    </a:cubicBezTo>
                    <a:lnTo>
                      <a:pt x="9449" y="123434"/>
                    </a:lnTo>
                    <a:cubicBezTo>
                      <a:pt x="9422" y="123152"/>
                      <a:pt x="9510" y="122871"/>
                      <a:pt x="9693" y="122655"/>
                    </a:cubicBezTo>
                    <a:cubicBezTo>
                      <a:pt x="9876" y="122438"/>
                      <a:pt x="10138" y="122304"/>
                      <a:pt x="10420" y="122282"/>
                    </a:cubicBezTo>
                    <a:lnTo>
                      <a:pt x="19202" y="121520"/>
                    </a:lnTo>
                    <a:close/>
                    <a:moveTo>
                      <a:pt x="209274" y="121520"/>
                    </a:moveTo>
                    <a:lnTo>
                      <a:pt x="209379" y="121520"/>
                    </a:lnTo>
                    <a:lnTo>
                      <a:pt x="218161" y="122282"/>
                    </a:lnTo>
                    <a:cubicBezTo>
                      <a:pt x="218441" y="122301"/>
                      <a:pt x="218701" y="122432"/>
                      <a:pt x="218884" y="122645"/>
                    </a:cubicBezTo>
                    <a:cubicBezTo>
                      <a:pt x="219066" y="122858"/>
                      <a:pt x="219156" y="123136"/>
                      <a:pt x="219132" y="123415"/>
                    </a:cubicBezTo>
                    <a:lnTo>
                      <a:pt x="219132" y="123492"/>
                    </a:lnTo>
                    <a:cubicBezTo>
                      <a:pt x="219077" y="124074"/>
                      <a:pt x="218563" y="124503"/>
                      <a:pt x="217980" y="124454"/>
                    </a:cubicBezTo>
                    <a:lnTo>
                      <a:pt x="209198" y="123692"/>
                    </a:lnTo>
                    <a:cubicBezTo>
                      <a:pt x="208918" y="123672"/>
                      <a:pt x="208657" y="123541"/>
                      <a:pt x="208475" y="123328"/>
                    </a:cubicBezTo>
                    <a:cubicBezTo>
                      <a:pt x="208292" y="123115"/>
                      <a:pt x="208202" y="122838"/>
                      <a:pt x="208226" y="122558"/>
                    </a:cubicBezTo>
                    <a:lnTo>
                      <a:pt x="208226" y="122482"/>
                    </a:lnTo>
                    <a:cubicBezTo>
                      <a:pt x="208275" y="121939"/>
                      <a:pt x="208729" y="121523"/>
                      <a:pt x="209274" y="121520"/>
                    </a:cubicBezTo>
                    <a:close/>
                    <a:moveTo>
                      <a:pt x="29023" y="128235"/>
                    </a:moveTo>
                    <a:cubicBezTo>
                      <a:pt x="29528" y="128245"/>
                      <a:pt x="29956" y="128616"/>
                      <a:pt x="30042" y="129130"/>
                    </a:cubicBezTo>
                    <a:lnTo>
                      <a:pt x="30061" y="129169"/>
                    </a:lnTo>
                    <a:cubicBezTo>
                      <a:pt x="30166" y="129750"/>
                      <a:pt x="29775" y="130312"/>
                      <a:pt x="29185" y="130407"/>
                    </a:cubicBezTo>
                    <a:lnTo>
                      <a:pt x="11925" y="133455"/>
                    </a:lnTo>
                    <a:cubicBezTo>
                      <a:pt x="11345" y="133553"/>
                      <a:pt x="10793" y="133167"/>
                      <a:pt x="10687" y="132588"/>
                    </a:cubicBezTo>
                    <a:lnTo>
                      <a:pt x="10687" y="132550"/>
                    </a:lnTo>
                    <a:cubicBezTo>
                      <a:pt x="10582" y="131965"/>
                      <a:pt x="10962" y="131403"/>
                      <a:pt x="11544" y="131283"/>
                    </a:cubicBezTo>
                    <a:lnTo>
                      <a:pt x="28794" y="128254"/>
                    </a:lnTo>
                    <a:cubicBezTo>
                      <a:pt x="28869" y="128240"/>
                      <a:pt x="28946" y="128234"/>
                      <a:pt x="29023" y="128235"/>
                    </a:cubicBezTo>
                    <a:close/>
                    <a:moveTo>
                      <a:pt x="199539" y="128235"/>
                    </a:moveTo>
                    <a:cubicBezTo>
                      <a:pt x="199615" y="128235"/>
                      <a:pt x="199692" y="128235"/>
                      <a:pt x="199768" y="128254"/>
                    </a:cubicBezTo>
                    <a:lnTo>
                      <a:pt x="217065" y="131302"/>
                    </a:lnTo>
                    <a:cubicBezTo>
                      <a:pt x="217646" y="131407"/>
                      <a:pt x="218018" y="131969"/>
                      <a:pt x="217922" y="132550"/>
                    </a:cubicBezTo>
                    <a:lnTo>
                      <a:pt x="217922" y="132588"/>
                    </a:lnTo>
                    <a:cubicBezTo>
                      <a:pt x="217874" y="132870"/>
                      <a:pt x="217715" y="133121"/>
                      <a:pt x="217481" y="133285"/>
                    </a:cubicBezTo>
                    <a:cubicBezTo>
                      <a:pt x="217246" y="133450"/>
                      <a:pt x="216956" y="133514"/>
                      <a:pt x="216675" y="133464"/>
                    </a:cubicBezTo>
                    <a:lnTo>
                      <a:pt x="199377" y="130416"/>
                    </a:lnTo>
                    <a:cubicBezTo>
                      <a:pt x="199098" y="130365"/>
                      <a:pt x="198850" y="130205"/>
                      <a:pt x="198689" y="129971"/>
                    </a:cubicBezTo>
                    <a:cubicBezTo>
                      <a:pt x="198528" y="129737"/>
                      <a:pt x="198467" y="129448"/>
                      <a:pt x="198520" y="129169"/>
                    </a:cubicBezTo>
                    <a:lnTo>
                      <a:pt x="198520" y="129130"/>
                    </a:lnTo>
                    <a:cubicBezTo>
                      <a:pt x="198605" y="128628"/>
                      <a:pt x="199031" y="128255"/>
                      <a:pt x="199539" y="128235"/>
                    </a:cubicBezTo>
                    <a:close/>
                    <a:moveTo>
                      <a:pt x="22212" y="137893"/>
                    </a:moveTo>
                    <a:cubicBezTo>
                      <a:pt x="22680" y="137904"/>
                      <a:pt x="23084" y="138222"/>
                      <a:pt x="23203" y="138674"/>
                    </a:cubicBezTo>
                    <a:lnTo>
                      <a:pt x="23222" y="138722"/>
                    </a:lnTo>
                    <a:cubicBezTo>
                      <a:pt x="23374" y="139294"/>
                      <a:pt x="23031" y="139875"/>
                      <a:pt x="22460" y="140027"/>
                    </a:cubicBezTo>
                    <a:lnTo>
                      <a:pt x="13973" y="142313"/>
                    </a:lnTo>
                    <a:cubicBezTo>
                      <a:pt x="13699" y="142385"/>
                      <a:pt x="13407" y="142346"/>
                      <a:pt x="13163" y="142203"/>
                    </a:cubicBezTo>
                    <a:cubicBezTo>
                      <a:pt x="12918" y="142060"/>
                      <a:pt x="12740" y="141825"/>
                      <a:pt x="12668" y="141551"/>
                    </a:cubicBezTo>
                    <a:lnTo>
                      <a:pt x="12649" y="141494"/>
                    </a:lnTo>
                    <a:cubicBezTo>
                      <a:pt x="12504" y="140926"/>
                      <a:pt x="12845" y="140348"/>
                      <a:pt x="13411" y="140198"/>
                    </a:cubicBezTo>
                    <a:lnTo>
                      <a:pt x="21888" y="137922"/>
                    </a:lnTo>
                    <a:cubicBezTo>
                      <a:pt x="21994" y="137896"/>
                      <a:pt x="22104" y="137886"/>
                      <a:pt x="22212" y="137893"/>
                    </a:cubicBezTo>
                    <a:close/>
                    <a:moveTo>
                      <a:pt x="206350" y="137893"/>
                    </a:moveTo>
                    <a:cubicBezTo>
                      <a:pt x="206454" y="137893"/>
                      <a:pt x="206578" y="137893"/>
                      <a:pt x="206683" y="137922"/>
                    </a:cubicBezTo>
                    <a:lnTo>
                      <a:pt x="215189" y="140198"/>
                    </a:lnTo>
                    <a:cubicBezTo>
                      <a:pt x="215760" y="140351"/>
                      <a:pt x="216103" y="140932"/>
                      <a:pt x="215951" y="141494"/>
                    </a:cubicBezTo>
                    <a:lnTo>
                      <a:pt x="215932" y="141551"/>
                    </a:lnTo>
                    <a:cubicBezTo>
                      <a:pt x="215858" y="141823"/>
                      <a:pt x="215679" y="142055"/>
                      <a:pt x="215434" y="142194"/>
                    </a:cubicBezTo>
                    <a:cubicBezTo>
                      <a:pt x="215189" y="142334"/>
                      <a:pt x="214898" y="142370"/>
                      <a:pt x="214627" y="142294"/>
                    </a:cubicBezTo>
                    <a:lnTo>
                      <a:pt x="206111" y="140027"/>
                    </a:lnTo>
                    <a:cubicBezTo>
                      <a:pt x="205839" y="139954"/>
                      <a:pt x="205608" y="139774"/>
                      <a:pt x="205468" y="139529"/>
                    </a:cubicBezTo>
                    <a:cubicBezTo>
                      <a:pt x="205329" y="139284"/>
                      <a:pt x="205293" y="138994"/>
                      <a:pt x="205369" y="138722"/>
                    </a:cubicBezTo>
                    <a:lnTo>
                      <a:pt x="205388" y="138674"/>
                    </a:lnTo>
                    <a:cubicBezTo>
                      <a:pt x="205501" y="138230"/>
                      <a:pt x="205892" y="137913"/>
                      <a:pt x="206350" y="137893"/>
                    </a:cubicBezTo>
                    <a:close/>
                    <a:moveTo>
                      <a:pt x="32871" y="142818"/>
                    </a:moveTo>
                    <a:cubicBezTo>
                      <a:pt x="33338" y="142792"/>
                      <a:pt x="33766" y="143080"/>
                      <a:pt x="33919" y="143523"/>
                    </a:cubicBezTo>
                    <a:lnTo>
                      <a:pt x="33938" y="143561"/>
                    </a:lnTo>
                    <a:cubicBezTo>
                      <a:pt x="34039" y="143828"/>
                      <a:pt x="34028" y="144125"/>
                      <a:pt x="33908" y="144385"/>
                    </a:cubicBezTo>
                    <a:cubicBezTo>
                      <a:pt x="33788" y="144645"/>
                      <a:pt x="33569" y="144845"/>
                      <a:pt x="33299" y="144942"/>
                    </a:cubicBezTo>
                    <a:lnTo>
                      <a:pt x="16802" y="150943"/>
                    </a:lnTo>
                    <a:cubicBezTo>
                      <a:pt x="16533" y="151041"/>
                      <a:pt x="16236" y="151027"/>
                      <a:pt x="15977" y="150906"/>
                    </a:cubicBezTo>
                    <a:cubicBezTo>
                      <a:pt x="15718" y="150784"/>
                      <a:pt x="15518" y="150564"/>
                      <a:pt x="15421" y="150295"/>
                    </a:cubicBezTo>
                    <a:lnTo>
                      <a:pt x="15402" y="150257"/>
                    </a:lnTo>
                    <a:cubicBezTo>
                      <a:pt x="15205" y="149697"/>
                      <a:pt x="15499" y="149083"/>
                      <a:pt x="16059" y="148885"/>
                    </a:cubicBezTo>
                    <a:lnTo>
                      <a:pt x="32556" y="142875"/>
                    </a:lnTo>
                    <a:cubicBezTo>
                      <a:pt x="32658" y="142840"/>
                      <a:pt x="32764" y="142821"/>
                      <a:pt x="32871" y="142818"/>
                    </a:cubicBezTo>
                    <a:close/>
                    <a:moveTo>
                      <a:pt x="195615" y="142818"/>
                    </a:moveTo>
                    <a:cubicBezTo>
                      <a:pt x="195758" y="142818"/>
                      <a:pt x="195891" y="142818"/>
                      <a:pt x="196025" y="142875"/>
                    </a:cubicBezTo>
                    <a:lnTo>
                      <a:pt x="212541" y="148876"/>
                    </a:lnTo>
                    <a:cubicBezTo>
                      <a:pt x="212807" y="148970"/>
                      <a:pt x="213025" y="149168"/>
                      <a:pt x="213144" y="149423"/>
                    </a:cubicBezTo>
                    <a:cubicBezTo>
                      <a:pt x="213264" y="149679"/>
                      <a:pt x="213277" y="149973"/>
                      <a:pt x="213179" y="150238"/>
                    </a:cubicBezTo>
                    <a:lnTo>
                      <a:pt x="213160" y="150314"/>
                    </a:lnTo>
                    <a:cubicBezTo>
                      <a:pt x="213065" y="150580"/>
                      <a:pt x="212868" y="150798"/>
                      <a:pt x="212612" y="150918"/>
                    </a:cubicBezTo>
                    <a:cubicBezTo>
                      <a:pt x="212356" y="151038"/>
                      <a:pt x="212063" y="151050"/>
                      <a:pt x="211798" y="150952"/>
                    </a:cubicBezTo>
                    <a:lnTo>
                      <a:pt x="195282" y="144942"/>
                    </a:lnTo>
                    <a:cubicBezTo>
                      <a:pt x="195017" y="144845"/>
                      <a:pt x="194802" y="144647"/>
                      <a:pt x="194684" y="144392"/>
                    </a:cubicBezTo>
                    <a:cubicBezTo>
                      <a:pt x="194566" y="144136"/>
                      <a:pt x="194555" y="143844"/>
                      <a:pt x="194653" y="143580"/>
                    </a:cubicBezTo>
                    <a:lnTo>
                      <a:pt x="194672" y="143504"/>
                    </a:lnTo>
                    <a:cubicBezTo>
                      <a:pt x="194822" y="143104"/>
                      <a:pt x="195198" y="142833"/>
                      <a:pt x="195624" y="142818"/>
                    </a:cubicBezTo>
                    <a:close/>
                    <a:moveTo>
                      <a:pt x="27813" y="153514"/>
                    </a:moveTo>
                    <a:cubicBezTo>
                      <a:pt x="28231" y="153499"/>
                      <a:pt x="28618" y="153735"/>
                      <a:pt x="28794" y="154115"/>
                    </a:cubicBezTo>
                    <a:lnTo>
                      <a:pt x="28832" y="154210"/>
                    </a:lnTo>
                    <a:cubicBezTo>
                      <a:pt x="28949" y="154457"/>
                      <a:pt x="28963" y="154741"/>
                      <a:pt x="28870" y="154998"/>
                    </a:cubicBezTo>
                    <a:cubicBezTo>
                      <a:pt x="28777" y="155256"/>
                      <a:pt x="28585" y="155466"/>
                      <a:pt x="28337" y="155581"/>
                    </a:cubicBezTo>
                    <a:lnTo>
                      <a:pt x="20355" y="159325"/>
                    </a:lnTo>
                    <a:cubicBezTo>
                      <a:pt x="20100" y="159443"/>
                      <a:pt x="19808" y="159455"/>
                      <a:pt x="19545" y="159356"/>
                    </a:cubicBezTo>
                    <a:cubicBezTo>
                      <a:pt x="19282" y="159258"/>
                      <a:pt x="19069" y="159058"/>
                      <a:pt x="18955" y="158801"/>
                    </a:cubicBezTo>
                    <a:lnTo>
                      <a:pt x="18917" y="158725"/>
                    </a:lnTo>
                    <a:cubicBezTo>
                      <a:pt x="18673" y="158201"/>
                      <a:pt x="18899" y="157579"/>
                      <a:pt x="19421" y="157334"/>
                    </a:cubicBezTo>
                    <a:lnTo>
                      <a:pt x="27403" y="153610"/>
                    </a:lnTo>
                    <a:cubicBezTo>
                      <a:pt x="27532" y="153551"/>
                      <a:pt x="27672" y="153519"/>
                      <a:pt x="27813" y="153514"/>
                    </a:cubicBezTo>
                    <a:close/>
                    <a:moveTo>
                      <a:pt x="200768" y="153514"/>
                    </a:moveTo>
                    <a:cubicBezTo>
                      <a:pt x="200910" y="153518"/>
                      <a:pt x="201049" y="153551"/>
                      <a:pt x="201178" y="153610"/>
                    </a:cubicBezTo>
                    <a:lnTo>
                      <a:pt x="209159" y="157324"/>
                    </a:lnTo>
                    <a:cubicBezTo>
                      <a:pt x="209693" y="157582"/>
                      <a:pt x="209921" y="158210"/>
                      <a:pt x="209683" y="158744"/>
                    </a:cubicBezTo>
                    <a:lnTo>
                      <a:pt x="209664" y="158782"/>
                    </a:lnTo>
                    <a:cubicBezTo>
                      <a:pt x="209546" y="159040"/>
                      <a:pt x="209330" y="159240"/>
                      <a:pt x="209064" y="159339"/>
                    </a:cubicBezTo>
                    <a:cubicBezTo>
                      <a:pt x="208797" y="159437"/>
                      <a:pt x="208503" y="159425"/>
                      <a:pt x="208245" y="159306"/>
                    </a:cubicBezTo>
                    <a:lnTo>
                      <a:pt x="200263" y="155581"/>
                    </a:lnTo>
                    <a:cubicBezTo>
                      <a:pt x="199734" y="155332"/>
                      <a:pt x="199505" y="154703"/>
                      <a:pt x="199749" y="154172"/>
                    </a:cubicBezTo>
                    <a:lnTo>
                      <a:pt x="199768" y="154134"/>
                    </a:lnTo>
                    <a:cubicBezTo>
                      <a:pt x="199947" y="153745"/>
                      <a:pt x="200341" y="153502"/>
                      <a:pt x="200768" y="153514"/>
                    </a:cubicBezTo>
                    <a:close/>
                    <a:moveTo>
                      <a:pt x="39253" y="156515"/>
                    </a:moveTo>
                    <a:cubicBezTo>
                      <a:pt x="39634" y="156505"/>
                      <a:pt x="39995" y="156705"/>
                      <a:pt x="40205" y="157048"/>
                    </a:cubicBezTo>
                    <a:lnTo>
                      <a:pt x="40243" y="157086"/>
                    </a:lnTo>
                    <a:cubicBezTo>
                      <a:pt x="40390" y="157330"/>
                      <a:pt x="40431" y="157623"/>
                      <a:pt x="40358" y="157898"/>
                    </a:cubicBezTo>
                    <a:cubicBezTo>
                      <a:pt x="40284" y="158173"/>
                      <a:pt x="40102" y="158406"/>
                      <a:pt x="39853" y="158544"/>
                    </a:cubicBezTo>
                    <a:lnTo>
                      <a:pt x="24651" y="167316"/>
                    </a:lnTo>
                    <a:cubicBezTo>
                      <a:pt x="24140" y="167613"/>
                      <a:pt x="23485" y="167443"/>
                      <a:pt x="23184" y="166935"/>
                    </a:cubicBezTo>
                    <a:lnTo>
                      <a:pt x="23165" y="166888"/>
                    </a:lnTo>
                    <a:cubicBezTo>
                      <a:pt x="22868" y="166377"/>
                      <a:pt x="23038" y="165722"/>
                      <a:pt x="23546" y="165421"/>
                    </a:cubicBezTo>
                    <a:lnTo>
                      <a:pt x="38748" y="156639"/>
                    </a:lnTo>
                    <a:cubicBezTo>
                      <a:pt x="38903" y="156555"/>
                      <a:pt x="39076" y="156513"/>
                      <a:pt x="39253" y="156515"/>
                    </a:cubicBezTo>
                    <a:close/>
                    <a:moveTo>
                      <a:pt x="189328" y="156515"/>
                    </a:moveTo>
                    <a:cubicBezTo>
                      <a:pt x="189500" y="156515"/>
                      <a:pt x="189671" y="156553"/>
                      <a:pt x="189833" y="156639"/>
                    </a:cubicBezTo>
                    <a:lnTo>
                      <a:pt x="205045" y="165440"/>
                    </a:lnTo>
                    <a:cubicBezTo>
                      <a:pt x="205291" y="165577"/>
                      <a:pt x="205471" y="165809"/>
                      <a:pt x="205545" y="166081"/>
                    </a:cubicBezTo>
                    <a:cubicBezTo>
                      <a:pt x="205618" y="166354"/>
                      <a:pt x="205579" y="166645"/>
                      <a:pt x="205435" y="166888"/>
                    </a:cubicBezTo>
                    <a:lnTo>
                      <a:pt x="205416" y="166926"/>
                    </a:lnTo>
                    <a:cubicBezTo>
                      <a:pt x="205278" y="167172"/>
                      <a:pt x="205047" y="167352"/>
                      <a:pt x="204775" y="167426"/>
                    </a:cubicBezTo>
                    <a:cubicBezTo>
                      <a:pt x="204502" y="167499"/>
                      <a:pt x="204211" y="167460"/>
                      <a:pt x="203968" y="167316"/>
                    </a:cubicBezTo>
                    <a:lnTo>
                      <a:pt x="188747" y="158544"/>
                    </a:lnTo>
                    <a:cubicBezTo>
                      <a:pt x="188501" y="158399"/>
                      <a:pt x="188322" y="158162"/>
                      <a:pt x="188250" y="157885"/>
                    </a:cubicBezTo>
                    <a:cubicBezTo>
                      <a:pt x="188179" y="157608"/>
                      <a:pt x="188221" y="157313"/>
                      <a:pt x="188366" y="157067"/>
                    </a:cubicBezTo>
                    <a:lnTo>
                      <a:pt x="188376" y="157048"/>
                    </a:lnTo>
                    <a:cubicBezTo>
                      <a:pt x="188570" y="156708"/>
                      <a:pt x="188937" y="156502"/>
                      <a:pt x="189328" y="156515"/>
                    </a:cubicBezTo>
                    <a:close/>
                    <a:moveTo>
                      <a:pt x="192453" y="167878"/>
                    </a:moveTo>
                    <a:cubicBezTo>
                      <a:pt x="192659" y="167887"/>
                      <a:pt x="192857" y="167957"/>
                      <a:pt x="193024" y="168078"/>
                    </a:cubicBezTo>
                    <a:lnTo>
                      <a:pt x="200244" y="173165"/>
                    </a:lnTo>
                    <a:cubicBezTo>
                      <a:pt x="200720" y="173498"/>
                      <a:pt x="200825" y="174136"/>
                      <a:pt x="200492" y="174612"/>
                    </a:cubicBezTo>
                    <a:lnTo>
                      <a:pt x="200454" y="174689"/>
                    </a:lnTo>
                    <a:cubicBezTo>
                      <a:pt x="200118" y="175162"/>
                      <a:pt x="199463" y="175277"/>
                      <a:pt x="198987" y="174946"/>
                    </a:cubicBezTo>
                    <a:lnTo>
                      <a:pt x="191786" y="169850"/>
                    </a:lnTo>
                    <a:cubicBezTo>
                      <a:pt x="191558" y="169694"/>
                      <a:pt x="191402" y="169453"/>
                      <a:pt x="191352" y="169181"/>
                    </a:cubicBezTo>
                    <a:cubicBezTo>
                      <a:pt x="191301" y="168910"/>
                      <a:pt x="191362" y="168629"/>
                      <a:pt x="191519" y="168402"/>
                    </a:cubicBezTo>
                    <a:lnTo>
                      <a:pt x="191576" y="168326"/>
                    </a:lnTo>
                    <a:cubicBezTo>
                      <a:pt x="191776" y="168040"/>
                      <a:pt x="192104" y="167872"/>
                      <a:pt x="192453" y="167878"/>
                    </a:cubicBezTo>
                    <a:close/>
                    <a:moveTo>
                      <a:pt x="36128" y="167897"/>
                    </a:moveTo>
                    <a:cubicBezTo>
                      <a:pt x="36462" y="167897"/>
                      <a:pt x="36814" y="168050"/>
                      <a:pt x="37024" y="168345"/>
                    </a:cubicBezTo>
                    <a:lnTo>
                      <a:pt x="37062" y="168421"/>
                    </a:lnTo>
                    <a:cubicBezTo>
                      <a:pt x="37219" y="168648"/>
                      <a:pt x="37279" y="168929"/>
                      <a:pt x="37229" y="169200"/>
                    </a:cubicBezTo>
                    <a:cubicBezTo>
                      <a:pt x="37179" y="169472"/>
                      <a:pt x="37023" y="169713"/>
                      <a:pt x="36795" y="169869"/>
                    </a:cubicBezTo>
                    <a:lnTo>
                      <a:pt x="29594" y="174927"/>
                    </a:lnTo>
                    <a:cubicBezTo>
                      <a:pt x="29371" y="175089"/>
                      <a:pt x="29093" y="175156"/>
                      <a:pt x="28820" y="175111"/>
                    </a:cubicBezTo>
                    <a:cubicBezTo>
                      <a:pt x="28548" y="175066"/>
                      <a:pt x="28305" y="174914"/>
                      <a:pt x="28146" y="174689"/>
                    </a:cubicBezTo>
                    <a:lnTo>
                      <a:pt x="28089" y="174612"/>
                    </a:lnTo>
                    <a:cubicBezTo>
                      <a:pt x="27932" y="174385"/>
                      <a:pt x="27872" y="174105"/>
                      <a:pt x="27922" y="173833"/>
                    </a:cubicBezTo>
                    <a:cubicBezTo>
                      <a:pt x="27972" y="173561"/>
                      <a:pt x="28128" y="173321"/>
                      <a:pt x="28356" y="173165"/>
                    </a:cubicBezTo>
                    <a:lnTo>
                      <a:pt x="35547" y="168078"/>
                    </a:lnTo>
                    <a:cubicBezTo>
                      <a:pt x="35718" y="167960"/>
                      <a:pt x="35921" y="167897"/>
                      <a:pt x="36128" y="167897"/>
                    </a:cubicBezTo>
                    <a:close/>
                    <a:moveTo>
                      <a:pt x="180546" y="168869"/>
                    </a:moveTo>
                    <a:cubicBezTo>
                      <a:pt x="180828" y="168841"/>
                      <a:pt x="181109" y="168927"/>
                      <a:pt x="181327" y="169107"/>
                    </a:cubicBezTo>
                    <a:lnTo>
                      <a:pt x="194796" y="180413"/>
                    </a:lnTo>
                    <a:cubicBezTo>
                      <a:pt x="195015" y="180591"/>
                      <a:pt x="195153" y="180851"/>
                      <a:pt x="195178" y="181133"/>
                    </a:cubicBezTo>
                    <a:cubicBezTo>
                      <a:pt x="195203" y="181414"/>
                      <a:pt x="195113" y="181694"/>
                      <a:pt x="194929" y="181908"/>
                    </a:cubicBezTo>
                    <a:lnTo>
                      <a:pt x="194891" y="181947"/>
                    </a:lnTo>
                    <a:cubicBezTo>
                      <a:pt x="194507" y="182392"/>
                      <a:pt x="193837" y="182447"/>
                      <a:pt x="193386" y="182070"/>
                    </a:cubicBezTo>
                    <a:lnTo>
                      <a:pt x="179927" y="170783"/>
                    </a:lnTo>
                    <a:cubicBezTo>
                      <a:pt x="179708" y="170605"/>
                      <a:pt x="179570" y="170345"/>
                      <a:pt x="179545" y="170064"/>
                    </a:cubicBezTo>
                    <a:cubicBezTo>
                      <a:pt x="179520" y="169782"/>
                      <a:pt x="179610" y="169502"/>
                      <a:pt x="179794" y="169288"/>
                    </a:cubicBezTo>
                    <a:lnTo>
                      <a:pt x="179832" y="169240"/>
                    </a:lnTo>
                    <a:cubicBezTo>
                      <a:pt x="180006" y="169023"/>
                      <a:pt x="180260" y="168886"/>
                      <a:pt x="180537" y="168859"/>
                    </a:cubicBezTo>
                    <a:close/>
                    <a:moveTo>
                      <a:pt x="58512" y="179537"/>
                    </a:moveTo>
                    <a:cubicBezTo>
                      <a:pt x="58789" y="179515"/>
                      <a:pt x="59063" y="179604"/>
                      <a:pt x="59274" y="179784"/>
                    </a:cubicBezTo>
                    <a:lnTo>
                      <a:pt x="59341" y="179861"/>
                    </a:lnTo>
                    <a:cubicBezTo>
                      <a:pt x="59779" y="180231"/>
                      <a:pt x="59839" y="180884"/>
                      <a:pt x="59474" y="181327"/>
                    </a:cubicBezTo>
                    <a:lnTo>
                      <a:pt x="48196" y="194796"/>
                    </a:lnTo>
                    <a:cubicBezTo>
                      <a:pt x="47820" y="195235"/>
                      <a:pt x="47160" y="195286"/>
                      <a:pt x="46720" y="194910"/>
                    </a:cubicBezTo>
                    <a:lnTo>
                      <a:pt x="46644" y="194853"/>
                    </a:lnTo>
                    <a:cubicBezTo>
                      <a:pt x="46208" y="194480"/>
                      <a:pt x="46153" y="193827"/>
                      <a:pt x="46520" y="193386"/>
                    </a:cubicBezTo>
                    <a:lnTo>
                      <a:pt x="57807" y="179918"/>
                    </a:lnTo>
                    <a:cubicBezTo>
                      <a:pt x="57985" y="179700"/>
                      <a:pt x="58242" y="179563"/>
                      <a:pt x="58522" y="179537"/>
                    </a:cubicBezTo>
                    <a:close/>
                    <a:moveTo>
                      <a:pt x="169983" y="179537"/>
                    </a:moveTo>
                    <a:cubicBezTo>
                      <a:pt x="170288" y="179537"/>
                      <a:pt x="170602" y="179680"/>
                      <a:pt x="170821" y="179937"/>
                    </a:cubicBezTo>
                    <a:lnTo>
                      <a:pt x="182070" y="193367"/>
                    </a:lnTo>
                    <a:cubicBezTo>
                      <a:pt x="182451" y="193824"/>
                      <a:pt x="182404" y="194510"/>
                      <a:pt x="181947" y="194891"/>
                    </a:cubicBezTo>
                    <a:lnTo>
                      <a:pt x="181928" y="194910"/>
                    </a:lnTo>
                    <a:cubicBezTo>
                      <a:pt x="181469" y="195292"/>
                      <a:pt x="180789" y="195232"/>
                      <a:pt x="180404" y="194777"/>
                    </a:cubicBezTo>
                    <a:lnTo>
                      <a:pt x="169145" y="181346"/>
                    </a:lnTo>
                    <a:cubicBezTo>
                      <a:pt x="168761" y="180891"/>
                      <a:pt x="168816" y="180210"/>
                      <a:pt x="169269" y="179822"/>
                    </a:cubicBezTo>
                    <a:lnTo>
                      <a:pt x="169288" y="179803"/>
                    </a:lnTo>
                    <a:cubicBezTo>
                      <a:pt x="169483" y="179639"/>
                      <a:pt x="169729" y="179549"/>
                      <a:pt x="169983" y="179546"/>
                    </a:cubicBezTo>
                    <a:close/>
                    <a:moveTo>
                      <a:pt x="46844" y="180623"/>
                    </a:moveTo>
                    <a:cubicBezTo>
                      <a:pt x="47101" y="180623"/>
                      <a:pt x="47358" y="180718"/>
                      <a:pt x="47549" y="180918"/>
                    </a:cubicBezTo>
                    <a:lnTo>
                      <a:pt x="47682" y="181032"/>
                    </a:lnTo>
                    <a:cubicBezTo>
                      <a:pt x="48072" y="181429"/>
                      <a:pt x="48072" y="182064"/>
                      <a:pt x="47682" y="182461"/>
                    </a:cubicBezTo>
                    <a:lnTo>
                      <a:pt x="41377" y="188747"/>
                    </a:lnTo>
                    <a:cubicBezTo>
                      <a:pt x="41189" y="188936"/>
                      <a:pt x="40933" y="189043"/>
                      <a:pt x="40667" y="189043"/>
                    </a:cubicBezTo>
                    <a:cubicBezTo>
                      <a:pt x="40401" y="189043"/>
                      <a:pt x="40145" y="188936"/>
                      <a:pt x="39957" y="188747"/>
                    </a:cubicBezTo>
                    <a:lnTo>
                      <a:pt x="39853" y="188643"/>
                    </a:lnTo>
                    <a:cubicBezTo>
                      <a:pt x="39664" y="188455"/>
                      <a:pt x="39557" y="188199"/>
                      <a:pt x="39557" y="187933"/>
                    </a:cubicBezTo>
                    <a:cubicBezTo>
                      <a:pt x="39557" y="187667"/>
                      <a:pt x="39664" y="187411"/>
                      <a:pt x="39853" y="187223"/>
                    </a:cubicBezTo>
                    <a:lnTo>
                      <a:pt x="46139" y="180918"/>
                    </a:lnTo>
                    <a:cubicBezTo>
                      <a:pt x="46326" y="180730"/>
                      <a:pt x="46579" y="180624"/>
                      <a:pt x="46844" y="180623"/>
                    </a:cubicBezTo>
                    <a:close/>
                    <a:moveTo>
                      <a:pt x="181756" y="180623"/>
                    </a:moveTo>
                    <a:cubicBezTo>
                      <a:pt x="182013" y="180623"/>
                      <a:pt x="182261" y="180718"/>
                      <a:pt x="182461" y="180918"/>
                    </a:cubicBezTo>
                    <a:lnTo>
                      <a:pt x="188747" y="187223"/>
                    </a:lnTo>
                    <a:cubicBezTo>
                      <a:pt x="188937" y="187413"/>
                      <a:pt x="189044" y="187670"/>
                      <a:pt x="189044" y="187938"/>
                    </a:cubicBezTo>
                    <a:cubicBezTo>
                      <a:pt x="189044" y="188206"/>
                      <a:pt x="188937" y="188463"/>
                      <a:pt x="188747" y="188652"/>
                    </a:cubicBezTo>
                    <a:lnTo>
                      <a:pt x="188643" y="188766"/>
                    </a:lnTo>
                    <a:cubicBezTo>
                      <a:pt x="188451" y="188954"/>
                      <a:pt x="188192" y="189057"/>
                      <a:pt x="187924" y="189053"/>
                    </a:cubicBezTo>
                    <a:cubicBezTo>
                      <a:pt x="187656" y="189050"/>
                      <a:pt x="187401" y="188940"/>
                      <a:pt x="187214" y="188747"/>
                    </a:cubicBezTo>
                    <a:lnTo>
                      <a:pt x="180927" y="182461"/>
                    </a:lnTo>
                    <a:cubicBezTo>
                      <a:pt x="180739" y="182270"/>
                      <a:pt x="180634" y="182013"/>
                      <a:pt x="180636" y="181745"/>
                    </a:cubicBezTo>
                    <a:cubicBezTo>
                      <a:pt x="180638" y="181477"/>
                      <a:pt x="180746" y="181220"/>
                      <a:pt x="180937" y="181032"/>
                    </a:cubicBezTo>
                    <a:lnTo>
                      <a:pt x="181032" y="180918"/>
                    </a:lnTo>
                    <a:cubicBezTo>
                      <a:pt x="181225" y="180728"/>
                      <a:pt x="181485" y="180622"/>
                      <a:pt x="181756" y="180623"/>
                    </a:cubicBezTo>
                    <a:close/>
                    <a:moveTo>
                      <a:pt x="71009" y="188214"/>
                    </a:moveTo>
                    <a:cubicBezTo>
                      <a:pt x="71180" y="188214"/>
                      <a:pt x="71333" y="188271"/>
                      <a:pt x="71485" y="188357"/>
                    </a:cubicBezTo>
                    <a:lnTo>
                      <a:pt x="71552" y="188395"/>
                    </a:lnTo>
                    <a:cubicBezTo>
                      <a:pt x="72051" y="188685"/>
                      <a:pt x="72221" y="189324"/>
                      <a:pt x="71933" y="189824"/>
                    </a:cubicBezTo>
                    <a:lnTo>
                      <a:pt x="63160" y="205045"/>
                    </a:lnTo>
                    <a:cubicBezTo>
                      <a:pt x="62873" y="205547"/>
                      <a:pt x="62234" y="205722"/>
                      <a:pt x="61732" y="205435"/>
                    </a:cubicBezTo>
                    <a:lnTo>
                      <a:pt x="61655" y="205397"/>
                    </a:lnTo>
                    <a:cubicBezTo>
                      <a:pt x="61413" y="205256"/>
                      <a:pt x="61236" y="205024"/>
                      <a:pt x="61164" y="204752"/>
                    </a:cubicBezTo>
                    <a:cubicBezTo>
                      <a:pt x="61093" y="204481"/>
                      <a:pt x="61132" y="204192"/>
                      <a:pt x="61274" y="203949"/>
                    </a:cubicBezTo>
                    <a:lnTo>
                      <a:pt x="70056" y="188747"/>
                    </a:lnTo>
                    <a:cubicBezTo>
                      <a:pt x="70253" y="188410"/>
                      <a:pt x="70618" y="188206"/>
                      <a:pt x="71009" y="188214"/>
                    </a:cubicBezTo>
                    <a:close/>
                    <a:moveTo>
                      <a:pt x="157572" y="188233"/>
                    </a:moveTo>
                    <a:cubicBezTo>
                      <a:pt x="157960" y="188215"/>
                      <a:pt x="158327" y="188413"/>
                      <a:pt x="158525" y="188747"/>
                    </a:cubicBezTo>
                    <a:lnTo>
                      <a:pt x="167335" y="203949"/>
                    </a:lnTo>
                    <a:cubicBezTo>
                      <a:pt x="167632" y="204460"/>
                      <a:pt x="167462" y="205115"/>
                      <a:pt x="166954" y="205416"/>
                    </a:cubicBezTo>
                    <a:lnTo>
                      <a:pt x="166907" y="205416"/>
                    </a:lnTo>
                    <a:cubicBezTo>
                      <a:pt x="166666" y="205561"/>
                      <a:pt x="166377" y="205604"/>
                      <a:pt x="166105" y="205534"/>
                    </a:cubicBezTo>
                    <a:cubicBezTo>
                      <a:pt x="165833" y="205464"/>
                      <a:pt x="165600" y="205288"/>
                      <a:pt x="165459" y="205045"/>
                    </a:cubicBezTo>
                    <a:lnTo>
                      <a:pt x="156639" y="189852"/>
                    </a:lnTo>
                    <a:cubicBezTo>
                      <a:pt x="156494" y="189605"/>
                      <a:pt x="156453" y="189310"/>
                      <a:pt x="156527" y="189033"/>
                    </a:cubicBezTo>
                    <a:cubicBezTo>
                      <a:pt x="156600" y="188756"/>
                      <a:pt x="156781" y="188519"/>
                      <a:pt x="157029" y="188376"/>
                    </a:cubicBezTo>
                    <a:lnTo>
                      <a:pt x="157067" y="188357"/>
                    </a:lnTo>
                    <a:cubicBezTo>
                      <a:pt x="157222" y="188273"/>
                      <a:pt x="157396" y="188230"/>
                      <a:pt x="157572" y="188233"/>
                    </a:cubicBezTo>
                    <a:close/>
                    <a:moveTo>
                      <a:pt x="59607" y="191319"/>
                    </a:moveTo>
                    <a:cubicBezTo>
                      <a:pt x="59807" y="191319"/>
                      <a:pt x="60017" y="191395"/>
                      <a:pt x="60198" y="191519"/>
                    </a:cubicBezTo>
                    <a:lnTo>
                      <a:pt x="60236" y="191538"/>
                    </a:lnTo>
                    <a:cubicBezTo>
                      <a:pt x="60722" y="191881"/>
                      <a:pt x="60836" y="192548"/>
                      <a:pt x="60503" y="193034"/>
                    </a:cubicBezTo>
                    <a:lnTo>
                      <a:pt x="55455" y="200225"/>
                    </a:lnTo>
                    <a:cubicBezTo>
                      <a:pt x="55293" y="200458"/>
                      <a:pt x="55046" y="200616"/>
                      <a:pt x="54767" y="200666"/>
                    </a:cubicBezTo>
                    <a:cubicBezTo>
                      <a:pt x="54488" y="200716"/>
                      <a:pt x="54201" y="200654"/>
                      <a:pt x="53969" y="200492"/>
                    </a:cubicBezTo>
                    <a:lnTo>
                      <a:pt x="53931" y="200473"/>
                    </a:lnTo>
                    <a:cubicBezTo>
                      <a:pt x="53449" y="200133"/>
                      <a:pt x="53334" y="199468"/>
                      <a:pt x="53673" y="198987"/>
                    </a:cubicBezTo>
                    <a:lnTo>
                      <a:pt x="58722" y="191786"/>
                    </a:lnTo>
                    <a:cubicBezTo>
                      <a:pt x="58920" y="191490"/>
                      <a:pt x="59252" y="191312"/>
                      <a:pt x="59607" y="191310"/>
                    </a:cubicBezTo>
                    <a:close/>
                    <a:moveTo>
                      <a:pt x="168993" y="191338"/>
                    </a:moveTo>
                    <a:cubicBezTo>
                      <a:pt x="169335" y="191338"/>
                      <a:pt x="169678" y="191481"/>
                      <a:pt x="169888" y="191786"/>
                    </a:cubicBezTo>
                    <a:lnTo>
                      <a:pt x="174936" y="198987"/>
                    </a:lnTo>
                    <a:cubicBezTo>
                      <a:pt x="175270" y="199463"/>
                      <a:pt x="175155" y="200130"/>
                      <a:pt x="174669" y="200473"/>
                    </a:cubicBezTo>
                    <a:lnTo>
                      <a:pt x="174631" y="200492"/>
                    </a:lnTo>
                    <a:cubicBezTo>
                      <a:pt x="174399" y="200654"/>
                      <a:pt x="174112" y="200716"/>
                      <a:pt x="173833" y="200666"/>
                    </a:cubicBezTo>
                    <a:cubicBezTo>
                      <a:pt x="173554" y="200616"/>
                      <a:pt x="173307" y="200458"/>
                      <a:pt x="173145" y="200225"/>
                    </a:cubicBezTo>
                    <a:lnTo>
                      <a:pt x="168097" y="193034"/>
                    </a:lnTo>
                    <a:cubicBezTo>
                      <a:pt x="167932" y="192801"/>
                      <a:pt x="167868" y="192511"/>
                      <a:pt x="167918" y="192230"/>
                    </a:cubicBezTo>
                    <a:cubicBezTo>
                      <a:pt x="167968" y="191949"/>
                      <a:pt x="168129" y="191700"/>
                      <a:pt x="168364" y="191538"/>
                    </a:cubicBezTo>
                    <a:lnTo>
                      <a:pt x="168402" y="191519"/>
                    </a:lnTo>
                    <a:cubicBezTo>
                      <a:pt x="168576" y="191399"/>
                      <a:pt x="168781" y="191332"/>
                      <a:pt x="168993" y="191329"/>
                    </a:cubicBezTo>
                    <a:close/>
                    <a:moveTo>
                      <a:pt x="84572" y="194596"/>
                    </a:moveTo>
                    <a:cubicBezTo>
                      <a:pt x="84711" y="194587"/>
                      <a:pt x="84851" y="194607"/>
                      <a:pt x="84982" y="194653"/>
                    </a:cubicBezTo>
                    <a:lnTo>
                      <a:pt x="85096" y="194701"/>
                    </a:lnTo>
                    <a:cubicBezTo>
                      <a:pt x="85630" y="194891"/>
                      <a:pt x="85896" y="195472"/>
                      <a:pt x="85706" y="196005"/>
                    </a:cubicBezTo>
                    <a:lnTo>
                      <a:pt x="79677" y="212579"/>
                    </a:lnTo>
                    <a:cubicBezTo>
                      <a:pt x="79587" y="212832"/>
                      <a:pt x="79399" y="213038"/>
                      <a:pt x="79155" y="213151"/>
                    </a:cubicBezTo>
                    <a:cubicBezTo>
                      <a:pt x="78911" y="213264"/>
                      <a:pt x="78632" y="213274"/>
                      <a:pt x="78381" y="213179"/>
                    </a:cubicBezTo>
                    <a:lnTo>
                      <a:pt x="78248" y="213141"/>
                    </a:lnTo>
                    <a:cubicBezTo>
                      <a:pt x="77991" y="213053"/>
                      <a:pt x="77780" y="212864"/>
                      <a:pt x="77664" y="212619"/>
                    </a:cubicBezTo>
                    <a:cubicBezTo>
                      <a:pt x="77547" y="212373"/>
                      <a:pt x="77535" y="212091"/>
                      <a:pt x="77629" y="211836"/>
                    </a:cubicBezTo>
                    <a:lnTo>
                      <a:pt x="83658" y="195262"/>
                    </a:lnTo>
                    <a:cubicBezTo>
                      <a:pt x="83800" y="194876"/>
                      <a:pt x="84161" y="194613"/>
                      <a:pt x="84572" y="194596"/>
                    </a:cubicBezTo>
                    <a:close/>
                    <a:moveTo>
                      <a:pt x="143932" y="194596"/>
                    </a:moveTo>
                    <a:cubicBezTo>
                      <a:pt x="144379" y="194573"/>
                      <a:pt x="144788" y="194843"/>
                      <a:pt x="144942" y="195262"/>
                    </a:cubicBezTo>
                    <a:lnTo>
                      <a:pt x="150971" y="211817"/>
                    </a:lnTo>
                    <a:cubicBezTo>
                      <a:pt x="151063" y="212072"/>
                      <a:pt x="151049" y="212353"/>
                      <a:pt x="150933" y="212598"/>
                    </a:cubicBezTo>
                    <a:cubicBezTo>
                      <a:pt x="150817" y="212843"/>
                      <a:pt x="150608" y="213031"/>
                      <a:pt x="150352" y="213122"/>
                    </a:cubicBezTo>
                    <a:lnTo>
                      <a:pt x="150209" y="213179"/>
                    </a:lnTo>
                    <a:cubicBezTo>
                      <a:pt x="149954" y="213271"/>
                      <a:pt x="149673" y="213257"/>
                      <a:pt x="149428" y="213141"/>
                    </a:cubicBezTo>
                    <a:cubicBezTo>
                      <a:pt x="149183" y="213024"/>
                      <a:pt x="148995" y="212815"/>
                      <a:pt x="148904" y="212560"/>
                    </a:cubicBezTo>
                    <a:lnTo>
                      <a:pt x="142875" y="196005"/>
                    </a:lnTo>
                    <a:cubicBezTo>
                      <a:pt x="142683" y="195477"/>
                      <a:pt x="142956" y="194893"/>
                      <a:pt x="143485" y="194701"/>
                    </a:cubicBezTo>
                    <a:lnTo>
                      <a:pt x="143618" y="194653"/>
                    </a:lnTo>
                    <a:cubicBezTo>
                      <a:pt x="143719" y="194619"/>
                      <a:pt x="143825" y="194600"/>
                      <a:pt x="143932" y="194596"/>
                    </a:cubicBezTo>
                    <a:close/>
                    <a:moveTo>
                      <a:pt x="99212" y="198501"/>
                    </a:moveTo>
                    <a:cubicBezTo>
                      <a:pt x="99289" y="198501"/>
                      <a:pt x="99346" y="198501"/>
                      <a:pt x="99412" y="198520"/>
                    </a:cubicBezTo>
                    <a:lnTo>
                      <a:pt x="99470" y="198539"/>
                    </a:lnTo>
                    <a:cubicBezTo>
                      <a:pt x="100060" y="198634"/>
                      <a:pt x="100432" y="199177"/>
                      <a:pt x="100327" y="199768"/>
                    </a:cubicBezTo>
                    <a:lnTo>
                      <a:pt x="97298" y="217027"/>
                    </a:lnTo>
                    <a:cubicBezTo>
                      <a:pt x="97249" y="217309"/>
                      <a:pt x="97090" y="217560"/>
                      <a:pt x="96856" y="217724"/>
                    </a:cubicBezTo>
                    <a:cubicBezTo>
                      <a:pt x="96622" y="217889"/>
                      <a:pt x="96332" y="217953"/>
                      <a:pt x="96050" y="217903"/>
                    </a:cubicBezTo>
                    <a:lnTo>
                      <a:pt x="96012" y="217884"/>
                    </a:lnTo>
                    <a:cubicBezTo>
                      <a:pt x="95732" y="217840"/>
                      <a:pt x="95481" y="217685"/>
                      <a:pt x="95316" y="217454"/>
                    </a:cubicBezTo>
                    <a:cubicBezTo>
                      <a:pt x="95151" y="217223"/>
                      <a:pt x="95086" y="216935"/>
                      <a:pt x="95136" y="216656"/>
                    </a:cubicBezTo>
                    <a:lnTo>
                      <a:pt x="98184" y="199396"/>
                    </a:lnTo>
                    <a:cubicBezTo>
                      <a:pt x="98270" y="198891"/>
                      <a:pt x="98700" y="198516"/>
                      <a:pt x="99212" y="198501"/>
                    </a:cubicBezTo>
                    <a:close/>
                    <a:moveTo>
                      <a:pt x="129178" y="198520"/>
                    </a:moveTo>
                    <a:cubicBezTo>
                      <a:pt x="129254" y="198501"/>
                      <a:pt x="129321" y="198520"/>
                      <a:pt x="129388" y="198520"/>
                    </a:cubicBezTo>
                    <a:cubicBezTo>
                      <a:pt x="129893" y="198531"/>
                      <a:pt x="130320" y="198898"/>
                      <a:pt x="130407" y="199396"/>
                    </a:cubicBezTo>
                    <a:lnTo>
                      <a:pt x="133455" y="216656"/>
                    </a:lnTo>
                    <a:cubicBezTo>
                      <a:pt x="133569" y="217237"/>
                      <a:pt x="133169" y="217799"/>
                      <a:pt x="132588" y="217903"/>
                    </a:cubicBezTo>
                    <a:lnTo>
                      <a:pt x="132550" y="217922"/>
                    </a:lnTo>
                    <a:cubicBezTo>
                      <a:pt x="131966" y="218020"/>
                      <a:pt x="131413" y="217629"/>
                      <a:pt x="131312" y="217046"/>
                    </a:cubicBezTo>
                    <a:lnTo>
                      <a:pt x="128254" y="199787"/>
                    </a:lnTo>
                    <a:cubicBezTo>
                      <a:pt x="128204" y="199505"/>
                      <a:pt x="128269" y="199215"/>
                      <a:pt x="128433" y="198981"/>
                    </a:cubicBezTo>
                    <a:cubicBezTo>
                      <a:pt x="128598" y="198747"/>
                      <a:pt x="128849" y="198588"/>
                      <a:pt x="129130" y="198539"/>
                    </a:cubicBezTo>
                    <a:lnTo>
                      <a:pt x="129178" y="198520"/>
                    </a:lnTo>
                    <a:close/>
                    <a:moveTo>
                      <a:pt x="74028" y="199654"/>
                    </a:moveTo>
                    <a:cubicBezTo>
                      <a:pt x="74167" y="199659"/>
                      <a:pt x="74303" y="199691"/>
                      <a:pt x="74428" y="199749"/>
                    </a:cubicBezTo>
                    <a:lnTo>
                      <a:pt x="74466" y="199768"/>
                    </a:lnTo>
                    <a:cubicBezTo>
                      <a:pt x="75001" y="200022"/>
                      <a:pt x="75234" y="200657"/>
                      <a:pt x="74990" y="201197"/>
                    </a:cubicBezTo>
                    <a:lnTo>
                      <a:pt x="71247" y="209140"/>
                    </a:lnTo>
                    <a:cubicBezTo>
                      <a:pt x="71001" y="209673"/>
                      <a:pt x="70371" y="209907"/>
                      <a:pt x="69837" y="209664"/>
                    </a:cubicBezTo>
                    <a:lnTo>
                      <a:pt x="69799" y="209645"/>
                    </a:lnTo>
                    <a:cubicBezTo>
                      <a:pt x="69541" y="209527"/>
                      <a:pt x="69341" y="209311"/>
                      <a:pt x="69242" y="209045"/>
                    </a:cubicBezTo>
                    <a:cubicBezTo>
                      <a:pt x="69144" y="208778"/>
                      <a:pt x="69156" y="208484"/>
                      <a:pt x="69275" y="208226"/>
                    </a:cubicBezTo>
                    <a:lnTo>
                      <a:pt x="73019" y="200263"/>
                    </a:lnTo>
                    <a:cubicBezTo>
                      <a:pt x="73201" y="199879"/>
                      <a:pt x="73594" y="199639"/>
                      <a:pt x="74019" y="199654"/>
                    </a:cubicBezTo>
                    <a:close/>
                    <a:moveTo>
                      <a:pt x="154591" y="199654"/>
                    </a:moveTo>
                    <a:cubicBezTo>
                      <a:pt x="155011" y="199629"/>
                      <a:pt x="155403" y="199863"/>
                      <a:pt x="155581" y="200244"/>
                    </a:cubicBezTo>
                    <a:lnTo>
                      <a:pt x="159296" y="208245"/>
                    </a:lnTo>
                    <a:cubicBezTo>
                      <a:pt x="159417" y="208496"/>
                      <a:pt x="159432" y="208785"/>
                      <a:pt x="159339" y="209048"/>
                    </a:cubicBezTo>
                    <a:cubicBezTo>
                      <a:pt x="159246" y="209311"/>
                      <a:pt x="159053" y="209526"/>
                      <a:pt x="158801" y="209645"/>
                    </a:cubicBezTo>
                    <a:lnTo>
                      <a:pt x="158725" y="209683"/>
                    </a:lnTo>
                    <a:cubicBezTo>
                      <a:pt x="158471" y="209799"/>
                      <a:pt x="158181" y="209809"/>
                      <a:pt x="157920" y="209711"/>
                    </a:cubicBezTo>
                    <a:cubicBezTo>
                      <a:pt x="157659" y="209612"/>
                      <a:pt x="157448" y="209414"/>
                      <a:pt x="157334" y="209159"/>
                    </a:cubicBezTo>
                    <a:lnTo>
                      <a:pt x="153610" y="201178"/>
                    </a:lnTo>
                    <a:cubicBezTo>
                      <a:pt x="153366" y="200654"/>
                      <a:pt x="153592" y="200032"/>
                      <a:pt x="154114" y="199787"/>
                    </a:cubicBezTo>
                    <a:lnTo>
                      <a:pt x="154191" y="199749"/>
                    </a:lnTo>
                    <a:cubicBezTo>
                      <a:pt x="154316" y="199691"/>
                      <a:pt x="154452" y="199659"/>
                      <a:pt x="154591" y="199654"/>
                    </a:cubicBezTo>
                    <a:close/>
                    <a:moveTo>
                      <a:pt x="114243" y="199825"/>
                    </a:moveTo>
                    <a:lnTo>
                      <a:pt x="114300" y="199825"/>
                    </a:lnTo>
                    <a:cubicBezTo>
                      <a:pt x="114900" y="199825"/>
                      <a:pt x="115395" y="200301"/>
                      <a:pt x="115395" y="200901"/>
                    </a:cubicBezTo>
                    <a:lnTo>
                      <a:pt x="115414" y="218427"/>
                    </a:lnTo>
                    <a:cubicBezTo>
                      <a:pt x="115414" y="219027"/>
                      <a:pt x="114938" y="219504"/>
                      <a:pt x="114338" y="219504"/>
                    </a:cubicBezTo>
                    <a:lnTo>
                      <a:pt x="114281" y="219504"/>
                    </a:lnTo>
                    <a:cubicBezTo>
                      <a:pt x="113687" y="219504"/>
                      <a:pt x="113205" y="219022"/>
                      <a:pt x="113205" y="218427"/>
                    </a:cubicBezTo>
                    <a:lnTo>
                      <a:pt x="113167" y="200920"/>
                    </a:lnTo>
                    <a:cubicBezTo>
                      <a:pt x="113167" y="200320"/>
                      <a:pt x="113643" y="199825"/>
                      <a:pt x="114243" y="199825"/>
                    </a:cubicBezTo>
                    <a:close/>
                    <a:moveTo>
                      <a:pt x="89554" y="205330"/>
                    </a:moveTo>
                    <a:cubicBezTo>
                      <a:pt x="89659" y="205330"/>
                      <a:pt x="89764" y="205330"/>
                      <a:pt x="89878" y="205369"/>
                    </a:cubicBezTo>
                    <a:lnTo>
                      <a:pt x="89926" y="205388"/>
                    </a:lnTo>
                    <a:cubicBezTo>
                      <a:pt x="90497" y="205540"/>
                      <a:pt x="90830" y="206121"/>
                      <a:pt x="90678" y="206683"/>
                    </a:cubicBezTo>
                    <a:lnTo>
                      <a:pt x="88392" y="215189"/>
                    </a:lnTo>
                    <a:cubicBezTo>
                      <a:pt x="88319" y="215461"/>
                      <a:pt x="88139" y="215693"/>
                      <a:pt x="87894" y="215832"/>
                    </a:cubicBezTo>
                    <a:cubicBezTo>
                      <a:pt x="87649" y="215972"/>
                      <a:pt x="87359" y="216008"/>
                      <a:pt x="87087" y="215932"/>
                    </a:cubicBezTo>
                    <a:lnTo>
                      <a:pt x="87030" y="215913"/>
                    </a:lnTo>
                    <a:cubicBezTo>
                      <a:pt x="86758" y="215839"/>
                      <a:pt x="86526" y="215660"/>
                      <a:pt x="86387" y="215415"/>
                    </a:cubicBezTo>
                    <a:cubicBezTo>
                      <a:pt x="86247" y="215170"/>
                      <a:pt x="86211" y="214879"/>
                      <a:pt x="86287" y="214608"/>
                    </a:cubicBezTo>
                    <a:lnTo>
                      <a:pt x="88573" y="206131"/>
                    </a:lnTo>
                    <a:cubicBezTo>
                      <a:pt x="88692" y="205679"/>
                      <a:pt x="89088" y="205356"/>
                      <a:pt x="89554" y="205330"/>
                    </a:cubicBezTo>
                    <a:close/>
                    <a:moveTo>
                      <a:pt x="139046" y="205349"/>
                    </a:moveTo>
                    <a:cubicBezTo>
                      <a:pt x="139510" y="205364"/>
                      <a:pt x="139909" y="205682"/>
                      <a:pt x="140027" y="206131"/>
                    </a:cubicBezTo>
                    <a:lnTo>
                      <a:pt x="142313" y="214608"/>
                    </a:lnTo>
                    <a:cubicBezTo>
                      <a:pt x="142392" y="214879"/>
                      <a:pt x="142357" y="215171"/>
                      <a:pt x="142217" y="215417"/>
                    </a:cubicBezTo>
                    <a:cubicBezTo>
                      <a:pt x="142077" y="215663"/>
                      <a:pt x="141844" y="215842"/>
                      <a:pt x="141570" y="215913"/>
                    </a:cubicBezTo>
                    <a:lnTo>
                      <a:pt x="141513" y="215932"/>
                    </a:lnTo>
                    <a:cubicBezTo>
                      <a:pt x="141243" y="216007"/>
                      <a:pt x="140953" y="215971"/>
                      <a:pt x="140710" y="215832"/>
                    </a:cubicBezTo>
                    <a:cubicBezTo>
                      <a:pt x="140466" y="215692"/>
                      <a:pt x="140289" y="215460"/>
                      <a:pt x="140218" y="215189"/>
                    </a:cubicBezTo>
                    <a:lnTo>
                      <a:pt x="137932" y="206712"/>
                    </a:lnTo>
                    <a:cubicBezTo>
                      <a:pt x="137850" y="206439"/>
                      <a:pt x="137883" y="206144"/>
                      <a:pt x="138023" y="205896"/>
                    </a:cubicBezTo>
                    <a:cubicBezTo>
                      <a:pt x="138164" y="205648"/>
                      <a:pt x="138399" y="205468"/>
                      <a:pt x="138674" y="205397"/>
                    </a:cubicBezTo>
                    <a:lnTo>
                      <a:pt x="138722" y="205378"/>
                    </a:lnTo>
                    <a:cubicBezTo>
                      <a:pt x="138828" y="205352"/>
                      <a:pt x="138937" y="205342"/>
                      <a:pt x="139046" y="205349"/>
                    </a:cubicBezTo>
                    <a:close/>
                    <a:moveTo>
                      <a:pt x="105947" y="208226"/>
                    </a:moveTo>
                    <a:lnTo>
                      <a:pt x="106042" y="208226"/>
                    </a:lnTo>
                    <a:lnTo>
                      <a:pt x="106118" y="208245"/>
                    </a:lnTo>
                    <a:cubicBezTo>
                      <a:pt x="106699" y="208302"/>
                      <a:pt x="107137" y="208817"/>
                      <a:pt x="107080" y="209398"/>
                    </a:cubicBezTo>
                    <a:lnTo>
                      <a:pt x="106318" y="218161"/>
                    </a:lnTo>
                    <a:cubicBezTo>
                      <a:pt x="106268" y="218747"/>
                      <a:pt x="105752" y="219182"/>
                      <a:pt x="105166" y="219132"/>
                    </a:cubicBezTo>
                    <a:lnTo>
                      <a:pt x="105089" y="219132"/>
                    </a:lnTo>
                    <a:cubicBezTo>
                      <a:pt x="104809" y="219108"/>
                      <a:pt x="104550" y="218972"/>
                      <a:pt x="104371" y="218756"/>
                    </a:cubicBezTo>
                    <a:cubicBezTo>
                      <a:pt x="104192" y="218539"/>
                      <a:pt x="104108" y="218259"/>
                      <a:pt x="104137" y="217980"/>
                    </a:cubicBezTo>
                    <a:lnTo>
                      <a:pt x="104899" y="209198"/>
                    </a:lnTo>
                    <a:cubicBezTo>
                      <a:pt x="104943" y="208651"/>
                      <a:pt x="105398" y="208229"/>
                      <a:pt x="105947" y="208226"/>
                    </a:cubicBezTo>
                    <a:close/>
                    <a:moveTo>
                      <a:pt x="122482" y="208226"/>
                    </a:moveTo>
                    <a:lnTo>
                      <a:pt x="122672" y="208226"/>
                    </a:lnTo>
                    <a:cubicBezTo>
                      <a:pt x="123212" y="208239"/>
                      <a:pt x="123653" y="208660"/>
                      <a:pt x="123692" y="209198"/>
                    </a:cubicBezTo>
                    <a:lnTo>
                      <a:pt x="124454" y="217999"/>
                    </a:lnTo>
                    <a:cubicBezTo>
                      <a:pt x="124477" y="218277"/>
                      <a:pt x="124389" y="218553"/>
                      <a:pt x="124208" y="218766"/>
                    </a:cubicBezTo>
                    <a:cubicBezTo>
                      <a:pt x="124028" y="218978"/>
                      <a:pt x="123770" y="219110"/>
                      <a:pt x="123492" y="219132"/>
                    </a:cubicBezTo>
                    <a:lnTo>
                      <a:pt x="123415" y="219151"/>
                    </a:lnTo>
                    <a:cubicBezTo>
                      <a:pt x="123134" y="219178"/>
                      <a:pt x="122854" y="219089"/>
                      <a:pt x="122639" y="218906"/>
                    </a:cubicBezTo>
                    <a:cubicBezTo>
                      <a:pt x="122424" y="218723"/>
                      <a:pt x="122292" y="218461"/>
                      <a:pt x="122272" y="218180"/>
                    </a:cubicBezTo>
                    <a:lnTo>
                      <a:pt x="121510" y="209379"/>
                    </a:lnTo>
                    <a:cubicBezTo>
                      <a:pt x="121466" y="208796"/>
                      <a:pt x="121900" y="208286"/>
                      <a:pt x="122482" y="208236"/>
                    </a:cubicBezTo>
                    <a:close/>
                  </a:path>
                </a:pathLst>
              </a:custGeom>
              <a:solidFill>
                <a:schemeClr val="accent1"/>
              </a:solidFill>
              <a:ln>
                <a:noFill/>
              </a:ln>
            </p:spPr>
          </p:sp>
          <p:sp>
            <p:nvSpPr>
              <p:cNvPr id="47" name="TextBox 47"/>
              <p:cNvSpPr txBox="1"/>
              <p:nvPr/>
            </p:nvSpPr>
            <p:spPr>
              <a:xfrm>
                <a:off x="9233154" y="1809750"/>
                <a:ext cx="1369472"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Safari web browser</a:t>
                </a:r>
              </a:p>
            </p:txBody>
          </p:sp>
          <p:sp>
            <p:nvSpPr>
              <p:cNvPr id="48" name="Freeform 48"/>
              <p:cNvSpPr/>
              <p:nvPr/>
            </p:nvSpPr>
            <p:spPr>
              <a:xfrm>
                <a:off x="8915705" y="2133600"/>
                <a:ext cx="227981" cy="228600"/>
              </a:xfrm>
              <a:custGeom>
                <a:avLst/>
                <a:gdLst/>
                <a:ahLst/>
                <a:cxnLst/>
                <a:rect l="l" t="t" r="r" b="b"/>
                <a:pathLst>
                  <a:path w="227981" h="228600">
                    <a:moveTo>
                      <a:pt x="114652" y="179775"/>
                    </a:moveTo>
                    <a:cubicBezTo>
                      <a:pt x="76333" y="179775"/>
                      <a:pt x="59217" y="160925"/>
                      <a:pt x="59217" y="146780"/>
                    </a:cubicBezTo>
                    <a:cubicBezTo>
                      <a:pt x="59217" y="139494"/>
                      <a:pt x="64560" y="134436"/>
                      <a:pt x="71914" y="134436"/>
                    </a:cubicBezTo>
                    <a:cubicBezTo>
                      <a:pt x="88325" y="134436"/>
                      <a:pt x="84039" y="158029"/>
                      <a:pt x="114652" y="158029"/>
                    </a:cubicBezTo>
                    <a:cubicBezTo>
                      <a:pt x="130283" y="158029"/>
                      <a:pt x="138941" y="149504"/>
                      <a:pt x="138941" y="140780"/>
                    </a:cubicBezTo>
                    <a:cubicBezTo>
                      <a:pt x="138941" y="135531"/>
                      <a:pt x="136379" y="129731"/>
                      <a:pt x="126044" y="127168"/>
                    </a:cubicBezTo>
                    <a:lnTo>
                      <a:pt x="91983" y="118643"/>
                    </a:lnTo>
                    <a:cubicBezTo>
                      <a:pt x="64551" y="111747"/>
                      <a:pt x="59569" y="96869"/>
                      <a:pt x="59569" y="82915"/>
                    </a:cubicBezTo>
                    <a:cubicBezTo>
                      <a:pt x="59569" y="53892"/>
                      <a:pt x="86820" y="42996"/>
                      <a:pt x="112424" y="42996"/>
                    </a:cubicBezTo>
                    <a:cubicBezTo>
                      <a:pt x="135960" y="42996"/>
                      <a:pt x="163792" y="56074"/>
                      <a:pt x="163792" y="73466"/>
                    </a:cubicBezTo>
                    <a:cubicBezTo>
                      <a:pt x="163792" y="80934"/>
                      <a:pt x="157239" y="85277"/>
                      <a:pt x="149952" y="85277"/>
                    </a:cubicBezTo>
                    <a:cubicBezTo>
                      <a:pt x="135960" y="85277"/>
                      <a:pt x="138541" y="65875"/>
                      <a:pt x="110290" y="65875"/>
                    </a:cubicBezTo>
                    <a:cubicBezTo>
                      <a:pt x="96298" y="65875"/>
                      <a:pt x="88459" y="72199"/>
                      <a:pt x="88459" y="81277"/>
                    </a:cubicBezTo>
                    <a:cubicBezTo>
                      <a:pt x="88459" y="90354"/>
                      <a:pt x="99441" y="93259"/>
                      <a:pt x="109004" y="95441"/>
                    </a:cubicBezTo>
                    <a:lnTo>
                      <a:pt x="134122" y="101032"/>
                    </a:lnTo>
                    <a:cubicBezTo>
                      <a:pt x="161658" y="107213"/>
                      <a:pt x="168640" y="123377"/>
                      <a:pt x="168640" y="138598"/>
                    </a:cubicBezTo>
                    <a:cubicBezTo>
                      <a:pt x="168640" y="162182"/>
                      <a:pt x="150524" y="179784"/>
                      <a:pt x="114138" y="179784"/>
                    </a:cubicBezTo>
                    <a:moveTo>
                      <a:pt x="219713" y="133283"/>
                    </a:moveTo>
                    <a:lnTo>
                      <a:pt x="219437" y="134569"/>
                    </a:lnTo>
                    <a:lnTo>
                      <a:pt x="219018" y="132283"/>
                    </a:lnTo>
                    <a:cubicBezTo>
                      <a:pt x="219161" y="132712"/>
                      <a:pt x="219437" y="132988"/>
                      <a:pt x="219580" y="133426"/>
                    </a:cubicBezTo>
                    <a:cubicBezTo>
                      <a:pt x="220723" y="126997"/>
                      <a:pt x="221304" y="120444"/>
                      <a:pt x="221304" y="113881"/>
                    </a:cubicBezTo>
                    <a:cubicBezTo>
                      <a:pt x="221304" y="99317"/>
                      <a:pt x="218437" y="85192"/>
                      <a:pt x="212750" y="71780"/>
                    </a:cubicBezTo>
                    <a:cubicBezTo>
                      <a:pt x="207331" y="58941"/>
                      <a:pt x="199463" y="47377"/>
                      <a:pt x="189633" y="37528"/>
                    </a:cubicBezTo>
                    <a:cubicBezTo>
                      <a:pt x="179642" y="27689"/>
                      <a:pt x="168231" y="19850"/>
                      <a:pt x="155391" y="14421"/>
                    </a:cubicBezTo>
                    <a:cubicBezTo>
                      <a:pt x="142837" y="8411"/>
                      <a:pt x="128711" y="5563"/>
                      <a:pt x="114167" y="5563"/>
                    </a:cubicBezTo>
                    <a:cubicBezTo>
                      <a:pt x="107309" y="5563"/>
                      <a:pt x="100413" y="6229"/>
                      <a:pt x="93755" y="7506"/>
                    </a:cubicBezTo>
                    <a:lnTo>
                      <a:pt x="94888" y="8077"/>
                    </a:lnTo>
                    <a:lnTo>
                      <a:pt x="92612" y="7763"/>
                    </a:lnTo>
                    <a:lnTo>
                      <a:pt x="93745" y="7525"/>
                    </a:lnTo>
                    <a:cubicBezTo>
                      <a:pt x="84563" y="2610"/>
                      <a:pt x="74266" y="0"/>
                      <a:pt x="63808" y="0"/>
                    </a:cubicBezTo>
                    <a:cubicBezTo>
                      <a:pt x="46768" y="0"/>
                      <a:pt x="30756" y="6648"/>
                      <a:pt x="18698" y="18736"/>
                    </a:cubicBezTo>
                    <a:cubicBezTo>
                      <a:pt x="6639" y="30813"/>
                      <a:pt x="0" y="46892"/>
                      <a:pt x="0" y="63970"/>
                    </a:cubicBezTo>
                    <a:cubicBezTo>
                      <a:pt x="0" y="74857"/>
                      <a:pt x="2781" y="85544"/>
                      <a:pt x="8039" y="95002"/>
                    </a:cubicBezTo>
                    <a:lnTo>
                      <a:pt x="8230" y="93821"/>
                    </a:lnTo>
                    <a:lnTo>
                      <a:pt x="8620" y="96098"/>
                    </a:lnTo>
                    <a:lnTo>
                      <a:pt x="8049" y="95002"/>
                    </a:lnTo>
                    <a:cubicBezTo>
                      <a:pt x="6963" y="101146"/>
                      <a:pt x="6410" y="107375"/>
                      <a:pt x="6410" y="113624"/>
                    </a:cubicBezTo>
                    <a:cubicBezTo>
                      <a:pt x="6410" y="128197"/>
                      <a:pt x="9268" y="142361"/>
                      <a:pt x="14830" y="155686"/>
                    </a:cubicBezTo>
                    <a:cubicBezTo>
                      <a:pt x="20241" y="168659"/>
                      <a:pt x="27956" y="180223"/>
                      <a:pt x="37948" y="190062"/>
                    </a:cubicBezTo>
                    <a:cubicBezTo>
                      <a:pt x="47796" y="200063"/>
                      <a:pt x="59350" y="207750"/>
                      <a:pt x="72190" y="213322"/>
                    </a:cubicBezTo>
                    <a:cubicBezTo>
                      <a:pt x="85468" y="219037"/>
                      <a:pt x="99593" y="221875"/>
                      <a:pt x="114138" y="221875"/>
                    </a:cubicBezTo>
                    <a:cubicBezTo>
                      <a:pt x="120415" y="221875"/>
                      <a:pt x="126844" y="221304"/>
                      <a:pt x="132969" y="220170"/>
                    </a:cubicBezTo>
                    <a:lnTo>
                      <a:pt x="131836" y="219580"/>
                    </a:lnTo>
                    <a:lnTo>
                      <a:pt x="134122" y="220018"/>
                    </a:lnTo>
                    <a:lnTo>
                      <a:pt x="132836" y="220304"/>
                    </a:lnTo>
                    <a:cubicBezTo>
                      <a:pt x="142380" y="225723"/>
                      <a:pt x="153086" y="228600"/>
                      <a:pt x="164211" y="228600"/>
                    </a:cubicBezTo>
                    <a:cubicBezTo>
                      <a:pt x="181194" y="228600"/>
                      <a:pt x="197158" y="222028"/>
                      <a:pt x="209293" y="209902"/>
                    </a:cubicBezTo>
                    <a:cubicBezTo>
                      <a:pt x="221285" y="197910"/>
                      <a:pt x="227981" y="181794"/>
                      <a:pt x="227981" y="164668"/>
                    </a:cubicBezTo>
                    <a:cubicBezTo>
                      <a:pt x="227981" y="153829"/>
                      <a:pt x="225133" y="143123"/>
                      <a:pt x="219856" y="133560"/>
                    </a:cubicBezTo>
                  </a:path>
                </a:pathLst>
              </a:custGeom>
              <a:solidFill>
                <a:schemeClr val="accent1"/>
              </a:solidFill>
              <a:ln>
                <a:noFill/>
              </a:ln>
            </p:spPr>
          </p:sp>
          <p:sp>
            <p:nvSpPr>
              <p:cNvPr id="49" name="TextBox 49"/>
              <p:cNvSpPr txBox="1"/>
              <p:nvPr/>
            </p:nvSpPr>
            <p:spPr>
              <a:xfrm>
                <a:off x="9233154" y="2152650"/>
                <a:ext cx="1260888"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instance of Skype</a:t>
                </a:r>
              </a:p>
            </p:txBody>
          </p:sp>
          <p:sp>
            <p:nvSpPr>
              <p:cNvPr id="50" name="Freeform 50"/>
              <p:cNvSpPr/>
              <p:nvPr/>
            </p:nvSpPr>
            <p:spPr>
              <a:xfrm>
                <a:off x="8909514" y="2473072"/>
                <a:ext cx="240354" cy="232018"/>
              </a:xfrm>
              <a:custGeom>
                <a:avLst/>
                <a:gdLst/>
                <a:ahLst/>
                <a:cxnLst/>
                <a:rect l="l" t="t" r="r" b="b"/>
                <a:pathLst>
                  <a:path w="240354" h="232018">
                    <a:moveTo>
                      <a:pt x="119967" y="232018"/>
                    </a:moveTo>
                    <a:cubicBezTo>
                      <a:pt x="96317" y="232018"/>
                      <a:pt x="73314" y="224617"/>
                      <a:pt x="53731" y="210473"/>
                    </a:cubicBezTo>
                    <a:cubicBezTo>
                      <a:pt x="29148" y="192790"/>
                      <a:pt x="12642" y="166025"/>
                      <a:pt x="7877" y="136121"/>
                    </a:cubicBezTo>
                    <a:cubicBezTo>
                      <a:pt x="2924" y="106226"/>
                      <a:pt x="10092" y="75590"/>
                      <a:pt x="27794" y="50996"/>
                    </a:cubicBezTo>
                    <a:cubicBezTo>
                      <a:pt x="45324" y="26332"/>
                      <a:pt x="72022" y="9740"/>
                      <a:pt x="101898" y="4942"/>
                    </a:cubicBezTo>
                    <a:cubicBezTo>
                      <a:pt x="131688" y="0"/>
                      <a:pt x="162214" y="7220"/>
                      <a:pt x="186633" y="24983"/>
                    </a:cubicBezTo>
                    <a:cubicBezTo>
                      <a:pt x="211217" y="42670"/>
                      <a:pt x="227726" y="69437"/>
                      <a:pt x="232496" y="99345"/>
                    </a:cubicBezTo>
                    <a:cubicBezTo>
                      <a:pt x="237444" y="129239"/>
                      <a:pt x="230277" y="159873"/>
                      <a:pt x="212579" y="184469"/>
                    </a:cubicBezTo>
                    <a:cubicBezTo>
                      <a:pt x="195045" y="209129"/>
                      <a:pt x="168348" y="225720"/>
                      <a:pt x="138474" y="230523"/>
                    </a:cubicBezTo>
                    <a:cubicBezTo>
                      <a:pt x="132355" y="231515"/>
                      <a:pt x="126166" y="232015"/>
                      <a:pt x="119967" y="232018"/>
                    </a:cubicBezTo>
                    <a:close/>
                    <a:moveTo>
                      <a:pt x="58303" y="204148"/>
                    </a:moveTo>
                    <a:cubicBezTo>
                      <a:pt x="81043" y="220687"/>
                      <a:pt x="109467" y="227412"/>
                      <a:pt x="137208" y="222817"/>
                    </a:cubicBezTo>
                    <a:cubicBezTo>
                      <a:pt x="165031" y="218339"/>
                      <a:pt x="189895" y="202884"/>
                      <a:pt x="206226" y="179916"/>
                    </a:cubicBezTo>
                    <a:cubicBezTo>
                      <a:pt x="240354" y="132263"/>
                      <a:pt x="229514" y="65588"/>
                      <a:pt x="182051" y="31298"/>
                    </a:cubicBezTo>
                    <a:cubicBezTo>
                      <a:pt x="159311" y="14759"/>
                      <a:pt x="130887" y="8034"/>
                      <a:pt x="103146" y="12629"/>
                    </a:cubicBezTo>
                    <a:cubicBezTo>
                      <a:pt x="75327" y="17111"/>
                      <a:pt x="50468" y="32565"/>
                      <a:pt x="34138" y="55530"/>
                    </a:cubicBezTo>
                    <a:cubicBezTo>
                      <a:pt x="0" y="103193"/>
                      <a:pt x="10849" y="169858"/>
                      <a:pt x="58303" y="204148"/>
                    </a:cubicBezTo>
                    <a:close/>
                    <a:moveTo>
                      <a:pt x="159325" y="170315"/>
                    </a:moveTo>
                    <a:cubicBezTo>
                      <a:pt x="166108" y="168451"/>
                      <a:pt x="171394" y="163129"/>
                      <a:pt x="173212" y="156333"/>
                    </a:cubicBezTo>
                    <a:lnTo>
                      <a:pt x="173803" y="154275"/>
                    </a:lnTo>
                    <a:lnTo>
                      <a:pt x="173879" y="99164"/>
                    </a:lnTo>
                    <a:cubicBezTo>
                      <a:pt x="173936" y="57882"/>
                      <a:pt x="173879" y="43785"/>
                      <a:pt x="173650" y="43014"/>
                    </a:cubicBezTo>
                    <a:cubicBezTo>
                      <a:pt x="173438" y="42257"/>
                      <a:pt x="173053" y="41559"/>
                      <a:pt x="172526" y="40975"/>
                    </a:cubicBezTo>
                    <a:cubicBezTo>
                      <a:pt x="171733" y="40500"/>
                      <a:pt x="170822" y="40259"/>
                      <a:pt x="169897" y="40280"/>
                    </a:cubicBezTo>
                    <a:cubicBezTo>
                      <a:pt x="169202" y="40280"/>
                      <a:pt x="166802" y="40613"/>
                      <a:pt x="164563" y="41023"/>
                    </a:cubicBezTo>
                    <a:cubicBezTo>
                      <a:pt x="154648" y="42833"/>
                      <a:pt x="96212" y="54463"/>
                      <a:pt x="95212" y="54834"/>
                    </a:cubicBezTo>
                    <a:cubicBezTo>
                      <a:pt x="93591" y="55481"/>
                      <a:pt x="92246" y="56673"/>
                      <a:pt x="91411" y="58206"/>
                    </a:cubicBezTo>
                    <a:lnTo>
                      <a:pt x="90792" y="59425"/>
                    </a:lnTo>
                    <a:cubicBezTo>
                      <a:pt x="90792" y="59425"/>
                      <a:pt x="90497" y="145817"/>
                      <a:pt x="90049" y="146789"/>
                    </a:cubicBezTo>
                    <a:cubicBezTo>
                      <a:pt x="89321" y="148313"/>
                      <a:pt x="88041" y="149505"/>
                      <a:pt x="86468" y="150122"/>
                    </a:cubicBezTo>
                    <a:cubicBezTo>
                      <a:pt x="84549" y="150621"/>
                      <a:pt x="82615" y="151056"/>
                      <a:pt x="80667" y="151427"/>
                    </a:cubicBezTo>
                    <a:cubicBezTo>
                      <a:pt x="68942" y="153761"/>
                      <a:pt x="64589" y="155437"/>
                      <a:pt x="60903" y="159057"/>
                    </a:cubicBezTo>
                    <a:cubicBezTo>
                      <a:pt x="58807" y="161114"/>
                      <a:pt x="57264" y="163914"/>
                      <a:pt x="56588" y="166867"/>
                    </a:cubicBezTo>
                    <a:cubicBezTo>
                      <a:pt x="55950" y="169668"/>
                      <a:pt x="56159" y="173878"/>
                      <a:pt x="57074" y="176440"/>
                    </a:cubicBezTo>
                    <a:cubicBezTo>
                      <a:pt x="58026" y="179116"/>
                      <a:pt x="59569" y="181402"/>
                      <a:pt x="61579" y="183203"/>
                    </a:cubicBezTo>
                    <a:cubicBezTo>
                      <a:pt x="63408" y="184612"/>
                      <a:pt x="65570" y="185660"/>
                      <a:pt x="67999" y="186289"/>
                    </a:cubicBezTo>
                    <a:cubicBezTo>
                      <a:pt x="73362" y="187660"/>
                      <a:pt x="83410" y="186136"/>
                      <a:pt x="88554" y="183165"/>
                    </a:cubicBezTo>
                    <a:cubicBezTo>
                      <a:pt x="91043" y="181602"/>
                      <a:pt x="93201" y="179566"/>
                      <a:pt x="94907" y="177173"/>
                    </a:cubicBezTo>
                    <a:cubicBezTo>
                      <a:pt x="95479" y="176326"/>
                      <a:pt x="96336" y="174621"/>
                      <a:pt x="96812" y="173373"/>
                    </a:cubicBezTo>
                    <a:cubicBezTo>
                      <a:pt x="98489" y="169029"/>
                      <a:pt x="98536" y="91639"/>
                      <a:pt x="98755" y="90667"/>
                    </a:cubicBezTo>
                    <a:cubicBezTo>
                      <a:pt x="99054" y="89079"/>
                      <a:pt x="100240" y="87804"/>
                      <a:pt x="101803" y="87391"/>
                    </a:cubicBezTo>
                    <a:cubicBezTo>
                      <a:pt x="103203" y="87010"/>
                      <a:pt x="159477" y="75894"/>
                      <a:pt x="161068" y="75675"/>
                    </a:cubicBezTo>
                    <a:cubicBezTo>
                      <a:pt x="162458" y="75484"/>
                      <a:pt x="163773" y="75932"/>
                      <a:pt x="164497" y="76818"/>
                    </a:cubicBezTo>
                    <a:cubicBezTo>
                      <a:pt x="164915" y="77030"/>
                      <a:pt x="165272" y="77344"/>
                      <a:pt x="165535" y="77732"/>
                    </a:cubicBezTo>
                    <a:cubicBezTo>
                      <a:pt x="165992" y="78399"/>
                      <a:pt x="166021" y="79761"/>
                      <a:pt x="166087" y="104259"/>
                    </a:cubicBezTo>
                    <a:cubicBezTo>
                      <a:pt x="166164" y="132453"/>
                      <a:pt x="166202" y="131806"/>
                      <a:pt x="164668" y="133587"/>
                    </a:cubicBezTo>
                    <a:cubicBezTo>
                      <a:pt x="163554" y="134882"/>
                      <a:pt x="162163" y="135387"/>
                      <a:pt x="156439" y="136540"/>
                    </a:cubicBezTo>
                    <a:cubicBezTo>
                      <a:pt x="147733" y="138330"/>
                      <a:pt x="144761" y="139169"/>
                      <a:pt x="141427" y="140797"/>
                    </a:cubicBezTo>
                    <a:cubicBezTo>
                      <a:pt x="137265" y="142826"/>
                      <a:pt x="134960" y="145045"/>
                      <a:pt x="133169" y="148751"/>
                    </a:cubicBezTo>
                    <a:cubicBezTo>
                      <a:pt x="132003" y="150963"/>
                      <a:pt x="131408" y="153432"/>
                      <a:pt x="131435" y="155933"/>
                    </a:cubicBezTo>
                    <a:cubicBezTo>
                      <a:pt x="131445" y="160600"/>
                      <a:pt x="133045" y="164229"/>
                      <a:pt x="136674" y="167791"/>
                    </a:cubicBezTo>
                    <a:cubicBezTo>
                      <a:pt x="137008" y="168115"/>
                      <a:pt x="137331" y="168420"/>
                      <a:pt x="137665" y="168715"/>
                    </a:cubicBezTo>
                    <a:cubicBezTo>
                      <a:pt x="139494" y="170125"/>
                      <a:pt x="141351" y="170982"/>
                      <a:pt x="143694" y="171515"/>
                    </a:cubicBezTo>
                    <a:cubicBezTo>
                      <a:pt x="147218" y="172296"/>
                      <a:pt x="154400" y="171754"/>
                      <a:pt x="159325" y="170315"/>
                    </a:cubicBezTo>
                    <a:close/>
                  </a:path>
                </a:pathLst>
              </a:custGeom>
              <a:solidFill>
                <a:schemeClr val="accent1"/>
              </a:solidFill>
              <a:ln>
                <a:noFill/>
              </a:ln>
            </p:spPr>
          </p:sp>
          <p:sp>
            <p:nvSpPr>
              <p:cNvPr id="51" name="TextBox 51"/>
              <p:cNvSpPr txBox="1"/>
              <p:nvPr/>
            </p:nvSpPr>
            <p:spPr>
              <a:xfrm>
                <a:off x="9233154" y="2495550"/>
                <a:ext cx="129660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instance of iTunes</a:t>
                </a:r>
              </a:p>
            </p:txBody>
          </p:sp>
          <p:sp>
            <p:nvSpPr>
              <p:cNvPr id="52" name="Freeform 52"/>
              <p:cNvSpPr/>
              <p:nvPr/>
            </p:nvSpPr>
            <p:spPr>
              <a:xfrm>
                <a:off x="8915400" y="2836612"/>
                <a:ext cx="228600" cy="194177"/>
              </a:xfrm>
              <a:custGeom>
                <a:avLst/>
                <a:gdLst/>
                <a:ahLst/>
                <a:cxnLst/>
                <a:rect l="l" t="t" r="r" b="b"/>
                <a:pathLst>
                  <a:path w="228600" h="194177">
                    <a:moveTo>
                      <a:pt x="57150" y="0"/>
                    </a:moveTo>
                    <a:lnTo>
                      <a:pt x="0" y="36405"/>
                    </a:lnTo>
                    <a:lnTo>
                      <a:pt x="57150" y="72809"/>
                    </a:lnTo>
                    <a:lnTo>
                      <a:pt x="114310" y="36405"/>
                    </a:lnTo>
                    <a:lnTo>
                      <a:pt x="57150" y="0"/>
                    </a:lnTo>
                    <a:close/>
                    <a:moveTo>
                      <a:pt x="171450" y="0"/>
                    </a:moveTo>
                    <a:lnTo>
                      <a:pt x="114300" y="36405"/>
                    </a:lnTo>
                    <a:lnTo>
                      <a:pt x="171450" y="72809"/>
                    </a:lnTo>
                    <a:lnTo>
                      <a:pt x="228600" y="36405"/>
                    </a:lnTo>
                    <a:lnTo>
                      <a:pt x="171450" y="0"/>
                    </a:lnTo>
                    <a:close/>
                    <a:moveTo>
                      <a:pt x="0" y="109223"/>
                    </a:moveTo>
                    <a:lnTo>
                      <a:pt x="57150" y="145628"/>
                    </a:lnTo>
                    <a:lnTo>
                      <a:pt x="114310" y="109223"/>
                    </a:lnTo>
                    <a:lnTo>
                      <a:pt x="57150" y="72819"/>
                    </a:lnTo>
                    <a:lnTo>
                      <a:pt x="0" y="109223"/>
                    </a:lnTo>
                    <a:close/>
                    <a:moveTo>
                      <a:pt x="171450" y="72819"/>
                    </a:moveTo>
                    <a:lnTo>
                      <a:pt x="114300" y="109223"/>
                    </a:lnTo>
                    <a:lnTo>
                      <a:pt x="171450" y="145628"/>
                    </a:lnTo>
                    <a:lnTo>
                      <a:pt x="228600" y="109223"/>
                    </a:lnTo>
                    <a:lnTo>
                      <a:pt x="171450" y="72819"/>
                    </a:lnTo>
                    <a:close/>
                    <a:moveTo>
                      <a:pt x="57150" y="157772"/>
                    </a:moveTo>
                    <a:lnTo>
                      <a:pt x="114310" y="194177"/>
                    </a:lnTo>
                    <a:lnTo>
                      <a:pt x="171460" y="157772"/>
                    </a:lnTo>
                    <a:lnTo>
                      <a:pt x="114310" y="121368"/>
                    </a:lnTo>
                    <a:lnTo>
                      <a:pt x="57150" y="157772"/>
                    </a:lnTo>
                    <a:close/>
                  </a:path>
                </a:pathLst>
              </a:custGeom>
              <a:solidFill>
                <a:schemeClr val="accent1"/>
              </a:solidFill>
              <a:ln>
                <a:noFill/>
              </a:ln>
            </p:spPr>
          </p:sp>
          <p:sp>
            <p:nvSpPr>
              <p:cNvPr id="53" name="TextBox 53"/>
              <p:cNvSpPr txBox="1"/>
              <p:nvPr/>
            </p:nvSpPr>
            <p:spPr>
              <a:xfrm>
                <a:off x="9233154" y="2838450"/>
                <a:ext cx="1067368"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Dropbox client</a:t>
                </a:r>
              </a:p>
            </p:txBody>
          </p:sp>
          <p:sp>
            <p:nvSpPr>
              <p:cNvPr id="54" name="Freeform 54"/>
              <p:cNvSpPr/>
              <p:nvPr/>
            </p:nvSpPr>
            <p:spPr>
              <a:xfrm>
                <a:off x="8915400" y="3162300"/>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120415" y="39372"/>
                    </a:moveTo>
                    <a:cubicBezTo>
                      <a:pt x="129515" y="39372"/>
                      <a:pt x="136889" y="46763"/>
                      <a:pt x="136889" y="55880"/>
                    </a:cubicBezTo>
                    <a:lnTo>
                      <a:pt x="136889" y="142241"/>
                    </a:lnTo>
                    <a:lnTo>
                      <a:pt x="152129" y="142241"/>
                    </a:lnTo>
                    <a:cubicBezTo>
                      <a:pt x="167503" y="142241"/>
                      <a:pt x="180014" y="129710"/>
                      <a:pt x="180014" y="114304"/>
                    </a:cubicBezTo>
                    <a:cubicBezTo>
                      <a:pt x="180014" y="98899"/>
                      <a:pt x="167502" y="86364"/>
                      <a:pt x="152129" y="86364"/>
                    </a:cubicBezTo>
                    <a:lnTo>
                      <a:pt x="145791" y="86364"/>
                    </a:lnTo>
                    <a:lnTo>
                      <a:pt x="145791" y="69851"/>
                    </a:lnTo>
                    <a:lnTo>
                      <a:pt x="152129" y="69851"/>
                    </a:lnTo>
                    <a:cubicBezTo>
                      <a:pt x="176629" y="69851"/>
                      <a:pt x="196493" y="89755"/>
                      <a:pt x="196493" y="114304"/>
                    </a:cubicBezTo>
                    <a:cubicBezTo>
                      <a:pt x="196493" y="138854"/>
                      <a:pt x="176629" y="158753"/>
                      <a:pt x="152129" y="158753"/>
                    </a:cubicBezTo>
                    <a:lnTo>
                      <a:pt x="120415" y="158753"/>
                    </a:lnTo>
                    <a:close/>
                    <a:moveTo>
                      <a:pt x="76045" y="69847"/>
                    </a:moveTo>
                    <a:lnTo>
                      <a:pt x="107754" y="69847"/>
                    </a:lnTo>
                    <a:lnTo>
                      <a:pt x="107754" y="189224"/>
                    </a:lnTo>
                    <a:cubicBezTo>
                      <a:pt x="98653" y="189224"/>
                      <a:pt x="91276" y="181833"/>
                      <a:pt x="91276" y="172715"/>
                    </a:cubicBezTo>
                    <a:lnTo>
                      <a:pt x="91276" y="86356"/>
                    </a:lnTo>
                    <a:lnTo>
                      <a:pt x="76045" y="86356"/>
                    </a:lnTo>
                    <a:cubicBezTo>
                      <a:pt x="60666" y="86356"/>
                      <a:pt x="48158" y="98890"/>
                      <a:pt x="48158" y="114296"/>
                    </a:cubicBezTo>
                    <a:cubicBezTo>
                      <a:pt x="48158" y="129703"/>
                      <a:pt x="60666" y="142236"/>
                      <a:pt x="76045" y="142236"/>
                    </a:cubicBezTo>
                    <a:lnTo>
                      <a:pt x="82383" y="142236"/>
                    </a:lnTo>
                    <a:lnTo>
                      <a:pt x="82383" y="158745"/>
                    </a:lnTo>
                    <a:lnTo>
                      <a:pt x="76045" y="158745"/>
                    </a:lnTo>
                    <a:cubicBezTo>
                      <a:pt x="51542" y="158745"/>
                      <a:pt x="31680" y="138845"/>
                      <a:pt x="31680" y="114296"/>
                    </a:cubicBezTo>
                    <a:cubicBezTo>
                      <a:pt x="31680" y="89749"/>
                      <a:pt x="51542" y="69847"/>
                      <a:pt x="76045" y="69847"/>
                    </a:cubicBezTo>
                    <a:close/>
                  </a:path>
                </a:pathLst>
              </a:custGeom>
              <a:solidFill>
                <a:schemeClr val="accent1"/>
              </a:solidFill>
              <a:ln>
                <a:noFill/>
              </a:ln>
            </p:spPr>
          </p:sp>
          <p:sp>
            <p:nvSpPr>
              <p:cNvPr id="55" name="TextBox 55"/>
              <p:cNvSpPr txBox="1"/>
              <p:nvPr/>
            </p:nvSpPr>
            <p:spPr>
              <a:xfrm>
                <a:off x="9233154" y="3181350"/>
                <a:ext cx="1890288"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TurboTax and QuickBooks</a:t>
                </a:r>
              </a:p>
            </p:txBody>
          </p:sp>
        </p:grpSp>
      </p:grpSp>
      <p:grpSp>
        <p:nvGrpSpPr>
          <p:cNvPr id="76" name="hosts-also"/>
          <p:cNvGrpSpPr/>
          <p:nvPr/>
        </p:nvGrpSpPr>
        <p:grpSpPr>
          <a:xfrm>
            <a:off x="6096000" y="3984625"/>
            <a:ext cx="5486400" cy="1082675"/>
            <a:chOff x="6096000" y="3984625"/>
            <a:chExt cx="5486400" cy="1082675"/>
          </a:xfrm>
        </p:grpSpPr>
        <p:sp>
          <p:nvSpPr>
            <p:cNvPr id="58" name="Rectangle 58"/>
            <p:cNvSpPr/>
            <p:nvPr/>
          </p:nvSpPr>
          <p:spPr>
            <a:xfrm>
              <a:off x="6096000" y="4076700"/>
              <a:ext cx="5486400" cy="990600"/>
            </a:xfrm>
            <a:prstGeom prst="roundRect">
              <a:avLst>
                <a:gd name="adj" fmla="val 1923"/>
              </a:avLst>
            </a:prstGeom>
            <a:noFill/>
            <a:ln w="11906">
              <a:solidFill>
                <a:schemeClr val="accent6"/>
              </a:solidFill>
              <a:prstDash val="dash"/>
            </a:ln>
          </p:spPr>
        </p:sp>
        <p:sp>
          <p:nvSpPr>
            <p:cNvPr id="59" name="Rectangle 59"/>
            <p:cNvSpPr/>
            <p:nvPr/>
          </p:nvSpPr>
          <p:spPr>
            <a:xfrm>
              <a:off x="6210300" y="4000500"/>
              <a:ext cx="1257300" cy="152400"/>
            </a:xfrm>
            <a:prstGeom prst="rect">
              <a:avLst/>
            </a:prstGeom>
            <a:solidFill>
              <a:schemeClr val="lt1"/>
            </a:solidFill>
            <a:ln>
              <a:noFill/>
            </a:ln>
          </p:spPr>
        </p:sp>
        <p:sp>
          <p:nvSpPr>
            <p:cNvPr id="60" name="TextBox 60"/>
            <p:cNvSpPr txBox="1"/>
            <p:nvPr/>
          </p:nvSpPr>
          <p:spPr>
            <a:xfrm>
              <a:off x="6280785" y="3984625"/>
              <a:ext cx="865198"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ALSO IN…</a:t>
              </a:r>
            </a:p>
          </p:txBody>
        </p:sp>
        <p:grpSp>
          <p:nvGrpSpPr>
            <p:cNvPr id="75" name="Group 75"/>
            <p:cNvGrpSpPr/>
            <p:nvPr/>
          </p:nvGrpSpPr>
          <p:grpSpPr>
            <a:xfrm>
              <a:off x="6286500" y="4286250"/>
              <a:ext cx="5272328" cy="634746"/>
              <a:chOff x="6286500" y="4286250"/>
              <a:chExt cx="5272328" cy="634746"/>
            </a:xfrm>
          </p:grpSpPr>
          <p:sp>
            <p:nvSpPr>
              <p:cNvPr id="61" name="Freeform 61"/>
              <p:cNvSpPr/>
              <p:nvPr/>
            </p:nvSpPr>
            <p:spPr>
              <a:xfrm>
                <a:off x="6286500" y="4340428"/>
                <a:ext cx="228600" cy="120253"/>
              </a:xfrm>
              <a:custGeom>
                <a:avLst/>
                <a:gdLst/>
                <a:ahLst/>
                <a:cxnLst/>
                <a:rect l="l" t="t" r="r" b="b"/>
                <a:pathLst>
                  <a:path w="228600" h="120253">
                    <a:moveTo>
                      <a:pt x="66770" y="43043"/>
                    </a:moveTo>
                    <a:lnTo>
                      <a:pt x="57779" y="43043"/>
                    </a:lnTo>
                    <a:lnTo>
                      <a:pt x="52873" y="68266"/>
                    </a:lnTo>
                    <a:lnTo>
                      <a:pt x="60855" y="68266"/>
                    </a:lnTo>
                    <a:cubicBezTo>
                      <a:pt x="66151" y="68266"/>
                      <a:pt x="70094" y="67266"/>
                      <a:pt x="72685" y="65275"/>
                    </a:cubicBezTo>
                    <a:cubicBezTo>
                      <a:pt x="75276" y="63275"/>
                      <a:pt x="77019" y="59950"/>
                      <a:pt x="77924" y="55283"/>
                    </a:cubicBezTo>
                    <a:cubicBezTo>
                      <a:pt x="78800" y="50806"/>
                      <a:pt x="78400" y="47644"/>
                      <a:pt x="76743" y="45806"/>
                    </a:cubicBezTo>
                    <a:cubicBezTo>
                      <a:pt x="75076" y="43967"/>
                      <a:pt x="71761" y="43043"/>
                      <a:pt x="66770" y="43043"/>
                    </a:cubicBezTo>
                    <a:close/>
                    <a:moveTo>
                      <a:pt x="114300" y="0"/>
                    </a:moveTo>
                    <a:cubicBezTo>
                      <a:pt x="51178" y="0"/>
                      <a:pt x="0" y="26918"/>
                      <a:pt x="0" y="60122"/>
                    </a:cubicBezTo>
                    <a:cubicBezTo>
                      <a:pt x="0" y="93326"/>
                      <a:pt x="51178" y="120253"/>
                      <a:pt x="114300" y="120253"/>
                    </a:cubicBezTo>
                    <a:cubicBezTo>
                      <a:pt x="177422" y="120253"/>
                      <a:pt x="228600" y="93326"/>
                      <a:pt x="228600" y="60122"/>
                    </a:cubicBezTo>
                    <a:cubicBezTo>
                      <a:pt x="228600" y="26918"/>
                      <a:pt x="177422" y="0"/>
                      <a:pt x="114300" y="0"/>
                    </a:cubicBezTo>
                    <a:close/>
                    <a:moveTo>
                      <a:pt x="83249" y="70971"/>
                    </a:moveTo>
                    <a:cubicBezTo>
                      <a:pt x="80762" y="73352"/>
                      <a:pt x="77772" y="75143"/>
                      <a:pt x="74514" y="76219"/>
                    </a:cubicBezTo>
                    <a:cubicBezTo>
                      <a:pt x="71314" y="77248"/>
                      <a:pt x="67227" y="77781"/>
                      <a:pt x="62274" y="77781"/>
                    </a:cubicBezTo>
                    <a:lnTo>
                      <a:pt x="51025" y="77781"/>
                    </a:lnTo>
                    <a:lnTo>
                      <a:pt x="47911" y="93793"/>
                    </a:lnTo>
                    <a:lnTo>
                      <a:pt x="34785" y="93793"/>
                    </a:lnTo>
                    <a:lnTo>
                      <a:pt x="46501" y="33538"/>
                    </a:lnTo>
                    <a:lnTo>
                      <a:pt x="71742" y="33538"/>
                    </a:lnTo>
                    <a:cubicBezTo>
                      <a:pt x="79334" y="33538"/>
                      <a:pt x="84868" y="35528"/>
                      <a:pt x="88354" y="39519"/>
                    </a:cubicBezTo>
                    <a:cubicBezTo>
                      <a:pt x="91840" y="43501"/>
                      <a:pt x="92888" y="49063"/>
                      <a:pt x="91497" y="56207"/>
                    </a:cubicBezTo>
                    <a:cubicBezTo>
                      <a:pt x="90964" y="59034"/>
                      <a:pt x="89984" y="61757"/>
                      <a:pt x="88592" y="64275"/>
                    </a:cubicBezTo>
                    <a:cubicBezTo>
                      <a:pt x="87230" y="66704"/>
                      <a:pt x="85449" y="68942"/>
                      <a:pt x="83249" y="70971"/>
                    </a:cubicBezTo>
                    <a:close/>
                    <a:moveTo>
                      <a:pt x="121577" y="77781"/>
                    </a:moveTo>
                    <a:lnTo>
                      <a:pt x="126749" y="51121"/>
                    </a:lnTo>
                    <a:cubicBezTo>
                      <a:pt x="127349" y="48092"/>
                      <a:pt x="127121" y="46015"/>
                      <a:pt x="126101" y="44920"/>
                    </a:cubicBezTo>
                    <a:cubicBezTo>
                      <a:pt x="125082" y="43815"/>
                      <a:pt x="122901" y="43263"/>
                      <a:pt x="119558" y="43263"/>
                    </a:cubicBezTo>
                    <a:lnTo>
                      <a:pt x="109157" y="43263"/>
                    </a:lnTo>
                    <a:lnTo>
                      <a:pt x="102451" y="77791"/>
                    </a:lnTo>
                    <a:lnTo>
                      <a:pt x="89421" y="77791"/>
                    </a:lnTo>
                    <a:lnTo>
                      <a:pt x="101136" y="17526"/>
                    </a:lnTo>
                    <a:lnTo>
                      <a:pt x="114157" y="17526"/>
                    </a:lnTo>
                    <a:lnTo>
                      <a:pt x="111042" y="33547"/>
                    </a:lnTo>
                    <a:lnTo>
                      <a:pt x="122644" y="33547"/>
                    </a:lnTo>
                    <a:cubicBezTo>
                      <a:pt x="129950" y="33547"/>
                      <a:pt x="134979" y="34823"/>
                      <a:pt x="137751" y="37367"/>
                    </a:cubicBezTo>
                    <a:cubicBezTo>
                      <a:pt x="140522" y="39910"/>
                      <a:pt x="141351" y="44034"/>
                      <a:pt x="140256" y="49740"/>
                    </a:cubicBezTo>
                    <a:lnTo>
                      <a:pt x="134807" y="77781"/>
                    </a:lnTo>
                    <a:lnTo>
                      <a:pt x="121577" y="77781"/>
                    </a:lnTo>
                    <a:close/>
                    <a:moveTo>
                      <a:pt x="193939" y="56207"/>
                    </a:moveTo>
                    <a:cubicBezTo>
                      <a:pt x="193415" y="59036"/>
                      <a:pt x="192433" y="61761"/>
                      <a:pt x="191033" y="64275"/>
                    </a:cubicBezTo>
                    <a:cubicBezTo>
                      <a:pt x="189671" y="66704"/>
                      <a:pt x="187890" y="68942"/>
                      <a:pt x="185690" y="70971"/>
                    </a:cubicBezTo>
                    <a:cubicBezTo>
                      <a:pt x="183202" y="73345"/>
                      <a:pt x="180219" y="75137"/>
                      <a:pt x="176955" y="76219"/>
                    </a:cubicBezTo>
                    <a:cubicBezTo>
                      <a:pt x="173755" y="77248"/>
                      <a:pt x="169669" y="77781"/>
                      <a:pt x="164706" y="77781"/>
                    </a:cubicBezTo>
                    <a:lnTo>
                      <a:pt x="153467" y="77781"/>
                    </a:lnTo>
                    <a:lnTo>
                      <a:pt x="150352" y="93802"/>
                    </a:lnTo>
                    <a:lnTo>
                      <a:pt x="137227" y="93802"/>
                    </a:lnTo>
                    <a:lnTo>
                      <a:pt x="148942" y="33547"/>
                    </a:lnTo>
                    <a:lnTo>
                      <a:pt x="174174" y="33547"/>
                    </a:lnTo>
                    <a:cubicBezTo>
                      <a:pt x="181766" y="33547"/>
                      <a:pt x="187300" y="35538"/>
                      <a:pt x="190786" y="39529"/>
                    </a:cubicBezTo>
                    <a:cubicBezTo>
                      <a:pt x="194272" y="43501"/>
                      <a:pt x="195329" y="49063"/>
                      <a:pt x="193939" y="56207"/>
                    </a:cubicBezTo>
                    <a:close/>
                    <a:moveTo>
                      <a:pt x="169221" y="43043"/>
                    </a:moveTo>
                    <a:lnTo>
                      <a:pt x="160239" y="43043"/>
                    </a:lnTo>
                    <a:lnTo>
                      <a:pt x="155324" y="68266"/>
                    </a:lnTo>
                    <a:lnTo>
                      <a:pt x="163306" y="68266"/>
                    </a:lnTo>
                    <a:cubicBezTo>
                      <a:pt x="168612" y="68266"/>
                      <a:pt x="172555" y="67266"/>
                      <a:pt x="175136" y="65275"/>
                    </a:cubicBezTo>
                    <a:cubicBezTo>
                      <a:pt x="177727" y="63275"/>
                      <a:pt x="179470" y="59950"/>
                      <a:pt x="180384" y="55283"/>
                    </a:cubicBezTo>
                    <a:cubicBezTo>
                      <a:pt x="181261" y="50806"/>
                      <a:pt x="180851" y="47644"/>
                      <a:pt x="179194" y="45806"/>
                    </a:cubicBezTo>
                    <a:cubicBezTo>
                      <a:pt x="177536" y="43967"/>
                      <a:pt x="174203" y="43043"/>
                      <a:pt x="169221" y="43043"/>
                    </a:cubicBezTo>
                    <a:close/>
                  </a:path>
                </a:pathLst>
              </a:custGeom>
              <a:solidFill>
                <a:schemeClr val="accent1"/>
              </a:solidFill>
              <a:ln>
                <a:noFill/>
              </a:ln>
            </p:spPr>
          </p:sp>
          <p:sp>
            <p:nvSpPr>
              <p:cNvPr id="62" name="TextBox 62"/>
              <p:cNvSpPr txBox="1"/>
              <p:nvPr/>
            </p:nvSpPr>
            <p:spPr>
              <a:xfrm>
                <a:off x="6604254" y="4305300"/>
                <a:ext cx="32458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PHP</a:t>
                </a:r>
              </a:p>
            </p:txBody>
          </p:sp>
          <p:sp>
            <p:nvSpPr>
              <p:cNvPr id="63" name="Freeform 63"/>
              <p:cNvSpPr/>
              <p:nvPr/>
            </p:nvSpPr>
            <p:spPr>
              <a:xfrm>
                <a:off x="7390829" y="4286250"/>
                <a:ext cx="229743" cy="228600"/>
              </a:xfrm>
              <a:custGeom>
                <a:avLst/>
                <a:gdLst/>
                <a:ahLst/>
                <a:cxnLst/>
                <a:rect l="l" t="t" r="r" b="b"/>
                <a:pathLst>
                  <a:path w="229743" h="228600">
                    <a:moveTo>
                      <a:pt x="136303" y="1715"/>
                    </a:moveTo>
                    <a:lnTo>
                      <a:pt x="144875" y="3619"/>
                    </a:lnTo>
                    <a:lnTo>
                      <a:pt x="151828" y="6096"/>
                    </a:lnTo>
                    <a:lnTo>
                      <a:pt x="157448" y="8953"/>
                    </a:lnTo>
                    <a:lnTo>
                      <a:pt x="161734" y="12001"/>
                    </a:lnTo>
                    <a:lnTo>
                      <a:pt x="164973" y="15240"/>
                    </a:lnTo>
                    <a:lnTo>
                      <a:pt x="167354" y="18478"/>
                    </a:lnTo>
                    <a:lnTo>
                      <a:pt x="168878" y="21622"/>
                    </a:lnTo>
                    <a:lnTo>
                      <a:pt x="169831" y="24479"/>
                    </a:lnTo>
                    <a:lnTo>
                      <a:pt x="170212" y="26956"/>
                    </a:lnTo>
                    <a:lnTo>
                      <a:pt x="170402" y="28861"/>
                    </a:lnTo>
                    <a:lnTo>
                      <a:pt x="170307" y="30099"/>
                    </a:lnTo>
                    <a:lnTo>
                      <a:pt x="170307" y="80962"/>
                    </a:lnTo>
                    <a:lnTo>
                      <a:pt x="169831" y="86963"/>
                    </a:lnTo>
                    <a:lnTo>
                      <a:pt x="168592" y="92202"/>
                    </a:lnTo>
                    <a:lnTo>
                      <a:pt x="166592" y="96583"/>
                    </a:lnTo>
                    <a:lnTo>
                      <a:pt x="164116" y="100203"/>
                    </a:lnTo>
                    <a:lnTo>
                      <a:pt x="161258" y="103156"/>
                    </a:lnTo>
                    <a:lnTo>
                      <a:pt x="158115" y="105537"/>
                    </a:lnTo>
                    <a:lnTo>
                      <a:pt x="154781" y="107347"/>
                    </a:lnTo>
                    <a:lnTo>
                      <a:pt x="151447" y="108680"/>
                    </a:lnTo>
                    <a:lnTo>
                      <a:pt x="148304" y="109633"/>
                    </a:lnTo>
                    <a:lnTo>
                      <a:pt x="145447" y="110299"/>
                    </a:lnTo>
                    <a:lnTo>
                      <a:pt x="142970" y="110681"/>
                    </a:lnTo>
                    <a:lnTo>
                      <a:pt x="140970" y="110871"/>
                    </a:lnTo>
                    <a:lnTo>
                      <a:pt x="84106" y="110871"/>
                    </a:lnTo>
                    <a:lnTo>
                      <a:pt x="77533" y="111347"/>
                    </a:lnTo>
                    <a:lnTo>
                      <a:pt x="71914" y="112681"/>
                    </a:lnTo>
                    <a:lnTo>
                      <a:pt x="67151" y="114776"/>
                    </a:lnTo>
                    <a:lnTo>
                      <a:pt x="63246" y="117348"/>
                    </a:lnTo>
                    <a:lnTo>
                      <a:pt x="60103" y="120396"/>
                    </a:lnTo>
                    <a:lnTo>
                      <a:pt x="57531" y="123730"/>
                    </a:lnTo>
                    <a:lnTo>
                      <a:pt x="55626" y="127159"/>
                    </a:lnTo>
                    <a:lnTo>
                      <a:pt x="54197" y="130683"/>
                    </a:lnTo>
                    <a:lnTo>
                      <a:pt x="53245" y="134017"/>
                    </a:lnTo>
                    <a:lnTo>
                      <a:pt x="52578" y="137065"/>
                    </a:lnTo>
                    <a:lnTo>
                      <a:pt x="52197" y="139637"/>
                    </a:lnTo>
                    <a:lnTo>
                      <a:pt x="52006" y="141637"/>
                    </a:lnTo>
                    <a:lnTo>
                      <a:pt x="52006" y="170783"/>
                    </a:lnTo>
                    <a:lnTo>
                      <a:pt x="30766" y="170783"/>
                    </a:lnTo>
                    <a:lnTo>
                      <a:pt x="28765" y="170497"/>
                    </a:lnTo>
                    <a:lnTo>
                      <a:pt x="26098" y="169831"/>
                    </a:lnTo>
                    <a:lnTo>
                      <a:pt x="23050" y="168688"/>
                    </a:lnTo>
                    <a:lnTo>
                      <a:pt x="19717" y="166973"/>
                    </a:lnTo>
                    <a:lnTo>
                      <a:pt x="16288" y="164497"/>
                    </a:lnTo>
                    <a:lnTo>
                      <a:pt x="12859" y="161068"/>
                    </a:lnTo>
                    <a:lnTo>
                      <a:pt x="9525" y="156686"/>
                    </a:lnTo>
                    <a:lnTo>
                      <a:pt x="6477" y="151067"/>
                    </a:lnTo>
                    <a:lnTo>
                      <a:pt x="3810" y="144113"/>
                    </a:lnTo>
                    <a:lnTo>
                      <a:pt x="1810" y="135731"/>
                    </a:lnTo>
                    <a:lnTo>
                      <a:pt x="476" y="125730"/>
                    </a:lnTo>
                    <a:lnTo>
                      <a:pt x="0" y="114014"/>
                    </a:lnTo>
                    <a:lnTo>
                      <a:pt x="571" y="102394"/>
                    </a:lnTo>
                    <a:lnTo>
                      <a:pt x="2095" y="92488"/>
                    </a:lnTo>
                    <a:lnTo>
                      <a:pt x="4381" y="84201"/>
                    </a:lnTo>
                    <a:lnTo>
                      <a:pt x="7429" y="77438"/>
                    </a:lnTo>
                    <a:lnTo>
                      <a:pt x="10858" y="72009"/>
                    </a:lnTo>
                    <a:lnTo>
                      <a:pt x="14668" y="67818"/>
                    </a:lnTo>
                    <a:lnTo>
                      <a:pt x="18669" y="64675"/>
                    </a:lnTo>
                    <a:lnTo>
                      <a:pt x="22669" y="62389"/>
                    </a:lnTo>
                    <a:lnTo>
                      <a:pt x="26479" y="60865"/>
                    </a:lnTo>
                    <a:lnTo>
                      <a:pt x="29908" y="59912"/>
                    </a:lnTo>
                    <a:lnTo>
                      <a:pt x="32956" y="59436"/>
                    </a:lnTo>
                    <a:lnTo>
                      <a:pt x="35242" y="59341"/>
                    </a:lnTo>
                    <a:lnTo>
                      <a:pt x="36766" y="59341"/>
                    </a:lnTo>
                    <a:lnTo>
                      <a:pt x="37338" y="59436"/>
                    </a:lnTo>
                    <a:lnTo>
                      <a:pt x="115062" y="59436"/>
                    </a:lnTo>
                    <a:lnTo>
                      <a:pt x="115062" y="51530"/>
                    </a:lnTo>
                    <a:lnTo>
                      <a:pt x="59436" y="51530"/>
                    </a:lnTo>
                    <a:lnTo>
                      <a:pt x="59341" y="25337"/>
                    </a:lnTo>
                    <a:lnTo>
                      <a:pt x="59150" y="21812"/>
                    </a:lnTo>
                    <a:lnTo>
                      <a:pt x="59626" y="18574"/>
                    </a:lnTo>
                    <a:lnTo>
                      <a:pt x="60674" y="15621"/>
                    </a:lnTo>
                    <a:lnTo>
                      <a:pt x="62293" y="12954"/>
                    </a:lnTo>
                    <a:lnTo>
                      <a:pt x="64675" y="10478"/>
                    </a:lnTo>
                    <a:lnTo>
                      <a:pt x="67627" y="8287"/>
                    </a:lnTo>
                    <a:lnTo>
                      <a:pt x="71247" y="6382"/>
                    </a:lnTo>
                    <a:lnTo>
                      <a:pt x="75438" y="4667"/>
                    </a:lnTo>
                    <a:lnTo>
                      <a:pt x="80296" y="3238"/>
                    </a:lnTo>
                    <a:lnTo>
                      <a:pt x="85820" y="2095"/>
                    </a:lnTo>
                    <a:lnTo>
                      <a:pt x="91916" y="1143"/>
                    </a:lnTo>
                    <a:lnTo>
                      <a:pt x="98679" y="572"/>
                    </a:lnTo>
                    <a:lnTo>
                      <a:pt x="106013" y="190"/>
                    </a:lnTo>
                    <a:lnTo>
                      <a:pt x="114014" y="0"/>
                    </a:lnTo>
                    <a:lnTo>
                      <a:pt x="126111" y="476"/>
                    </a:lnTo>
                    <a:close/>
                    <a:moveTo>
                      <a:pt x="76295" y="20574"/>
                    </a:moveTo>
                    <a:lnTo>
                      <a:pt x="74104" y="23717"/>
                    </a:lnTo>
                    <a:lnTo>
                      <a:pt x="73342" y="27622"/>
                    </a:lnTo>
                    <a:lnTo>
                      <a:pt x="74104" y="31528"/>
                    </a:lnTo>
                    <a:lnTo>
                      <a:pt x="76295" y="34766"/>
                    </a:lnTo>
                    <a:lnTo>
                      <a:pt x="79438" y="36862"/>
                    </a:lnTo>
                    <a:lnTo>
                      <a:pt x="83344" y="37719"/>
                    </a:lnTo>
                    <a:lnTo>
                      <a:pt x="87249" y="36862"/>
                    </a:lnTo>
                    <a:lnTo>
                      <a:pt x="90392" y="34766"/>
                    </a:lnTo>
                    <a:lnTo>
                      <a:pt x="92583" y="31528"/>
                    </a:lnTo>
                    <a:lnTo>
                      <a:pt x="93345" y="27622"/>
                    </a:lnTo>
                    <a:lnTo>
                      <a:pt x="92583" y="23717"/>
                    </a:lnTo>
                    <a:lnTo>
                      <a:pt x="90392" y="20574"/>
                    </a:lnTo>
                    <a:lnTo>
                      <a:pt x="87249" y="18478"/>
                    </a:lnTo>
                    <a:lnTo>
                      <a:pt x="83344" y="17621"/>
                    </a:lnTo>
                    <a:lnTo>
                      <a:pt x="79438" y="18478"/>
                    </a:lnTo>
                    <a:close/>
                    <a:moveTo>
                      <a:pt x="200977" y="58198"/>
                    </a:moveTo>
                    <a:lnTo>
                      <a:pt x="203644" y="58769"/>
                    </a:lnTo>
                    <a:lnTo>
                      <a:pt x="206692" y="59912"/>
                    </a:lnTo>
                    <a:lnTo>
                      <a:pt x="210026" y="61627"/>
                    </a:lnTo>
                    <a:lnTo>
                      <a:pt x="213455" y="64199"/>
                    </a:lnTo>
                    <a:lnTo>
                      <a:pt x="216884" y="67532"/>
                    </a:lnTo>
                    <a:lnTo>
                      <a:pt x="220218" y="72009"/>
                    </a:lnTo>
                    <a:lnTo>
                      <a:pt x="223266" y="77629"/>
                    </a:lnTo>
                    <a:lnTo>
                      <a:pt x="225933" y="84582"/>
                    </a:lnTo>
                    <a:lnTo>
                      <a:pt x="227933" y="92964"/>
                    </a:lnTo>
                    <a:lnTo>
                      <a:pt x="229267" y="102870"/>
                    </a:lnTo>
                    <a:lnTo>
                      <a:pt x="229743" y="114586"/>
                    </a:lnTo>
                    <a:lnTo>
                      <a:pt x="229171" y="126301"/>
                    </a:lnTo>
                    <a:lnTo>
                      <a:pt x="227647" y="136208"/>
                    </a:lnTo>
                    <a:lnTo>
                      <a:pt x="225361" y="144399"/>
                    </a:lnTo>
                    <a:lnTo>
                      <a:pt x="222313" y="151162"/>
                    </a:lnTo>
                    <a:lnTo>
                      <a:pt x="218884" y="156591"/>
                    </a:lnTo>
                    <a:lnTo>
                      <a:pt x="215074" y="160877"/>
                    </a:lnTo>
                    <a:lnTo>
                      <a:pt x="211074" y="164021"/>
                    </a:lnTo>
                    <a:lnTo>
                      <a:pt x="207074" y="166306"/>
                    </a:lnTo>
                    <a:lnTo>
                      <a:pt x="203263" y="167831"/>
                    </a:lnTo>
                    <a:lnTo>
                      <a:pt x="199834" y="168688"/>
                    </a:lnTo>
                    <a:lnTo>
                      <a:pt x="196786" y="169164"/>
                    </a:lnTo>
                    <a:lnTo>
                      <a:pt x="194500" y="169354"/>
                    </a:lnTo>
                    <a:lnTo>
                      <a:pt x="192976" y="169259"/>
                    </a:lnTo>
                    <a:lnTo>
                      <a:pt x="114681" y="169259"/>
                    </a:lnTo>
                    <a:lnTo>
                      <a:pt x="114681" y="177070"/>
                    </a:lnTo>
                    <a:lnTo>
                      <a:pt x="170307" y="177070"/>
                    </a:lnTo>
                    <a:lnTo>
                      <a:pt x="170402" y="203359"/>
                    </a:lnTo>
                    <a:lnTo>
                      <a:pt x="170593" y="206788"/>
                    </a:lnTo>
                    <a:lnTo>
                      <a:pt x="170116" y="210026"/>
                    </a:lnTo>
                    <a:lnTo>
                      <a:pt x="169069" y="212979"/>
                    </a:lnTo>
                    <a:lnTo>
                      <a:pt x="167449" y="215741"/>
                    </a:lnTo>
                    <a:lnTo>
                      <a:pt x="165068" y="218122"/>
                    </a:lnTo>
                    <a:lnTo>
                      <a:pt x="162115" y="220408"/>
                    </a:lnTo>
                    <a:lnTo>
                      <a:pt x="158496" y="222313"/>
                    </a:lnTo>
                    <a:lnTo>
                      <a:pt x="154305" y="223933"/>
                    </a:lnTo>
                    <a:lnTo>
                      <a:pt x="149447" y="225361"/>
                    </a:lnTo>
                    <a:lnTo>
                      <a:pt x="143923" y="226600"/>
                    </a:lnTo>
                    <a:lnTo>
                      <a:pt x="137827" y="227457"/>
                    </a:lnTo>
                    <a:lnTo>
                      <a:pt x="131064" y="228124"/>
                    </a:lnTo>
                    <a:lnTo>
                      <a:pt x="123730" y="228505"/>
                    </a:lnTo>
                    <a:lnTo>
                      <a:pt x="115729" y="228600"/>
                    </a:lnTo>
                    <a:lnTo>
                      <a:pt x="103632" y="228219"/>
                    </a:lnTo>
                    <a:lnTo>
                      <a:pt x="93440" y="226885"/>
                    </a:lnTo>
                    <a:lnTo>
                      <a:pt x="84868" y="224981"/>
                    </a:lnTo>
                    <a:lnTo>
                      <a:pt x="77914" y="222599"/>
                    </a:lnTo>
                    <a:lnTo>
                      <a:pt x="72295" y="219742"/>
                    </a:lnTo>
                    <a:lnTo>
                      <a:pt x="68008" y="216599"/>
                    </a:lnTo>
                    <a:lnTo>
                      <a:pt x="64770" y="213360"/>
                    </a:lnTo>
                    <a:lnTo>
                      <a:pt x="62389" y="210122"/>
                    </a:lnTo>
                    <a:lnTo>
                      <a:pt x="60865" y="206978"/>
                    </a:lnTo>
                    <a:lnTo>
                      <a:pt x="59912" y="204121"/>
                    </a:lnTo>
                    <a:lnTo>
                      <a:pt x="59531" y="201740"/>
                    </a:lnTo>
                    <a:lnTo>
                      <a:pt x="59341" y="199835"/>
                    </a:lnTo>
                    <a:lnTo>
                      <a:pt x="59436" y="198596"/>
                    </a:lnTo>
                    <a:lnTo>
                      <a:pt x="59436" y="147733"/>
                    </a:lnTo>
                    <a:lnTo>
                      <a:pt x="59912" y="141637"/>
                    </a:lnTo>
                    <a:lnTo>
                      <a:pt x="61150" y="136493"/>
                    </a:lnTo>
                    <a:lnTo>
                      <a:pt x="63151" y="132112"/>
                    </a:lnTo>
                    <a:lnTo>
                      <a:pt x="65627" y="128492"/>
                    </a:lnTo>
                    <a:lnTo>
                      <a:pt x="68485" y="125444"/>
                    </a:lnTo>
                    <a:lnTo>
                      <a:pt x="71628" y="123158"/>
                    </a:lnTo>
                    <a:lnTo>
                      <a:pt x="74962" y="121253"/>
                    </a:lnTo>
                    <a:lnTo>
                      <a:pt x="78295" y="119920"/>
                    </a:lnTo>
                    <a:lnTo>
                      <a:pt x="81439" y="118967"/>
                    </a:lnTo>
                    <a:lnTo>
                      <a:pt x="84296" y="118396"/>
                    </a:lnTo>
                    <a:lnTo>
                      <a:pt x="86773" y="118015"/>
                    </a:lnTo>
                    <a:lnTo>
                      <a:pt x="88773" y="117824"/>
                    </a:lnTo>
                    <a:lnTo>
                      <a:pt x="90011" y="117729"/>
                    </a:lnTo>
                    <a:lnTo>
                      <a:pt x="145637" y="117729"/>
                    </a:lnTo>
                    <a:lnTo>
                      <a:pt x="152209" y="117253"/>
                    </a:lnTo>
                    <a:lnTo>
                      <a:pt x="157829" y="115919"/>
                    </a:lnTo>
                    <a:lnTo>
                      <a:pt x="162592" y="113919"/>
                    </a:lnTo>
                    <a:lnTo>
                      <a:pt x="166497" y="111252"/>
                    </a:lnTo>
                    <a:lnTo>
                      <a:pt x="169640" y="108204"/>
                    </a:lnTo>
                    <a:lnTo>
                      <a:pt x="172212" y="104870"/>
                    </a:lnTo>
                    <a:lnTo>
                      <a:pt x="174117" y="101441"/>
                    </a:lnTo>
                    <a:lnTo>
                      <a:pt x="175546" y="98012"/>
                    </a:lnTo>
                    <a:lnTo>
                      <a:pt x="176498" y="94678"/>
                    </a:lnTo>
                    <a:lnTo>
                      <a:pt x="177165" y="91631"/>
                    </a:lnTo>
                    <a:lnTo>
                      <a:pt x="177546" y="88963"/>
                    </a:lnTo>
                    <a:lnTo>
                      <a:pt x="177736" y="86963"/>
                    </a:lnTo>
                    <a:lnTo>
                      <a:pt x="177736" y="57817"/>
                    </a:lnTo>
                    <a:lnTo>
                      <a:pt x="197644" y="57817"/>
                    </a:lnTo>
                    <a:lnTo>
                      <a:pt x="198977" y="57912"/>
                    </a:lnTo>
                    <a:close/>
                    <a:moveTo>
                      <a:pt x="139351" y="193929"/>
                    </a:moveTo>
                    <a:lnTo>
                      <a:pt x="137160" y="197072"/>
                    </a:lnTo>
                    <a:lnTo>
                      <a:pt x="136398" y="200978"/>
                    </a:lnTo>
                    <a:lnTo>
                      <a:pt x="137160" y="204883"/>
                    </a:lnTo>
                    <a:lnTo>
                      <a:pt x="139351" y="208026"/>
                    </a:lnTo>
                    <a:lnTo>
                      <a:pt x="142494" y="210217"/>
                    </a:lnTo>
                    <a:lnTo>
                      <a:pt x="146399" y="210979"/>
                    </a:lnTo>
                    <a:lnTo>
                      <a:pt x="150304" y="210217"/>
                    </a:lnTo>
                    <a:lnTo>
                      <a:pt x="153448" y="208026"/>
                    </a:lnTo>
                    <a:lnTo>
                      <a:pt x="155638" y="204883"/>
                    </a:lnTo>
                    <a:lnTo>
                      <a:pt x="156400" y="200978"/>
                    </a:lnTo>
                    <a:lnTo>
                      <a:pt x="155638" y="197072"/>
                    </a:lnTo>
                    <a:lnTo>
                      <a:pt x="153448" y="193929"/>
                    </a:lnTo>
                    <a:lnTo>
                      <a:pt x="150304" y="191738"/>
                    </a:lnTo>
                    <a:lnTo>
                      <a:pt x="146399" y="190976"/>
                    </a:lnTo>
                    <a:lnTo>
                      <a:pt x="142494" y="191738"/>
                    </a:lnTo>
                    <a:close/>
                  </a:path>
                </a:pathLst>
              </a:custGeom>
              <a:solidFill>
                <a:schemeClr val="accent1"/>
              </a:solidFill>
              <a:ln>
                <a:noFill/>
              </a:ln>
            </p:spPr>
          </p:sp>
          <p:sp>
            <p:nvSpPr>
              <p:cNvPr id="64" name="TextBox 64"/>
              <p:cNvSpPr txBox="1"/>
              <p:nvPr/>
            </p:nvSpPr>
            <p:spPr>
              <a:xfrm>
                <a:off x="7709154" y="4305300"/>
                <a:ext cx="51780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Python</a:t>
                </a:r>
              </a:p>
            </p:txBody>
          </p:sp>
          <p:grpSp>
            <p:nvGrpSpPr>
              <p:cNvPr id="67" name="Group 67"/>
              <p:cNvGrpSpPr/>
              <p:nvPr/>
            </p:nvGrpSpPr>
            <p:grpSpPr>
              <a:xfrm>
                <a:off x="8943975" y="4314825"/>
                <a:ext cx="171450" cy="161925"/>
                <a:chOff x="8943975" y="4314825"/>
                <a:chExt cx="171450" cy="161925"/>
              </a:xfrm>
            </p:grpSpPr>
            <p:sp>
              <p:nvSpPr>
                <p:cNvPr id="65" name="Freeform 65"/>
                <p:cNvSpPr/>
                <p:nvPr/>
              </p:nvSpPr>
              <p:spPr>
                <a:xfrm>
                  <a:off x="8943975" y="4352925"/>
                  <a:ext cx="171450" cy="123825"/>
                </a:xfrm>
                <a:custGeom>
                  <a:avLst/>
                  <a:gdLst/>
                  <a:ahLst/>
                  <a:cxnLst/>
                  <a:rect l="l" t="t" r="r" b="b"/>
                  <a:pathLst>
                    <a:path w="171450" h="123825">
                      <a:moveTo>
                        <a:pt x="0" y="19050"/>
                      </a:moveTo>
                      <a:cubicBezTo>
                        <a:pt x="0" y="8529"/>
                        <a:pt x="8529" y="0"/>
                        <a:pt x="19050" y="0"/>
                      </a:cubicBezTo>
                      <a:lnTo>
                        <a:pt x="152400" y="0"/>
                      </a:lnTo>
                      <a:cubicBezTo>
                        <a:pt x="162921" y="0"/>
                        <a:pt x="171450" y="8529"/>
                        <a:pt x="171450" y="19050"/>
                      </a:cubicBezTo>
                      <a:lnTo>
                        <a:pt x="171450" y="104775"/>
                      </a:lnTo>
                      <a:cubicBezTo>
                        <a:pt x="171450" y="115296"/>
                        <a:pt x="162921" y="123825"/>
                        <a:pt x="152400" y="123825"/>
                      </a:cubicBezTo>
                      <a:lnTo>
                        <a:pt x="19050" y="123825"/>
                      </a:lnTo>
                      <a:cubicBezTo>
                        <a:pt x="8529" y="123825"/>
                        <a:pt x="0" y="115296"/>
                        <a:pt x="0" y="104775"/>
                      </a:cubicBezTo>
                      <a:lnTo>
                        <a:pt x="0" y="19050"/>
                      </a:lnTo>
                    </a:path>
                  </a:pathLst>
                </a:custGeom>
                <a:noFill/>
                <a:ln w="14288">
                  <a:solidFill>
                    <a:schemeClr val="accent1"/>
                  </a:solidFill>
                </a:ln>
              </p:spPr>
            </p:sp>
            <p:sp>
              <p:nvSpPr>
                <p:cNvPr id="66" name="Freeform 66"/>
                <p:cNvSpPr/>
                <p:nvPr/>
              </p:nvSpPr>
              <p:spPr>
                <a:xfrm>
                  <a:off x="8991600" y="4314825"/>
                  <a:ext cx="76200" cy="38100"/>
                </a:xfrm>
                <a:custGeom>
                  <a:avLst/>
                  <a:gdLst/>
                  <a:ahLst/>
                  <a:cxnLst/>
                  <a:rect l="l" t="t" r="r" b="b"/>
                  <a:pathLst>
                    <a:path w="76200" h="38100">
                      <a:moveTo>
                        <a:pt x="76200" y="0"/>
                      </a:moveTo>
                      <a:lnTo>
                        <a:pt x="38100" y="38100"/>
                      </a:lnTo>
                      <a:lnTo>
                        <a:pt x="0" y="0"/>
                      </a:lnTo>
                    </a:path>
                  </a:pathLst>
                </a:custGeom>
                <a:noFill/>
                <a:ln w="14288">
                  <a:solidFill>
                    <a:schemeClr val="accent1"/>
                  </a:solidFill>
                </a:ln>
              </p:spPr>
            </p:sp>
          </p:grpSp>
          <p:sp>
            <p:nvSpPr>
              <p:cNvPr id="68" name="TextBox 68"/>
              <p:cNvSpPr txBox="1"/>
              <p:nvPr/>
            </p:nvSpPr>
            <p:spPr>
              <a:xfrm>
                <a:off x="9233154" y="4305300"/>
                <a:ext cx="2012786"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most TVs and set-top boxes</a:t>
                </a:r>
              </a:p>
            </p:txBody>
          </p:sp>
          <p:grpSp>
            <p:nvGrpSpPr>
              <p:cNvPr id="72" name="Group 72"/>
              <p:cNvGrpSpPr/>
              <p:nvPr/>
            </p:nvGrpSpPr>
            <p:grpSpPr>
              <a:xfrm>
                <a:off x="6315075" y="4724400"/>
                <a:ext cx="171450" cy="123825"/>
                <a:chOff x="6315075" y="4724400"/>
                <a:chExt cx="171450" cy="123825"/>
              </a:xfrm>
            </p:grpSpPr>
            <p:sp>
              <p:nvSpPr>
                <p:cNvPr id="69" name="Freeform 69"/>
                <p:cNvSpPr/>
                <p:nvPr/>
              </p:nvSpPr>
              <p:spPr>
                <a:xfrm>
                  <a:off x="6334125" y="481012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4288">
                  <a:solidFill>
                    <a:schemeClr val="accent1"/>
                  </a:solidFill>
                </a:ln>
              </p:spPr>
            </p:sp>
            <p:sp>
              <p:nvSpPr>
                <p:cNvPr id="70" name="Freeform 70"/>
                <p:cNvSpPr/>
                <p:nvPr/>
              </p:nvSpPr>
              <p:spPr>
                <a:xfrm>
                  <a:off x="6429375" y="4810125"/>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4288">
                  <a:solidFill>
                    <a:schemeClr val="accent1"/>
                  </a:solidFill>
                </a:ln>
              </p:spPr>
            </p:sp>
            <p:sp>
              <p:nvSpPr>
                <p:cNvPr id="71" name="Freeform 71"/>
                <p:cNvSpPr/>
                <p:nvPr/>
              </p:nvSpPr>
              <p:spPr>
                <a:xfrm>
                  <a:off x="6315075" y="4724400"/>
                  <a:ext cx="171450" cy="104775"/>
                </a:xfrm>
                <a:custGeom>
                  <a:avLst/>
                  <a:gdLst/>
                  <a:ahLst/>
                  <a:cxnLst/>
                  <a:rect l="l" t="t" r="r" b="b"/>
                  <a:pathLst>
                    <a:path w="171450" h="104775">
                      <a:moveTo>
                        <a:pt x="19050" y="104775"/>
                      </a:moveTo>
                      <a:lnTo>
                        <a:pt x="0" y="104775"/>
                      </a:lnTo>
                      <a:lnTo>
                        <a:pt x="0" y="47625"/>
                      </a:lnTo>
                      <a:lnTo>
                        <a:pt x="19050" y="0"/>
                      </a:lnTo>
                      <a:lnTo>
                        <a:pt x="104775" y="0"/>
                      </a:lnTo>
                      <a:lnTo>
                        <a:pt x="142875" y="47625"/>
                      </a:lnTo>
                      <a:lnTo>
                        <a:pt x="152400" y="47625"/>
                      </a:lnTo>
                      <a:cubicBezTo>
                        <a:pt x="162921" y="47625"/>
                        <a:pt x="171450" y="56154"/>
                        <a:pt x="171450" y="66675"/>
                      </a:cubicBezTo>
                      <a:lnTo>
                        <a:pt x="171450" y="104775"/>
                      </a:lnTo>
                      <a:lnTo>
                        <a:pt x="152400" y="104775"/>
                      </a:lnTo>
                      <a:moveTo>
                        <a:pt x="114300" y="104775"/>
                      </a:moveTo>
                      <a:lnTo>
                        <a:pt x="57150" y="104775"/>
                      </a:lnTo>
                      <a:moveTo>
                        <a:pt x="0" y="47625"/>
                      </a:moveTo>
                      <a:lnTo>
                        <a:pt x="142875" y="47625"/>
                      </a:lnTo>
                      <a:moveTo>
                        <a:pt x="85725" y="47625"/>
                      </a:moveTo>
                      <a:lnTo>
                        <a:pt x="85725" y="0"/>
                      </a:lnTo>
                    </a:path>
                  </a:pathLst>
                </a:custGeom>
                <a:noFill/>
                <a:ln w="14288">
                  <a:solidFill>
                    <a:schemeClr val="accent1"/>
                  </a:solidFill>
                </a:ln>
              </p:spPr>
            </p:sp>
          </p:grpSp>
          <p:sp>
            <p:nvSpPr>
              <p:cNvPr id="73" name="TextBox 73"/>
              <p:cNvSpPr txBox="1"/>
              <p:nvPr/>
            </p:nvSpPr>
            <p:spPr>
              <a:xfrm>
                <a:off x="6604254" y="4686300"/>
                <a:ext cx="268035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most automotive multimedia systems</a:t>
                </a:r>
              </a:p>
            </p:txBody>
          </p:sp>
          <p:sp>
            <p:nvSpPr>
              <p:cNvPr id="74" name="TextBox 74"/>
              <p:cNvSpPr txBox="1"/>
              <p:nvPr/>
            </p:nvSpPr>
            <p:spPr>
              <a:xfrm>
                <a:off x="9747504" y="4686300"/>
                <a:ext cx="181132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…countless millions more</a:t>
                </a:r>
              </a:p>
            </p:txBody>
          </p:sp>
        </p:grpSp>
      </p:grpSp>
      <p:grpSp>
        <p:nvGrpSpPr>
          <p:cNvPr id="79" name="zlib-note"/>
          <p:cNvGrpSpPr/>
          <p:nvPr/>
        </p:nvGrpSpPr>
        <p:grpSpPr>
          <a:xfrm>
            <a:off x="6096000" y="5207000"/>
            <a:ext cx="4725436" cy="444246"/>
            <a:chOff x="6096000" y="5207000"/>
            <a:chExt cx="4725436" cy="444246"/>
          </a:xfrm>
        </p:grpSpPr>
        <p:sp>
          <p:nvSpPr>
            <p:cNvPr id="77" name="Line 77"/>
            <p:cNvSpPr/>
            <p:nvPr/>
          </p:nvSpPr>
          <p:spPr>
            <a:xfrm>
              <a:off x="6096000" y="5314950"/>
              <a:ext cx="190500" cy="9525"/>
            </a:xfrm>
            <a:custGeom>
              <a:avLst/>
              <a:gdLst/>
              <a:ahLst/>
              <a:cxnLst/>
              <a:rect l="l" t="t" r="r" b="b"/>
              <a:pathLst>
                <a:path w="190500" h="9525">
                  <a:moveTo>
                    <a:pt x="0" y="0"/>
                  </a:moveTo>
                  <a:lnTo>
                    <a:pt x="190500" y="0"/>
                  </a:lnTo>
                </a:path>
              </a:pathLst>
            </a:custGeom>
            <a:noFill/>
            <a:ln w="19050">
              <a:solidFill>
                <a:schemeClr val="accent2"/>
              </a:solidFill>
            </a:ln>
          </p:spPr>
        </p:sp>
        <p:sp>
          <p:nvSpPr>
            <p:cNvPr id="78" name="TextBox 78"/>
            <p:cNvSpPr txBox="1"/>
            <p:nvPr/>
          </p:nvSpPr>
          <p:spPr>
            <a:xfrm>
              <a:off x="6375654" y="5207000"/>
              <a:ext cx="444578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Probably the 2nd most deployed library after zlib — and since it is</a:t>
              </a:r>
              <a:br>
                <a:rPr lang="en" sz="1200" dirty="0">
                  <a:solidFill>
                    <a:schemeClr val="accent5"/>
                  </a:solidFill>
                  <a:latin typeface="+mn-lt"/>
                  <a:ea typeface="+mn-ea"/>
                  <a:cs typeface="+mn-cs"/>
                </a:rPr>
              </a:br>
              <a:r>
                <a:rPr lang="en" sz="1200" dirty="0">
                  <a:solidFill>
                    <a:schemeClr val="accent5"/>
                  </a:solidFill>
                  <a:latin typeface="+mn-lt"/>
                  <a:ea typeface="+mn-ea"/>
                  <a:cs typeface="+mn-cs"/>
                </a:rPr>
                <a:t xml:space="preserve">often statically linked many times per device, it </a:t>
              </a:r>
              <a:r>
                <a:rPr lang="en" sz="1200" i="1" dirty="0">
                  <a:solidFill>
                    <a:schemeClr val="accent5"/>
                  </a:solidFill>
                  <a:latin typeface="+mn-lt"/>
                  <a:ea typeface="+mn-ea"/>
                  <a:cs typeface="+mn-cs"/>
                </a:rPr>
                <a:t>might</a:t>
              </a:r>
              <a:r>
                <a:rPr lang="en" sz="1200" dirty="0">
                  <a:solidFill>
                    <a:schemeClr val="accent5"/>
                  </a:solidFill>
                  <a:latin typeface="+mn-lt"/>
                  <a:ea typeface="+mn-ea"/>
                  <a:cs typeface="+mn-cs"/>
                </a:rPr>
                <a:t xml:space="preserve"> be the 1st.</a:t>
              </a:r>
            </a:p>
          </p:txBody>
        </p:sp>
      </p:grpSp>
      <p:grpSp>
        <p:nvGrpSpPr>
          <p:cNvPr id="84" name="title-block"/>
          <p:cNvGrpSpPr/>
          <p:nvPr/>
        </p:nvGrpSpPr>
        <p:grpSpPr>
          <a:xfrm>
            <a:off x="8382000" y="6229350"/>
            <a:ext cx="3200400" cy="285750"/>
            <a:chOff x="8382000" y="6229350"/>
            <a:chExt cx="3200400" cy="285750"/>
          </a:xfrm>
        </p:grpSpPr>
        <p:sp>
          <p:nvSpPr>
            <p:cNvPr id="80" name="Rectangle 80"/>
            <p:cNvSpPr/>
            <p:nvPr/>
          </p:nvSpPr>
          <p:spPr>
            <a:xfrm>
              <a:off x="8382000" y="6229350"/>
              <a:ext cx="3200400" cy="285750"/>
            </a:xfrm>
            <a:prstGeom prst="rect">
              <a:avLst/>
            </a:prstGeom>
            <a:solidFill>
              <a:schemeClr val="lt2"/>
            </a:solidFill>
            <a:ln w="9525">
              <a:solidFill>
                <a:schemeClr val="accent6"/>
              </a:solidFill>
            </a:ln>
          </p:spPr>
        </p:sp>
        <p:sp>
          <p:nvSpPr>
            <p:cNvPr id="81" name="Line 81"/>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82" name="TextBox 82"/>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02/12</a:t>
              </a:r>
            </a:p>
          </p:txBody>
        </p:sp>
        <p:sp>
          <p:nvSpPr>
            <p:cNvPr id="83" name="TextBox 83"/>
            <p:cNvSpPr txBox="1"/>
            <p:nvPr/>
          </p:nvSpPr>
          <p:spPr>
            <a:xfrm>
              <a:off x="9367647" y="6292850"/>
              <a:ext cx="1904246"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sqlite.org/mostdeployed</a:t>
              </a:r>
            </a:p>
          </p:txBody>
        </p:sp>
      </p:grpSp>
    </p:spTree>
  </p:cSld>
  <p:clrMapOvr>
    <a:masterClrMapping/>
  </p:clrMapOvr>
  <p:transition xmlns:p14="http://schemas.microsoft.com/office/powerpoint/2010/mai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down)">
                                      <p:cBhvr>
                                        <p:cTn id="7" dur="900"/>
                                        <p:tgtEl>
                                          <p:spTgt spid="30"/>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500"/>
                                        <p:tgtEl>
                                          <p:spTgt spid="57"/>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76"/>
                                        </p:tgtEl>
                                        <p:attrNameLst>
                                          <p:attrName>style.visibility</p:attrName>
                                        </p:attrNameLst>
                                      </p:cBhvr>
                                      <p:to>
                                        <p:strVal val="visible"/>
                                      </p:to>
                                    </p:set>
                                    <p:animEffect transition="in" filter="fade">
                                      <p:cBhvr>
                                        <p:cTn id="15" dur="500"/>
                                        <p:tgtEl>
                                          <p:spTgt spid="76"/>
                                        </p:tgtEl>
                                      </p:cBhvr>
                                    </p:animEffect>
                                  </p:childTnLst>
                                </p:cTn>
                              </p:par>
                            </p:childTnLst>
                          </p:cTn>
                        </p:par>
                        <p:par>
                          <p:cTn id="16" fill="hold">
                            <p:stCondLst>
                              <p:cond delay="29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79"/>
                                        </p:tgtEl>
                                        <p:attrNameLst>
                                          <p:attrName>style.visibility</p:attrName>
                                        </p:attrNameLst>
                                      </p:cBhvr>
                                      <p:to>
                                        <p:strVal val="visible"/>
                                      </p:to>
                                    </p:set>
                                    <p:animEffect transition="in" filter="fade">
                                      <p:cBhvr>
                                        <p:cTn id="19"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8928992" cy="815340"/>
            <a:chOff x="594360" y="603250"/>
            <a:chExt cx="8928992" cy="815340"/>
          </a:xfrm>
        </p:grpSpPr>
        <p:sp>
          <p:nvSpPr>
            <p:cNvPr id="18" name="TextBox 18"/>
            <p:cNvSpPr txBox="1"/>
            <p:nvPr/>
          </p:nvSpPr>
          <p:spPr>
            <a:xfrm>
              <a:off x="603885" y="603250"/>
              <a:ext cx="2491643"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02 · SERVERLESS BY DESIGN</a:t>
              </a:r>
            </a:p>
          </p:txBody>
        </p:sp>
        <p:sp>
          <p:nvSpPr>
            <p:cNvPr id="19" name="TextBox 19"/>
            <p:cNvSpPr txBox="1"/>
            <p:nvPr/>
          </p:nvSpPr>
          <p:spPr>
            <a:xfrm>
              <a:off x="594360" y="831850"/>
              <a:ext cx="8928992"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No server: the library is the database engine</a:t>
              </a:r>
            </a:p>
          </p:txBody>
        </p:sp>
      </p:grpSp>
      <p:grpSp>
        <p:nvGrpSpPr>
          <p:cNvPr id="50" name="lane-client-server"/>
          <p:cNvGrpSpPr/>
          <p:nvPr/>
        </p:nvGrpSpPr>
        <p:grpSpPr>
          <a:xfrm>
            <a:off x="908304" y="1593850"/>
            <a:ext cx="2975495" cy="4209796"/>
            <a:chOff x="908304" y="1593850"/>
            <a:chExt cx="2975495" cy="4209796"/>
          </a:xfrm>
        </p:grpSpPr>
        <p:sp>
          <p:nvSpPr>
            <p:cNvPr id="21" name="TextBox 21"/>
            <p:cNvSpPr txBox="1"/>
            <p:nvPr/>
          </p:nvSpPr>
          <p:spPr>
            <a:xfrm>
              <a:off x="908685" y="1593850"/>
              <a:ext cx="2108275"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CLIENT/SERVER ENGINE</a:t>
              </a:r>
            </a:p>
          </p:txBody>
        </p:sp>
        <p:sp>
          <p:nvSpPr>
            <p:cNvPr id="22" name="Rectangle 22"/>
            <p:cNvSpPr/>
            <p:nvPr/>
          </p:nvSpPr>
          <p:spPr>
            <a:xfrm>
              <a:off x="914400" y="1905000"/>
              <a:ext cx="1905000" cy="533400"/>
            </a:xfrm>
            <a:prstGeom prst="roundRect">
              <a:avLst>
                <a:gd name="adj" fmla="val 3571"/>
              </a:avLst>
            </a:prstGeom>
            <a:noFill/>
            <a:ln w="14288">
              <a:solidFill>
                <a:schemeClr val="accent1"/>
              </a:solidFill>
            </a:ln>
          </p:spPr>
        </p:sp>
        <p:grpSp>
          <p:nvGrpSpPr>
            <p:cNvPr id="26" name="Group 26"/>
            <p:cNvGrpSpPr/>
            <p:nvPr/>
          </p:nvGrpSpPr>
          <p:grpSpPr>
            <a:xfrm>
              <a:off x="1095375" y="2095500"/>
              <a:ext cx="171450" cy="152400"/>
              <a:chOff x="1095375" y="2095500"/>
              <a:chExt cx="171450" cy="152400"/>
            </a:xfrm>
          </p:grpSpPr>
          <p:sp>
            <p:nvSpPr>
              <p:cNvPr id="23" name="Freeform 23"/>
              <p:cNvSpPr/>
              <p:nvPr/>
            </p:nvSpPr>
            <p:spPr>
              <a:xfrm>
                <a:off x="1095375" y="2133600"/>
                <a:ext cx="38100" cy="76200"/>
              </a:xfrm>
              <a:custGeom>
                <a:avLst/>
                <a:gdLst/>
                <a:ahLst/>
                <a:cxnLst/>
                <a:rect l="l" t="t" r="r" b="b"/>
                <a:pathLst>
                  <a:path w="38100" h="76200">
                    <a:moveTo>
                      <a:pt x="38100" y="0"/>
                    </a:moveTo>
                    <a:lnTo>
                      <a:pt x="0" y="38100"/>
                    </a:lnTo>
                    <a:lnTo>
                      <a:pt x="38100" y="76200"/>
                    </a:lnTo>
                  </a:path>
                </a:pathLst>
              </a:custGeom>
              <a:noFill/>
              <a:ln w="14288">
                <a:solidFill>
                  <a:schemeClr val="accent1"/>
                </a:solidFill>
              </a:ln>
            </p:spPr>
          </p:sp>
          <p:sp>
            <p:nvSpPr>
              <p:cNvPr id="24" name="Freeform 24"/>
              <p:cNvSpPr/>
              <p:nvPr/>
            </p:nvSpPr>
            <p:spPr>
              <a:xfrm>
                <a:off x="1228725" y="2133600"/>
                <a:ext cx="38100" cy="76200"/>
              </a:xfrm>
              <a:custGeom>
                <a:avLst/>
                <a:gdLst/>
                <a:ahLst/>
                <a:cxnLst/>
                <a:rect l="l" t="t" r="r" b="b"/>
                <a:pathLst>
                  <a:path w="38100" h="76200">
                    <a:moveTo>
                      <a:pt x="0" y="0"/>
                    </a:moveTo>
                    <a:lnTo>
                      <a:pt x="38100" y="38100"/>
                    </a:lnTo>
                    <a:lnTo>
                      <a:pt x="0" y="76200"/>
                    </a:lnTo>
                  </a:path>
                </a:pathLst>
              </a:custGeom>
              <a:noFill/>
              <a:ln w="14288">
                <a:solidFill>
                  <a:schemeClr val="accent1"/>
                </a:solidFill>
              </a:ln>
            </p:spPr>
          </p:sp>
          <p:sp>
            <p:nvSpPr>
              <p:cNvPr id="25" name="Freeform 25"/>
              <p:cNvSpPr/>
              <p:nvPr/>
            </p:nvSpPr>
            <p:spPr>
              <a:xfrm>
                <a:off x="1162050" y="2095500"/>
                <a:ext cx="38100" cy="152400"/>
              </a:xfrm>
              <a:custGeom>
                <a:avLst/>
                <a:gdLst/>
                <a:ahLst/>
                <a:cxnLst/>
                <a:rect l="l" t="t" r="r" b="b"/>
                <a:pathLst>
                  <a:path w="38100" h="152400">
                    <a:moveTo>
                      <a:pt x="38100" y="0"/>
                    </a:moveTo>
                    <a:lnTo>
                      <a:pt x="0" y="152400"/>
                    </a:lnTo>
                  </a:path>
                </a:pathLst>
              </a:custGeom>
              <a:noFill/>
              <a:ln w="14288">
                <a:solidFill>
                  <a:schemeClr val="accent1"/>
                </a:solidFill>
              </a:ln>
            </p:spPr>
          </p:sp>
        </p:grpSp>
        <p:sp>
          <p:nvSpPr>
            <p:cNvPr id="27" name="TextBox 27"/>
            <p:cNvSpPr txBox="1"/>
            <p:nvPr/>
          </p:nvSpPr>
          <p:spPr>
            <a:xfrm>
              <a:off x="1382268" y="2035175"/>
              <a:ext cx="1099081"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application</a:t>
              </a:r>
            </a:p>
          </p:txBody>
        </p:sp>
        <p:sp>
          <p:nvSpPr>
            <p:cNvPr id="28" name="Line 28"/>
            <p:cNvSpPr/>
            <p:nvPr/>
          </p:nvSpPr>
          <p:spPr>
            <a:xfrm>
              <a:off x="1866900" y="2438400"/>
              <a:ext cx="1" cy="590550"/>
            </a:xfrm>
            <a:prstGeom prst="line">
              <a:avLst/>
            </a:prstGeom>
            <a:noFill/>
            <a:ln w="14288">
              <a:solidFill>
                <a:schemeClr val="accent1"/>
              </a:solidFill>
              <a:prstDash val="lgDash"/>
              <a:tailEnd type="triangle" w="lg" len="lg"/>
            </a:ln>
          </p:spPr>
        </p:sp>
        <p:grpSp>
          <p:nvGrpSpPr>
            <p:cNvPr id="37" name="Group 37"/>
            <p:cNvGrpSpPr/>
            <p:nvPr/>
          </p:nvGrpSpPr>
          <p:grpSpPr>
            <a:xfrm>
              <a:off x="2047875" y="2619375"/>
              <a:ext cx="171450" cy="180975"/>
              <a:chOff x="2047875" y="2619375"/>
              <a:chExt cx="171450" cy="180975"/>
            </a:xfrm>
          </p:grpSpPr>
          <p:sp>
            <p:nvSpPr>
              <p:cNvPr id="29" name="Freeform 29"/>
              <p:cNvSpPr/>
              <p:nvPr/>
            </p:nvSpPr>
            <p:spPr>
              <a:xfrm>
                <a:off x="2076450" y="2619375"/>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4288">
                <a:solidFill>
                  <a:srgbClr val="9FB6CF"/>
                </a:solidFill>
              </a:ln>
            </p:spPr>
          </p:sp>
          <p:sp>
            <p:nvSpPr>
              <p:cNvPr id="30" name="Freeform 30"/>
              <p:cNvSpPr/>
              <p:nvPr/>
            </p:nvSpPr>
            <p:spPr>
              <a:xfrm>
                <a:off x="2133600" y="2619375"/>
                <a:ext cx="19050" cy="114300"/>
              </a:xfrm>
              <a:custGeom>
                <a:avLst/>
                <a:gdLst/>
                <a:ahLst/>
                <a:cxnLst/>
                <a:rect l="l" t="t" r="r" b="b"/>
                <a:pathLst>
                  <a:path w="19050" h="114300">
                    <a:moveTo>
                      <a:pt x="0" y="0"/>
                    </a:moveTo>
                    <a:cubicBezTo>
                      <a:pt x="12697" y="3172"/>
                      <a:pt x="19050" y="22222"/>
                      <a:pt x="19050" y="57150"/>
                    </a:cubicBezTo>
                    <a:cubicBezTo>
                      <a:pt x="19050" y="92078"/>
                      <a:pt x="12697" y="111128"/>
                      <a:pt x="0" y="114300"/>
                    </a:cubicBezTo>
                  </a:path>
                </a:pathLst>
              </a:custGeom>
              <a:noFill/>
              <a:ln w="14288">
                <a:solidFill>
                  <a:srgbClr val="9FB6CF"/>
                </a:solidFill>
              </a:ln>
            </p:spPr>
          </p:sp>
          <p:sp>
            <p:nvSpPr>
              <p:cNvPr id="31" name="Freeform 31"/>
              <p:cNvSpPr/>
              <p:nvPr/>
            </p:nvSpPr>
            <p:spPr>
              <a:xfrm>
                <a:off x="2114550" y="2619375"/>
                <a:ext cx="19050" cy="114300"/>
              </a:xfrm>
              <a:custGeom>
                <a:avLst/>
                <a:gdLst/>
                <a:ahLst/>
                <a:cxnLst/>
                <a:rect l="l" t="t" r="r" b="b"/>
                <a:pathLst>
                  <a:path w="19050" h="114300">
                    <a:moveTo>
                      <a:pt x="19050" y="0"/>
                    </a:moveTo>
                    <a:cubicBezTo>
                      <a:pt x="6353" y="3172"/>
                      <a:pt x="0" y="22222"/>
                      <a:pt x="0" y="57150"/>
                    </a:cubicBezTo>
                    <a:cubicBezTo>
                      <a:pt x="0" y="92078"/>
                      <a:pt x="6353" y="111128"/>
                      <a:pt x="19050" y="114300"/>
                    </a:cubicBezTo>
                  </a:path>
                </a:pathLst>
              </a:custGeom>
              <a:noFill/>
              <a:ln w="14288">
                <a:solidFill>
                  <a:srgbClr val="9FB6CF"/>
                </a:solidFill>
              </a:ln>
            </p:spPr>
          </p:sp>
          <p:sp>
            <p:nvSpPr>
              <p:cNvPr id="32" name="Freeform 32"/>
              <p:cNvSpPr/>
              <p:nvPr/>
            </p:nvSpPr>
            <p:spPr>
              <a:xfrm>
                <a:off x="2076450" y="2676525"/>
                <a:ext cx="114300" cy="9525"/>
              </a:xfrm>
              <a:custGeom>
                <a:avLst/>
                <a:gdLst/>
                <a:ahLst/>
                <a:cxnLst/>
                <a:rect l="l" t="t" r="r" b="b"/>
                <a:pathLst>
                  <a:path w="114300" h="9525">
                    <a:moveTo>
                      <a:pt x="0" y="0"/>
                    </a:moveTo>
                    <a:lnTo>
                      <a:pt x="114300" y="0"/>
                    </a:lnTo>
                  </a:path>
                </a:pathLst>
              </a:custGeom>
              <a:noFill/>
              <a:ln w="14288">
                <a:solidFill>
                  <a:srgbClr val="9FB6CF"/>
                </a:solidFill>
              </a:ln>
            </p:spPr>
          </p:sp>
          <p:sp>
            <p:nvSpPr>
              <p:cNvPr id="33" name="Freeform 33"/>
              <p:cNvSpPr/>
              <p:nvPr/>
            </p:nvSpPr>
            <p:spPr>
              <a:xfrm>
                <a:off x="2047875" y="2781300"/>
                <a:ext cx="66675" cy="9525"/>
              </a:xfrm>
              <a:custGeom>
                <a:avLst/>
                <a:gdLst/>
                <a:ahLst/>
                <a:cxnLst/>
                <a:rect l="l" t="t" r="r" b="b"/>
                <a:pathLst>
                  <a:path w="66675" h="9525">
                    <a:moveTo>
                      <a:pt x="0" y="0"/>
                    </a:moveTo>
                    <a:lnTo>
                      <a:pt x="66675" y="0"/>
                    </a:lnTo>
                  </a:path>
                </a:pathLst>
              </a:custGeom>
              <a:noFill/>
              <a:ln w="14288">
                <a:solidFill>
                  <a:srgbClr val="9FB6CF"/>
                </a:solidFill>
              </a:ln>
            </p:spPr>
          </p:sp>
          <p:sp>
            <p:nvSpPr>
              <p:cNvPr id="34" name="Freeform 34"/>
              <p:cNvSpPr/>
              <p:nvPr/>
            </p:nvSpPr>
            <p:spPr>
              <a:xfrm>
                <a:off x="2152650" y="2781300"/>
                <a:ext cx="66675" cy="9525"/>
              </a:xfrm>
              <a:custGeom>
                <a:avLst/>
                <a:gdLst/>
                <a:ahLst/>
                <a:cxnLst/>
                <a:rect l="l" t="t" r="r" b="b"/>
                <a:pathLst>
                  <a:path w="66675" h="9525">
                    <a:moveTo>
                      <a:pt x="0" y="0"/>
                    </a:moveTo>
                    <a:lnTo>
                      <a:pt x="66675" y="0"/>
                    </a:lnTo>
                  </a:path>
                </a:pathLst>
              </a:custGeom>
              <a:noFill/>
              <a:ln w="14288">
                <a:solidFill>
                  <a:srgbClr val="9FB6CF"/>
                </a:solidFill>
              </a:ln>
            </p:spPr>
          </p:sp>
          <p:sp>
            <p:nvSpPr>
              <p:cNvPr id="35" name="Freeform 35"/>
              <p:cNvSpPr/>
              <p:nvPr/>
            </p:nvSpPr>
            <p:spPr>
              <a:xfrm>
                <a:off x="2114550" y="2762250"/>
                <a:ext cx="38100" cy="38100"/>
              </a:xfrm>
              <a:custGeom>
                <a:avLst/>
                <a:gdLst/>
                <a:ahLst/>
                <a:cxnLst/>
                <a:rect l="l" t="t" r="r" b="b"/>
                <a:pathLst>
                  <a:path w="38100" h="38100">
                    <a:moveTo>
                      <a:pt x="0" y="19050"/>
                    </a:moveTo>
                    <a:cubicBezTo>
                      <a:pt x="0" y="29571"/>
                      <a:pt x="8529" y="38100"/>
                      <a:pt x="19050" y="38100"/>
                    </a:cubicBezTo>
                    <a:cubicBezTo>
                      <a:pt x="29571" y="38100"/>
                      <a:pt x="38100" y="29571"/>
                      <a:pt x="38100" y="19050"/>
                    </a:cubicBezTo>
                    <a:cubicBezTo>
                      <a:pt x="38100" y="8529"/>
                      <a:pt x="29571" y="0"/>
                      <a:pt x="19050" y="0"/>
                    </a:cubicBezTo>
                    <a:cubicBezTo>
                      <a:pt x="8529" y="0"/>
                      <a:pt x="0" y="8529"/>
                      <a:pt x="0" y="19050"/>
                    </a:cubicBezTo>
                  </a:path>
                </a:pathLst>
              </a:custGeom>
              <a:noFill/>
              <a:ln w="14288">
                <a:solidFill>
                  <a:srgbClr val="9FB6CF"/>
                </a:solidFill>
              </a:ln>
            </p:spPr>
          </p:sp>
          <p:sp>
            <p:nvSpPr>
              <p:cNvPr id="36" name="Freeform 36"/>
              <p:cNvSpPr/>
              <p:nvPr/>
            </p:nvSpPr>
            <p:spPr>
              <a:xfrm>
                <a:off x="2133600" y="2733675"/>
                <a:ext cx="9525" cy="28575"/>
              </a:xfrm>
              <a:custGeom>
                <a:avLst/>
                <a:gdLst/>
                <a:ahLst/>
                <a:cxnLst/>
                <a:rect l="l" t="t" r="r" b="b"/>
                <a:pathLst>
                  <a:path w="9525" h="28575">
                    <a:moveTo>
                      <a:pt x="0" y="0"/>
                    </a:moveTo>
                    <a:lnTo>
                      <a:pt x="0" y="28575"/>
                    </a:lnTo>
                  </a:path>
                </a:pathLst>
              </a:custGeom>
              <a:noFill/>
              <a:ln w="14288">
                <a:solidFill>
                  <a:srgbClr val="9FB6CF"/>
                </a:solidFill>
              </a:ln>
            </p:spPr>
          </p:sp>
        </p:grpSp>
        <p:sp>
          <p:nvSpPr>
            <p:cNvPr id="38" name="TextBox 38"/>
            <p:cNvSpPr txBox="1"/>
            <p:nvPr/>
          </p:nvSpPr>
          <p:spPr>
            <a:xfrm>
              <a:off x="2318004" y="2619375"/>
              <a:ext cx="1565795"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SQL over the network</a:t>
              </a:r>
            </a:p>
          </p:txBody>
        </p:sp>
        <p:sp>
          <p:nvSpPr>
            <p:cNvPr id="39" name="Rectangle 39"/>
            <p:cNvSpPr/>
            <p:nvPr/>
          </p:nvSpPr>
          <p:spPr>
            <a:xfrm>
              <a:off x="914400" y="3086100"/>
              <a:ext cx="1905000" cy="533400"/>
            </a:xfrm>
            <a:prstGeom prst="roundRect">
              <a:avLst>
                <a:gd name="adj" fmla="val 3571"/>
              </a:avLst>
            </a:prstGeom>
            <a:noFill/>
            <a:ln w="14288">
              <a:solidFill>
                <a:schemeClr val="accent1"/>
              </a:solidFill>
            </a:ln>
          </p:spPr>
        </p:sp>
        <p:grpSp>
          <p:nvGrpSpPr>
            <p:cNvPr id="44" name="Group 44"/>
            <p:cNvGrpSpPr/>
            <p:nvPr/>
          </p:nvGrpSpPr>
          <p:grpSpPr>
            <a:xfrm>
              <a:off x="1095375" y="3276600"/>
              <a:ext cx="171450" cy="152400"/>
              <a:chOff x="1095375" y="3276600"/>
              <a:chExt cx="171450" cy="152400"/>
            </a:xfrm>
          </p:grpSpPr>
          <p:sp>
            <p:nvSpPr>
              <p:cNvPr id="40" name="Freeform 40"/>
              <p:cNvSpPr/>
              <p:nvPr/>
            </p:nvSpPr>
            <p:spPr>
              <a:xfrm>
                <a:off x="1095375" y="32766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chemeClr val="accent1"/>
                </a:solidFill>
              </a:ln>
            </p:spPr>
          </p:sp>
          <p:sp>
            <p:nvSpPr>
              <p:cNvPr id="41" name="Freeform 41"/>
              <p:cNvSpPr/>
              <p:nvPr/>
            </p:nvSpPr>
            <p:spPr>
              <a:xfrm>
                <a:off x="1095375" y="33528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chemeClr val="accent1"/>
                </a:solidFill>
              </a:ln>
            </p:spPr>
          </p:sp>
          <p:sp>
            <p:nvSpPr>
              <p:cNvPr id="42" name="Freeform 42"/>
              <p:cNvSpPr/>
              <p:nvPr/>
            </p:nvSpPr>
            <p:spPr>
              <a:xfrm>
                <a:off x="1133475" y="3314700"/>
                <a:ext cx="9525" cy="9525"/>
              </a:xfrm>
              <a:custGeom>
                <a:avLst/>
                <a:gdLst/>
                <a:ahLst/>
                <a:cxnLst/>
                <a:rect l="l" t="t" r="r" b="b"/>
                <a:pathLst>
                  <a:path w="9525" h="9525">
                    <a:moveTo>
                      <a:pt x="0" y="0"/>
                    </a:moveTo>
                    <a:lnTo>
                      <a:pt x="0" y="95"/>
                    </a:lnTo>
                  </a:path>
                </a:pathLst>
              </a:custGeom>
              <a:noFill/>
              <a:ln w="14288">
                <a:solidFill>
                  <a:schemeClr val="accent1"/>
                </a:solidFill>
              </a:ln>
            </p:spPr>
          </p:sp>
          <p:sp>
            <p:nvSpPr>
              <p:cNvPr id="43" name="Freeform 43"/>
              <p:cNvSpPr/>
              <p:nvPr/>
            </p:nvSpPr>
            <p:spPr>
              <a:xfrm>
                <a:off x="1133475" y="3390900"/>
                <a:ext cx="9525" cy="9525"/>
              </a:xfrm>
              <a:custGeom>
                <a:avLst/>
                <a:gdLst/>
                <a:ahLst/>
                <a:cxnLst/>
                <a:rect l="l" t="t" r="r" b="b"/>
                <a:pathLst>
                  <a:path w="9525" h="9525">
                    <a:moveTo>
                      <a:pt x="0" y="0"/>
                    </a:moveTo>
                    <a:lnTo>
                      <a:pt x="0" y="95"/>
                    </a:lnTo>
                  </a:path>
                </a:pathLst>
              </a:custGeom>
              <a:noFill/>
              <a:ln w="14288">
                <a:solidFill>
                  <a:schemeClr val="accent1"/>
                </a:solidFill>
              </a:ln>
            </p:spPr>
          </p:sp>
        </p:grpSp>
        <p:sp>
          <p:nvSpPr>
            <p:cNvPr id="45" name="TextBox 45"/>
            <p:cNvSpPr txBox="1"/>
            <p:nvPr/>
          </p:nvSpPr>
          <p:spPr>
            <a:xfrm>
              <a:off x="1382268" y="3216275"/>
              <a:ext cx="1410275"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server process</a:t>
              </a:r>
            </a:p>
          </p:txBody>
        </p:sp>
        <p:sp>
          <p:nvSpPr>
            <p:cNvPr id="46" name="Line 46"/>
            <p:cNvSpPr/>
            <p:nvPr/>
          </p:nvSpPr>
          <p:spPr>
            <a:xfrm>
              <a:off x="1866900" y="3619500"/>
              <a:ext cx="1" cy="628650"/>
            </a:xfrm>
            <a:prstGeom prst="line">
              <a:avLst/>
            </a:prstGeom>
            <a:noFill/>
            <a:ln w="14288">
              <a:solidFill>
                <a:schemeClr val="accent1"/>
              </a:solidFill>
              <a:tailEnd type="triangle" w="lg" len="lg"/>
            </a:ln>
          </p:spPr>
        </p:sp>
        <p:sp>
          <p:nvSpPr>
            <p:cNvPr id="47" name="Freeform 47"/>
            <p:cNvSpPr/>
            <p:nvPr/>
          </p:nvSpPr>
          <p:spPr>
            <a:xfrm>
              <a:off x="1104900" y="4305300"/>
              <a:ext cx="1524000" cy="800100"/>
            </a:xfrm>
            <a:prstGeom prst="flowChartMagneticDisk">
              <a:avLst/>
            </a:prstGeom>
            <a:noFill/>
            <a:ln w="14288">
              <a:solidFill>
                <a:schemeClr val="accent1"/>
              </a:solidFill>
            </a:ln>
          </p:spPr>
        </p:sp>
        <p:sp>
          <p:nvSpPr>
            <p:cNvPr id="48" name="TextBox 48"/>
            <p:cNvSpPr txBox="1"/>
            <p:nvPr/>
          </p:nvSpPr>
          <p:spPr>
            <a:xfrm>
              <a:off x="1437292" y="4686300"/>
              <a:ext cx="859216"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its data files</a:t>
              </a:r>
            </a:p>
          </p:txBody>
        </p:sp>
        <p:sp>
          <p:nvSpPr>
            <p:cNvPr id="49" name="TextBox 49"/>
            <p:cNvSpPr txBox="1"/>
            <p:nvPr/>
          </p:nvSpPr>
          <p:spPr>
            <a:xfrm>
              <a:off x="908304" y="5359400"/>
              <a:ext cx="2847091"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A long-running server to install, configure,</a:t>
              </a:r>
              <a:br>
                <a:rPr lang="en" sz="1200" dirty="0">
                  <a:solidFill>
                    <a:schemeClr val="accent5"/>
                  </a:solidFill>
                  <a:latin typeface="+mn-lt"/>
                  <a:ea typeface="+mn-ea"/>
                  <a:cs typeface="+mn-cs"/>
                </a:rPr>
              </a:br>
              <a:r>
                <a:rPr lang="en" sz="1200" dirty="0">
                  <a:solidFill>
                    <a:schemeClr val="accent5"/>
                  </a:solidFill>
                  <a:latin typeface="+mn-lt"/>
                  <a:ea typeface="+mn-ea"/>
                  <a:cs typeface="+mn-cs"/>
                </a:rPr>
                <a:t>and administer before the first query.</a:t>
              </a:r>
            </a:p>
          </p:txBody>
        </p:sp>
      </p:grpSp>
      <p:grpSp>
        <p:nvGrpSpPr>
          <p:cNvPr id="52" name="lane-divider"/>
          <p:cNvGrpSpPr/>
          <p:nvPr/>
        </p:nvGrpSpPr>
        <p:grpSpPr>
          <a:xfrm>
            <a:off x="5715000" y="1562100"/>
            <a:ext cx="9525" cy="4457700"/>
            <a:chOff x="5715000" y="1562100"/>
            <a:chExt cx="9525" cy="4457700"/>
          </a:xfrm>
        </p:grpSpPr>
        <p:sp>
          <p:nvSpPr>
            <p:cNvPr id="51" name="Line 51"/>
            <p:cNvSpPr/>
            <p:nvPr/>
          </p:nvSpPr>
          <p:spPr>
            <a:xfrm>
              <a:off x="5715000" y="1562100"/>
              <a:ext cx="9525" cy="4457700"/>
            </a:xfrm>
            <a:custGeom>
              <a:avLst/>
              <a:gdLst/>
              <a:ahLst/>
              <a:cxnLst/>
              <a:rect l="l" t="t" r="r" b="b"/>
              <a:pathLst>
                <a:path w="9525" h="4457700">
                  <a:moveTo>
                    <a:pt x="0" y="0"/>
                  </a:moveTo>
                  <a:lnTo>
                    <a:pt x="0" y="4457700"/>
                  </a:lnTo>
                </a:path>
              </a:pathLst>
            </a:custGeom>
            <a:noFill/>
            <a:ln w="9525">
              <a:solidFill>
                <a:schemeClr val="accent6"/>
              </a:solidFill>
              <a:prstDash val="dash"/>
            </a:ln>
          </p:spPr>
        </p:sp>
      </p:grpSp>
      <p:grpSp>
        <p:nvGrpSpPr>
          <p:cNvPr id="71" name="lane-sqlite"/>
          <p:cNvGrpSpPr/>
          <p:nvPr/>
        </p:nvGrpSpPr>
        <p:grpSpPr>
          <a:xfrm>
            <a:off x="6394704" y="1593850"/>
            <a:ext cx="2482596" cy="4209796"/>
            <a:chOff x="6394704" y="1593850"/>
            <a:chExt cx="2482596" cy="4209796"/>
          </a:xfrm>
        </p:grpSpPr>
        <p:sp>
          <p:nvSpPr>
            <p:cNvPr id="53" name="TextBox 53"/>
            <p:cNvSpPr txBox="1"/>
            <p:nvPr/>
          </p:nvSpPr>
          <p:spPr>
            <a:xfrm>
              <a:off x="6395085" y="1593850"/>
              <a:ext cx="604273" cy="220028"/>
            </a:xfrm>
            <a:prstGeom prst="rect">
              <a:avLst/>
            </a:prstGeom>
            <a:noFill/>
            <a:ln>
              <a:noFill/>
            </a:ln>
          </p:spPr>
          <p:txBody>
            <a:bodyPr wrap="none" lIns="0" tIns="0" rIns="0" bIns="0" anchor="t" anchorCtr="0">
              <a:spAutoFit/>
            </a:bodyPr>
            <a:lstStyle/>
            <a:p>
              <a:pPr algn="l"/>
              <a:r>
                <a:rPr lang="en" sz="1120" spc="150" dirty="0">
                  <a:solidFill>
                    <a:schemeClr val="accent2"/>
                  </a:solidFill>
                  <a:latin typeface="+mn-lt"/>
                  <a:ea typeface="+mn-ea"/>
                  <a:cs typeface="+mn-cs"/>
                </a:rPr>
                <a:t>SQLITE</a:t>
              </a:r>
            </a:p>
          </p:txBody>
        </p:sp>
        <p:sp>
          <p:nvSpPr>
            <p:cNvPr id="54" name="Rectangle 54"/>
            <p:cNvSpPr/>
            <p:nvPr/>
          </p:nvSpPr>
          <p:spPr>
            <a:xfrm>
              <a:off x="6400800" y="1905000"/>
              <a:ext cx="2476500" cy="1809750"/>
            </a:xfrm>
            <a:prstGeom prst="roundRect">
              <a:avLst>
                <a:gd name="adj" fmla="val 1053"/>
              </a:avLst>
            </a:prstGeom>
            <a:noFill/>
            <a:ln w="14288">
              <a:solidFill>
                <a:schemeClr val="accent1"/>
              </a:solidFill>
            </a:ln>
          </p:spPr>
        </p:sp>
        <p:grpSp>
          <p:nvGrpSpPr>
            <p:cNvPr id="58" name="Group 58"/>
            <p:cNvGrpSpPr/>
            <p:nvPr/>
          </p:nvGrpSpPr>
          <p:grpSpPr>
            <a:xfrm>
              <a:off x="6581775" y="2095500"/>
              <a:ext cx="171450" cy="152400"/>
              <a:chOff x="6581775" y="2095500"/>
              <a:chExt cx="171450" cy="152400"/>
            </a:xfrm>
          </p:grpSpPr>
          <p:sp>
            <p:nvSpPr>
              <p:cNvPr id="55" name="Freeform 55"/>
              <p:cNvSpPr/>
              <p:nvPr/>
            </p:nvSpPr>
            <p:spPr>
              <a:xfrm>
                <a:off x="6581775" y="2133600"/>
                <a:ext cx="38100" cy="76200"/>
              </a:xfrm>
              <a:custGeom>
                <a:avLst/>
                <a:gdLst/>
                <a:ahLst/>
                <a:cxnLst/>
                <a:rect l="l" t="t" r="r" b="b"/>
                <a:pathLst>
                  <a:path w="38100" h="76200">
                    <a:moveTo>
                      <a:pt x="38100" y="0"/>
                    </a:moveTo>
                    <a:lnTo>
                      <a:pt x="0" y="38100"/>
                    </a:lnTo>
                    <a:lnTo>
                      <a:pt x="38100" y="76200"/>
                    </a:lnTo>
                  </a:path>
                </a:pathLst>
              </a:custGeom>
              <a:noFill/>
              <a:ln w="14288">
                <a:solidFill>
                  <a:schemeClr val="accent1"/>
                </a:solidFill>
              </a:ln>
            </p:spPr>
          </p:sp>
          <p:sp>
            <p:nvSpPr>
              <p:cNvPr id="56" name="Freeform 56"/>
              <p:cNvSpPr/>
              <p:nvPr/>
            </p:nvSpPr>
            <p:spPr>
              <a:xfrm>
                <a:off x="6715125" y="2133600"/>
                <a:ext cx="38100" cy="76200"/>
              </a:xfrm>
              <a:custGeom>
                <a:avLst/>
                <a:gdLst/>
                <a:ahLst/>
                <a:cxnLst/>
                <a:rect l="l" t="t" r="r" b="b"/>
                <a:pathLst>
                  <a:path w="38100" h="76200">
                    <a:moveTo>
                      <a:pt x="0" y="0"/>
                    </a:moveTo>
                    <a:lnTo>
                      <a:pt x="38100" y="38100"/>
                    </a:lnTo>
                    <a:lnTo>
                      <a:pt x="0" y="76200"/>
                    </a:lnTo>
                  </a:path>
                </a:pathLst>
              </a:custGeom>
              <a:noFill/>
              <a:ln w="14288">
                <a:solidFill>
                  <a:schemeClr val="accent1"/>
                </a:solidFill>
              </a:ln>
            </p:spPr>
          </p:sp>
          <p:sp>
            <p:nvSpPr>
              <p:cNvPr id="57" name="Freeform 57"/>
              <p:cNvSpPr/>
              <p:nvPr/>
            </p:nvSpPr>
            <p:spPr>
              <a:xfrm>
                <a:off x="6648450" y="2095500"/>
                <a:ext cx="38100" cy="152400"/>
              </a:xfrm>
              <a:custGeom>
                <a:avLst/>
                <a:gdLst/>
                <a:ahLst/>
                <a:cxnLst/>
                <a:rect l="l" t="t" r="r" b="b"/>
                <a:pathLst>
                  <a:path w="38100" h="152400">
                    <a:moveTo>
                      <a:pt x="38100" y="0"/>
                    </a:moveTo>
                    <a:lnTo>
                      <a:pt x="0" y="152400"/>
                    </a:lnTo>
                  </a:path>
                </a:pathLst>
              </a:custGeom>
              <a:noFill/>
              <a:ln w="14288">
                <a:solidFill>
                  <a:schemeClr val="accent1"/>
                </a:solidFill>
              </a:ln>
            </p:spPr>
          </p:sp>
        </p:grpSp>
        <p:sp>
          <p:nvSpPr>
            <p:cNvPr id="59" name="TextBox 59"/>
            <p:cNvSpPr txBox="1"/>
            <p:nvPr/>
          </p:nvSpPr>
          <p:spPr>
            <a:xfrm>
              <a:off x="6868668" y="2035175"/>
              <a:ext cx="1099081"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application</a:t>
              </a:r>
            </a:p>
          </p:txBody>
        </p:sp>
        <p:sp>
          <p:nvSpPr>
            <p:cNvPr id="60" name="Rectangle 60"/>
            <p:cNvSpPr/>
            <p:nvPr/>
          </p:nvSpPr>
          <p:spPr>
            <a:xfrm>
              <a:off x="6591300" y="2533650"/>
              <a:ext cx="2095500" cy="990600"/>
            </a:xfrm>
            <a:prstGeom prst="roundRect">
              <a:avLst>
                <a:gd name="adj" fmla="val 1923"/>
              </a:avLst>
            </a:prstGeom>
            <a:solidFill>
              <a:schemeClr val="lt2"/>
            </a:solidFill>
            <a:ln w="14288">
              <a:solidFill>
                <a:schemeClr val="accent2"/>
              </a:solidFill>
            </a:ln>
          </p:spPr>
        </p:sp>
        <p:sp>
          <p:nvSpPr>
            <p:cNvPr id="61" name="Freeform 61"/>
            <p:cNvSpPr/>
            <p:nvPr/>
          </p:nvSpPr>
          <p:spPr>
            <a:xfrm>
              <a:off x="6757813" y="2681616"/>
              <a:ext cx="254755" cy="271135"/>
            </a:xfrm>
            <a:custGeom>
              <a:avLst/>
              <a:gdLst/>
              <a:ahLst/>
              <a:cxnLst/>
              <a:rect l="l" t="t" r="r" b="b"/>
              <a:pathLst>
                <a:path w="254755" h="271135">
                  <a:moveTo>
                    <a:pt x="226785" y="10224"/>
                  </a:moveTo>
                  <a:cubicBezTo>
                    <a:pt x="215316" y="0"/>
                    <a:pt x="201448" y="4112"/>
                    <a:pt x="187746" y="16269"/>
                  </a:cubicBezTo>
                  <a:cubicBezTo>
                    <a:pt x="185634" y="18160"/>
                    <a:pt x="183606" y="20144"/>
                    <a:pt x="181668" y="22214"/>
                  </a:cubicBezTo>
                  <a:cubicBezTo>
                    <a:pt x="158231" y="47073"/>
                    <a:pt x="136484" y="93112"/>
                    <a:pt x="129728" y="128272"/>
                  </a:cubicBezTo>
                  <a:cubicBezTo>
                    <a:pt x="132361" y="133606"/>
                    <a:pt x="134417" y="140418"/>
                    <a:pt x="135773" y="145619"/>
                  </a:cubicBezTo>
                  <a:cubicBezTo>
                    <a:pt x="136452" y="148205"/>
                    <a:pt x="137060" y="150810"/>
                    <a:pt x="137595" y="153431"/>
                  </a:cubicBezTo>
                  <a:cubicBezTo>
                    <a:pt x="137595" y="153431"/>
                    <a:pt x="137384" y="152642"/>
                    <a:pt x="136529" y="150141"/>
                  </a:cubicBezTo>
                  <a:lnTo>
                    <a:pt x="135973" y="148519"/>
                  </a:lnTo>
                  <a:cubicBezTo>
                    <a:pt x="135858" y="148220"/>
                    <a:pt x="135736" y="147923"/>
                    <a:pt x="135606" y="147630"/>
                  </a:cubicBezTo>
                  <a:cubicBezTo>
                    <a:pt x="134073" y="144074"/>
                    <a:pt x="129850" y="136573"/>
                    <a:pt x="127983" y="133306"/>
                  </a:cubicBezTo>
                  <a:cubicBezTo>
                    <a:pt x="126394" y="138007"/>
                    <a:pt x="124983" y="142396"/>
                    <a:pt x="123805" y="146374"/>
                  </a:cubicBezTo>
                  <a:cubicBezTo>
                    <a:pt x="129183" y="156198"/>
                    <a:pt x="132450" y="173044"/>
                    <a:pt x="132450" y="173044"/>
                  </a:cubicBezTo>
                  <a:cubicBezTo>
                    <a:pt x="132450" y="173044"/>
                    <a:pt x="132172" y="171944"/>
                    <a:pt x="130817" y="168133"/>
                  </a:cubicBezTo>
                  <a:cubicBezTo>
                    <a:pt x="129628" y="164766"/>
                    <a:pt x="123660" y="154309"/>
                    <a:pt x="122238" y="151864"/>
                  </a:cubicBezTo>
                  <a:cubicBezTo>
                    <a:pt x="119826" y="160798"/>
                    <a:pt x="118860" y="166821"/>
                    <a:pt x="119726" y="168288"/>
                  </a:cubicBezTo>
                  <a:cubicBezTo>
                    <a:pt x="121416" y="171133"/>
                    <a:pt x="123016" y="176045"/>
                    <a:pt x="124416" y="181468"/>
                  </a:cubicBezTo>
                  <a:cubicBezTo>
                    <a:pt x="127594" y="193691"/>
                    <a:pt x="129805" y="208582"/>
                    <a:pt x="129805" y="208582"/>
                  </a:cubicBezTo>
                  <a:lnTo>
                    <a:pt x="129994" y="211071"/>
                  </a:lnTo>
                  <a:cubicBezTo>
                    <a:pt x="129577" y="221254"/>
                    <a:pt x="129785" y="231452"/>
                    <a:pt x="130617" y="241609"/>
                  </a:cubicBezTo>
                  <a:cubicBezTo>
                    <a:pt x="131672" y="254344"/>
                    <a:pt x="133650" y="265278"/>
                    <a:pt x="136173" y="271135"/>
                  </a:cubicBezTo>
                  <a:lnTo>
                    <a:pt x="137895" y="270201"/>
                  </a:lnTo>
                  <a:cubicBezTo>
                    <a:pt x="134184" y="258666"/>
                    <a:pt x="132673" y="243542"/>
                    <a:pt x="133339" y="226118"/>
                  </a:cubicBezTo>
                  <a:cubicBezTo>
                    <a:pt x="134339" y="199470"/>
                    <a:pt x="140474" y="167333"/>
                    <a:pt x="151797" y="133839"/>
                  </a:cubicBezTo>
                  <a:cubicBezTo>
                    <a:pt x="170944" y="83277"/>
                    <a:pt x="197503" y="42705"/>
                    <a:pt x="221806" y="23325"/>
                  </a:cubicBezTo>
                  <a:cubicBezTo>
                    <a:pt x="199659" y="43328"/>
                    <a:pt x="169666" y="108114"/>
                    <a:pt x="160687" y="132095"/>
                  </a:cubicBezTo>
                  <a:cubicBezTo>
                    <a:pt x="150641" y="158943"/>
                    <a:pt x="143518" y="184146"/>
                    <a:pt x="139229" y="208293"/>
                  </a:cubicBezTo>
                  <a:cubicBezTo>
                    <a:pt x="146630" y="185657"/>
                    <a:pt x="170577" y="175934"/>
                    <a:pt x="170577" y="175934"/>
                  </a:cubicBezTo>
                  <a:cubicBezTo>
                    <a:pt x="170577" y="175934"/>
                    <a:pt x="182323" y="161443"/>
                    <a:pt x="196047" y="140751"/>
                  </a:cubicBezTo>
                  <a:cubicBezTo>
                    <a:pt x="187824" y="142629"/>
                    <a:pt x="174322" y="145841"/>
                    <a:pt x="169799" y="147741"/>
                  </a:cubicBezTo>
                  <a:cubicBezTo>
                    <a:pt x="163132" y="150530"/>
                    <a:pt x="161332" y="151486"/>
                    <a:pt x="161332" y="151486"/>
                  </a:cubicBezTo>
                  <a:cubicBezTo>
                    <a:pt x="161332" y="151486"/>
                    <a:pt x="182946" y="138329"/>
                    <a:pt x="201481" y="132372"/>
                  </a:cubicBezTo>
                  <a:cubicBezTo>
                    <a:pt x="226973" y="92223"/>
                    <a:pt x="254755" y="35182"/>
                    <a:pt x="226785" y="10224"/>
                  </a:cubicBezTo>
                  <a:moveTo>
                    <a:pt x="20391" y="16258"/>
                  </a:moveTo>
                  <a:cubicBezTo>
                    <a:pt x="9143" y="16300"/>
                    <a:pt x="37" y="25412"/>
                    <a:pt x="0" y="36660"/>
                  </a:cubicBezTo>
                  <a:lnTo>
                    <a:pt x="0" y="221217"/>
                  </a:lnTo>
                  <a:cubicBezTo>
                    <a:pt x="37" y="232462"/>
                    <a:pt x="9147" y="241567"/>
                    <a:pt x="20391" y="241598"/>
                  </a:cubicBezTo>
                  <a:lnTo>
                    <a:pt x="125049" y="241598"/>
                  </a:lnTo>
                  <a:cubicBezTo>
                    <a:pt x="124265" y="231590"/>
                    <a:pt x="124072" y="221546"/>
                    <a:pt x="124471" y="211516"/>
                  </a:cubicBezTo>
                  <a:cubicBezTo>
                    <a:pt x="124405" y="210827"/>
                    <a:pt x="124349" y="209949"/>
                    <a:pt x="124294" y="209293"/>
                  </a:cubicBezTo>
                  <a:cubicBezTo>
                    <a:pt x="122938" y="200411"/>
                    <a:pt x="121184" y="191593"/>
                    <a:pt x="119037" y="182868"/>
                  </a:cubicBezTo>
                  <a:cubicBezTo>
                    <a:pt x="117693" y="177645"/>
                    <a:pt x="115981" y="172889"/>
                    <a:pt x="114937" y="171122"/>
                  </a:cubicBezTo>
                  <a:cubicBezTo>
                    <a:pt x="113648" y="168933"/>
                    <a:pt x="113848" y="167677"/>
                    <a:pt x="113859" y="166321"/>
                  </a:cubicBezTo>
                  <a:cubicBezTo>
                    <a:pt x="113859" y="164988"/>
                    <a:pt x="114026" y="163599"/>
                    <a:pt x="114270" y="162032"/>
                  </a:cubicBezTo>
                  <a:cubicBezTo>
                    <a:pt x="114928" y="158117"/>
                    <a:pt x="115797" y="154241"/>
                    <a:pt x="116870" y="150419"/>
                  </a:cubicBezTo>
                  <a:lnTo>
                    <a:pt x="119282" y="150108"/>
                  </a:lnTo>
                  <a:cubicBezTo>
                    <a:pt x="119093" y="149719"/>
                    <a:pt x="119126" y="149386"/>
                    <a:pt x="118937" y="149030"/>
                  </a:cubicBezTo>
                  <a:lnTo>
                    <a:pt x="118482" y="144796"/>
                  </a:lnTo>
                  <a:cubicBezTo>
                    <a:pt x="119812" y="140347"/>
                    <a:pt x="121227" y="135923"/>
                    <a:pt x="122727" y="131528"/>
                  </a:cubicBezTo>
                  <a:lnTo>
                    <a:pt x="124949" y="131317"/>
                  </a:lnTo>
                  <a:cubicBezTo>
                    <a:pt x="124860" y="131139"/>
                    <a:pt x="124838" y="130895"/>
                    <a:pt x="124749" y="130728"/>
                  </a:cubicBezTo>
                  <a:lnTo>
                    <a:pt x="124271" y="127216"/>
                  </a:lnTo>
                  <a:cubicBezTo>
                    <a:pt x="131272" y="90767"/>
                    <a:pt x="153020" y="44506"/>
                    <a:pt x="177612" y="18413"/>
                  </a:cubicBezTo>
                  <a:cubicBezTo>
                    <a:pt x="178345" y="17647"/>
                    <a:pt x="179090" y="16991"/>
                    <a:pt x="179812" y="16258"/>
                  </a:cubicBezTo>
                  <a:close/>
                </a:path>
              </a:pathLst>
            </a:custGeom>
            <a:solidFill>
              <a:schemeClr val="accent2"/>
            </a:solidFill>
            <a:ln>
              <a:noFill/>
            </a:ln>
          </p:spPr>
        </p:sp>
        <p:sp>
          <p:nvSpPr>
            <p:cNvPr id="62" name="TextBox 62"/>
            <p:cNvSpPr txBox="1"/>
            <p:nvPr/>
          </p:nvSpPr>
          <p:spPr>
            <a:xfrm>
              <a:off x="7097268" y="2682875"/>
              <a:ext cx="1343103"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SQLite library</a:t>
              </a:r>
            </a:p>
          </p:txBody>
        </p:sp>
        <p:sp>
          <p:nvSpPr>
            <p:cNvPr id="63" name="TextBox 63"/>
            <p:cNvSpPr txBox="1"/>
            <p:nvPr/>
          </p:nvSpPr>
          <p:spPr>
            <a:xfrm>
              <a:off x="6737223" y="3048000"/>
              <a:ext cx="865906"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sqlite3.c</a:t>
              </a:r>
            </a:p>
          </p:txBody>
        </p:sp>
        <p:sp>
          <p:nvSpPr>
            <p:cNvPr id="64" name="TextBox 64"/>
            <p:cNvSpPr txBox="1"/>
            <p:nvPr/>
          </p:nvSpPr>
          <p:spPr>
            <a:xfrm>
              <a:off x="6737604" y="3257550"/>
              <a:ext cx="1656435"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linked in, same process</a:t>
              </a:r>
            </a:p>
          </p:txBody>
        </p:sp>
        <p:sp>
          <p:nvSpPr>
            <p:cNvPr id="65" name="Line 65"/>
            <p:cNvSpPr/>
            <p:nvPr/>
          </p:nvSpPr>
          <p:spPr>
            <a:xfrm>
              <a:off x="7639050" y="3714750"/>
              <a:ext cx="1" cy="533400"/>
            </a:xfrm>
            <a:prstGeom prst="line">
              <a:avLst/>
            </a:prstGeom>
            <a:noFill/>
            <a:ln w="14288">
              <a:solidFill>
                <a:schemeClr val="accent2"/>
              </a:solidFill>
              <a:tailEnd type="triangle" w="lg" len="lg"/>
            </a:ln>
          </p:spPr>
        </p:sp>
        <p:sp>
          <p:nvSpPr>
            <p:cNvPr id="66" name="TextBox 66"/>
            <p:cNvSpPr txBox="1"/>
            <p:nvPr/>
          </p:nvSpPr>
          <p:spPr>
            <a:xfrm>
              <a:off x="6588801" y="3803650"/>
              <a:ext cx="942045" cy="425196"/>
            </a:xfrm>
            <a:prstGeom prst="rect">
              <a:avLst/>
            </a:prstGeom>
            <a:noFill/>
            <a:ln>
              <a:noFill/>
            </a:ln>
          </p:spPr>
          <p:txBody>
            <a:bodyPr wrap="none" lIns="0" tIns="0" rIns="0" bIns="0" anchor="t" anchorCtr="0">
              <a:spAutoFit/>
            </a:bodyPr>
            <a:lstStyle/>
            <a:p>
              <a:pPr algn="r">
                <a:lnSpc>
                  <a:spcPts val="1500"/>
                </a:lnSpc>
              </a:pPr>
              <a:r>
                <a:rPr lang="en" sz="1200" dirty="0">
                  <a:solidFill>
                    <a:schemeClr val="accent5"/>
                  </a:solidFill>
                  <a:latin typeface="+mn-lt"/>
                  <a:ea typeface="+mn-ea"/>
                  <a:cs typeface="+mn-cs"/>
                </a:rPr>
                <a:t>reads and</a:t>
              </a:r>
              <a:br>
                <a:rPr lang="en" sz="1200" dirty="0">
                  <a:solidFill>
                    <a:schemeClr val="accent5"/>
                  </a:solidFill>
                  <a:latin typeface="+mn-lt"/>
                  <a:ea typeface="+mn-ea"/>
                  <a:cs typeface="+mn-cs"/>
                </a:rPr>
              </a:br>
              <a:r>
                <a:rPr lang="en" sz="1200" dirty="0">
                  <a:solidFill>
                    <a:schemeClr val="accent5"/>
                  </a:solidFill>
                  <a:latin typeface="+mn-lt"/>
                  <a:ea typeface="+mn-ea"/>
                  <a:cs typeface="+mn-cs"/>
                </a:rPr>
                <a:t>writes directly</a:t>
              </a:r>
            </a:p>
          </p:txBody>
        </p:sp>
        <p:sp>
          <p:nvSpPr>
            <p:cNvPr id="67" name="Freeform 67"/>
            <p:cNvSpPr/>
            <p:nvPr/>
          </p:nvSpPr>
          <p:spPr>
            <a:xfrm>
              <a:off x="6781800" y="4305300"/>
              <a:ext cx="1714500" cy="800100"/>
            </a:xfrm>
            <a:prstGeom prst="flowChartDocument">
              <a:avLst/>
            </a:prstGeom>
            <a:solidFill>
              <a:schemeClr val="lt2"/>
            </a:solidFill>
            <a:ln w="14288">
              <a:solidFill>
                <a:schemeClr val="accent2"/>
              </a:solidFill>
            </a:ln>
          </p:spPr>
        </p:sp>
        <p:sp>
          <p:nvSpPr>
            <p:cNvPr id="68" name="TextBox 68"/>
            <p:cNvSpPr txBox="1"/>
            <p:nvPr/>
          </p:nvSpPr>
          <p:spPr>
            <a:xfrm>
              <a:off x="7179040" y="4476750"/>
              <a:ext cx="920021"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one ordinary</a:t>
              </a:r>
            </a:p>
          </p:txBody>
        </p:sp>
        <p:sp>
          <p:nvSpPr>
            <p:cNvPr id="69" name="TextBox 69"/>
            <p:cNvSpPr txBox="1"/>
            <p:nvPr/>
          </p:nvSpPr>
          <p:spPr>
            <a:xfrm>
              <a:off x="7362626" y="4686300"/>
              <a:ext cx="552847"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disk file</a:t>
              </a:r>
            </a:p>
          </p:txBody>
        </p:sp>
        <p:sp>
          <p:nvSpPr>
            <p:cNvPr id="70" name="TextBox 70"/>
            <p:cNvSpPr txBox="1"/>
            <p:nvPr/>
          </p:nvSpPr>
          <p:spPr>
            <a:xfrm>
              <a:off x="6394704" y="5359400"/>
              <a:ext cx="1861490"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No separate server process.</a:t>
              </a:r>
              <a:br>
                <a:rPr lang="en" sz="1200" dirty="0">
                  <a:solidFill>
                    <a:schemeClr val="accent5"/>
                  </a:solidFill>
                  <a:latin typeface="+mn-lt"/>
                  <a:ea typeface="+mn-ea"/>
                  <a:cs typeface="+mn-cs"/>
                </a:rPr>
              </a:br>
              <a:r>
                <a:rPr lang="en" sz="1200" dirty="0">
                  <a:solidFill>
                    <a:schemeClr val="accent5"/>
                  </a:solidFill>
                  <a:latin typeface="+mn-lt"/>
                  <a:ea typeface="+mn-ea"/>
                  <a:cs typeface="+mn-cs"/>
                </a:rPr>
                <a:t>Open the file and run SQL.</a:t>
              </a:r>
            </a:p>
          </p:txBody>
        </p:sp>
      </p:grpSp>
      <p:grpSp>
        <p:nvGrpSpPr>
          <p:cNvPr id="85" name="file-properties"/>
          <p:cNvGrpSpPr/>
          <p:nvPr/>
        </p:nvGrpSpPr>
        <p:grpSpPr>
          <a:xfrm>
            <a:off x="9029700" y="1593850"/>
            <a:ext cx="2350968" cy="3904996"/>
            <a:chOff x="9029700" y="1593850"/>
            <a:chExt cx="2350968" cy="3904996"/>
          </a:xfrm>
        </p:grpSpPr>
        <p:sp>
          <p:nvSpPr>
            <p:cNvPr id="72" name="TextBox 72"/>
            <p:cNvSpPr txBox="1"/>
            <p:nvPr/>
          </p:nvSpPr>
          <p:spPr>
            <a:xfrm>
              <a:off x="9138285" y="1593850"/>
              <a:ext cx="1461379"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THE SINGLE FILE</a:t>
              </a:r>
            </a:p>
          </p:txBody>
        </p:sp>
        <p:sp>
          <p:nvSpPr>
            <p:cNvPr id="73" name="Line 73"/>
            <p:cNvSpPr/>
            <p:nvPr/>
          </p:nvSpPr>
          <p:spPr>
            <a:xfrm>
              <a:off x="9029700" y="2038350"/>
              <a:ext cx="114300" cy="9525"/>
            </a:xfrm>
            <a:custGeom>
              <a:avLst/>
              <a:gdLst/>
              <a:ahLst/>
              <a:cxnLst/>
              <a:rect l="l" t="t" r="r" b="b"/>
              <a:pathLst>
                <a:path w="114300" h="9525">
                  <a:moveTo>
                    <a:pt x="0" y="0"/>
                  </a:moveTo>
                  <a:lnTo>
                    <a:pt x="114300" y="0"/>
                  </a:lnTo>
                </a:path>
              </a:pathLst>
            </a:custGeom>
            <a:noFill/>
            <a:ln w="19050">
              <a:solidFill>
                <a:schemeClr val="accent2"/>
              </a:solidFill>
            </a:ln>
          </p:spPr>
        </p:sp>
        <p:sp>
          <p:nvSpPr>
            <p:cNvPr id="74" name="TextBox 74"/>
            <p:cNvSpPr txBox="1"/>
            <p:nvPr/>
          </p:nvSpPr>
          <p:spPr>
            <a:xfrm>
              <a:off x="9214104" y="1930400"/>
              <a:ext cx="1989384" cy="444246"/>
            </a:xfrm>
            <a:prstGeom prst="rect">
              <a:avLst/>
            </a:prstGeom>
            <a:noFill/>
            <a:ln>
              <a:noFill/>
            </a:ln>
          </p:spPr>
          <p:txBody>
            <a:bodyPr wrap="none" lIns="0" tIns="0" rIns="0" bIns="0" anchor="t" anchorCtr="0">
              <a:spAutoFit/>
            </a:bodyPr>
            <a:lstStyle/>
            <a:p>
              <a:pPr algn="l">
                <a:lnSpc>
                  <a:spcPts val="1650"/>
                </a:lnSpc>
              </a:pPr>
              <a:r>
                <a:rPr lang="en" sz="1200" b="1" dirty="0">
                  <a:solidFill>
                    <a:schemeClr val="accent2"/>
                  </a:solidFill>
                  <a:latin typeface="+mn-lt"/>
                  <a:ea typeface="+mn-ea"/>
                  <a:cs typeface="+mn-cs"/>
                </a:rPr>
                <a:t>Zero-configuration:</a:t>
              </a:r>
              <a:r>
                <a:rPr lang="en" sz="1200" dirty="0">
                  <a:solidFill>
                    <a:schemeClr val="dk1"/>
                  </a:solidFill>
                  <a:latin typeface="+mn-lt"/>
                  <a:ea typeface="+mn-ea"/>
                  <a:cs typeface="+mn-cs"/>
                </a:rPr>
                <a:t xml:space="preserve"> nothing</a:t>
              </a:r>
              <a:br>
                <a:rPr lang="en" sz="1200" dirty="0">
                  <a:solidFill>
                    <a:schemeClr val="dk1"/>
                  </a:solidFill>
                  <a:latin typeface="+mn-lt"/>
                  <a:ea typeface="+mn-ea"/>
                  <a:cs typeface="+mn-cs"/>
                </a:rPr>
              </a:br>
              <a:r>
                <a:rPr lang="en" sz="1200" dirty="0">
                  <a:solidFill>
                    <a:schemeClr val="dk1"/>
                  </a:solidFill>
                  <a:latin typeface="+mn-lt"/>
                  <a:ea typeface="+mn-ea"/>
                  <a:cs typeface="+mn-cs"/>
                </a:rPr>
                <a:t>to install or administer</a:t>
              </a:r>
            </a:p>
          </p:txBody>
        </p:sp>
        <p:sp>
          <p:nvSpPr>
            <p:cNvPr id="75" name="Line 75"/>
            <p:cNvSpPr/>
            <p:nvPr/>
          </p:nvSpPr>
          <p:spPr>
            <a:xfrm>
              <a:off x="9029700" y="270510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76" name="TextBox 76"/>
            <p:cNvSpPr txBox="1"/>
            <p:nvPr/>
          </p:nvSpPr>
          <p:spPr>
            <a:xfrm>
              <a:off x="9214104" y="2597150"/>
              <a:ext cx="1649425"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Holds every table, index,</a:t>
              </a:r>
              <a:br>
                <a:rPr lang="en" sz="1200" dirty="0">
                  <a:solidFill>
                    <a:schemeClr val="dk1"/>
                  </a:solidFill>
                  <a:latin typeface="+mn-lt"/>
                  <a:ea typeface="+mn-ea"/>
                  <a:cs typeface="+mn-cs"/>
                </a:rPr>
              </a:br>
              <a:r>
                <a:rPr lang="en" sz="1200" dirty="0">
                  <a:solidFill>
                    <a:schemeClr val="dk1"/>
                  </a:solidFill>
                  <a:latin typeface="+mn-lt"/>
                  <a:ea typeface="+mn-ea"/>
                  <a:cs typeface="+mn-cs"/>
                </a:rPr>
                <a:t>trigger, and view</a:t>
              </a:r>
            </a:p>
          </p:txBody>
        </p:sp>
        <p:sp>
          <p:nvSpPr>
            <p:cNvPr id="77" name="Line 77"/>
            <p:cNvSpPr/>
            <p:nvPr/>
          </p:nvSpPr>
          <p:spPr>
            <a:xfrm>
              <a:off x="9029700" y="337185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78" name="TextBox 78"/>
            <p:cNvSpPr txBox="1"/>
            <p:nvPr/>
          </p:nvSpPr>
          <p:spPr>
            <a:xfrm>
              <a:off x="9214104" y="3263900"/>
              <a:ext cx="2166564"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Copies freely between 32/64-bit</a:t>
              </a:r>
              <a:br>
                <a:rPr lang="en" sz="1200" dirty="0">
                  <a:solidFill>
                    <a:schemeClr val="dk1"/>
                  </a:solidFill>
                  <a:latin typeface="+mn-lt"/>
                  <a:ea typeface="+mn-ea"/>
                  <a:cs typeface="+mn-cs"/>
                </a:rPr>
              </a:br>
              <a:r>
                <a:rPr lang="en" sz="1200" dirty="0">
                  <a:solidFill>
                    <a:schemeClr val="dk1"/>
                  </a:solidFill>
                  <a:latin typeface="+mn-lt"/>
                  <a:ea typeface="+mn-ea"/>
                  <a:cs typeface="+mn-cs"/>
                </a:rPr>
                <a:t>and big/little-endian machines</a:t>
              </a:r>
            </a:p>
          </p:txBody>
        </p:sp>
        <p:sp>
          <p:nvSpPr>
            <p:cNvPr id="79" name="Line 79"/>
            <p:cNvSpPr/>
            <p:nvPr/>
          </p:nvSpPr>
          <p:spPr>
            <a:xfrm>
              <a:off x="9029700" y="403860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80" name="TextBox 80"/>
            <p:cNvSpPr txBox="1"/>
            <p:nvPr/>
          </p:nvSpPr>
          <p:spPr>
            <a:xfrm>
              <a:off x="9214104" y="3930650"/>
              <a:ext cx="1773707"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Library under 900 KiB with</a:t>
              </a:r>
              <a:br>
                <a:rPr lang="en" sz="1200" dirty="0">
                  <a:solidFill>
                    <a:schemeClr val="dk1"/>
                  </a:solidFill>
                  <a:latin typeface="+mn-lt"/>
                  <a:ea typeface="+mn-ea"/>
                  <a:cs typeface="+mn-cs"/>
                </a:rPr>
              </a:br>
              <a:r>
                <a:rPr lang="en" sz="1200" dirty="0">
                  <a:solidFill>
                    <a:schemeClr val="dk1"/>
                  </a:solidFill>
                  <a:latin typeface="+mn-lt"/>
                  <a:ea typeface="+mn-ea"/>
                  <a:cs typeface="+mn-cs"/>
                </a:rPr>
                <a:t>all features enabled</a:t>
              </a:r>
            </a:p>
          </p:txBody>
        </p:sp>
        <p:sp>
          <p:nvSpPr>
            <p:cNvPr id="81" name="Line 81"/>
            <p:cNvSpPr/>
            <p:nvPr/>
          </p:nvSpPr>
          <p:spPr>
            <a:xfrm>
              <a:off x="9029700" y="470535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82" name="TextBox 82"/>
            <p:cNvSpPr txBox="1"/>
            <p:nvPr/>
          </p:nvSpPr>
          <p:spPr>
            <a:xfrm>
              <a:off x="9214104" y="4610100"/>
              <a:ext cx="1645657"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Database up to 281 TB</a:t>
              </a:r>
            </a:p>
          </p:txBody>
        </p:sp>
        <p:sp>
          <p:nvSpPr>
            <p:cNvPr id="83" name="Line 83"/>
            <p:cNvSpPr/>
            <p:nvPr/>
          </p:nvSpPr>
          <p:spPr>
            <a:xfrm>
              <a:off x="9029700" y="516255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84" name="TextBox 84"/>
            <p:cNvSpPr txBox="1"/>
            <p:nvPr/>
          </p:nvSpPr>
          <p:spPr>
            <a:xfrm>
              <a:off x="9214104" y="5054600"/>
              <a:ext cx="2031751"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A US Library of Congress</a:t>
              </a:r>
              <a:br>
                <a:rPr lang="en" sz="1200" dirty="0">
                  <a:solidFill>
                    <a:schemeClr val="dk1"/>
                  </a:solidFill>
                  <a:latin typeface="+mn-lt"/>
                  <a:ea typeface="+mn-ea"/>
                  <a:cs typeface="+mn-cs"/>
                </a:rPr>
              </a:br>
              <a:r>
                <a:rPr lang="en" sz="1200" dirty="0">
                  <a:solidFill>
                    <a:schemeClr val="dk1"/>
                  </a:solidFill>
                  <a:latin typeface="+mn-lt"/>
                  <a:ea typeface="+mn-ea"/>
                  <a:cs typeface="+mn-cs"/>
                </a:rPr>
                <a:t>recommended storage format</a:t>
              </a:r>
            </a:p>
          </p:txBody>
        </p:sp>
      </p:grpSp>
      <p:grpSp>
        <p:nvGrpSpPr>
          <p:cNvPr id="90" name="title-block"/>
          <p:cNvGrpSpPr/>
          <p:nvPr/>
        </p:nvGrpSpPr>
        <p:grpSpPr>
          <a:xfrm>
            <a:off x="8001000" y="6229350"/>
            <a:ext cx="3581400" cy="285750"/>
            <a:chOff x="8001000" y="6229350"/>
            <a:chExt cx="3581400" cy="285750"/>
          </a:xfrm>
        </p:grpSpPr>
        <p:sp>
          <p:nvSpPr>
            <p:cNvPr id="86" name="Rectangle 86"/>
            <p:cNvSpPr/>
            <p:nvPr/>
          </p:nvSpPr>
          <p:spPr>
            <a:xfrm>
              <a:off x="8001000" y="6229350"/>
              <a:ext cx="3581400" cy="285750"/>
            </a:xfrm>
            <a:prstGeom prst="rect">
              <a:avLst/>
            </a:prstGeom>
            <a:solidFill>
              <a:schemeClr val="lt2"/>
            </a:solidFill>
            <a:ln w="9525">
              <a:solidFill>
                <a:schemeClr val="accent6"/>
              </a:solidFill>
            </a:ln>
          </p:spPr>
        </p:sp>
        <p:sp>
          <p:nvSpPr>
            <p:cNvPr id="87" name="Line 87"/>
            <p:cNvSpPr/>
            <p:nvPr/>
          </p:nvSpPr>
          <p:spPr>
            <a:xfrm>
              <a:off x="8877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88" name="TextBox 88"/>
            <p:cNvSpPr txBox="1"/>
            <p:nvPr/>
          </p:nvSpPr>
          <p:spPr>
            <a:xfrm>
              <a:off x="8110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03/12</a:t>
              </a:r>
            </a:p>
          </p:txBody>
        </p:sp>
        <p:sp>
          <p:nvSpPr>
            <p:cNvPr id="89" name="TextBox 89"/>
            <p:cNvSpPr txBox="1"/>
            <p:nvPr/>
          </p:nvSpPr>
          <p:spPr>
            <a:xfrm>
              <a:off x="8986647" y="6292850"/>
              <a:ext cx="2161628"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sqlite.org/about, /whentouse</a:t>
              </a:r>
            </a:p>
          </p:txBody>
        </p:sp>
      </p:grpSp>
    </p:spTree>
  </p:cSld>
  <p:clrMapOvr>
    <a:masterClrMapping/>
  </p:clrMapOvr>
  <p:transition xmlns:p14="http://schemas.microsoft.com/office/powerpoint/2010/mai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down)">
                                      <p:cBhvr>
                                        <p:cTn id="7" dur="800"/>
                                        <p:tgtEl>
                                          <p:spTgt spid="50"/>
                                        </p:tgtEl>
                                      </p:cBhvr>
                                    </p:animEffect>
                                  </p:childTnLst>
                                </p:cTn>
                              </p:par>
                            </p:childTnLst>
                          </p:cTn>
                        </p:par>
                        <p:par>
                          <p:cTn id="8" fill="hold">
                            <p:stCondLst>
                              <p:cond delay="8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71"/>
                                        </p:tgtEl>
                                        <p:attrNameLst>
                                          <p:attrName>style.visibility</p:attrName>
                                        </p:attrNameLst>
                                      </p:cBhvr>
                                      <p:to>
                                        <p:strVal val="visible"/>
                                      </p:to>
                                    </p:set>
                                    <p:animEffect transition="in" filter="wipe(down)">
                                      <p:cBhvr>
                                        <p:cTn id="11" dur="800"/>
                                        <p:tgtEl>
                                          <p:spTgt spid="71"/>
                                        </p:tgtEl>
                                      </p:cBhvr>
                                    </p:animEffect>
                                  </p:childTnLst>
                                </p:cTn>
                              </p:par>
                            </p:childTnLst>
                          </p:cTn>
                        </p:par>
                        <p:par>
                          <p:cTn id="12" fill="hold">
                            <p:stCondLst>
                              <p:cond delay="21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85"/>
                                        </p:tgtEl>
                                        <p:attrNameLst>
                                          <p:attrName>style.visibility</p:attrName>
                                        </p:attrNameLst>
                                      </p:cBhvr>
                                      <p:to>
                                        <p:strVal val="visible"/>
                                      </p:to>
                                    </p:set>
                                    <p:animEffect transition="in" filter="fade">
                                      <p:cBhvr>
                                        <p:cTn id="15" dur="5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10827748" cy="815340"/>
            <a:chOff x="594360" y="603250"/>
            <a:chExt cx="10827748" cy="815340"/>
          </a:xfrm>
        </p:grpSpPr>
        <p:sp>
          <p:nvSpPr>
            <p:cNvPr id="18" name="TextBox 18"/>
            <p:cNvSpPr txBox="1"/>
            <p:nvPr/>
          </p:nvSpPr>
          <p:spPr>
            <a:xfrm>
              <a:off x="603885" y="603250"/>
              <a:ext cx="3681374"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03 · HOW IT WORKS — THE LAYER STACK</a:t>
              </a:r>
            </a:p>
          </p:txBody>
        </p:sp>
        <p:sp>
          <p:nvSpPr>
            <p:cNvPr id="19" name="TextBox 19"/>
            <p:cNvSpPr txBox="1"/>
            <p:nvPr/>
          </p:nvSpPr>
          <p:spPr>
            <a:xfrm>
              <a:off x="594360" y="831850"/>
              <a:ext cx="10827748"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SQLite compiles SQL to bytecode, then runs it on a VM</a:t>
              </a:r>
            </a:p>
          </p:txBody>
        </p:sp>
      </p:grpSp>
      <p:grpSp>
        <p:nvGrpSpPr>
          <p:cNvPr id="48" name="!!stack-rail"/>
          <p:cNvGrpSpPr/>
          <p:nvPr/>
        </p:nvGrpSpPr>
        <p:grpSpPr>
          <a:xfrm>
            <a:off x="609600" y="1600200"/>
            <a:ext cx="3429000" cy="4038600"/>
            <a:chOff x="609600" y="1600200"/>
            <a:chExt cx="3429000" cy="4038600"/>
          </a:xfrm>
        </p:grpSpPr>
        <p:grpSp>
          <p:nvGrpSpPr>
            <p:cNvPr id="29" name="Group 29"/>
            <p:cNvGrpSpPr/>
            <p:nvPr/>
          </p:nvGrpSpPr>
          <p:grpSpPr>
            <a:xfrm>
              <a:off x="609600" y="1600200"/>
              <a:ext cx="3429000" cy="4038600"/>
              <a:chOff x="609600" y="1600200"/>
              <a:chExt cx="3429000" cy="4038600"/>
            </a:xfrm>
          </p:grpSpPr>
          <p:sp>
            <p:nvSpPr>
              <p:cNvPr id="21" name="Rectangle 21"/>
              <p:cNvSpPr/>
              <p:nvPr/>
            </p:nvSpPr>
            <p:spPr>
              <a:xfrm>
                <a:off x="609600" y="1600200"/>
                <a:ext cx="3429000" cy="438150"/>
              </a:xfrm>
              <a:prstGeom prst="roundRect">
                <a:avLst>
                  <a:gd name="adj" fmla="val 4348"/>
                </a:avLst>
              </a:prstGeom>
              <a:solidFill>
                <a:schemeClr val="lt2"/>
              </a:solidFill>
              <a:ln w="14288">
                <a:solidFill>
                  <a:schemeClr val="accent1"/>
                </a:solidFill>
              </a:ln>
            </p:spPr>
          </p:sp>
          <p:sp>
            <p:nvSpPr>
              <p:cNvPr id="22" name="Rectangle 22"/>
              <p:cNvSpPr/>
              <p:nvPr/>
            </p:nvSpPr>
            <p:spPr>
              <a:xfrm>
                <a:off x="609600" y="2114550"/>
                <a:ext cx="3429000" cy="438150"/>
              </a:xfrm>
              <a:prstGeom prst="roundRect">
                <a:avLst>
                  <a:gd name="adj" fmla="val 4348"/>
                </a:avLst>
              </a:prstGeom>
              <a:solidFill>
                <a:schemeClr val="lt2"/>
              </a:solidFill>
              <a:ln w="14288">
                <a:solidFill>
                  <a:schemeClr val="accent1"/>
                </a:solidFill>
              </a:ln>
            </p:spPr>
          </p:sp>
          <p:sp>
            <p:nvSpPr>
              <p:cNvPr id="23" name="Rectangle 23"/>
              <p:cNvSpPr/>
              <p:nvPr/>
            </p:nvSpPr>
            <p:spPr>
              <a:xfrm>
                <a:off x="609600" y="2628900"/>
                <a:ext cx="3429000" cy="438150"/>
              </a:xfrm>
              <a:prstGeom prst="roundRect">
                <a:avLst>
                  <a:gd name="adj" fmla="val 4348"/>
                </a:avLst>
              </a:prstGeom>
              <a:solidFill>
                <a:schemeClr val="lt2"/>
              </a:solidFill>
              <a:ln w="14288">
                <a:solidFill>
                  <a:schemeClr val="accent1"/>
                </a:solidFill>
              </a:ln>
            </p:spPr>
          </p:sp>
          <p:sp>
            <p:nvSpPr>
              <p:cNvPr id="24" name="Rectangle 24"/>
              <p:cNvSpPr/>
              <p:nvPr/>
            </p:nvSpPr>
            <p:spPr>
              <a:xfrm>
                <a:off x="609600" y="3143250"/>
                <a:ext cx="3429000" cy="438150"/>
              </a:xfrm>
              <a:prstGeom prst="roundRect">
                <a:avLst>
                  <a:gd name="adj" fmla="val 4348"/>
                </a:avLst>
              </a:prstGeom>
              <a:solidFill>
                <a:schemeClr val="lt2"/>
              </a:solidFill>
              <a:ln w="14288">
                <a:solidFill>
                  <a:schemeClr val="accent1"/>
                </a:solidFill>
              </a:ln>
            </p:spPr>
          </p:sp>
          <p:sp>
            <p:nvSpPr>
              <p:cNvPr id="25" name="Rectangle 25"/>
              <p:cNvSpPr/>
              <p:nvPr/>
            </p:nvSpPr>
            <p:spPr>
              <a:xfrm>
                <a:off x="609600" y="3657600"/>
                <a:ext cx="3429000" cy="438150"/>
              </a:xfrm>
              <a:prstGeom prst="roundRect">
                <a:avLst>
                  <a:gd name="adj" fmla="val 4348"/>
                </a:avLst>
              </a:prstGeom>
              <a:solidFill>
                <a:schemeClr val="lt2"/>
              </a:solidFill>
              <a:ln w="14288">
                <a:solidFill>
                  <a:schemeClr val="accent1"/>
                </a:solidFill>
              </a:ln>
            </p:spPr>
          </p:sp>
          <p:sp>
            <p:nvSpPr>
              <p:cNvPr id="26" name="Rectangle 26"/>
              <p:cNvSpPr/>
              <p:nvPr/>
            </p:nvSpPr>
            <p:spPr>
              <a:xfrm>
                <a:off x="609600" y="4171950"/>
                <a:ext cx="3429000" cy="438150"/>
              </a:xfrm>
              <a:prstGeom prst="roundRect">
                <a:avLst>
                  <a:gd name="adj" fmla="val 4348"/>
                </a:avLst>
              </a:prstGeom>
              <a:solidFill>
                <a:schemeClr val="lt2"/>
              </a:solidFill>
              <a:ln w="14288">
                <a:solidFill>
                  <a:schemeClr val="accent1"/>
                </a:solidFill>
              </a:ln>
            </p:spPr>
          </p:sp>
          <p:sp>
            <p:nvSpPr>
              <p:cNvPr id="27" name="Rectangle 27"/>
              <p:cNvSpPr/>
              <p:nvPr/>
            </p:nvSpPr>
            <p:spPr>
              <a:xfrm>
                <a:off x="609600" y="4686300"/>
                <a:ext cx="3429000" cy="438150"/>
              </a:xfrm>
              <a:prstGeom prst="roundRect">
                <a:avLst>
                  <a:gd name="adj" fmla="val 4348"/>
                </a:avLst>
              </a:prstGeom>
              <a:solidFill>
                <a:schemeClr val="lt2"/>
              </a:solidFill>
              <a:ln w="14288">
                <a:solidFill>
                  <a:schemeClr val="accent1"/>
                </a:solidFill>
              </a:ln>
            </p:spPr>
          </p:sp>
          <p:sp>
            <p:nvSpPr>
              <p:cNvPr id="28" name="Rectangle 28"/>
              <p:cNvSpPr/>
              <p:nvPr/>
            </p:nvSpPr>
            <p:spPr>
              <a:xfrm>
                <a:off x="609600" y="5200650"/>
                <a:ext cx="3429000" cy="438150"/>
              </a:xfrm>
              <a:prstGeom prst="roundRect">
                <a:avLst>
                  <a:gd name="adj" fmla="val 4348"/>
                </a:avLst>
              </a:prstGeom>
              <a:solidFill>
                <a:schemeClr val="lt2"/>
              </a:solidFill>
              <a:ln w="14288">
                <a:solidFill>
                  <a:schemeClr val="accent1"/>
                </a:solidFill>
              </a:ln>
            </p:spPr>
          </p:sp>
        </p:grpSp>
        <p:grpSp>
          <p:nvGrpSpPr>
            <p:cNvPr id="38" name="Group 38"/>
            <p:cNvGrpSpPr/>
            <p:nvPr/>
          </p:nvGrpSpPr>
          <p:grpSpPr>
            <a:xfrm>
              <a:off x="1058418" y="1692275"/>
              <a:ext cx="2421011" cy="3923157"/>
              <a:chOff x="1058418" y="1692275"/>
              <a:chExt cx="2421011" cy="3923157"/>
            </a:xfrm>
          </p:grpSpPr>
          <p:sp>
            <p:nvSpPr>
              <p:cNvPr id="30" name="TextBox 30"/>
              <p:cNvSpPr txBox="1"/>
              <p:nvPr/>
            </p:nvSpPr>
            <p:spPr>
              <a:xfrm>
                <a:off x="1058418" y="1692275"/>
                <a:ext cx="876936"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Interface</a:t>
                </a:r>
              </a:p>
            </p:txBody>
          </p:sp>
          <p:sp>
            <p:nvSpPr>
              <p:cNvPr id="31" name="TextBox 31"/>
              <p:cNvSpPr txBox="1"/>
              <p:nvPr/>
            </p:nvSpPr>
            <p:spPr>
              <a:xfrm>
                <a:off x="1058418" y="2206625"/>
                <a:ext cx="969160"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Tokenizer</a:t>
                </a:r>
              </a:p>
            </p:txBody>
          </p:sp>
          <p:sp>
            <p:nvSpPr>
              <p:cNvPr id="32" name="TextBox 32"/>
              <p:cNvSpPr txBox="1"/>
              <p:nvPr/>
            </p:nvSpPr>
            <p:spPr>
              <a:xfrm>
                <a:off x="1058418" y="2720975"/>
                <a:ext cx="624755"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Parser</a:t>
                </a:r>
              </a:p>
            </p:txBody>
          </p:sp>
          <p:sp>
            <p:nvSpPr>
              <p:cNvPr id="33" name="TextBox 33"/>
              <p:cNvSpPr txBox="1"/>
              <p:nvPr/>
            </p:nvSpPr>
            <p:spPr>
              <a:xfrm>
                <a:off x="1058418" y="3235325"/>
                <a:ext cx="1589131"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Code Generator</a:t>
                </a:r>
              </a:p>
            </p:txBody>
          </p:sp>
          <p:sp>
            <p:nvSpPr>
              <p:cNvPr id="34" name="TextBox 34"/>
              <p:cNvSpPr txBox="1"/>
              <p:nvPr/>
            </p:nvSpPr>
            <p:spPr>
              <a:xfrm>
                <a:off x="1058418" y="3749675"/>
                <a:ext cx="2421011"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Bytecode Engine (VDBE)</a:t>
                </a:r>
              </a:p>
            </p:txBody>
          </p:sp>
          <p:sp>
            <p:nvSpPr>
              <p:cNvPr id="35" name="TextBox 35"/>
              <p:cNvSpPr txBox="1"/>
              <p:nvPr/>
            </p:nvSpPr>
            <p:spPr>
              <a:xfrm>
                <a:off x="1058418" y="4264025"/>
                <a:ext cx="624588"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B-tree</a:t>
                </a:r>
              </a:p>
            </p:txBody>
          </p:sp>
          <p:sp>
            <p:nvSpPr>
              <p:cNvPr id="36" name="TextBox 36"/>
              <p:cNvSpPr txBox="1"/>
              <p:nvPr/>
            </p:nvSpPr>
            <p:spPr>
              <a:xfrm>
                <a:off x="1058418" y="4778375"/>
                <a:ext cx="1892371"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Pager (page cache)</a:t>
                </a:r>
              </a:p>
            </p:txBody>
          </p:sp>
          <p:sp>
            <p:nvSpPr>
              <p:cNvPr id="37" name="TextBox 37"/>
              <p:cNvSpPr txBox="1"/>
              <p:nvPr/>
            </p:nvSpPr>
            <p:spPr>
              <a:xfrm>
                <a:off x="1058418" y="5292725"/>
                <a:ext cx="1819883" cy="322707"/>
              </a:xfrm>
              <a:prstGeom prst="rect">
                <a:avLst/>
              </a:prstGeom>
              <a:noFill/>
              <a:ln>
                <a:noFill/>
              </a:ln>
            </p:spPr>
            <p:txBody>
              <a:bodyPr wrap="none" lIns="0" tIns="0" rIns="0" bIns="0" anchor="t" anchorCtr="0">
                <a:spAutoFit/>
              </a:bodyPr>
              <a:lstStyle/>
              <a:p>
                <a:pPr algn="l"/>
                <a:r>
                  <a:rPr lang="en" sz="1650" dirty="0">
                    <a:solidFill>
                      <a:schemeClr val="dk1"/>
                    </a:solidFill>
                    <a:latin typeface="+mn-lt"/>
                    <a:ea typeface="+mn-ea"/>
                    <a:cs typeface="+mn-cs"/>
                  </a:rPr>
                  <a:t>OS Interface (VFS)</a:t>
                </a:r>
              </a:p>
            </p:txBody>
          </p:sp>
        </p:grpSp>
        <p:grpSp>
          <p:nvGrpSpPr>
            <p:cNvPr id="47" name="Group 47"/>
            <p:cNvGrpSpPr/>
            <p:nvPr/>
          </p:nvGrpSpPr>
          <p:grpSpPr>
            <a:xfrm>
              <a:off x="736473" y="1733550"/>
              <a:ext cx="202499" cy="3850767"/>
              <a:chOff x="736473" y="1733550"/>
              <a:chExt cx="202499" cy="3850767"/>
            </a:xfrm>
          </p:grpSpPr>
          <p:sp>
            <p:nvSpPr>
              <p:cNvPr id="39" name="TextBox 39"/>
              <p:cNvSpPr txBox="1"/>
              <p:nvPr/>
            </p:nvSpPr>
            <p:spPr>
              <a:xfrm>
                <a:off x="736473" y="173355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01</a:t>
                </a:r>
              </a:p>
            </p:txBody>
          </p:sp>
          <p:sp>
            <p:nvSpPr>
              <p:cNvPr id="40" name="TextBox 40"/>
              <p:cNvSpPr txBox="1"/>
              <p:nvPr/>
            </p:nvSpPr>
            <p:spPr>
              <a:xfrm>
                <a:off x="736473" y="224790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02</a:t>
                </a:r>
              </a:p>
            </p:txBody>
          </p:sp>
          <p:sp>
            <p:nvSpPr>
              <p:cNvPr id="41" name="TextBox 41"/>
              <p:cNvSpPr txBox="1"/>
              <p:nvPr/>
            </p:nvSpPr>
            <p:spPr>
              <a:xfrm>
                <a:off x="736473" y="276225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03</a:t>
                </a:r>
              </a:p>
            </p:txBody>
          </p:sp>
          <p:sp>
            <p:nvSpPr>
              <p:cNvPr id="42" name="TextBox 42"/>
              <p:cNvSpPr txBox="1"/>
              <p:nvPr/>
            </p:nvSpPr>
            <p:spPr>
              <a:xfrm>
                <a:off x="736473" y="327660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04</a:t>
                </a:r>
              </a:p>
            </p:txBody>
          </p:sp>
          <p:sp>
            <p:nvSpPr>
              <p:cNvPr id="43" name="TextBox 43"/>
              <p:cNvSpPr txBox="1"/>
              <p:nvPr/>
            </p:nvSpPr>
            <p:spPr>
              <a:xfrm>
                <a:off x="736473" y="379095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05</a:t>
                </a:r>
              </a:p>
            </p:txBody>
          </p:sp>
          <p:sp>
            <p:nvSpPr>
              <p:cNvPr id="44" name="TextBox 44"/>
              <p:cNvSpPr txBox="1"/>
              <p:nvPr/>
            </p:nvSpPr>
            <p:spPr>
              <a:xfrm>
                <a:off x="736473" y="430530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06</a:t>
                </a:r>
              </a:p>
            </p:txBody>
          </p:sp>
          <p:sp>
            <p:nvSpPr>
              <p:cNvPr id="45" name="TextBox 45"/>
              <p:cNvSpPr txBox="1"/>
              <p:nvPr/>
            </p:nvSpPr>
            <p:spPr>
              <a:xfrm>
                <a:off x="736473" y="481965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07</a:t>
                </a:r>
              </a:p>
            </p:txBody>
          </p:sp>
          <p:sp>
            <p:nvSpPr>
              <p:cNvPr id="46" name="TextBox 46"/>
              <p:cNvSpPr txBox="1"/>
              <p:nvPr/>
            </p:nvSpPr>
            <p:spPr>
              <a:xfrm>
                <a:off x="736473" y="5334000"/>
                <a:ext cx="202499" cy="250317"/>
              </a:xfrm>
              <a:prstGeom prst="rect">
                <a:avLst/>
              </a:prstGeom>
              <a:noFill/>
              <a:ln>
                <a:noFill/>
              </a:ln>
            </p:spPr>
            <p:txBody>
              <a:bodyPr wrap="none" lIns="0" tIns="0" rIns="0" bIns="0" anchor="t" anchorCtr="0">
                <a:spAutoFit/>
              </a:bodyPr>
              <a:lstStyle/>
              <a:p>
                <a:pPr algn="l"/>
                <a:r>
                  <a:rPr lang="en" sz="1280" dirty="0">
                    <a:solidFill>
                      <a:schemeClr val="accent1"/>
                    </a:solidFill>
                    <a:latin typeface="Consolas"/>
                    <a:ea typeface="Consolas"/>
                    <a:cs typeface="Consolas"/>
                  </a:rPr>
                  <a:t>08</a:t>
                </a:r>
              </a:p>
            </p:txBody>
          </p:sp>
        </p:grpSp>
      </p:grpSp>
      <p:grpSp>
        <p:nvGrpSpPr>
          <p:cNvPr id="57" name="stack-files"/>
          <p:cNvGrpSpPr/>
          <p:nvPr/>
        </p:nvGrpSpPr>
        <p:grpSpPr>
          <a:xfrm>
            <a:off x="4223004" y="1746250"/>
            <a:ext cx="1789176" cy="3835146"/>
            <a:chOff x="4223004" y="1746250"/>
            <a:chExt cx="1789176" cy="3835146"/>
          </a:xfrm>
        </p:grpSpPr>
        <p:sp>
          <p:nvSpPr>
            <p:cNvPr id="49" name="TextBox 49"/>
            <p:cNvSpPr txBox="1"/>
            <p:nvPr/>
          </p:nvSpPr>
          <p:spPr>
            <a:xfrm>
              <a:off x="4223004" y="1746250"/>
              <a:ext cx="161147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main.c · vdbeapi.c</a:t>
              </a:r>
            </a:p>
          </p:txBody>
        </p:sp>
        <p:sp>
          <p:nvSpPr>
            <p:cNvPr id="50" name="TextBox 50"/>
            <p:cNvSpPr txBox="1"/>
            <p:nvPr/>
          </p:nvSpPr>
          <p:spPr>
            <a:xfrm>
              <a:off x="4223004" y="2260600"/>
              <a:ext cx="90068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tokenize.c</a:t>
              </a:r>
            </a:p>
          </p:txBody>
        </p:sp>
        <p:sp>
          <p:nvSpPr>
            <p:cNvPr id="51" name="TextBox 51"/>
            <p:cNvSpPr txBox="1"/>
            <p:nvPr/>
          </p:nvSpPr>
          <p:spPr>
            <a:xfrm>
              <a:off x="4223004" y="2774950"/>
              <a:ext cx="135178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parse.y (Lemon)</a:t>
              </a:r>
            </a:p>
          </p:txBody>
        </p:sp>
        <p:sp>
          <p:nvSpPr>
            <p:cNvPr id="52" name="TextBox 52"/>
            <p:cNvSpPr txBox="1"/>
            <p:nvPr/>
          </p:nvSpPr>
          <p:spPr>
            <a:xfrm>
              <a:off x="4223004" y="3289300"/>
              <a:ext cx="170032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select.c · where*.c</a:t>
              </a:r>
            </a:p>
          </p:txBody>
        </p:sp>
        <p:sp>
          <p:nvSpPr>
            <p:cNvPr id="53" name="TextBox 53"/>
            <p:cNvSpPr txBox="1"/>
            <p:nvPr/>
          </p:nvSpPr>
          <p:spPr>
            <a:xfrm>
              <a:off x="4223004" y="3803650"/>
              <a:ext cx="54528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vdbe.c</a:t>
              </a:r>
            </a:p>
          </p:txBody>
        </p:sp>
        <p:sp>
          <p:nvSpPr>
            <p:cNvPr id="54" name="TextBox 54"/>
            <p:cNvSpPr txBox="1"/>
            <p:nvPr/>
          </p:nvSpPr>
          <p:spPr>
            <a:xfrm>
              <a:off x="4223004" y="4318000"/>
              <a:ext cx="63413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btree.c</a:t>
              </a:r>
            </a:p>
          </p:txBody>
        </p:sp>
        <p:sp>
          <p:nvSpPr>
            <p:cNvPr id="55" name="TextBox 55"/>
            <p:cNvSpPr txBox="1"/>
            <p:nvPr/>
          </p:nvSpPr>
          <p:spPr>
            <a:xfrm>
              <a:off x="4223004" y="4832350"/>
              <a:ext cx="1344930"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pager.c · wal.c</a:t>
              </a:r>
            </a:p>
          </p:txBody>
        </p:sp>
        <p:sp>
          <p:nvSpPr>
            <p:cNvPr id="56" name="TextBox 56"/>
            <p:cNvSpPr txBox="1"/>
            <p:nvPr/>
          </p:nvSpPr>
          <p:spPr>
            <a:xfrm>
              <a:off x="4223004" y="5346700"/>
              <a:ext cx="178917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Consolas"/>
                  <a:ea typeface="Consolas"/>
                  <a:cs typeface="Consolas"/>
                </a:rPr>
                <a:t>os_unix.c · os_win.c</a:t>
              </a:r>
            </a:p>
          </p:txBody>
        </p:sp>
      </p:grpSp>
      <p:grpSp>
        <p:nvGrpSpPr>
          <p:cNvPr id="66" name="stack-groups"/>
          <p:cNvGrpSpPr/>
          <p:nvPr/>
        </p:nvGrpSpPr>
        <p:grpSpPr>
          <a:xfrm>
            <a:off x="6324600" y="1638300"/>
            <a:ext cx="1612835" cy="3981450"/>
            <a:chOff x="6324600" y="1638300"/>
            <a:chExt cx="1612835" cy="3981450"/>
          </a:xfrm>
        </p:grpSpPr>
        <p:sp>
          <p:nvSpPr>
            <p:cNvPr id="58" name="Freeform 58"/>
            <p:cNvSpPr/>
            <p:nvPr/>
          </p:nvSpPr>
          <p:spPr>
            <a:xfrm>
              <a:off x="6324600" y="1638300"/>
              <a:ext cx="114300" cy="361950"/>
            </a:xfrm>
            <a:prstGeom prst="rightBracket">
              <a:avLst/>
            </a:prstGeom>
            <a:noFill/>
            <a:ln w="14288">
              <a:solidFill>
                <a:srgbClr val="9FB6CF"/>
              </a:solidFill>
            </a:ln>
          </p:spPr>
        </p:sp>
        <p:sp>
          <p:nvSpPr>
            <p:cNvPr id="59" name="Freeform 59"/>
            <p:cNvSpPr/>
            <p:nvPr/>
          </p:nvSpPr>
          <p:spPr>
            <a:xfrm>
              <a:off x="6324600" y="2133600"/>
              <a:ext cx="190500" cy="1428750"/>
            </a:xfrm>
            <a:prstGeom prst="rightBrace">
              <a:avLst/>
            </a:prstGeom>
            <a:noFill/>
            <a:ln w="14288">
              <a:solidFill>
                <a:schemeClr val="accent1"/>
              </a:solidFill>
            </a:ln>
          </p:spPr>
        </p:sp>
        <p:sp>
          <p:nvSpPr>
            <p:cNvPr id="60" name="Freeform 60"/>
            <p:cNvSpPr/>
            <p:nvPr/>
          </p:nvSpPr>
          <p:spPr>
            <a:xfrm>
              <a:off x="6324600" y="3695700"/>
              <a:ext cx="114300" cy="361950"/>
            </a:xfrm>
            <a:prstGeom prst="rightBracket">
              <a:avLst/>
            </a:prstGeom>
            <a:noFill/>
            <a:ln w="14288">
              <a:solidFill>
                <a:srgbClr val="9FB6CF"/>
              </a:solidFill>
            </a:ln>
          </p:spPr>
        </p:sp>
        <p:sp>
          <p:nvSpPr>
            <p:cNvPr id="61" name="Freeform 61"/>
            <p:cNvSpPr/>
            <p:nvPr/>
          </p:nvSpPr>
          <p:spPr>
            <a:xfrm>
              <a:off x="6324600" y="4191000"/>
              <a:ext cx="190500" cy="1428750"/>
            </a:xfrm>
            <a:prstGeom prst="rightBrace">
              <a:avLst/>
            </a:prstGeom>
            <a:noFill/>
            <a:ln w="14288">
              <a:solidFill>
                <a:schemeClr val="accent1"/>
              </a:solidFill>
            </a:ln>
          </p:spPr>
        </p:sp>
        <p:sp>
          <p:nvSpPr>
            <p:cNvPr id="62" name="TextBox 62"/>
            <p:cNvSpPr txBox="1"/>
            <p:nvPr/>
          </p:nvSpPr>
          <p:spPr>
            <a:xfrm>
              <a:off x="6566535" y="1727200"/>
              <a:ext cx="470046"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CORE</a:t>
              </a:r>
            </a:p>
          </p:txBody>
        </p:sp>
        <p:sp>
          <p:nvSpPr>
            <p:cNvPr id="63" name="TextBox 63"/>
            <p:cNvSpPr txBox="1"/>
            <p:nvPr/>
          </p:nvSpPr>
          <p:spPr>
            <a:xfrm>
              <a:off x="6623685" y="2755900"/>
              <a:ext cx="1313750"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SQL COMPILER</a:t>
              </a:r>
            </a:p>
          </p:txBody>
        </p:sp>
        <p:sp>
          <p:nvSpPr>
            <p:cNvPr id="64" name="TextBox 64"/>
            <p:cNvSpPr txBox="1"/>
            <p:nvPr/>
          </p:nvSpPr>
          <p:spPr>
            <a:xfrm>
              <a:off x="6566535" y="3784600"/>
              <a:ext cx="470046"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CORE</a:t>
              </a:r>
            </a:p>
          </p:txBody>
        </p:sp>
        <p:sp>
          <p:nvSpPr>
            <p:cNvPr id="65" name="TextBox 65"/>
            <p:cNvSpPr txBox="1"/>
            <p:nvPr/>
          </p:nvSpPr>
          <p:spPr>
            <a:xfrm>
              <a:off x="6623685" y="4813300"/>
              <a:ext cx="836040"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BACKEND</a:t>
              </a:r>
            </a:p>
          </p:txBody>
        </p:sp>
      </p:grpSp>
      <p:grpSp>
        <p:nvGrpSpPr>
          <p:cNvPr id="70" name="explain-compile"/>
          <p:cNvGrpSpPr/>
          <p:nvPr/>
        </p:nvGrpSpPr>
        <p:grpSpPr>
          <a:xfrm>
            <a:off x="7992618" y="2222500"/>
            <a:ext cx="2917083" cy="1141857"/>
            <a:chOff x="7992618" y="2222500"/>
            <a:chExt cx="2917083" cy="1141857"/>
          </a:xfrm>
        </p:grpSpPr>
        <p:sp>
          <p:nvSpPr>
            <p:cNvPr id="67" name="Line 67"/>
            <p:cNvSpPr/>
            <p:nvPr/>
          </p:nvSpPr>
          <p:spPr>
            <a:xfrm>
              <a:off x="8001000" y="2305050"/>
              <a:ext cx="228600" cy="9525"/>
            </a:xfrm>
            <a:custGeom>
              <a:avLst/>
              <a:gdLst/>
              <a:ahLst/>
              <a:cxnLst/>
              <a:rect l="l" t="t" r="r" b="b"/>
              <a:pathLst>
                <a:path w="228600" h="9525">
                  <a:moveTo>
                    <a:pt x="0" y="0"/>
                  </a:moveTo>
                  <a:lnTo>
                    <a:pt x="228600" y="0"/>
                  </a:lnTo>
                </a:path>
              </a:pathLst>
            </a:custGeom>
            <a:noFill/>
            <a:ln w="19050">
              <a:solidFill>
                <a:schemeClr val="accent2"/>
              </a:solidFill>
            </a:ln>
          </p:spPr>
        </p:sp>
        <p:sp>
          <p:nvSpPr>
            <p:cNvPr id="68" name="TextBox 68"/>
            <p:cNvSpPr txBox="1"/>
            <p:nvPr/>
          </p:nvSpPr>
          <p:spPr>
            <a:xfrm>
              <a:off x="8300085" y="2222500"/>
              <a:ext cx="788438" cy="220028"/>
            </a:xfrm>
            <a:prstGeom prst="rect">
              <a:avLst/>
            </a:prstGeom>
            <a:noFill/>
            <a:ln>
              <a:noFill/>
            </a:ln>
          </p:spPr>
          <p:txBody>
            <a:bodyPr wrap="none" lIns="0" tIns="0" rIns="0" bIns="0" anchor="t" anchorCtr="0">
              <a:spAutoFit/>
            </a:bodyPr>
            <a:lstStyle/>
            <a:p>
              <a:pPr algn="l"/>
              <a:r>
                <a:rPr lang="en" sz="1120" spc="150" dirty="0">
                  <a:solidFill>
                    <a:schemeClr val="accent2"/>
                  </a:solidFill>
                  <a:latin typeface="+mn-lt"/>
                  <a:ea typeface="+mn-ea"/>
                  <a:cs typeface="+mn-cs"/>
                </a:rPr>
                <a:t>COMPILE</a:t>
              </a:r>
            </a:p>
          </p:txBody>
        </p:sp>
        <p:sp>
          <p:nvSpPr>
            <p:cNvPr id="69" name="TextBox 69"/>
            <p:cNvSpPr txBox="1"/>
            <p:nvPr/>
          </p:nvSpPr>
          <p:spPr>
            <a:xfrm>
              <a:off x="7992618" y="2470150"/>
              <a:ext cx="2917083" cy="894207"/>
            </a:xfrm>
            <a:prstGeom prst="rect">
              <a:avLst/>
            </a:prstGeom>
            <a:noFill/>
            <a:ln>
              <a:noFill/>
            </a:ln>
          </p:spPr>
          <p:txBody>
            <a:bodyPr wrap="none" lIns="0" tIns="0" rIns="0" bIns="0" anchor="t" anchorCtr="0">
              <a:spAutoFit/>
            </a:bodyPr>
            <a:lstStyle/>
            <a:p>
              <a:pPr algn="l">
                <a:lnSpc>
                  <a:spcPts val="2250"/>
                </a:lnSpc>
              </a:pPr>
              <a:r>
                <a:rPr lang="en" sz="1420" dirty="0">
                  <a:solidFill>
                    <a:schemeClr val="accent1"/>
                  </a:solidFill>
                  <a:latin typeface="Consolas"/>
                  <a:ea typeface="Consolas"/>
                  <a:cs typeface="Consolas"/>
                </a:rPr>
                <a:t>sqlite3_prepare_v2()</a:t>
              </a:r>
              <a:br>
                <a:rPr lang="en" sz="1420" dirty="0">
                  <a:solidFill>
                    <a:schemeClr val="accent1"/>
                  </a:solidFill>
                  <a:latin typeface="Consolas"/>
                  <a:ea typeface="Consolas"/>
                  <a:cs typeface="Consolas"/>
                </a:rPr>
              </a:br>
              <a:r>
                <a:rPr lang="en" sz="1650" dirty="0">
                  <a:solidFill>
                    <a:schemeClr val="dk1"/>
                  </a:solidFill>
                  <a:latin typeface="+mn-lt"/>
                  <a:ea typeface="+mn-ea"/>
                  <a:cs typeface="+mn-cs"/>
                </a:rPr>
                <a:t>turns SQL text into a bytecode</a:t>
              </a:r>
              <a:br>
                <a:rPr lang="en" sz="1650" dirty="0">
                  <a:solidFill>
                    <a:schemeClr val="dk1"/>
                  </a:solidFill>
                  <a:latin typeface="+mn-lt"/>
                  <a:ea typeface="+mn-ea"/>
                  <a:cs typeface="+mn-cs"/>
                </a:rPr>
              </a:br>
              <a:r>
                <a:rPr lang="en" sz="1650" dirty="0">
                  <a:solidFill>
                    <a:schemeClr val="dk1"/>
                  </a:solidFill>
                  <a:latin typeface="+mn-lt"/>
                  <a:ea typeface="+mn-ea"/>
                  <a:cs typeface="+mn-cs"/>
                </a:rPr>
                <a:t xml:space="preserve">program held in a </a:t>
              </a:r>
              <a:r>
                <a:rPr lang="en" sz="1420" dirty="0">
                  <a:solidFill>
                    <a:schemeClr val="accent1"/>
                  </a:solidFill>
                  <a:latin typeface="Consolas"/>
                  <a:ea typeface="Consolas"/>
                  <a:cs typeface="Consolas"/>
                </a:rPr>
                <a:t>sqlite3_stmt</a:t>
              </a:r>
            </a:p>
          </p:txBody>
        </p:sp>
      </p:grpSp>
      <p:grpSp>
        <p:nvGrpSpPr>
          <p:cNvPr id="74" name="explain-execute"/>
          <p:cNvGrpSpPr/>
          <p:nvPr/>
        </p:nvGrpSpPr>
        <p:grpSpPr>
          <a:xfrm>
            <a:off x="7992618" y="3556000"/>
            <a:ext cx="2696231" cy="856107"/>
            <a:chOff x="7992618" y="3556000"/>
            <a:chExt cx="2696231" cy="856107"/>
          </a:xfrm>
        </p:grpSpPr>
        <p:sp>
          <p:nvSpPr>
            <p:cNvPr id="71" name="Line 71"/>
            <p:cNvSpPr/>
            <p:nvPr/>
          </p:nvSpPr>
          <p:spPr>
            <a:xfrm>
              <a:off x="8001000" y="3638550"/>
              <a:ext cx="228600" cy="9525"/>
            </a:xfrm>
            <a:custGeom>
              <a:avLst/>
              <a:gdLst/>
              <a:ahLst/>
              <a:cxnLst/>
              <a:rect l="l" t="t" r="r" b="b"/>
              <a:pathLst>
                <a:path w="228600" h="9525">
                  <a:moveTo>
                    <a:pt x="0" y="0"/>
                  </a:moveTo>
                  <a:lnTo>
                    <a:pt x="228600" y="0"/>
                  </a:lnTo>
                </a:path>
              </a:pathLst>
            </a:custGeom>
            <a:noFill/>
            <a:ln w="19050">
              <a:solidFill>
                <a:schemeClr val="accent2"/>
              </a:solidFill>
            </a:ln>
          </p:spPr>
        </p:sp>
        <p:sp>
          <p:nvSpPr>
            <p:cNvPr id="72" name="TextBox 72"/>
            <p:cNvSpPr txBox="1"/>
            <p:nvPr/>
          </p:nvSpPr>
          <p:spPr>
            <a:xfrm>
              <a:off x="8300085" y="3556000"/>
              <a:ext cx="766724" cy="220028"/>
            </a:xfrm>
            <a:prstGeom prst="rect">
              <a:avLst/>
            </a:prstGeom>
            <a:noFill/>
            <a:ln>
              <a:noFill/>
            </a:ln>
          </p:spPr>
          <p:txBody>
            <a:bodyPr wrap="none" lIns="0" tIns="0" rIns="0" bIns="0" anchor="t" anchorCtr="0">
              <a:spAutoFit/>
            </a:bodyPr>
            <a:lstStyle/>
            <a:p>
              <a:pPr algn="l"/>
              <a:r>
                <a:rPr lang="en" sz="1120" spc="150" dirty="0">
                  <a:solidFill>
                    <a:schemeClr val="accent2"/>
                  </a:solidFill>
                  <a:latin typeface="+mn-lt"/>
                  <a:ea typeface="+mn-ea"/>
                  <a:cs typeface="+mn-cs"/>
                </a:rPr>
                <a:t>EXECUTE</a:t>
              </a:r>
            </a:p>
          </p:txBody>
        </p:sp>
        <p:sp>
          <p:nvSpPr>
            <p:cNvPr id="73" name="TextBox 73"/>
            <p:cNvSpPr txBox="1"/>
            <p:nvPr/>
          </p:nvSpPr>
          <p:spPr>
            <a:xfrm>
              <a:off x="7992618" y="3803650"/>
              <a:ext cx="2696231" cy="608457"/>
            </a:xfrm>
            <a:prstGeom prst="rect">
              <a:avLst/>
            </a:prstGeom>
            <a:noFill/>
            <a:ln>
              <a:noFill/>
            </a:ln>
          </p:spPr>
          <p:txBody>
            <a:bodyPr wrap="none" lIns="0" tIns="0" rIns="0" bIns="0" anchor="t" anchorCtr="0">
              <a:spAutoFit/>
            </a:bodyPr>
            <a:lstStyle/>
            <a:p>
              <a:pPr algn="l">
                <a:lnSpc>
                  <a:spcPts val="2250"/>
                </a:lnSpc>
              </a:pPr>
              <a:r>
                <a:rPr lang="en" sz="1420" dirty="0">
                  <a:solidFill>
                    <a:schemeClr val="accent1"/>
                  </a:solidFill>
                  <a:latin typeface="Consolas"/>
                  <a:ea typeface="Consolas"/>
                  <a:cs typeface="Consolas"/>
                </a:rPr>
                <a:t>sqlite3_step()</a:t>
              </a:r>
              <a:r>
                <a:rPr lang="en" sz="1650" dirty="0">
                  <a:solidFill>
                    <a:schemeClr val="dk1"/>
                  </a:solidFill>
                  <a:latin typeface="+mn-lt"/>
                  <a:ea typeface="+mn-ea"/>
                  <a:cs typeface="+mn-cs"/>
                </a:rPr>
                <a:t xml:space="preserve"> runs it on the</a:t>
              </a:r>
              <a:br>
                <a:rPr lang="en" sz="1650" dirty="0">
                  <a:solidFill>
                    <a:schemeClr val="dk1"/>
                  </a:solidFill>
                  <a:latin typeface="+mn-lt"/>
                  <a:ea typeface="+mn-ea"/>
                  <a:cs typeface="+mn-cs"/>
                </a:rPr>
              </a:br>
              <a:r>
                <a:rPr lang="en" sz="1650" dirty="0">
                  <a:solidFill>
                    <a:schemeClr val="dk1"/>
                  </a:solidFill>
                  <a:latin typeface="+mn-lt"/>
                  <a:ea typeface="+mn-ea"/>
                  <a:cs typeface="+mn-cs"/>
                </a:rPr>
                <a:t>virtual machine, row by row</a:t>
              </a:r>
            </a:p>
          </p:txBody>
        </p:sp>
      </p:grpSp>
      <p:grpSp>
        <p:nvGrpSpPr>
          <p:cNvPr id="78" name="explain-store"/>
          <p:cNvGrpSpPr/>
          <p:nvPr/>
        </p:nvGrpSpPr>
        <p:grpSpPr>
          <a:xfrm>
            <a:off x="7992618" y="4660900"/>
            <a:ext cx="2984579" cy="856107"/>
            <a:chOff x="7992618" y="4660900"/>
            <a:chExt cx="2984579" cy="856107"/>
          </a:xfrm>
        </p:grpSpPr>
        <p:sp>
          <p:nvSpPr>
            <p:cNvPr id="75" name="Line 75"/>
            <p:cNvSpPr/>
            <p:nvPr/>
          </p:nvSpPr>
          <p:spPr>
            <a:xfrm>
              <a:off x="8001000" y="4743450"/>
              <a:ext cx="228600" cy="9525"/>
            </a:xfrm>
            <a:custGeom>
              <a:avLst/>
              <a:gdLst/>
              <a:ahLst/>
              <a:cxnLst/>
              <a:rect l="l" t="t" r="r" b="b"/>
              <a:pathLst>
                <a:path w="228600" h="9525">
                  <a:moveTo>
                    <a:pt x="0" y="0"/>
                  </a:moveTo>
                  <a:lnTo>
                    <a:pt x="228600" y="0"/>
                  </a:lnTo>
                </a:path>
              </a:pathLst>
            </a:custGeom>
            <a:noFill/>
            <a:ln w="19050">
              <a:solidFill>
                <a:schemeClr val="accent2"/>
              </a:solidFill>
            </a:ln>
          </p:spPr>
        </p:sp>
        <p:sp>
          <p:nvSpPr>
            <p:cNvPr id="76" name="TextBox 76"/>
            <p:cNvSpPr txBox="1"/>
            <p:nvPr/>
          </p:nvSpPr>
          <p:spPr>
            <a:xfrm>
              <a:off x="8300085" y="4660900"/>
              <a:ext cx="560841" cy="220028"/>
            </a:xfrm>
            <a:prstGeom prst="rect">
              <a:avLst/>
            </a:prstGeom>
            <a:noFill/>
            <a:ln>
              <a:noFill/>
            </a:ln>
          </p:spPr>
          <p:txBody>
            <a:bodyPr wrap="none" lIns="0" tIns="0" rIns="0" bIns="0" anchor="t" anchorCtr="0">
              <a:spAutoFit/>
            </a:bodyPr>
            <a:lstStyle/>
            <a:p>
              <a:pPr algn="l"/>
              <a:r>
                <a:rPr lang="en" sz="1120" spc="150" dirty="0">
                  <a:solidFill>
                    <a:schemeClr val="accent2"/>
                  </a:solidFill>
                  <a:latin typeface="+mn-lt"/>
                  <a:ea typeface="+mn-ea"/>
                  <a:cs typeface="+mn-cs"/>
                </a:rPr>
                <a:t>STORE</a:t>
              </a:r>
            </a:p>
          </p:txBody>
        </p:sp>
        <p:sp>
          <p:nvSpPr>
            <p:cNvPr id="77" name="TextBox 77"/>
            <p:cNvSpPr txBox="1"/>
            <p:nvPr/>
          </p:nvSpPr>
          <p:spPr>
            <a:xfrm>
              <a:off x="7992618" y="4908550"/>
              <a:ext cx="2984579" cy="608457"/>
            </a:xfrm>
            <a:prstGeom prst="rect">
              <a:avLst/>
            </a:prstGeom>
            <a:noFill/>
            <a:ln>
              <a:noFill/>
            </a:ln>
          </p:spPr>
          <p:txBody>
            <a:bodyPr wrap="none" lIns="0" tIns="0" rIns="0" bIns="0" anchor="t" anchorCtr="0">
              <a:spAutoFit/>
            </a:bodyPr>
            <a:lstStyle/>
            <a:p>
              <a:pPr algn="l">
                <a:lnSpc>
                  <a:spcPts val="2250"/>
                </a:lnSpc>
              </a:pPr>
              <a:r>
                <a:rPr lang="en" sz="1650" dirty="0">
                  <a:solidFill>
                    <a:schemeClr val="dk1"/>
                  </a:solidFill>
                  <a:latin typeface="+mn-lt"/>
                  <a:ea typeface="+mn-ea"/>
                  <a:cs typeface="+mn-cs"/>
                </a:rPr>
                <a:t>B-trees ask the pager for fixed-</a:t>
              </a:r>
              <a:br>
                <a:rPr lang="en" sz="1650" dirty="0">
                  <a:solidFill>
                    <a:schemeClr val="dk1"/>
                  </a:solidFill>
                  <a:latin typeface="+mn-lt"/>
                  <a:ea typeface="+mn-ea"/>
                  <a:cs typeface="+mn-cs"/>
                </a:rPr>
              </a:br>
              <a:r>
                <a:rPr lang="en" sz="1650" dirty="0">
                  <a:solidFill>
                    <a:schemeClr val="dk1"/>
                  </a:solidFill>
                  <a:latin typeface="+mn-lt"/>
                  <a:ea typeface="+mn-ea"/>
                  <a:cs typeface="+mn-cs"/>
                </a:rPr>
                <a:t>size pages; the VFS does the I/O</a:t>
              </a:r>
            </a:p>
          </p:txBody>
        </p:sp>
      </p:grpSp>
      <p:grpSp>
        <p:nvGrpSpPr>
          <p:cNvPr id="83" name="title-block"/>
          <p:cNvGrpSpPr/>
          <p:nvPr/>
        </p:nvGrpSpPr>
        <p:grpSpPr>
          <a:xfrm>
            <a:off x="8382000" y="6229350"/>
            <a:ext cx="3200400" cy="285750"/>
            <a:chOff x="8382000" y="6229350"/>
            <a:chExt cx="3200400" cy="285750"/>
          </a:xfrm>
        </p:grpSpPr>
        <p:sp>
          <p:nvSpPr>
            <p:cNvPr id="79" name="Rectangle 79"/>
            <p:cNvSpPr/>
            <p:nvPr/>
          </p:nvSpPr>
          <p:spPr>
            <a:xfrm>
              <a:off x="8382000" y="6229350"/>
              <a:ext cx="3200400" cy="285750"/>
            </a:xfrm>
            <a:prstGeom prst="rect">
              <a:avLst/>
            </a:prstGeom>
            <a:solidFill>
              <a:schemeClr val="lt2"/>
            </a:solidFill>
            <a:ln w="9525">
              <a:solidFill>
                <a:schemeClr val="accent6"/>
              </a:solidFill>
            </a:ln>
          </p:spPr>
        </p:sp>
        <p:sp>
          <p:nvSpPr>
            <p:cNvPr id="80" name="Line 80"/>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81" name="TextBox 81"/>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04/12</a:t>
              </a:r>
            </a:p>
          </p:txBody>
        </p:sp>
        <p:sp>
          <p:nvSpPr>
            <p:cNvPr id="82" name="TextBox 82"/>
            <p:cNvSpPr txBox="1"/>
            <p:nvPr/>
          </p:nvSpPr>
          <p:spPr>
            <a:xfrm>
              <a:off x="9367647" y="6292850"/>
              <a:ext cx="1317115"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sqlite.org/arch</a:t>
              </a:r>
            </a:p>
          </p:txBody>
        </p:sp>
      </p:grpSp>
    </p:spTree>
  </p:cSld>
  <p:clrMapOvr>
    <a:masterClrMapping/>
  </p:clrMapOvr>
  <p:transitio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down)">
                                      <p:cBhvr>
                                        <p:cTn id="7" dur="1000"/>
                                        <p:tgtEl>
                                          <p:spTgt spid="48"/>
                                        </p:tgtEl>
                                      </p:cBhvr>
                                    </p:animEffect>
                                  </p:childTnLst>
                                </p:cTn>
                              </p:par>
                            </p:childTnLst>
                          </p:cTn>
                        </p:par>
                        <p:par>
                          <p:cTn id="8" fill="hold">
                            <p:stCondLst>
                              <p:cond delay="1000"/>
                            </p:stCondLst>
                            <p:childTnLst>
                              <p:par>
                                <p:cTn id="9" presetID="10" presetClass="entr" presetSubtype="0" fill="hold" grpId="0" nodeType="afterEffect">
                                  <p:stCondLst>
                                    <p:cond delay="50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400"/>
                                        <p:tgtEl>
                                          <p:spTgt spid="57"/>
                                        </p:tgtEl>
                                      </p:cBhvr>
                                    </p:animEffect>
                                  </p:childTnLst>
                                </p:cTn>
                              </p:par>
                            </p:childTnLst>
                          </p:cTn>
                        </p:par>
                        <p:par>
                          <p:cTn id="12" fill="hold">
                            <p:stCondLst>
                              <p:cond delay="1900"/>
                            </p:stCondLst>
                            <p:childTnLst>
                              <p:par>
                                <p:cTn id="13" presetID="10" presetClass="entr" presetSubtype="0" fill="hold" grpId="0" nodeType="afterEffect">
                                  <p:stCondLst>
                                    <p:cond delay="50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400"/>
                                        <p:tgtEl>
                                          <p:spTgt spid="66"/>
                                        </p:tgtEl>
                                      </p:cBhvr>
                                    </p:animEffect>
                                  </p:childTnLst>
                                </p:cTn>
                              </p:par>
                            </p:childTnLst>
                          </p:cTn>
                        </p:par>
                        <p:par>
                          <p:cTn id="16" fill="hold">
                            <p:stCondLst>
                              <p:cond delay="2800"/>
                            </p:stCondLst>
                            <p:childTnLst>
                              <p:par>
                                <p:cTn id="17" presetID="10" presetClass="entr" presetSubtype="0" fill="hold" grpId="0" nodeType="afterEffect">
                                  <p:stCondLst>
                                    <p:cond delay="500"/>
                                  </p:stCondLst>
                                  <p:childTnLst>
                                    <p:set>
                                      <p:cBhvr>
                                        <p:cTn id="18" dur="1" fill="hold">
                                          <p:stCondLst>
                                            <p:cond delay="0"/>
                                          </p:stCondLst>
                                        </p:cTn>
                                        <p:tgtEl>
                                          <p:spTgt spid="70"/>
                                        </p:tgtEl>
                                        <p:attrNameLst>
                                          <p:attrName>style.visibility</p:attrName>
                                        </p:attrNameLst>
                                      </p:cBhvr>
                                      <p:to>
                                        <p:strVal val="visible"/>
                                      </p:to>
                                    </p:set>
                                    <p:animEffect transition="in" filter="fade">
                                      <p:cBhvr>
                                        <p:cTn id="19" dur="500"/>
                                        <p:tgtEl>
                                          <p:spTgt spid="70"/>
                                        </p:tgtEl>
                                      </p:cBhvr>
                                    </p:animEffect>
                                  </p:childTnLst>
                                </p:cTn>
                              </p:par>
                            </p:childTnLst>
                          </p:cTn>
                        </p:par>
                        <p:par>
                          <p:cTn id="20" fill="hold">
                            <p:stCondLst>
                              <p:cond delay="3800"/>
                            </p:stCondLst>
                            <p:childTnLst>
                              <p:par>
                                <p:cTn id="21" presetID="10" presetClass="entr" presetSubtype="0" fill="hold" grpId="0" nodeType="afterEffect">
                                  <p:stCondLst>
                                    <p:cond delay="50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500"/>
                                        <p:tgtEl>
                                          <p:spTgt spid="74"/>
                                        </p:tgtEl>
                                      </p:cBhvr>
                                    </p:animEffect>
                                  </p:childTnLst>
                                </p:cTn>
                              </p:par>
                            </p:childTnLst>
                          </p:cTn>
                        </p:par>
                        <p:par>
                          <p:cTn id="24" fill="hold">
                            <p:stCondLst>
                              <p:cond delay="4800"/>
                            </p:stCondLst>
                            <p:childTnLst>
                              <p:par>
                                <p:cTn id="25" presetID="10" presetClass="entr" presetSubtype="0" fill="hold" grpId="0" nodeType="afterEffect">
                                  <p:stCondLst>
                                    <p:cond delay="500"/>
                                  </p:stCondLst>
                                  <p:childTnLst>
                                    <p:set>
                                      <p:cBhvr>
                                        <p:cTn id="26" dur="1" fill="hold">
                                          <p:stCondLst>
                                            <p:cond delay="0"/>
                                          </p:stCondLst>
                                        </p:cTn>
                                        <p:tgtEl>
                                          <p:spTgt spid="78"/>
                                        </p:tgtEl>
                                        <p:attrNameLst>
                                          <p:attrName>style.visibility</p:attrName>
                                        </p:attrNameLst>
                                      </p:cBhvr>
                                      <p:to>
                                        <p:strVal val="visible"/>
                                      </p:to>
                                    </p:set>
                                    <p:animEffect transition="in" filter="fade">
                                      <p:cBhvr>
                                        <p:cTn id="27"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7499170" cy="815340"/>
            <a:chOff x="594360" y="603250"/>
            <a:chExt cx="7499170" cy="815340"/>
          </a:xfrm>
        </p:grpSpPr>
        <p:sp>
          <p:nvSpPr>
            <p:cNvPr id="18" name="TextBox 18"/>
            <p:cNvSpPr txBox="1"/>
            <p:nvPr/>
          </p:nvSpPr>
          <p:spPr>
            <a:xfrm>
              <a:off x="603885" y="603250"/>
              <a:ext cx="4883510"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04 · HOW IT WORKS — COMPILE PATH (LAYERS 02–04)</a:t>
              </a:r>
            </a:p>
          </p:txBody>
        </p:sp>
        <p:sp>
          <p:nvSpPr>
            <p:cNvPr id="19" name="TextBox 19"/>
            <p:cNvSpPr txBox="1"/>
            <p:nvPr/>
          </p:nvSpPr>
          <p:spPr>
            <a:xfrm>
              <a:off x="594360" y="831850"/>
              <a:ext cx="7499170"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From SQL text to a bytecode program</a:t>
              </a:r>
            </a:p>
          </p:txBody>
        </p:sp>
      </p:grpSp>
      <p:grpSp>
        <p:nvGrpSpPr>
          <p:cNvPr id="48" name="!!stack-rail"/>
          <p:cNvGrpSpPr/>
          <p:nvPr/>
        </p:nvGrpSpPr>
        <p:grpSpPr>
          <a:xfrm>
            <a:off x="609600" y="1600200"/>
            <a:ext cx="1524000" cy="4038600"/>
            <a:chOff x="609600" y="1600200"/>
            <a:chExt cx="1524000" cy="4038600"/>
          </a:xfrm>
        </p:grpSpPr>
        <p:grpSp>
          <p:nvGrpSpPr>
            <p:cNvPr id="29" name="Group 29"/>
            <p:cNvGrpSpPr/>
            <p:nvPr/>
          </p:nvGrpSpPr>
          <p:grpSpPr>
            <a:xfrm>
              <a:off x="609600" y="1600200"/>
              <a:ext cx="1524000" cy="4038600"/>
              <a:chOff x="609600" y="1600200"/>
              <a:chExt cx="1524000" cy="4038600"/>
            </a:xfrm>
          </p:grpSpPr>
          <p:sp>
            <p:nvSpPr>
              <p:cNvPr id="21" name="Rectangle 21"/>
              <p:cNvSpPr/>
              <p:nvPr/>
            </p:nvSpPr>
            <p:spPr>
              <a:xfrm>
                <a:off x="609600" y="1600200"/>
                <a:ext cx="1524000" cy="438150"/>
              </a:xfrm>
              <a:prstGeom prst="roundRect">
                <a:avLst>
                  <a:gd name="adj" fmla="val 4348"/>
                </a:avLst>
              </a:prstGeom>
              <a:solidFill>
                <a:schemeClr val="lt2"/>
              </a:solidFill>
              <a:ln w="14288">
                <a:solidFill>
                  <a:schemeClr val="accent1"/>
                </a:solidFill>
              </a:ln>
            </p:spPr>
          </p:sp>
          <p:sp>
            <p:nvSpPr>
              <p:cNvPr id="22" name="Rectangle 22"/>
              <p:cNvSpPr/>
              <p:nvPr/>
            </p:nvSpPr>
            <p:spPr>
              <a:xfrm>
                <a:off x="609600" y="2114550"/>
                <a:ext cx="1524000" cy="438150"/>
              </a:xfrm>
              <a:prstGeom prst="roundRect">
                <a:avLst>
                  <a:gd name="adj" fmla="val 4348"/>
                </a:avLst>
              </a:prstGeom>
              <a:solidFill>
                <a:schemeClr val="lt2"/>
              </a:solidFill>
              <a:ln w="14288">
                <a:solidFill>
                  <a:schemeClr val="accent2"/>
                </a:solidFill>
              </a:ln>
            </p:spPr>
          </p:sp>
          <p:sp>
            <p:nvSpPr>
              <p:cNvPr id="23" name="Rectangle 23"/>
              <p:cNvSpPr/>
              <p:nvPr/>
            </p:nvSpPr>
            <p:spPr>
              <a:xfrm>
                <a:off x="609600" y="2628900"/>
                <a:ext cx="1524000" cy="438150"/>
              </a:xfrm>
              <a:prstGeom prst="roundRect">
                <a:avLst>
                  <a:gd name="adj" fmla="val 4348"/>
                </a:avLst>
              </a:prstGeom>
              <a:solidFill>
                <a:schemeClr val="lt2"/>
              </a:solidFill>
              <a:ln w="14288">
                <a:solidFill>
                  <a:schemeClr val="accent2"/>
                </a:solidFill>
              </a:ln>
            </p:spPr>
          </p:sp>
          <p:sp>
            <p:nvSpPr>
              <p:cNvPr id="24" name="Rectangle 24"/>
              <p:cNvSpPr/>
              <p:nvPr/>
            </p:nvSpPr>
            <p:spPr>
              <a:xfrm>
                <a:off x="609600" y="3143250"/>
                <a:ext cx="1524000" cy="438150"/>
              </a:xfrm>
              <a:prstGeom prst="roundRect">
                <a:avLst>
                  <a:gd name="adj" fmla="val 4348"/>
                </a:avLst>
              </a:prstGeom>
              <a:solidFill>
                <a:schemeClr val="lt2"/>
              </a:solidFill>
              <a:ln w="14288">
                <a:solidFill>
                  <a:schemeClr val="accent2"/>
                </a:solidFill>
              </a:ln>
            </p:spPr>
          </p:sp>
          <p:sp>
            <p:nvSpPr>
              <p:cNvPr id="25" name="Rectangle 25"/>
              <p:cNvSpPr/>
              <p:nvPr/>
            </p:nvSpPr>
            <p:spPr>
              <a:xfrm>
                <a:off x="609600" y="3657600"/>
                <a:ext cx="1524000" cy="438150"/>
              </a:xfrm>
              <a:prstGeom prst="roundRect">
                <a:avLst>
                  <a:gd name="adj" fmla="val 4348"/>
                </a:avLst>
              </a:prstGeom>
              <a:solidFill>
                <a:schemeClr val="lt2"/>
              </a:solidFill>
              <a:ln w="14288">
                <a:solidFill>
                  <a:schemeClr val="accent1"/>
                </a:solidFill>
              </a:ln>
            </p:spPr>
          </p:sp>
          <p:sp>
            <p:nvSpPr>
              <p:cNvPr id="26" name="Rectangle 26"/>
              <p:cNvSpPr/>
              <p:nvPr/>
            </p:nvSpPr>
            <p:spPr>
              <a:xfrm>
                <a:off x="609600" y="4171950"/>
                <a:ext cx="1524000" cy="438150"/>
              </a:xfrm>
              <a:prstGeom prst="roundRect">
                <a:avLst>
                  <a:gd name="adj" fmla="val 4348"/>
                </a:avLst>
              </a:prstGeom>
              <a:solidFill>
                <a:schemeClr val="lt2"/>
              </a:solidFill>
              <a:ln w="14288">
                <a:solidFill>
                  <a:schemeClr val="accent1"/>
                </a:solidFill>
              </a:ln>
            </p:spPr>
          </p:sp>
          <p:sp>
            <p:nvSpPr>
              <p:cNvPr id="27" name="Rectangle 27"/>
              <p:cNvSpPr/>
              <p:nvPr/>
            </p:nvSpPr>
            <p:spPr>
              <a:xfrm>
                <a:off x="609600" y="4686300"/>
                <a:ext cx="1524000" cy="438150"/>
              </a:xfrm>
              <a:prstGeom prst="roundRect">
                <a:avLst>
                  <a:gd name="adj" fmla="val 4348"/>
                </a:avLst>
              </a:prstGeom>
              <a:solidFill>
                <a:schemeClr val="lt2"/>
              </a:solidFill>
              <a:ln w="14288">
                <a:solidFill>
                  <a:schemeClr val="accent1"/>
                </a:solidFill>
              </a:ln>
            </p:spPr>
          </p:sp>
          <p:sp>
            <p:nvSpPr>
              <p:cNvPr id="28" name="Rectangle 28"/>
              <p:cNvSpPr/>
              <p:nvPr/>
            </p:nvSpPr>
            <p:spPr>
              <a:xfrm>
                <a:off x="609600" y="5200650"/>
                <a:ext cx="1524000" cy="438150"/>
              </a:xfrm>
              <a:prstGeom prst="roundRect">
                <a:avLst>
                  <a:gd name="adj" fmla="val 4348"/>
                </a:avLst>
              </a:prstGeom>
              <a:solidFill>
                <a:schemeClr val="lt2"/>
              </a:solidFill>
              <a:ln w="14288">
                <a:solidFill>
                  <a:schemeClr val="accent1"/>
                </a:solidFill>
              </a:ln>
            </p:spPr>
          </p:sp>
        </p:grpSp>
        <p:grpSp>
          <p:nvGrpSpPr>
            <p:cNvPr id="38" name="Group 38"/>
            <p:cNvGrpSpPr/>
            <p:nvPr/>
          </p:nvGrpSpPr>
          <p:grpSpPr>
            <a:xfrm>
              <a:off x="984504" y="1724025"/>
              <a:ext cx="728850" cy="3835146"/>
              <a:chOff x="984504" y="1724025"/>
              <a:chExt cx="728850" cy="3835146"/>
            </a:xfrm>
          </p:grpSpPr>
          <p:sp>
            <p:nvSpPr>
              <p:cNvPr id="30" name="TextBox 30"/>
              <p:cNvSpPr txBox="1"/>
              <p:nvPr/>
            </p:nvSpPr>
            <p:spPr>
              <a:xfrm>
                <a:off x="984504" y="1724025"/>
                <a:ext cx="637772"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Interface</a:t>
                </a:r>
              </a:p>
            </p:txBody>
          </p:sp>
          <p:sp>
            <p:nvSpPr>
              <p:cNvPr id="31" name="TextBox 31"/>
              <p:cNvSpPr txBox="1"/>
              <p:nvPr/>
            </p:nvSpPr>
            <p:spPr>
              <a:xfrm>
                <a:off x="984504" y="2238375"/>
                <a:ext cx="704844"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Tokenizer</a:t>
                </a:r>
              </a:p>
            </p:txBody>
          </p:sp>
          <p:sp>
            <p:nvSpPr>
              <p:cNvPr id="32" name="TextBox 32"/>
              <p:cNvSpPr txBox="1"/>
              <p:nvPr/>
            </p:nvSpPr>
            <p:spPr>
              <a:xfrm>
                <a:off x="984504" y="2752725"/>
                <a:ext cx="454367"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Parser</a:t>
                </a:r>
              </a:p>
            </p:txBody>
          </p:sp>
          <p:sp>
            <p:nvSpPr>
              <p:cNvPr id="33" name="TextBox 33"/>
              <p:cNvSpPr txBox="1"/>
              <p:nvPr/>
            </p:nvSpPr>
            <p:spPr>
              <a:xfrm>
                <a:off x="984504" y="3267075"/>
                <a:ext cx="72885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Code Gen</a:t>
                </a:r>
              </a:p>
            </p:txBody>
          </p:sp>
          <p:sp>
            <p:nvSpPr>
              <p:cNvPr id="34" name="TextBox 34"/>
              <p:cNvSpPr txBox="1"/>
              <p:nvPr/>
            </p:nvSpPr>
            <p:spPr>
              <a:xfrm>
                <a:off x="984504" y="3781425"/>
                <a:ext cx="42209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VDBE</a:t>
                </a:r>
              </a:p>
            </p:txBody>
          </p:sp>
          <p:sp>
            <p:nvSpPr>
              <p:cNvPr id="35" name="TextBox 35"/>
              <p:cNvSpPr txBox="1"/>
              <p:nvPr/>
            </p:nvSpPr>
            <p:spPr>
              <a:xfrm>
                <a:off x="984504" y="4295775"/>
                <a:ext cx="45424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B-tree</a:t>
                </a:r>
              </a:p>
            </p:txBody>
          </p:sp>
          <p:sp>
            <p:nvSpPr>
              <p:cNvPr id="36" name="TextBox 36"/>
              <p:cNvSpPr txBox="1"/>
              <p:nvPr/>
            </p:nvSpPr>
            <p:spPr>
              <a:xfrm>
                <a:off x="984504" y="4810125"/>
                <a:ext cx="425280"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Pager</a:t>
                </a:r>
              </a:p>
            </p:txBody>
          </p:sp>
          <p:sp>
            <p:nvSpPr>
              <p:cNvPr id="37" name="TextBox 37"/>
              <p:cNvSpPr txBox="1"/>
              <p:nvPr/>
            </p:nvSpPr>
            <p:spPr>
              <a:xfrm>
                <a:off x="984504" y="5324475"/>
                <a:ext cx="292223"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VFS</a:t>
                </a:r>
              </a:p>
            </p:txBody>
          </p:sp>
        </p:grpSp>
        <p:grpSp>
          <p:nvGrpSpPr>
            <p:cNvPr id="47" name="Group 47"/>
            <p:cNvGrpSpPr/>
            <p:nvPr/>
          </p:nvGrpSpPr>
          <p:grpSpPr>
            <a:xfrm>
              <a:off x="699135" y="1736725"/>
              <a:ext cx="177282" cy="3820478"/>
              <a:chOff x="699135" y="1736725"/>
              <a:chExt cx="177282" cy="3820478"/>
            </a:xfrm>
          </p:grpSpPr>
          <p:sp>
            <p:nvSpPr>
              <p:cNvPr id="39" name="TextBox 39"/>
              <p:cNvSpPr txBox="1"/>
              <p:nvPr/>
            </p:nvSpPr>
            <p:spPr>
              <a:xfrm>
                <a:off x="699135" y="173672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01</a:t>
                </a:r>
              </a:p>
            </p:txBody>
          </p:sp>
          <p:sp>
            <p:nvSpPr>
              <p:cNvPr id="40" name="TextBox 40"/>
              <p:cNvSpPr txBox="1"/>
              <p:nvPr/>
            </p:nvSpPr>
            <p:spPr>
              <a:xfrm>
                <a:off x="699135" y="2251075"/>
                <a:ext cx="177282" cy="220028"/>
              </a:xfrm>
              <a:prstGeom prst="rect">
                <a:avLst/>
              </a:prstGeom>
              <a:noFill/>
              <a:ln>
                <a:noFill/>
              </a:ln>
            </p:spPr>
            <p:txBody>
              <a:bodyPr wrap="none" lIns="0" tIns="0" rIns="0" bIns="0" anchor="t" anchorCtr="0">
                <a:spAutoFit/>
              </a:bodyPr>
              <a:lstStyle/>
              <a:p>
                <a:pPr algn="l"/>
                <a:r>
                  <a:rPr lang="en" sz="1120" dirty="0">
                    <a:solidFill>
                      <a:schemeClr val="accent2"/>
                    </a:solidFill>
                    <a:latin typeface="Consolas"/>
                    <a:ea typeface="Consolas"/>
                    <a:cs typeface="Consolas"/>
                  </a:rPr>
                  <a:t>02</a:t>
                </a:r>
              </a:p>
            </p:txBody>
          </p:sp>
          <p:sp>
            <p:nvSpPr>
              <p:cNvPr id="41" name="TextBox 41"/>
              <p:cNvSpPr txBox="1"/>
              <p:nvPr/>
            </p:nvSpPr>
            <p:spPr>
              <a:xfrm>
                <a:off x="699135" y="2765425"/>
                <a:ext cx="177282" cy="220028"/>
              </a:xfrm>
              <a:prstGeom prst="rect">
                <a:avLst/>
              </a:prstGeom>
              <a:noFill/>
              <a:ln>
                <a:noFill/>
              </a:ln>
            </p:spPr>
            <p:txBody>
              <a:bodyPr wrap="none" lIns="0" tIns="0" rIns="0" bIns="0" anchor="t" anchorCtr="0">
                <a:spAutoFit/>
              </a:bodyPr>
              <a:lstStyle/>
              <a:p>
                <a:pPr algn="l"/>
                <a:r>
                  <a:rPr lang="en" sz="1120" dirty="0">
                    <a:solidFill>
                      <a:schemeClr val="accent2"/>
                    </a:solidFill>
                    <a:latin typeface="Consolas"/>
                    <a:ea typeface="Consolas"/>
                    <a:cs typeface="Consolas"/>
                  </a:rPr>
                  <a:t>03</a:t>
                </a:r>
              </a:p>
            </p:txBody>
          </p:sp>
          <p:sp>
            <p:nvSpPr>
              <p:cNvPr id="42" name="TextBox 42"/>
              <p:cNvSpPr txBox="1"/>
              <p:nvPr/>
            </p:nvSpPr>
            <p:spPr>
              <a:xfrm>
                <a:off x="699135" y="3279775"/>
                <a:ext cx="177282" cy="220028"/>
              </a:xfrm>
              <a:prstGeom prst="rect">
                <a:avLst/>
              </a:prstGeom>
              <a:noFill/>
              <a:ln>
                <a:noFill/>
              </a:ln>
            </p:spPr>
            <p:txBody>
              <a:bodyPr wrap="none" lIns="0" tIns="0" rIns="0" bIns="0" anchor="t" anchorCtr="0">
                <a:spAutoFit/>
              </a:bodyPr>
              <a:lstStyle/>
              <a:p>
                <a:pPr algn="l"/>
                <a:r>
                  <a:rPr lang="en" sz="1120" dirty="0">
                    <a:solidFill>
                      <a:schemeClr val="accent2"/>
                    </a:solidFill>
                    <a:latin typeface="Consolas"/>
                    <a:ea typeface="Consolas"/>
                    <a:cs typeface="Consolas"/>
                  </a:rPr>
                  <a:t>04</a:t>
                </a:r>
              </a:p>
            </p:txBody>
          </p:sp>
          <p:sp>
            <p:nvSpPr>
              <p:cNvPr id="43" name="TextBox 43"/>
              <p:cNvSpPr txBox="1"/>
              <p:nvPr/>
            </p:nvSpPr>
            <p:spPr>
              <a:xfrm>
                <a:off x="699135" y="379412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05</a:t>
                </a:r>
              </a:p>
            </p:txBody>
          </p:sp>
          <p:sp>
            <p:nvSpPr>
              <p:cNvPr id="44" name="TextBox 44"/>
              <p:cNvSpPr txBox="1"/>
              <p:nvPr/>
            </p:nvSpPr>
            <p:spPr>
              <a:xfrm>
                <a:off x="699135" y="430847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06</a:t>
                </a:r>
              </a:p>
            </p:txBody>
          </p:sp>
          <p:sp>
            <p:nvSpPr>
              <p:cNvPr id="45" name="TextBox 45"/>
              <p:cNvSpPr txBox="1"/>
              <p:nvPr/>
            </p:nvSpPr>
            <p:spPr>
              <a:xfrm>
                <a:off x="699135" y="482282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07</a:t>
                </a:r>
              </a:p>
            </p:txBody>
          </p:sp>
          <p:sp>
            <p:nvSpPr>
              <p:cNvPr id="46" name="TextBox 46"/>
              <p:cNvSpPr txBox="1"/>
              <p:nvPr/>
            </p:nvSpPr>
            <p:spPr>
              <a:xfrm>
                <a:off x="699135" y="533717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08</a:t>
                </a:r>
              </a:p>
            </p:txBody>
          </p:sp>
        </p:grpSp>
      </p:grpSp>
      <p:grpSp>
        <p:nvGrpSpPr>
          <p:cNvPr id="52" name="sql-input"/>
          <p:cNvGrpSpPr/>
          <p:nvPr/>
        </p:nvGrpSpPr>
        <p:grpSpPr>
          <a:xfrm>
            <a:off x="2514600" y="1524000"/>
            <a:ext cx="9067800" cy="495300"/>
            <a:chOff x="2514600" y="1524000"/>
            <a:chExt cx="9067800" cy="495300"/>
          </a:xfrm>
        </p:grpSpPr>
        <p:sp>
          <p:nvSpPr>
            <p:cNvPr id="49" name="Rectangle 49"/>
            <p:cNvSpPr/>
            <p:nvPr/>
          </p:nvSpPr>
          <p:spPr>
            <a:xfrm>
              <a:off x="2514600" y="1524000"/>
              <a:ext cx="9067800" cy="495300"/>
            </a:xfrm>
            <a:prstGeom prst="roundRect">
              <a:avLst>
                <a:gd name="adj" fmla="val 3846"/>
              </a:avLst>
            </a:prstGeom>
            <a:noFill/>
            <a:ln w="11906">
              <a:solidFill>
                <a:schemeClr val="accent6"/>
              </a:solidFill>
              <a:prstDash val="dash"/>
            </a:ln>
          </p:spPr>
        </p:sp>
        <p:sp>
          <p:nvSpPr>
            <p:cNvPr id="50" name="TextBox 50"/>
            <p:cNvSpPr txBox="1"/>
            <p:nvPr/>
          </p:nvSpPr>
          <p:spPr>
            <a:xfrm>
              <a:off x="2680335" y="1689100"/>
              <a:ext cx="825609"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SQL TEXT</a:t>
              </a:r>
            </a:p>
          </p:txBody>
        </p:sp>
        <p:sp>
          <p:nvSpPr>
            <p:cNvPr id="51" name="TextBox 51"/>
            <p:cNvSpPr txBox="1"/>
            <p:nvPr/>
          </p:nvSpPr>
          <p:spPr>
            <a:xfrm>
              <a:off x="3802761" y="1673225"/>
              <a:ext cx="3814485" cy="278702"/>
            </a:xfrm>
            <a:prstGeom prst="rect">
              <a:avLst/>
            </a:prstGeom>
            <a:noFill/>
            <a:ln>
              <a:noFill/>
            </a:ln>
          </p:spPr>
          <p:txBody>
            <a:bodyPr wrap="none" lIns="0" tIns="0" rIns="0" bIns="0" anchor="t" anchorCtr="0">
              <a:spAutoFit/>
            </a:bodyPr>
            <a:lstStyle/>
            <a:p>
              <a:pPr algn="l"/>
              <a:r>
                <a:rPr lang="en" sz="1420" dirty="0">
                  <a:solidFill>
                    <a:schemeClr val="dk1"/>
                  </a:solidFill>
                  <a:latin typeface="Consolas"/>
                  <a:ea typeface="Consolas"/>
                  <a:cs typeface="Consolas"/>
                </a:rPr>
                <a:t>SELECT name FROM users WHERE id = ?</a:t>
              </a:r>
            </a:p>
          </p:txBody>
        </p:sp>
      </p:grpSp>
      <p:grpSp>
        <p:nvGrpSpPr>
          <p:cNvPr id="56" name="stage-tokenizer"/>
          <p:cNvGrpSpPr/>
          <p:nvPr/>
        </p:nvGrpSpPr>
        <p:grpSpPr>
          <a:xfrm>
            <a:off x="2514600" y="2247900"/>
            <a:ext cx="2209800" cy="2319020"/>
            <a:chOff x="2514600" y="2247900"/>
            <a:chExt cx="2209800" cy="2319020"/>
          </a:xfrm>
        </p:grpSpPr>
        <p:sp>
          <p:nvSpPr>
            <p:cNvPr id="53" name="Freeform 53"/>
            <p:cNvSpPr/>
            <p:nvPr/>
          </p:nvSpPr>
          <p:spPr>
            <a:xfrm>
              <a:off x="2514600" y="2247900"/>
              <a:ext cx="2209800" cy="495300"/>
            </a:xfrm>
            <a:prstGeom prst="homePlate">
              <a:avLst/>
            </a:prstGeom>
            <a:solidFill>
              <a:schemeClr val="lt2"/>
            </a:solidFill>
            <a:ln w="14288">
              <a:solidFill>
                <a:schemeClr val="accent2"/>
              </a:solidFill>
            </a:ln>
          </p:spPr>
        </p:sp>
        <p:sp>
          <p:nvSpPr>
            <p:cNvPr id="54" name="TextBox 54"/>
            <p:cNvSpPr txBox="1"/>
            <p:nvPr/>
          </p:nvSpPr>
          <p:spPr>
            <a:xfrm>
              <a:off x="3030761" y="2413000"/>
              <a:ext cx="986978" cy="220028"/>
            </a:xfrm>
            <a:prstGeom prst="rect">
              <a:avLst/>
            </a:prstGeom>
            <a:noFill/>
            <a:ln>
              <a:noFill/>
            </a:ln>
          </p:spPr>
          <p:txBody>
            <a:bodyPr wrap="none" lIns="0" tIns="0" rIns="0" bIns="0" anchor="t" anchorCtr="0">
              <a:spAutoFit/>
            </a:bodyPr>
            <a:lstStyle/>
            <a:p>
              <a:pPr algn="ctr"/>
              <a:r>
                <a:rPr lang="en" sz="1120" spc="150" dirty="0">
                  <a:solidFill>
                    <a:schemeClr val="accent2"/>
                  </a:solidFill>
                  <a:latin typeface="+mn-lt"/>
                  <a:ea typeface="+mn-ea"/>
                  <a:cs typeface="+mn-cs"/>
                </a:rPr>
                <a:t>TOKENIZER</a:t>
              </a:r>
            </a:p>
          </p:txBody>
        </p:sp>
        <p:sp>
          <p:nvSpPr>
            <p:cNvPr id="55" name="TextBox 55"/>
            <p:cNvSpPr txBox="1"/>
            <p:nvPr/>
          </p:nvSpPr>
          <p:spPr>
            <a:xfrm>
              <a:off x="2583180" y="2940050"/>
              <a:ext cx="1744866" cy="1626870"/>
            </a:xfrm>
            <a:prstGeom prst="rect">
              <a:avLst/>
            </a:prstGeom>
            <a:noFill/>
            <a:ln>
              <a:noFill/>
            </a:ln>
          </p:spPr>
          <p:txBody>
            <a:bodyPr wrap="none" lIns="0" tIns="0" rIns="0" bIns="0" anchor="t" anchorCtr="0">
              <a:spAutoFit/>
            </a:bodyPr>
            <a:lstStyle/>
            <a:p>
              <a:pPr algn="l">
                <a:lnSpc>
                  <a:spcPts val="2100"/>
                </a:lnSpc>
              </a:pPr>
              <a:r>
                <a:rPr lang="en" sz="1500" dirty="0">
                  <a:solidFill>
                    <a:schemeClr val="dk1"/>
                  </a:solidFill>
                  <a:latin typeface="+mn-lt"/>
                  <a:ea typeface="+mn-ea"/>
                  <a:cs typeface="+mn-cs"/>
                </a:rPr>
                <a:t>Splits SQL text into</a:t>
              </a:r>
              <a:br>
                <a:rPr lang="en" sz="1500" dirty="0">
                  <a:solidFill>
                    <a:schemeClr val="dk1"/>
                  </a:solidFill>
                  <a:latin typeface="+mn-lt"/>
                  <a:ea typeface="+mn-ea"/>
                  <a:cs typeface="+mn-cs"/>
                </a:rPr>
              </a:br>
              <a:r>
                <a:rPr lang="en" sz="1500" dirty="0">
                  <a:solidFill>
                    <a:schemeClr val="dk1"/>
                  </a:solidFill>
                  <a:latin typeface="+mn-lt"/>
                  <a:ea typeface="+mn-ea"/>
                  <a:cs typeface="+mn-cs"/>
                </a:rPr>
                <a:t>tokens; hand-coded</a:t>
              </a:r>
              <a:br>
                <a:rPr lang="en" sz="1500" dirty="0">
                  <a:solidFill>
                    <a:schemeClr val="dk1"/>
                  </a:solidFill>
                  <a:latin typeface="+mn-lt"/>
                  <a:ea typeface="+mn-ea"/>
                  <a:cs typeface="+mn-cs"/>
                </a:rPr>
              </a:br>
              <a:r>
                <a:rPr lang="en" sz="1500" dirty="0">
                  <a:solidFill>
                    <a:schemeClr val="dk1"/>
                  </a:solidFill>
                  <a:latin typeface="+mn-lt"/>
                  <a:ea typeface="+mn-ea"/>
                  <a:cs typeface="+mn-cs"/>
                </a:rPr>
                <a:t xml:space="preserve">in </a:t>
              </a:r>
              <a:r>
                <a:rPr lang="en" sz="1420" dirty="0">
                  <a:solidFill>
                    <a:schemeClr val="accent1"/>
                  </a:solidFill>
                  <a:latin typeface="Consolas"/>
                  <a:ea typeface="Consolas"/>
                  <a:cs typeface="Consolas"/>
                </a:rPr>
                <a:t>tokenize.c</a:t>
              </a:r>
              <a:r>
                <a:rPr lang="en" sz="1500" dirty="0">
                  <a:solidFill>
                    <a:schemeClr val="dk1"/>
                  </a:solidFill>
                  <a:latin typeface="+mn-lt"/>
                  <a:ea typeface="+mn-ea"/>
                  <a:cs typeface="+mn-cs"/>
                </a:rPr>
                <a:t>.</a:t>
              </a:r>
              <a:br>
                <a:rPr lang="en" sz="1500" dirty="0">
                  <a:solidFill>
                    <a:schemeClr val="dk1"/>
                  </a:solidFill>
                  <a:latin typeface="+mn-lt"/>
                  <a:ea typeface="+mn-ea"/>
                  <a:cs typeface="+mn-cs"/>
                </a:rPr>
              </a:br>
              <a:r>
                <a:rPr lang="en" sz="1500" b="1" dirty="0">
                  <a:solidFill>
                    <a:schemeClr val="accent2"/>
                  </a:solidFill>
                  <a:latin typeface="+mn-lt"/>
                  <a:ea typeface="+mn-ea"/>
                  <a:cs typeface="+mn-cs"/>
                </a:rPr>
                <a:t>The tokenizer calls</a:t>
              </a:r>
              <a:br>
                <a:rPr lang="en" sz="1500" b="1" dirty="0">
                  <a:solidFill>
                    <a:schemeClr val="accent2"/>
                  </a:solidFill>
                  <a:latin typeface="+mn-lt"/>
                  <a:ea typeface="+mn-ea"/>
                  <a:cs typeface="+mn-cs"/>
                </a:rPr>
              </a:br>
              <a:r>
                <a:rPr lang="en" sz="1500" b="1" dirty="0">
                  <a:solidFill>
                    <a:schemeClr val="accent2"/>
                  </a:solidFill>
                  <a:latin typeface="+mn-lt"/>
                  <a:ea typeface="+mn-ea"/>
                  <a:cs typeface="+mn-cs"/>
                </a:rPr>
                <a:t>the parser</a:t>
              </a:r>
            </a:p>
            <a:p>
              <a:pPr algn="l">
                <a:lnSpc>
                  <a:spcPts val="2100"/>
                </a:lnSpc>
              </a:pPr>
              <a:r>
                <a:rPr lang="en" sz="1500" dirty="0">
                  <a:solidFill>
                    <a:schemeClr val="dk1"/>
                  </a:solidFill>
                  <a:latin typeface="+mn-lt"/>
                  <a:ea typeface="+mn-ea"/>
                  <a:cs typeface="+mn-cs"/>
                </a:rPr>
                <a:t>— threadsafe, faster.</a:t>
              </a:r>
            </a:p>
          </p:txBody>
        </p:sp>
      </p:grpSp>
      <p:grpSp>
        <p:nvGrpSpPr>
          <p:cNvPr id="60" name="stage-parser"/>
          <p:cNvGrpSpPr/>
          <p:nvPr/>
        </p:nvGrpSpPr>
        <p:grpSpPr>
          <a:xfrm>
            <a:off x="4762500" y="2247900"/>
            <a:ext cx="2247900" cy="2319020"/>
            <a:chOff x="4762500" y="2247900"/>
            <a:chExt cx="2247900" cy="2319020"/>
          </a:xfrm>
        </p:grpSpPr>
        <p:sp>
          <p:nvSpPr>
            <p:cNvPr id="57" name="Freeform 57"/>
            <p:cNvSpPr/>
            <p:nvPr/>
          </p:nvSpPr>
          <p:spPr>
            <a:xfrm>
              <a:off x="4762500" y="2247900"/>
              <a:ext cx="2247900" cy="495300"/>
            </a:xfrm>
            <a:prstGeom prst="chevron">
              <a:avLst/>
            </a:prstGeom>
            <a:solidFill>
              <a:schemeClr val="lt2"/>
            </a:solidFill>
            <a:ln w="14288">
              <a:solidFill>
                <a:schemeClr val="accent2"/>
              </a:solidFill>
            </a:ln>
          </p:spPr>
        </p:sp>
        <p:sp>
          <p:nvSpPr>
            <p:cNvPr id="58" name="TextBox 58"/>
            <p:cNvSpPr txBox="1"/>
            <p:nvPr/>
          </p:nvSpPr>
          <p:spPr>
            <a:xfrm>
              <a:off x="5553511" y="2413000"/>
              <a:ext cx="665877" cy="220028"/>
            </a:xfrm>
            <a:prstGeom prst="rect">
              <a:avLst/>
            </a:prstGeom>
            <a:noFill/>
            <a:ln>
              <a:noFill/>
            </a:ln>
          </p:spPr>
          <p:txBody>
            <a:bodyPr wrap="none" lIns="0" tIns="0" rIns="0" bIns="0" anchor="t" anchorCtr="0">
              <a:spAutoFit/>
            </a:bodyPr>
            <a:lstStyle/>
            <a:p>
              <a:pPr algn="ctr"/>
              <a:r>
                <a:rPr lang="en" sz="1120" spc="150" dirty="0">
                  <a:solidFill>
                    <a:schemeClr val="accent2"/>
                  </a:solidFill>
                  <a:latin typeface="+mn-lt"/>
                  <a:ea typeface="+mn-ea"/>
                  <a:cs typeface="+mn-cs"/>
                </a:rPr>
                <a:t>PARSER</a:t>
              </a:r>
            </a:p>
          </p:txBody>
        </p:sp>
        <p:sp>
          <p:nvSpPr>
            <p:cNvPr id="59" name="TextBox 59"/>
            <p:cNvSpPr txBox="1"/>
            <p:nvPr/>
          </p:nvSpPr>
          <p:spPr>
            <a:xfrm>
              <a:off x="4831080" y="2940050"/>
              <a:ext cx="2044611" cy="1626870"/>
            </a:xfrm>
            <a:prstGeom prst="rect">
              <a:avLst/>
            </a:prstGeom>
            <a:noFill/>
            <a:ln>
              <a:noFill/>
            </a:ln>
          </p:spPr>
          <p:txBody>
            <a:bodyPr wrap="none" lIns="0" tIns="0" rIns="0" bIns="0" anchor="t" anchorCtr="0">
              <a:spAutoFit/>
            </a:bodyPr>
            <a:lstStyle/>
            <a:p>
              <a:pPr algn="l">
                <a:lnSpc>
                  <a:spcPts val="2100"/>
                </a:lnSpc>
              </a:pPr>
              <a:r>
                <a:rPr lang="en" sz="1500" dirty="0">
                  <a:solidFill>
                    <a:schemeClr val="dk1"/>
                  </a:solidFill>
                  <a:latin typeface="+mn-lt"/>
                  <a:ea typeface="+mn-ea"/>
                  <a:cs typeface="+mn-cs"/>
                </a:rPr>
                <a:t>Gives tokens meaning</a:t>
              </a:r>
              <a:br>
                <a:rPr lang="en" sz="1500" dirty="0">
                  <a:solidFill>
                    <a:schemeClr val="dk1"/>
                  </a:solidFill>
                  <a:latin typeface="+mn-lt"/>
                  <a:ea typeface="+mn-ea"/>
                  <a:cs typeface="+mn-cs"/>
                </a:rPr>
              </a:br>
              <a:r>
                <a:rPr lang="en" sz="1500" dirty="0">
                  <a:solidFill>
                    <a:schemeClr val="dk1"/>
                  </a:solidFill>
                  <a:latin typeface="+mn-lt"/>
                  <a:ea typeface="+mn-ea"/>
                  <a:cs typeface="+mn-cs"/>
                </a:rPr>
                <a:t>by context; generated</a:t>
              </a:r>
              <a:br>
                <a:rPr lang="en" sz="1500" dirty="0">
                  <a:solidFill>
                    <a:schemeClr val="dk1"/>
                  </a:solidFill>
                  <a:latin typeface="+mn-lt"/>
                  <a:ea typeface="+mn-ea"/>
                  <a:cs typeface="+mn-cs"/>
                </a:rPr>
              </a:br>
              <a:r>
                <a:rPr lang="en" sz="1500" dirty="0">
                  <a:solidFill>
                    <a:schemeClr val="dk1"/>
                  </a:solidFill>
                  <a:latin typeface="+mn-lt"/>
                  <a:ea typeface="+mn-ea"/>
                  <a:cs typeface="+mn-cs"/>
                </a:rPr>
                <a:t xml:space="preserve">by Lemon from </a:t>
              </a:r>
              <a:r>
                <a:rPr lang="en" sz="1420" dirty="0">
                  <a:solidFill>
                    <a:schemeClr val="accent1"/>
                  </a:solidFill>
                  <a:latin typeface="Consolas"/>
                  <a:ea typeface="Consolas"/>
                  <a:cs typeface="Consolas"/>
                </a:rPr>
                <a:t>parse.y</a:t>
              </a:r>
            </a:p>
            <a:p>
              <a:pPr algn="l">
                <a:lnSpc>
                  <a:spcPts val="2100"/>
                </a:lnSpc>
              </a:pPr>
              <a:r>
                <a:rPr lang="en" sz="1500" dirty="0">
                  <a:solidFill>
                    <a:schemeClr val="dk1"/>
                  </a:solidFill>
                  <a:latin typeface="+mn-lt"/>
                  <a:ea typeface="+mn-ea"/>
                  <a:cs typeface="+mn-cs"/>
                </a:rPr>
                <a:t>— reentrant, thread-</a:t>
              </a:r>
              <a:br>
                <a:rPr lang="en" sz="1500" dirty="0">
                  <a:solidFill>
                    <a:schemeClr val="dk1"/>
                  </a:solidFill>
                  <a:latin typeface="+mn-lt"/>
                  <a:ea typeface="+mn-ea"/>
                  <a:cs typeface="+mn-cs"/>
                </a:rPr>
              </a:br>
              <a:r>
                <a:rPr lang="en" sz="1500" dirty="0">
                  <a:solidFill>
                    <a:schemeClr val="dk1"/>
                  </a:solidFill>
                  <a:latin typeface="+mn-lt"/>
                  <a:ea typeface="+mn-ea"/>
                  <a:cs typeface="+mn-cs"/>
                </a:rPr>
                <a:t>safe, no leaks on</a:t>
              </a:r>
              <a:br>
                <a:rPr lang="en" sz="1500" dirty="0">
                  <a:solidFill>
                    <a:schemeClr val="dk1"/>
                  </a:solidFill>
                  <a:latin typeface="+mn-lt"/>
                  <a:ea typeface="+mn-ea"/>
                  <a:cs typeface="+mn-cs"/>
                </a:rPr>
              </a:br>
              <a:r>
                <a:rPr lang="en" sz="1500" dirty="0">
                  <a:solidFill>
                    <a:schemeClr val="dk1"/>
                  </a:solidFill>
                  <a:latin typeface="+mn-lt"/>
                  <a:ea typeface="+mn-ea"/>
                  <a:cs typeface="+mn-cs"/>
                </a:rPr>
                <a:t>syntax errors.</a:t>
              </a:r>
            </a:p>
          </p:txBody>
        </p:sp>
      </p:grpSp>
      <p:grpSp>
        <p:nvGrpSpPr>
          <p:cNvPr id="64" name="stage-codegen"/>
          <p:cNvGrpSpPr/>
          <p:nvPr/>
        </p:nvGrpSpPr>
        <p:grpSpPr>
          <a:xfrm>
            <a:off x="7048500" y="2247900"/>
            <a:ext cx="2247900" cy="2319020"/>
            <a:chOff x="7048500" y="2247900"/>
            <a:chExt cx="2247900" cy="2319020"/>
          </a:xfrm>
        </p:grpSpPr>
        <p:sp>
          <p:nvSpPr>
            <p:cNvPr id="61" name="Freeform 61"/>
            <p:cNvSpPr/>
            <p:nvPr/>
          </p:nvSpPr>
          <p:spPr>
            <a:xfrm>
              <a:off x="7048500" y="2247900"/>
              <a:ext cx="2247900" cy="495300"/>
            </a:xfrm>
            <a:prstGeom prst="chevron">
              <a:avLst/>
            </a:prstGeom>
            <a:solidFill>
              <a:schemeClr val="lt2"/>
            </a:solidFill>
            <a:ln w="14288">
              <a:solidFill>
                <a:schemeClr val="accent2"/>
              </a:solidFill>
            </a:ln>
          </p:spPr>
        </p:sp>
        <p:sp>
          <p:nvSpPr>
            <p:cNvPr id="62" name="TextBox 62"/>
            <p:cNvSpPr txBox="1"/>
            <p:nvPr/>
          </p:nvSpPr>
          <p:spPr>
            <a:xfrm>
              <a:off x="7357457" y="2413000"/>
              <a:ext cx="1629987" cy="220028"/>
            </a:xfrm>
            <a:prstGeom prst="rect">
              <a:avLst/>
            </a:prstGeom>
            <a:noFill/>
            <a:ln>
              <a:noFill/>
            </a:ln>
          </p:spPr>
          <p:txBody>
            <a:bodyPr wrap="none" lIns="0" tIns="0" rIns="0" bIns="0" anchor="t" anchorCtr="0">
              <a:spAutoFit/>
            </a:bodyPr>
            <a:lstStyle/>
            <a:p>
              <a:pPr algn="ctr"/>
              <a:r>
                <a:rPr lang="en" sz="1120" spc="150" dirty="0">
                  <a:solidFill>
                    <a:schemeClr val="accent2"/>
                  </a:solidFill>
                  <a:latin typeface="+mn-lt"/>
                  <a:ea typeface="+mn-ea"/>
                  <a:cs typeface="+mn-cs"/>
                </a:rPr>
                <a:t>CODE GENERATOR</a:t>
              </a:r>
            </a:p>
          </p:txBody>
        </p:sp>
        <p:sp>
          <p:nvSpPr>
            <p:cNvPr id="63" name="TextBox 63"/>
            <p:cNvSpPr txBox="1"/>
            <p:nvPr/>
          </p:nvSpPr>
          <p:spPr>
            <a:xfrm>
              <a:off x="7117080" y="2940050"/>
              <a:ext cx="2000879" cy="1626870"/>
            </a:xfrm>
            <a:prstGeom prst="rect">
              <a:avLst/>
            </a:prstGeom>
            <a:noFill/>
            <a:ln>
              <a:noFill/>
            </a:ln>
          </p:spPr>
          <p:txBody>
            <a:bodyPr wrap="none" lIns="0" tIns="0" rIns="0" bIns="0" anchor="t" anchorCtr="0">
              <a:spAutoFit/>
            </a:bodyPr>
            <a:lstStyle/>
            <a:p>
              <a:pPr algn="l">
                <a:lnSpc>
                  <a:spcPts val="2100"/>
                </a:lnSpc>
              </a:pPr>
              <a:r>
                <a:rPr lang="en" sz="1500" dirty="0">
                  <a:solidFill>
                    <a:schemeClr val="dk1"/>
                  </a:solidFill>
                  <a:latin typeface="+mn-lt"/>
                  <a:ea typeface="+mn-ea"/>
                  <a:cs typeface="+mn-cs"/>
                </a:rPr>
                <a:t>Walks the parse tree</a:t>
              </a:r>
              <a:br>
                <a:rPr lang="en" sz="1500" dirty="0">
                  <a:solidFill>
                    <a:schemeClr val="dk1"/>
                  </a:solidFill>
                  <a:latin typeface="+mn-lt"/>
                  <a:ea typeface="+mn-ea"/>
                  <a:cs typeface="+mn-cs"/>
                </a:rPr>
              </a:br>
              <a:r>
                <a:rPr lang="en" sz="1500" dirty="0">
                  <a:solidFill>
                    <a:schemeClr val="dk1"/>
                  </a:solidFill>
                  <a:latin typeface="+mn-lt"/>
                  <a:ea typeface="+mn-ea"/>
                  <a:cs typeface="+mn-cs"/>
                </a:rPr>
                <a:t>and emits bytecode.</a:t>
              </a:r>
              <a:br>
                <a:rPr lang="en" sz="1500" dirty="0">
                  <a:solidFill>
                    <a:schemeClr val="dk1"/>
                  </a:solidFill>
                  <a:latin typeface="+mn-lt"/>
                  <a:ea typeface="+mn-ea"/>
                  <a:cs typeface="+mn-cs"/>
                </a:rPr>
              </a:br>
              <a:r>
                <a:rPr lang="en" sz="1420" dirty="0">
                  <a:solidFill>
                    <a:schemeClr val="accent1"/>
                  </a:solidFill>
                  <a:latin typeface="Consolas"/>
                  <a:ea typeface="Consolas"/>
                  <a:cs typeface="Consolas"/>
                </a:rPr>
                <a:t>where*.c</a:t>
              </a:r>
              <a:r>
                <a:rPr lang="en" sz="1500" dirty="0">
                  <a:solidFill>
                    <a:schemeClr val="dk1"/>
                  </a:solidFill>
                  <a:latin typeface="+mn-lt"/>
                  <a:ea typeface="+mn-ea"/>
                  <a:cs typeface="+mn-cs"/>
                </a:rPr>
                <a:t xml:space="preserve"> + </a:t>
              </a:r>
              <a:r>
                <a:rPr lang="en" sz="1420" dirty="0">
                  <a:solidFill>
                    <a:schemeClr val="accent1"/>
                  </a:solidFill>
                  <a:latin typeface="Consolas"/>
                  <a:ea typeface="Consolas"/>
                  <a:cs typeface="Consolas"/>
                </a:rPr>
                <a:t>select.c</a:t>
              </a:r>
              <a:br>
                <a:rPr lang="en" sz="1420" dirty="0">
                  <a:solidFill>
                    <a:schemeClr val="accent1"/>
                  </a:solidFill>
                  <a:latin typeface="Consolas"/>
                  <a:ea typeface="Consolas"/>
                  <a:cs typeface="Consolas"/>
                </a:rPr>
              </a:br>
              <a:r>
                <a:rPr lang="en" sz="1500" dirty="0">
                  <a:solidFill>
                    <a:schemeClr val="dk1"/>
                  </a:solidFill>
                  <a:latin typeface="+mn-lt"/>
                  <a:ea typeface="+mn-ea"/>
                  <a:cs typeface="+mn-cs"/>
                </a:rPr>
                <a:t>are the query planner,</a:t>
              </a:r>
              <a:br>
                <a:rPr lang="en" sz="1500" dirty="0">
                  <a:solidFill>
                    <a:schemeClr val="dk1"/>
                  </a:solidFill>
                  <a:latin typeface="+mn-lt"/>
                  <a:ea typeface="+mn-ea"/>
                  <a:cs typeface="+mn-cs"/>
                </a:rPr>
              </a:br>
              <a:r>
                <a:rPr lang="en" sz="1500" dirty="0">
                  <a:solidFill>
                    <a:schemeClr val="dk1"/>
                  </a:solidFill>
                  <a:latin typeface="+mn-lt"/>
                  <a:ea typeface="+mn-ea"/>
                  <a:cs typeface="+mn-cs"/>
                </a:rPr>
                <a:t>picking among possibly</a:t>
              </a:r>
              <a:br>
                <a:rPr lang="en" sz="1500" dirty="0">
                  <a:solidFill>
                    <a:schemeClr val="dk1"/>
                  </a:solidFill>
                  <a:latin typeface="+mn-lt"/>
                  <a:ea typeface="+mn-ea"/>
                  <a:cs typeface="+mn-cs"/>
                </a:rPr>
              </a:br>
              <a:r>
                <a:rPr lang="en" sz="1500" dirty="0">
                  <a:solidFill>
                    <a:schemeClr val="dk1"/>
                  </a:solidFill>
                  <a:latin typeface="+mn-lt"/>
                  <a:ea typeface="+mn-ea"/>
                  <a:cs typeface="+mn-cs"/>
                </a:rPr>
                <a:t>millions of algorithms.</a:t>
              </a:r>
            </a:p>
          </p:txBody>
        </p:sp>
      </p:grpSp>
      <p:grpSp>
        <p:nvGrpSpPr>
          <p:cNvPr id="68" name="stage-vdbe"/>
          <p:cNvGrpSpPr/>
          <p:nvPr/>
        </p:nvGrpSpPr>
        <p:grpSpPr>
          <a:xfrm>
            <a:off x="9334500" y="2247900"/>
            <a:ext cx="2247900" cy="2319020"/>
            <a:chOff x="9334500" y="2247900"/>
            <a:chExt cx="2247900" cy="2319020"/>
          </a:xfrm>
        </p:grpSpPr>
        <p:sp>
          <p:nvSpPr>
            <p:cNvPr id="65" name="Freeform 65"/>
            <p:cNvSpPr/>
            <p:nvPr/>
          </p:nvSpPr>
          <p:spPr>
            <a:xfrm>
              <a:off x="9334500" y="2247900"/>
              <a:ext cx="2247900" cy="495300"/>
            </a:xfrm>
            <a:prstGeom prst="chevron">
              <a:avLst/>
            </a:prstGeom>
            <a:solidFill>
              <a:schemeClr val="lt2"/>
            </a:solidFill>
            <a:ln w="14288">
              <a:solidFill>
                <a:schemeClr val="accent1"/>
              </a:solidFill>
            </a:ln>
          </p:spPr>
        </p:sp>
        <p:sp>
          <p:nvSpPr>
            <p:cNvPr id="66" name="TextBox 66"/>
            <p:cNvSpPr txBox="1"/>
            <p:nvPr/>
          </p:nvSpPr>
          <p:spPr>
            <a:xfrm>
              <a:off x="10229441" y="2413000"/>
              <a:ext cx="458018" cy="220028"/>
            </a:xfrm>
            <a:prstGeom prst="rect">
              <a:avLst/>
            </a:prstGeom>
            <a:noFill/>
            <a:ln>
              <a:noFill/>
            </a:ln>
          </p:spPr>
          <p:txBody>
            <a:bodyPr wrap="none" lIns="0" tIns="0" rIns="0" bIns="0" anchor="t" anchorCtr="0">
              <a:spAutoFit/>
            </a:bodyPr>
            <a:lstStyle/>
            <a:p>
              <a:pPr algn="ctr"/>
              <a:r>
                <a:rPr lang="en" sz="1120" spc="150" dirty="0">
                  <a:solidFill>
                    <a:schemeClr val="accent1"/>
                  </a:solidFill>
                  <a:latin typeface="+mn-lt"/>
                  <a:ea typeface="+mn-ea"/>
                  <a:cs typeface="+mn-cs"/>
                </a:rPr>
                <a:t>VDBE</a:t>
              </a:r>
            </a:p>
          </p:txBody>
        </p:sp>
        <p:sp>
          <p:nvSpPr>
            <p:cNvPr id="67" name="TextBox 67"/>
            <p:cNvSpPr txBox="1"/>
            <p:nvPr/>
          </p:nvSpPr>
          <p:spPr>
            <a:xfrm>
              <a:off x="9403080" y="2940050"/>
              <a:ext cx="1989010" cy="1626870"/>
            </a:xfrm>
            <a:prstGeom prst="rect">
              <a:avLst/>
            </a:prstGeom>
            <a:noFill/>
            <a:ln>
              <a:noFill/>
            </a:ln>
          </p:spPr>
          <p:txBody>
            <a:bodyPr wrap="none" lIns="0" tIns="0" rIns="0" bIns="0" anchor="t" anchorCtr="0">
              <a:spAutoFit/>
            </a:bodyPr>
            <a:lstStyle/>
            <a:p>
              <a:pPr algn="l">
                <a:lnSpc>
                  <a:spcPts val="2100"/>
                </a:lnSpc>
              </a:pPr>
              <a:r>
                <a:rPr lang="en" sz="1420" dirty="0">
                  <a:solidFill>
                    <a:schemeClr val="accent1"/>
                  </a:solidFill>
                  <a:latin typeface="Consolas"/>
                  <a:ea typeface="Consolas"/>
                  <a:cs typeface="Consolas"/>
                </a:rPr>
                <a:t>sqlite3_stmt</a:t>
              </a:r>
              <a:r>
                <a:rPr lang="en" sz="1500" dirty="0">
                  <a:solidFill>
                    <a:schemeClr val="dk1"/>
                  </a:solidFill>
                  <a:latin typeface="+mn-lt"/>
                  <a:ea typeface="+mn-ea"/>
                  <a:cs typeface="+mn-cs"/>
                </a:rPr>
                <a:t xml:space="preserve"> holds</a:t>
              </a:r>
              <a:br>
                <a:rPr lang="en" sz="1500" dirty="0">
                  <a:solidFill>
                    <a:schemeClr val="dk1"/>
                  </a:solidFill>
                  <a:latin typeface="+mn-lt"/>
                  <a:ea typeface="+mn-ea"/>
                  <a:cs typeface="+mn-cs"/>
                </a:rPr>
              </a:br>
              <a:r>
                <a:rPr lang="en" sz="1500" dirty="0">
                  <a:solidFill>
                    <a:schemeClr val="dk1"/>
                  </a:solidFill>
                  <a:latin typeface="+mn-lt"/>
                  <a:ea typeface="+mn-ea"/>
                  <a:cs typeface="+mn-cs"/>
                </a:rPr>
                <a:t>one bytecode program;</a:t>
              </a:r>
              <a:br>
                <a:rPr lang="en" sz="1500" dirty="0">
                  <a:solidFill>
                    <a:schemeClr val="dk1"/>
                  </a:solidFill>
                  <a:latin typeface="+mn-lt"/>
                  <a:ea typeface="+mn-ea"/>
                  <a:cs typeface="+mn-cs"/>
                </a:rPr>
              </a:br>
              <a:r>
                <a:rPr lang="en" sz="1420" dirty="0">
                  <a:solidFill>
                    <a:schemeClr val="accent1"/>
                  </a:solidFill>
                  <a:latin typeface="Consolas"/>
                  <a:ea typeface="Consolas"/>
                  <a:cs typeface="Consolas"/>
                </a:rPr>
                <a:t>sqlite3_step()</a:t>
              </a:r>
              <a:r>
                <a:rPr lang="en" sz="1500" dirty="0">
                  <a:solidFill>
                    <a:schemeClr val="dk1"/>
                  </a:solidFill>
                  <a:latin typeface="+mn-lt"/>
                  <a:ea typeface="+mn-ea"/>
                  <a:cs typeface="+mn-cs"/>
                </a:rPr>
                <a:t xml:space="preserve"> runs</a:t>
              </a:r>
              <a:br>
                <a:rPr lang="en" sz="1500" dirty="0">
                  <a:solidFill>
                    <a:schemeClr val="dk1"/>
                  </a:solidFill>
                  <a:latin typeface="+mn-lt"/>
                  <a:ea typeface="+mn-ea"/>
                  <a:cs typeface="+mn-cs"/>
                </a:rPr>
              </a:br>
              <a:r>
                <a:rPr lang="en" sz="1500" dirty="0">
                  <a:solidFill>
                    <a:schemeClr val="dk1"/>
                  </a:solidFill>
                  <a:latin typeface="+mn-lt"/>
                  <a:ea typeface="+mn-ea"/>
                  <a:cs typeface="+mn-cs"/>
                </a:rPr>
                <a:t>it until done, a row,</a:t>
              </a:r>
              <a:br>
                <a:rPr lang="en" sz="1500" dirty="0">
                  <a:solidFill>
                    <a:schemeClr val="dk1"/>
                  </a:solidFill>
                  <a:latin typeface="+mn-lt"/>
                  <a:ea typeface="+mn-ea"/>
                  <a:cs typeface="+mn-cs"/>
                </a:rPr>
              </a:br>
              <a:r>
                <a:rPr lang="en" sz="1500" dirty="0">
                  <a:solidFill>
                    <a:schemeClr val="dk1"/>
                  </a:solidFill>
                  <a:latin typeface="+mn-lt"/>
                  <a:ea typeface="+mn-ea"/>
                  <a:cs typeface="+mn-cs"/>
                </a:rPr>
                <a:t>a fatal error, or</a:t>
              </a:r>
              <a:br>
                <a:rPr lang="en" sz="1500" dirty="0">
                  <a:solidFill>
                    <a:schemeClr val="dk1"/>
                  </a:solidFill>
                  <a:latin typeface="+mn-lt"/>
                  <a:ea typeface="+mn-ea"/>
                  <a:cs typeface="+mn-cs"/>
                </a:rPr>
              </a:br>
              <a:r>
                <a:rPr lang="en" sz="1500" dirty="0">
                  <a:solidFill>
                    <a:schemeClr val="dk1"/>
                  </a:solidFill>
                  <a:latin typeface="+mn-lt"/>
                  <a:ea typeface="+mn-ea"/>
                  <a:cs typeface="+mn-cs"/>
                </a:rPr>
                <a:t>an interrupt.</a:t>
              </a:r>
            </a:p>
          </p:txBody>
        </p:sp>
      </p:grpSp>
      <p:grpSp>
        <p:nvGrpSpPr>
          <p:cNvPr id="73" name="api-prepare"/>
          <p:cNvGrpSpPr/>
          <p:nvPr/>
        </p:nvGrpSpPr>
        <p:grpSpPr>
          <a:xfrm>
            <a:off x="2533650" y="4819650"/>
            <a:ext cx="6753225" cy="517017"/>
            <a:chOff x="2533650" y="4819650"/>
            <a:chExt cx="6753225" cy="517017"/>
          </a:xfrm>
        </p:grpSpPr>
        <p:sp>
          <p:nvSpPr>
            <p:cNvPr id="69" name="Line 69"/>
            <p:cNvSpPr/>
            <p:nvPr/>
          </p:nvSpPr>
          <p:spPr>
            <a:xfrm>
              <a:off x="2533650" y="4914900"/>
              <a:ext cx="6743700" cy="9525"/>
            </a:xfrm>
            <a:custGeom>
              <a:avLst/>
              <a:gdLst/>
              <a:ahLst/>
              <a:cxnLst/>
              <a:rect l="l" t="t" r="r" b="b"/>
              <a:pathLst>
                <a:path w="6743700" h="9525">
                  <a:moveTo>
                    <a:pt x="0" y="0"/>
                  </a:moveTo>
                  <a:lnTo>
                    <a:pt x="6743700" y="0"/>
                  </a:lnTo>
                </a:path>
              </a:pathLst>
            </a:custGeom>
            <a:noFill/>
            <a:ln w="11906">
              <a:solidFill>
                <a:schemeClr val="accent1"/>
              </a:solidFill>
            </a:ln>
          </p:spPr>
        </p:sp>
        <p:sp>
          <p:nvSpPr>
            <p:cNvPr id="70" name="Line 70"/>
            <p:cNvSpPr/>
            <p:nvPr/>
          </p:nvSpPr>
          <p:spPr>
            <a:xfrm>
              <a:off x="2533650" y="4819650"/>
              <a:ext cx="9525" cy="190500"/>
            </a:xfrm>
            <a:custGeom>
              <a:avLst/>
              <a:gdLst/>
              <a:ahLst/>
              <a:cxnLst/>
              <a:rect l="l" t="t" r="r" b="b"/>
              <a:pathLst>
                <a:path w="9525" h="190500">
                  <a:moveTo>
                    <a:pt x="0" y="0"/>
                  </a:moveTo>
                  <a:lnTo>
                    <a:pt x="0" y="190500"/>
                  </a:lnTo>
                </a:path>
              </a:pathLst>
            </a:custGeom>
            <a:noFill/>
            <a:ln w="11906">
              <a:solidFill>
                <a:schemeClr val="accent1"/>
              </a:solidFill>
            </a:ln>
          </p:spPr>
        </p:sp>
        <p:sp>
          <p:nvSpPr>
            <p:cNvPr id="71" name="Line 71"/>
            <p:cNvSpPr/>
            <p:nvPr/>
          </p:nvSpPr>
          <p:spPr>
            <a:xfrm>
              <a:off x="9277350" y="4819650"/>
              <a:ext cx="9525" cy="190500"/>
            </a:xfrm>
            <a:custGeom>
              <a:avLst/>
              <a:gdLst/>
              <a:ahLst/>
              <a:cxnLst/>
              <a:rect l="l" t="t" r="r" b="b"/>
              <a:pathLst>
                <a:path w="9525" h="190500">
                  <a:moveTo>
                    <a:pt x="0" y="0"/>
                  </a:moveTo>
                  <a:lnTo>
                    <a:pt x="0" y="190500"/>
                  </a:lnTo>
                </a:path>
              </a:pathLst>
            </a:custGeom>
            <a:noFill/>
            <a:ln w="11906">
              <a:solidFill>
                <a:schemeClr val="accent1"/>
              </a:solidFill>
            </a:ln>
          </p:spPr>
        </p:sp>
        <p:sp>
          <p:nvSpPr>
            <p:cNvPr id="72" name="TextBox 72"/>
            <p:cNvSpPr txBox="1"/>
            <p:nvPr/>
          </p:nvSpPr>
          <p:spPr>
            <a:xfrm>
              <a:off x="4477436" y="5086350"/>
              <a:ext cx="2856128" cy="250317"/>
            </a:xfrm>
            <a:prstGeom prst="rect">
              <a:avLst/>
            </a:prstGeom>
            <a:noFill/>
            <a:ln>
              <a:noFill/>
            </a:ln>
          </p:spPr>
          <p:txBody>
            <a:bodyPr wrap="none" lIns="0" tIns="0" rIns="0" bIns="0" anchor="t" anchorCtr="0">
              <a:spAutoFit/>
            </a:bodyPr>
            <a:lstStyle/>
            <a:p>
              <a:pPr algn="ctr"/>
              <a:r>
                <a:rPr lang="en" sz="1280" dirty="0">
                  <a:solidFill>
                    <a:schemeClr val="accent1"/>
                  </a:solidFill>
                  <a:latin typeface="Consolas"/>
                  <a:ea typeface="Consolas"/>
                  <a:cs typeface="Consolas"/>
                </a:rPr>
                <a:t>sqlite3_prepare_v2() · compile</a:t>
              </a:r>
            </a:p>
          </p:txBody>
        </p:sp>
      </p:grpSp>
      <p:grpSp>
        <p:nvGrpSpPr>
          <p:cNvPr id="78" name="api-step"/>
          <p:cNvGrpSpPr/>
          <p:nvPr/>
        </p:nvGrpSpPr>
        <p:grpSpPr>
          <a:xfrm>
            <a:off x="9372600" y="4819650"/>
            <a:ext cx="2200275" cy="517017"/>
            <a:chOff x="9372600" y="4819650"/>
            <a:chExt cx="2200275" cy="517017"/>
          </a:xfrm>
        </p:grpSpPr>
        <p:sp>
          <p:nvSpPr>
            <p:cNvPr id="74" name="Line 74"/>
            <p:cNvSpPr/>
            <p:nvPr/>
          </p:nvSpPr>
          <p:spPr>
            <a:xfrm>
              <a:off x="9372600" y="4914900"/>
              <a:ext cx="2190750" cy="9525"/>
            </a:xfrm>
            <a:custGeom>
              <a:avLst/>
              <a:gdLst/>
              <a:ahLst/>
              <a:cxnLst/>
              <a:rect l="l" t="t" r="r" b="b"/>
              <a:pathLst>
                <a:path w="2190750" h="9525">
                  <a:moveTo>
                    <a:pt x="0" y="0"/>
                  </a:moveTo>
                  <a:lnTo>
                    <a:pt x="2190750" y="0"/>
                  </a:lnTo>
                </a:path>
              </a:pathLst>
            </a:custGeom>
            <a:noFill/>
            <a:ln w="11906">
              <a:solidFill>
                <a:schemeClr val="accent2"/>
              </a:solidFill>
            </a:ln>
          </p:spPr>
        </p:sp>
        <p:sp>
          <p:nvSpPr>
            <p:cNvPr id="75" name="Line 75"/>
            <p:cNvSpPr/>
            <p:nvPr/>
          </p:nvSpPr>
          <p:spPr>
            <a:xfrm>
              <a:off x="9372600" y="4819650"/>
              <a:ext cx="9525" cy="190500"/>
            </a:xfrm>
            <a:custGeom>
              <a:avLst/>
              <a:gdLst/>
              <a:ahLst/>
              <a:cxnLst/>
              <a:rect l="l" t="t" r="r" b="b"/>
              <a:pathLst>
                <a:path w="9525" h="190500">
                  <a:moveTo>
                    <a:pt x="0" y="0"/>
                  </a:moveTo>
                  <a:lnTo>
                    <a:pt x="0" y="190500"/>
                  </a:lnTo>
                </a:path>
              </a:pathLst>
            </a:custGeom>
            <a:noFill/>
            <a:ln w="11906">
              <a:solidFill>
                <a:schemeClr val="accent2"/>
              </a:solidFill>
            </a:ln>
          </p:spPr>
        </p:sp>
        <p:sp>
          <p:nvSpPr>
            <p:cNvPr id="76" name="Line 76"/>
            <p:cNvSpPr/>
            <p:nvPr/>
          </p:nvSpPr>
          <p:spPr>
            <a:xfrm>
              <a:off x="11563350" y="4819650"/>
              <a:ext cx="9525" cy="190500"/>
            </a:xfrm>
            <a:custGeom>
              <a:avLst/>
              <a:gdLst/>
              <a:ahLst/>
              <a:cxnLst/>
              <a:rect l="l" t="t" r="r" b="b"/>
              <a:pathLst>
                <a:path w="9525" h="190500">
                  <a:moveTo>
                    <a:pt x="0" y="0"/>
                  </a:moveTo>
                  <a:lnTo>
                    <a:pt x="0" y="190500"/>
                  </a:lnTo>
                </a:path>
              </a:pathLst>
            </a:custGeom>
            <a:noFill/>
            <a:ln w="11906">
              <a:solidFill>
                <a:schemeClr val="accent2"/>
              </a:solidFill>
            </a:ln>
          </p:spPr>
        </p:sp>
        <p:sp>
          <p:nvSpPr>
            <p:cNvPr id="77" name="TextBox 77"/>
            <p:cNvSpPr txBox="1"/>
            <p:nvPr/>
          </p:nvSpPr>
          <p:spPr>
            <a:xfrm>
              <a:off x="9513773" y="5086350"/>
              <a:ext cx="1908404" cy="250317"/>
            </a:xfrm>
            <a:prstGeom prst="rect">
              <a:avLst/>
            </a:prstGeom>
            <a:noFill/>
            <a:ln>
              <a:noFill/>
            </a:ln>
          </p:spPr>
          <p:txBody>
            <a:bodyPr wrap="none" lIns="0" tIns="0" rIns="0" bIns="0" anchor="t" anchorCtr="0">
              <a:spAutoFit/>
            </a:bodyPr>
            <a:lstStyle/>
            <a:p>
              <a:pPr algn="ctr"/>
              <a:r>
                <a:rPr lang="en" sz="1280" dirty="0">
                  <a:solidFill>
                    <a:schemeClr val="accent2"/>
                  </a:solidFill>
                  <a:latin typeface="Consolas"/>
                  <a:ea typeface="Consolas"/>
                  <a:cs typeface="Consolas"/>
                </a:rPr>
                <a:t>sqlite3_step() · run</a:t>
              </a:r>
            </a:p>
          </p:txBody>
        </p:sp>
      </p:grpSp>
      <p:grpSp>
        <p:nvGrpSpPr>
          <p:cNvPr id="81" name="tokenizer-inversion"/>
          <p:cNvGrpSpPr/>
          <p:nvPr/>
        </p:nvGrpSpPr>
        <p:grpSpPr>
          <a:xfrm>
            <a:off x="2508504" y="5562600"/>
            <a:ext cx="3540927" cy="463296"/>
            <a:chOff x="2508504" y="5562600"/>
            <a:chExt cx="3540927" cy="463296"/>
          </a:xfrm>
        </p:grpSpPr>
        <p:sp>
          <p:nvSpPr>
            <p:cNvPr id="79" name="TextBox 79"/>
            <p:cNvSpPr txBox="1"/>
            <p:nvPr/>
          </p:nvSpPr>
          <p:spPr>
            <a:xfrm>
              <a:off x="2508504" y="5562600"/>
              <a:ext cx="354092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YACC/BISON habit: the parser calls the tokenizer.</a:t>
              </a:r>
            </a:p>
          </p:txBody>
        </p:sp>
        <p:sp>
          <p:nvSpPr>
            <p:cNvPr id="80" name="TextBox 80"/>
            <p:cNvSpPr txBox="1"/>
            <p:nvPr/>
          </p:nvSpPr>
          <p:spPr>
            <a:xfrm>
              <a:off x="2508504" y="5791200"/>
              <a:ext cx="345188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SQLite inverts it: </a:t>
              </a:r>
              <a:r>
                <a:rPr lang="en" sz="1200" b="1" dirty="0">
                  <a:solidFill>
                    <a:schemeClr val="accent2"/>
                  </a:solidFill>
                  <a:latin typeface="+mn-lt"/>
                  <a:ea typeface="+mn-ea"/>
                  <a:cs typeface="+mn-cs"/>
                </a:rPr>
                <a:t>the tokenizer calls the parser.</a:t>
              </a:r>
            </a:p>
          </p:txBody>
        </p:sp>
      </p:grpSp>
      <p:grpSp>
        <p:nvGrpSpPr>
          <p:cNvPr id="86" name="title-block"/>
          <p:cNvGrpSpPr/>
          <p:nvPr/>
        </p:nvGrpSpPr>
        <p:grpSpPr>
          <a:xfrm>
            <a:off x="8382000" y="6229350"/>
            <a:ext cx="3200400" cy="285750"/>
            <a:chOff x="8382000" y="6229350"/>
            <a:chExt cx="3200400" cy="285750"/>
          </a:xfrm>
        </p:grpSpPr>
        <p:sp>
          <p:nvSpPr>
            <p:cNvPr id="82" name="Rectangle 82"/>
            <p:cNvSpPr/>
            <p:nvPr/>
          </p:nvSpPr>
          <p:spPr>
            <a:xfrm>
              <a:off x="8382000" y="6229350"/>
              <a:ext cx="3200400" cy="285750"/>
            </a:xfrm>
            <a:prstGeom prst="rect">
              <a:avLst/>
            </a:prstGeom>
            <a:solidFill>
              <a:schemeClr val="lt2"/>
            </a:solidFill>
            <a:ln w="9525">
              <a:solidFill>
                <a:schemeClr val="accent6"/>
              </a:solidFill>
            </a:ln>
          </p:spPr>
        </p:sp>
        <p:sp>
          <p:nvSpPr>
            <p:cNvPr id="83" name="Line 83"/>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84" name="TextBox 84"/>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05/12</a:t>
              </a:r>
            </a:p>
          </p:txBody>
        </p:sp>
        <p:sp>
          <p:nvSpPr>
            <p:cNvPr id="85" name="TextBox 85"/>
            <p:cNvSpPr txBox="1"/>
            <p:nvPr/>
          </p:nvSpPr>
          <p:spPr>
            <a:xfrm>
              <a:off x="9367647" y="6292850"/>
              <a:ext cx="1317115"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sqlite.org/arch</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400"/>
                                        <p:tgtEl>
                                          <p:spTgt spid="52"/>
                                        </p:tgtEl>
                                      </p:cBhvr>
                                    </p:animEffect>
                                  </p:childTnLst>
                                </p:cTn>
                              </p:par>
                            </p:childTnLst>
                          </p:cTn>
                        </p:par>
                        <p:par>
                          <p:cTn id="8" fill="hold">
                            <p:stCondLst>
                              <p:cond delay="400"/>
                            </p:stCondLst>
                            <p:childTnLst>
                              <p:par>
                                <p:cTn id="9" presetID="22" presetClass="entr" presetSubtype="2" fill="hold" grpId="0" nodeType="afterEffect">
                                  <p:stCondLst>
                                    <p:cond delay="500"/>
                                  </p:stCondLst>
                                  <p:childTnLst>
                                    <p:set>
                                      <p:cBhvr>
                                        <p:cTn id="10" dur="1" fill="hold">
                                          <p:stCondLst>
                                            <p:cond delay="0"/>
                                          </p:stCondLst>
                                        </p:cTn>
                                        <p:tgtEl>
                                          <p:spTgt spid="56"/>
                                        </p:tgtEl>
                                        <p:attrNameLst>
                                          <p:attrName>style.visibility</p:attrName>
                                        </p:attrNameLst>
                                      </p:cBhvr>
                                      <p:to>
                                        <p:strVal val="visible"/>
                                      </p:to>
                                    </p:set>
                                    <p:animEffect transition="in" filter="wipe(right)">
                                      <p:cBhvr>
                                        <p:cTn id="11" dur="500"/>
                                        <p:tgtEl>
                                          <p:spTgt spid="56"/>
                                        </p:tgtEl>
                                      </p:cBhvr>
                                    </p:animEffect>
                                  </p:childTnLst>
                                </p:cTn>
                              </p:par>
                            </p:childTnLst>
                          </p:cTn>
                        </p:par>
                        <p:par>
                          <p:cTn id="12" fill="hold">
                            <p:stCondLst>
                              <p:cond delay="1400"/>
                            </p:stCondLst>
                            <p:childTnLst>
                              <p:par>
                                <p:cTn id="13" presetID="22" presetClass="entr" presetSubtype="2" fill="hold" grpId="0" nodeType="afterEffect">
                                  <p:stCondLst>
                                    <p:cond delay="500"/>
                                  </p:stCondLst>
                                  <p:childTnLst>
                                    <p:set>
                                      <p:cBhvr>
                                        <p:cTn id="14" dur="1" fill="hold">
                                          <p:stCondLst>
                                            <p:cond delay="0"/>
                                          </p:stCondLst>
                                        </p:cTn>
                                        <p:tgtEl>
                                          <p:spTgt spid="60"/>
                                        </p:tgtEl>
                                        <p:attrNameLst>
                                          <p:attrName>style.visibility</p:attrName>
                                        </p:attrNameLst>
                                      </p:cBhvr>
                                      <p:to>
                                        <p:strVal val="visible"/>
                                      </p:to>
                                    </p:set>
                                    <p:animEffect transition="in" filter="wipe(right)">
                                      <p:cBhvr>
                                        <p:cTn id="15" dur="500"/>
                                        <p:tgtEl>
                                          <p:spTgt spid="60"/>
                                        </p:tgtEl>
                                      </p:cBhvr>
                                    </p:animEffect>
                                  </p:childTnLst>
                                </p:cTn>
                              </p:par>
                            </p:childTnLst>
                          </p:cTn>
                        </p:par>
                        <p:par>
                          <p:cTn id="16" fill="hold">
                            <p:stCondLst>
                              <p:cond delay="2400"/>
                            </p:stCondLst>
                            <p:childTnLst>
                              <p:par>
                                <p:cTn id="17" presetID="22" presetClass="entr" presetSubtype="2" fill="hold" grpId="0" nodeType="afterEffect">
                                  <p:stCondLst>
                                    <p:cond delay="500"/>
                                  </p:stCondLst>
                                  <p:childTnLst>
                                    <p:set>
                                      <p:cBhvr>
                                        <p:cTn id="18" dur="1" fill="hold">
                                          <p:stCondLst>
                                            <p:cond delay="0"/>
                                          </p:stCondLst>
                                        </p:cTn>
                                        <p:tgtEl>
                                          <p:spTgt spid="64"/>
                                        </p:tgtEl>
                                        <p:attrNameLst>
                                          <p:attrName>style.visibility</p:attrName>
                                        </p:attrNameLst>
                                      </p:cBhvr>
                                      <p:to>
                                        <p:strVal val="visible"/>
                                      </p:to>
                                    </p:set>
                                    <p:animEffect transition="in" filter="wipe(right)">
                                      <p:cBhvr>
                                        <p:cTn id="19" dur="500"/>
                                        <p:tgtEl>
                                          <p:spTgt spid="64"/>
                                        </p:tgtEl>
                                      </p:cBhvr>
                                    </p:animEffect>
                                  </p:childTnLst>
                                </p:cTn>
                              </p:par>
                            </p:childTnLst>
                          </p:cTn>
                        </p:par>
                        <p:par>
                          <p:cTn id="20" fill="hold">
                            <p:stCondLst>
                              <p:cond delay="3400"/>
                            </p:stCondLst>
                            <p:childTnLst>
                              <p:par>
                                <p:cTn id="21" presetID="22" presetClass="entr" presetSubtype="2" fill="hold" grpId="0" nodeType="afterEffect">
                                  <p:stCondLst>
                                    <p:cond delay="500"/>
                                  </p:stCondLst>
                                  <p:childTnLst>
                                    <p:set>
                                      <p:cBhvr>
                                        <p:cTn id="22" dur="1" fill="hold">
                                          <p:stCondLst>
                                            <p:cond delay="0"/>
                                          </p:stCondLst>
                                        </p:cTn>
                                        <p:tgtEl>
                                          <p:spTgt spid="68"/>
                                        </p:tgtEl>
                                        <p:attrNameLst>
                                          <p:attrName>style.visibility</p:attrName>
                                        </p:attrNameLst>
                                      </p:cBhvr>
                                      <p:to>
                                        <p:strVal val="visible"/>
                                      </p:to>
                                    </p:set>
                                    <p:animEffect transition="in" filter="wipe(right)">
                                      <p:cBhvr>
                                        <p:cTn id="23" dur="500"/>
                                        <p:tgtEl>
                                          <p:spTgt spid="68"/>
                                        </p:tgtEl>
                                      </p:cBhvr>
                                    </p:animEffect>
                                  </p:childTnLst>
                                </p:cTn>
                              </p:par>
                            </p:childTnLst>
                          </p:cTn>
                        </p:par>
                        <p:par>
                          <p:cTn id="24" fill="hold">
                            <p:stCondLst>
                              <p:cond delay="4400"/>
                            </p:stCondLst>
                            <p:childTnLst>
                              <p:par>
                                <p:cTn id="25" presetID="10" presetClass="entr" presetSubtype="0" fill="hold" grpId="0" nodeType="afterEffect">
                                  <p:stCondLst>
                                    <p:cond delay="500"/>
                                  </p:stCondLst>
                                  <p:childTnLst>
                                    <p:set>
                                      <p:cBhvr>
                                        <p:cTn id="26" dur="1" fill="hold">
                                          <p:stCondLst>
                                            <p:cond delay="0"/>
                                          </p:stCondLst>
                                        </p:cTn>
                                        <p:tgtEl>
                                          <p:spTgt spid="73"/>
                                        </p:tgtEl>
                                        <p:attrNameLst>
                                          <p:attrName>style.visibility</p:attrName>
                                        </p:attrNameLst>
                                      </p:cBhvr>
                                      <p:to>
                                        <p:strVal val="visible"/>
                                      </p:to>
                                    </p:set>
                                    <p:animEffect transition="in" filter="fade">
                                      <p:cBhvr>
                                        <p:cTn id="27" dur="400"/>
                                        <p:tgtEl>
                                          <p:spTgt spid="73"/>
                                        </p:tgtEl>
                                      </p:cBhvr>
                                    </p:animEffect>
                                  </p:childTnLst>
                                </p:cTn>
                              </p:par>
                            </p:childTnLst>
                          </p:cTn>
                        </p:par>
                        <p:par>
                          <p:cTn id="28" fill="hold">
                            <p:stCondLst>
                              <p:cond delay="5300"/>
                            </p:stCondLst>
                            <p:childTnLst>
                              <p:par>
                                <p:cTn id="29" presetID="10" presetClass="entr" presetSubtype="0" fill="hold" grpId="0" nodeType="afterEffect">
                                  <p:stCondLst>
                                    <p:cond delay="500"/>
                                  </p:stCondLst>
                                  <p:childTnLst>
                                    <p:set>
                                      <p:cBhvr>
                                        <p:cTn id="30" dur="1" fill="hold">
                                          <p:stCondLst>
                                            <p:cond delay="0"/>
                                          </p:stCondLst>
                                        </p:cTn>
                                        <p:tgtEl>
                                          <p:spTgt spid="78"/>
                                        </p:tgtEl>
                                        <p:attrNameLst>
                                          <p:attrName>style.visibility</p:attrName>
                                        </p:attrNameLst>
                                      </p:cBhvr>
                                      <p:to>
                                        <p:strVal val="visible"/>
                                      </p:to>
                                    </p:set>
                                    <p:animEffect transition="in" filter="fade">
                                      <p:cBhvr>
                                        <p:cTn id="31" dur="400"/>
                                        <p:tgtEl>
                                          <p:spTgt spid="78"/>
                                        </p:tgtEl>
                                      </p:cBhvr>
                                    </p:animEffect>
                                  </p:childTnLst>
                                </p:cTn>
                              </p:par>
                            </p:childTnLst>
                          </p:cTn>
                        </p:par>
                        <p:par>
                          <p:cTn id="32" fill="hold">
                            <p:stCondLst>
                              <p:cond delay="6200"/>
                            </p:stCondLst>
                            <p:childTnLst>
                              <p:par>
                                <p:cTn id="33" presetID="10" presetClass="entr" presetSubtype="0" fill="hold" grpId="0" nodeType="afterEffect">
                                  <p:stCondLst>
                                    <p:cond delay="500"/>
                                  </p:stCondLst>
                                  <p:childTnLst>
                                    <p:set>
                                      <p:cBhvr>
                                        <p:cTn id="34" dur="1" fill="hold">
                                          <p:stCondLst>
                                            <p:cond delay="0"/>
                                          </p:stCondLst>
                                        </p:cTn>
                                        <p:tgtEl>
                                          <p:spTgt spid="81"/>
                                        </p:tgtEl>
                                        <p:attrNameLst>
                                          <p:attrName>style.visibility</p:attrName>
                                        </p:attrNameLst>
                                      </p:cBhvr>
                                      <p:to>
                                        <p:strVal val="visible"/>
                                      </p:to>
                                    </p:set>
                                    <p:animEffect transition="in" filter="fade">
                                      <p:cBhvr>
                                        <p:cTn id="35" dur="4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10439810" cy="815340"/>
            <a:chOff x="594360" y="603250"/>
            <a:chExt cx="10439810" cy="815340"/>
          </a:xfrm>
        </p:grpSpPr>
        <p:sp>
          <p:nvSpPr>
            <p:cNvPr id="18" name="TextBox 18"/>
            <p:cNvSpPr txBox="1"/>
            <p:nvPr/>
          </p:nvSpPr>
          <p:spPr>
            <a:xfrm>
              <a:off x="603885" y="603250"/>
              <a:ext cx="4910624"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05 · HOW IT WORKS — STORAGE PATH (LAYERS 06–08)</a:t>
              </a:r>
            </a:p>
          </p:txBody>
        </p:sp>
        <p:sp>
          <p:nvSpPr>
            <p:cNvPr id="19" name="TextBox 19"/>
            <p:cNvSpPr txBox="1"/>
            <p:nvPr/>
          </p:nvSpPr>
          <p:spPr>
            <a:xfrm>
              <a:off x="594360" y="831850"/>
              <a:ext cx="10439810"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Down the stack: one file, many B-trees, fixed pages</a:t>
              </a:r>
            </a:p>
          </p:txBody>
        </p:sp>
      </p:grpSp>
      <p:grpSp>
        <p:nvGrpSpPr>
          <p:cNvPr id="48" name="!!stack-rail"/>
          <p:cNvGrpSpPr/>
          <p:nvPr/>
        </p:nvGrpSpPr>
        <p:grpSpPr>
          <a:xfrm>
            <a:off x="609600" y="1600200"/>
            <a:ext cx="1524000" cy="4038600"/>
            <a:chOff x="609600" y="1600200"/>
            <a:chExt cx="1524000" cy="4038600"/>
          </a:xfrm>
        </p:grpSpPr>
        <p:grpSp>
          <p:nvGrpSpPr>
            <p:cNvPr id="29" name="Group 29"/>
            <p:cNvGrpSpPr/>
            <p:nvPr/>
          </p:nvGrpSpPr>
          <p:grpSpPr>
            <a:xfrm>
              <a:off x="609600" y="1600200"/>
              <a:ext cx="1524000" cy="4038600"/>
              <a:chOff x="609600" y="1600200"/>
              <a:chExt cx="1524000" cy="4038600"/>
            </a:xfrm>
          </p:grpSpPr>
          <p:sp>
            <p:nvSpPr>
              <p:cNvPr id="21" name="Rectangle 21"/>
              <p:cNvSpPr/>
              <p:nvPr/>
            </p:nvSpPr>
            <p:spPr>
              <a:xfrm>
                <a:off x="609600" y="1600200"/>
                <a:ext cx="1524000" cy="438150"/>
              </a:xfrm>
              <a:prstGeom prst="roundRect">
                <a:avLst>
                  <a:gd name="adj" fmla="val 4348"/>
                </a:avLst>
              </a:prstGeom>
              <a:solidFill>
                <a:schemeClr val="lt2"/>
              </a:solidFill>
              <a:ln w="14288">
                <a:solidFill>
                  <a:schemeClr val="accent1"/>
                </a:solidFill>
              </a:ln>
            </p:spPr>
          </p:sp>
          <p:sp>
            <p:nvSpPr>
              <p:cNvPr id="22" name="Rectangle 22"/>
              <p:cNvSpPr/>
              <p:nvPr/>
            </p:nvSpPr>
            <p:spPr>
              <a:xfrm>
                <a:off x="609600" y="2114550"/>
                <a:ext cx="1524000" cy="438150"/>
              </a:xfrm>
              <a:prstGeom prst="roundRect">
                <a:avLst>
                  <a:gd name="adj" fmla="val 4348"/>
                </a:avLst>
              </a:prstGeom>
              <a:solidFill>
                <a:schemeClr val="lt2"/>
              </a:solidFill>
              <a:ln w="14288">
                <a:solidFill>
                  <a:schemeClr val="accent1"/>
                </a:solidFill>
              </a:ln>
            </p:spPr>
          </p:sp>
          <p:sp>
            <p:nvSpPr>
              <p:cNvPr id="23" name="Rectangle 23"/>
              <p:cNvSpPr/>
              <p:nvPr/>
            </p:nvSpPr>
            <p:spPr>
              <a:xfrm>
                <a:off x="609600" y="2628900"/>
                <a:ext cx="1524000" cy="438150"/>
              </a:xfrm>
              <a:prstGeom prst="roundRect">
                <a:avLst>
                  <a:gd name="adj" fmla="val 4348"/>
                </a:avLst>
              </a:prstGeom>
              <a:solidFill>
                <a:schemeClr val="lt2"/>
              </a:solidFill>
              <a:ln w="14288">
                <a:solidFill>
                  <a:schemeClr val="accent1"/>
                </a:solidFill>
              </a:ln>
            </p:spPr>
          </p:sp>
          <p:sp>
            <p:nvSpPr>
              <p:cNvPr id="24" name="Rectangle 24"/>
              <p:cNvSpPr/>
              <p:nvPr/>
            </p:nvSpPr>
            <p:spPr>
              <a:xfrm>
                <a:off x="609600" y="3143250"/>
                <a:ext cx="1524000" cy="438150"/>
              </a:xfrm>
              <a:prstGeom prst="roundRect">
                <a:avLst>
                  <a:gd name="adj" fmla="val 4348"/>
                </a:avLst>
              </a:prstGeom>
              <a:solidFill>
                <a:schemeClr val="lt2"/>
              </a:solidFill>
              <a:ln w="14288">
                <a:solidFill>
                  <a:schemeClr val="accent1"/>
                </a:solidFill>
              </a:ln>
            </p:spPr>
          </p:sp>
          <p:sp>
            <p:nvSpPr>
              <p:cNvPr id="25" name="Rectangle 25"/>
              <p:cNvSpPr/>
              <p:nvPr/>
            </p:nvSpPr>
            <p:spPr>
              <a:xfrm>
                <a:off x="609600" y="3657600"/>
                <a:ext cx="1524000" cy="438150"/>
              </a:xfrm>
              <a:prstGeom prst="roundRect">
                <a:avLst>
                  <a:gd name="adj" fmla="val 4348"/>
                </a:avLst>
              </a:prstGeom>
              <a:solidFill>
                <a:schemeClr val="lt2"/>
              </a:solidFill>
              <a:ln w="14288">
                <a:solidFill>
                  <a:schemeClr val="accent1"/>
                </a:solidFill>
              </a:ln>
            </p:spPr>
          </p:sp>
          <p:sp>
            <p:nvSpPr>
              <p:cNvPr id="26" name="Rectangle 26"/>
              <p:cNvSpPr/>
              <p:nvPr/>
            </p:nvSpPr>
            <p:spPr>
              <a:xfrm>
                <a:off x="609600" y="4171950"/>
                <a:ext cx="1524000" cy="438150"/>
              </a:xfrm>
              <a:prstGeom prst="roundRect">
                <a:avLst>
                  <a:gd name="adj" fmla="val 4348"/>
                </a:avLst>
              </a:prstGeom>
              <a:solidFill>
                <a:schemeClr val="lt2"/>
              </a:solidFill>
              <a:ln w="14288">
                <a:solidFill>
                  <a:schemeClr val="accent2"/>
                </a:solidFill>
              </a:ln>
            </p:spPr>
          </p:sp>
          <p:sp>
            <p:nvSpPr>
              <p:cNvPr id="27" name="Rectangle 27"/>
              <p:cNvSpPr/>
              <p:nvPr/>
            </p:nvSpPr>
            <p:spPr>
              <a:xfrm>
                <a:off x="609600" y="4686300"/>
                <a:ext cx="1524000" cy="438150"/>
              </a:xfrm>
              <a:prstGeom prst="roundRect">
                <a:avLst>
                  <a:gd name="adj" fmla="val 4348"/>
                </a:avLst>
              </a:prstGeom>
              <a:solidFill>
                <a:schemeClr val="lt2"/>
              </a:solidFill>
              <a:ln w="14288">
                <a:solidFill>
                  <a:schemeClr val="accent2"/>
                </a:solidFill>
              </a:ln>
            </p:spPr>
          </p:sp>
          <p:sp>
            <p:nvSpPr>
              <p:cNvPr id="28" name="Rectangle 28"/>
              <p:cNvSpPr/>
              <p:nvPr/>
            </p:nvSpPr>
            <p:spPr>
              <a:xfrm>
                <a:off x="609600" y="5200650"/>
                <a:ext cx="1524000" cy="438150"/>
              </a:xfrm>
              <a:prstGeom prst="roundRect">
                <a:avLst>
                  <a:gd name="adj" fmla="val 4348"/>
                </a:avLst>
              </a:prstGeom>
              <a:solidFill>
                <a:schemeClr val="lt2"/>
              </a:solidFill>
              <a:ln w="14288">
                <a:solidFill>
                  <a:schemeClr val="accent2"/>
                </a:solidFill>
              </a:ln>
            </p:spPr>
          </p:sp>
        </p:grpSp>
        <p:grpSp>
          <p:nvGrpSpPr>
            <p:cNvPr id="38" name="Group 38"/>
            <p:cNvGrpSpPr/>
            <p:nvPr/>
          </p:nvGrpSpPr>
          <p:grpSpPr>
            <a:xfrm>
              <a:off x="984504" y="1724025"/>
              <a:ext cx="728850" cy="3835146"/>
              <a:chOff x="984504" y="1724025"/>
              <a:chExt cx="728850" cy="3835146"/>
            </a:xfrm>
          </p:grpSpPr>
          <p:sp>
            <p:nvSpPr>
              <p:cNvPr id="30" name="TextBox 30"/>
              <p:cNvSpPr txBox="1"/>
              <p:nvPr/>
            </p:nvSpPr>
            <p:spPr>
              <a:xfrm>
                <a:off x="984504" y="1724025"/>
                <a:ext cx="637772"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Interface</a:t>
                </a:r>
              </a:p>
            </p:txBody>
          </p:sp>
          <p:sp>
            <p:nvSpPr>
              <p:cNvPr id="31" name="TextBox 31"/>
              <p:cNvSpPr txBox="1"/>
              <p:nvPr/>
            </p:nvSpPr>
            <p:spPr>
              <a:xfrm>
                <a:off x="984504" y="2238375"/>
                <a:ext cx="70484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Tokenizer</a:t>
                </a:r>
              </a:p>
            </p:txBody>
          </p:sp>
          <p:sp>
            <p:nvSpPr>
              <p:cNvPr id="32" name="TextBox 32"/>
              <p:cNvSpPr txBox="1"/>
              <p:nvPr/>
            </p:nvSpPr>
            <p:spPr>
              <a:xfrm>
                <a:off x="984504" y="2752725"/>
                <a:ext cx="45436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Parser</a:t>
                </a:r>
              </a:p>
            </p:txBody>
          </p:sp>
          <p:sp>
            <p:nvSpPr>
              <p:cNvPr id="33" name="TextBox 33"/>
              <p:cNvSpPr txBox="1"/>
              <p:nvPr/>
            </p:nvSpPr>
            <p:spPr>
              <a:xfrm>
                <a:off x="984504" y="3267075"/>
                <a:ext cx="728850"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Code Gen</a:t>
                </a:r>
              </a:p>
            </p:txBody>
          </p:sp>
          <p:sp>
            <p:nvSpPr>
              <p:cNvPr id="34" name="TextBox 34"/>
              <p:cNvSpPr txBox="1"/>
              <p:nvPr/>
            </p:nvSpPr>
            <p:spPr>
              <a:xfrm>
                <a:off x="984504" y="3781425"/>
                <a:ext cx="42209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VDBE</a:t>
                </a:r>
              </a:p>
            </p:txBody>
          </p:sp>
          <p:sp>
            <p:nvSpPr>
              <p:cNvPr id="35" name="TextBox 35"/>
              <p:cNvSpPr txBox="1"/>
              <p:nvPr/>
            </p:nvSpPr>
            <p:spPr>
              <a:xfrm>
                <a:off x="984504" y="4295775"/>
                <a:ext cx="454246"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B-tree</a:t>
                </a:r>
              </a:p>
            </p:txBody>
          </p:sp>
          <p:sp>
            <p:nvSpPr>
              <p:cNvPr id="36" name="TextBox 36"/>
              <p:cNvSpPr txBox="1"/>
              <p:nvPr/>
            </p:nvSpPr>
            <p:spPr>
              <a:xfrm>
                <a:off x="984504" y="4810125"/>
                <a:ext cx="42528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Pager</a:t>
                </a:r>
              </a:p>
            </p:txBody>
          </p:sp>
          <p:sp>
            <p:nvSpPr>
              <p:cNvPr id="37" name="TextBox 37"/>
              <p:cNvSpPr txBox="1"/>
              <p:nvPr/>
            </p:nvSpPr>
            <p:spPr>
              <a:xfrm>
                <a:off x="984504" y="5324475"/>
                <a:ext cx="292223"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VFS</a:t>
                </a:r>
              </a:p>
            </p:txBody>
          </p:sp>
        </p:grpSp>
        <p:grpSp>
          <p:nvGrpSpPr>
            <p:cNvPr id="47" name="Group 47"/>
            <p:cNvGrpSpPr/>
            <p:nvPr/>
          </p:nvGrpSpPr>
          <p:grpSpPr>
            <a:xfrm>
              <a:off x="699135" y="1736725"/>
              <a:ext cx="177282" cy="3820478"/>
              <a:chOff x="699135" y="1736725"/>
              <a:chExt cx="177282" cy="3820478"/>
            </a:xfrm>
          </p:grpSpPr>
          <p:sp>
            <p:nvSpPr>
              <p:cNvPr id="39" name="TextBox 39"/>
              <p:cNvSpPr txBox="1"/>
              <p:nvPr/>
            </p:nvSpPr>
            <p:spPr>
              <a:xfrm>
                <a:off x="699135" y="173672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01</a:t>
                </a:r>
              </a:p>
            </p:txBody>
          </p:sp>
          <p:sp>
            <p:nvSpPr>
              <p:cNvPr id="40" name="TextBox 40"/>
              <p:cNvSpPr txBox="1"/>
              <p:nvPr/>
            </p:nvSpPr>
            <p:spPr>
              <a:xfrm>
                <a:off x="699135" y="225107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02</a:t>
                </a:r>
              </a:p>
            </p:txBody>
          </p:sp>
          <p:sp>
            <p:nvSpPr>
              <p:cNvPr id="41" name="TextBox 41"/>
              <p:cNvSpPr txBox="1"/>
              <p:nvPr/>
            </p:nvSpPr>
            <p:spPr>
              <a:xfrm>
                <a:off x="699135" y="276542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03</a:t>
                </a:r>
              </a:p>
            </p:txBody>
          </p:sp>
          <p:sp>
            <p:nvSpPr>
              <p:cNvPr id="42" name="TextBox 42"/>
              <p:cNvSpPr txBox="1"/>
              <p:nvPr/>
            </p:nvSpPr>
            <p:spPr>
              <a:xfrm>
                <a:off x="699135" y="327977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04</a:t>
                </a:r>
              </a:p>
            </p:txBody>
          </p:sp>
          <p:sp>
            <p:nvSpPr>
              <p:cNvPr id="43" name="TextBox 43"/>
              <p:cNvSpPr txBox="1"/>
              <p:nvPr/>
            </p:nvSpPr>
            <p:spPr>
              <a:xfrm>
                <a:off x="699135" y="3794125"/>
                <a:ext cx="177282" cy="220028"/>
              </a:xfrm>
              <a:prstGeom prst="rect">
                <a:avLst/>
              </a:prstGeom>
              <a:noFill/>
              <a:ln>
                <a:noFill/>
              </a:ln>
            </p:spPr>
            <p:txBody>
              <a:bodyPr wrap="none" lIns="0" tIns="0" rIns="0" bIns="0" anchor="t" anchorCtr="0">
                <a:spAutoFit/>
              </a:bodyPr>
              <a:lstStyle/>
              <a:p>
                <a:pPr algn="l"/>
                <a:r>
                  <a:rPr lang="en" sz="1120" dirty="0">
                    <a:solidFill>
                      <a:schemeClr val="accent1"/>
                    </a:solidFill>
                    <a:latin typeface="Consolas"/>
                    <a:ea typeface="Consolas"/>
                    <a:cs typeface="Consolas"/>
                  </a:rPr>
                  <a:t>05</a:t>
                </a:r>
              </a:p>
            </p:txBody>
          </p:sp>
          <p:sp>
            <p:nvSpPr>
              <p:cNvPr id="44" name="TextBox 44"/>
              <p:cNvSpPr txBox="1"/>
              <p:nvPr/>
            </p:nvSpPr>
            <p:spPr>
              <a:xfrm>
                <a:off x="699135" y="4308475"/>
                <a:ext cx="177282" cy="220028"/>
              </a:xfrm>
              <a:prstGeom prst="rect">
                <a:avLst/>
              </a:prstGeom>
              <a:noFill/>
              <a:ln>
                <a:noFill/>
              </a:ln>
            </p:spPr>
            <p:txBody>
              <a:bodyPr wrap="none" lIns="0" tIns="0" rIns="0" bIns="0" anchor="t" anchorCtr="0">
                <a:spAutoFit/>
              </a:bodyPr>
              <a:lstStyle/>
              <a:p>
                <a:pPr algn="l"/>
                <a:r>
                  <a:rPr lang="en" sz="1120" dirty="0">
                    <a:solidFill>
                      <a:schemeClr val="accent2"/>
                    </a:solidFill>
                    <a:latin typeface="Consolas"/>
                    <a:ea typeface="Consolas"/>
                    <a:cs typeface="Consolas"/>
                  </a:rPr>
                  <a:t>06</a:t>
                </a:r>
              </a:p>
            </p:txBody>
          </p:sp>
          <p:sp>
            <p:nvSpPr>
              <p:cNvPr id="45" name="TextBox 45"/>
              <p:cNvSpPr txBox="1"/>
              <p:nvPr/>
            </p:nvSpPr>
            <p:spPr>
              <a:xfrm>
                <a:off x="699135" y="4822825"/>
                <a:ext cx="177282" cy="220028"/>
              </a:xfrm>
              <a:prstGeom prst="rect">
                <a:avLst/>
              </a:prstGeom>
              <a:noFill/>
              <a:ln>
                <a:noFill/>
              </a:ln>
            </p:spPr>
            <p:txBody>
              <a:bodyPr wrap="none" lIns="0" tIns="0" rIns="0" bIns="0" anchor="t" anchorCtr="0">
                <a:spAutoFit/>
              </a:bodyPr>
              <a:lstStyle/>
              <a:p>
                <a:pPr algn="l"/>
                <a:r>
                  <a:rPr lang="en" sz="1120" dirty="0">
                    <a:solidFill>
                      <a:schemeClr val="accent2"/>
                    </a:solidFill>
                    <a:latin typeface="Consolas"/>
                    <a:ea typeface="Consolas"/>
                    <a:cs typeface="Consolas"/>
                  </a:rPr>
                  <a:t>07</a:t>
                </a:r>
              </a:p>
            </p:txBody>
          </p:sp>
          <p:sp>
            <p:nvSpPr>
              <p:cNvPr id="46" name="TextBox 46"/>
              <p:cNvSpPr txBox="1"/>
              <p:nvPr/>
            </p:nvSpPr>
            <p:spPr>
              <a:xfrm>
                <a:off x="699135" y="5337175"/>
                <a:ext cx="177282" cy="220028"/>
              </a:xfrm>
              <a:prstGeom prst="rect">
                <a:avLst/>
              </a:prstGeom>
              <a:noFill/>
              <a:ln>
                <a:noFill/>
              </a:ln>
            </p:spPr>
            <p:txBody>
              <a:bodyPr wrap="none" lIns="0" tIns="0" rIns="0" bIns="0" anchor="t" anchorCtr="0">
                <a:spAutoFit/>
              </a:bodyPr>
              <a:lstStyle/>
              <a:p>
                <a:pPr algn="l"/>
                <a:r>
                  <a:rPr lang="en" sz="1120" dirty="0">
                    <a:solidFill>
                      <a:schemeClr val="accent2"/>
                    </a:solidFill>
                    <a:latin typeface="Consolas"/>
                    <a:ea typeface="Consolas"/>
                    <a:cs typeface="Consolas"/>
                  </a:rPr>
                  <a:t>08</a:t>
                </a:r>
              </a:p>
            </p:txBody>
          </p:sp>
        </p:grpSp>
      </p:grpSp>
      <p:grpSp>
        <p:nvGrpSpPr>
          <p:cNvPr id="56" name="storage-chain"/>
          <p:cNvGrpSpPr/>
          <p:nvPr/>
        </p:nvGrpSpPr>
        <p:grpSpPr>
          <a:xfrm>
            <a:off x="2508504" y="1562100"/>
            <a:ext cx="8198853" cy="444246"/>
            <a:chOff x="2508504" y="1562100"/>
            <a:chExt cx="8198853" cy="444246"/>
          </a:xfrm>
        </p:grpSpPr>
        <p:sp>
          <p:nvSpPr>
            <p:cNvPr id="49" name="TextBox 49"/>
            <p:cNvSpPr txBox="1"/>
            <p:nvPr/>
          </p:nvSpPr>
          <p:spPr>
            <a:xfrm>
              <a:off x="2508504" y="1562100"/>
              <a:ext cx="1649382"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B-tree</a:t>
              </a:r>
              <a:r>
                <a:rPr lang="en" sz="1200" dirty="0">
                  <a:solidFill>
                    <a:schemeClr val="dk1"/>
                  </a:solidFill>
                  <a:latin typeface="+mn-lt"/>
                  <a:ea typeface="+mn-ea"/>
                  <a:cs typeface="+mn-cs"/>
                </a:rPr>
                <a:t xml:space="preserve"> asks for page N</a:t>
              </a:r>
            </a:p>
          </p:txBody>
        </p:sp>
        <p:sp>
          <p:nvSpPr>
            <p:cNvPr id="50" name="Line 50"/>
            <p:cNvSpPr/>
            <p:nvPr/>
          </p:nvSpPr>
          <p:spPr>
            <a:xfrm>
              <a:off x="4095750" y="1657350"/>
              <a:ext cx="419100" cy="1"/>
            </a:xfrm>
            <a:prstGeom prst="line">
              <a:avLst/>
            </a:prstGeom>
            <a:noFill/>
            <a:ln w="14288">
              <a:solidFill>
                <a:schemeClr val="accent1"/>
              </a:solidFill>
              <a:tailEnd type="triangle" w="lg" len="lg"/>
            </a:ln>
          </p:spPr>
        </p:sp>
        <p:sp>
          <p:nvSpPr>
            <p:cNvPr id="51" name="TextBox 51"/>
            <p:cNvSpPr txBox="1"/>
            <p:nvPr/>
          </p:nvSpPr>
          <p:spPr>
            <a:xfrm>
              <a:off x="4623054" y="1562100"/>
              <a:ext cx="2774867"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Pager</a:t>
              </a:r>
              <a:r>
                <a:rPr lang="en" sz="1200" dirty="0">
                  <a:solidFill>
                    <a:schemeClr val="dk1"/>
                  </a:solidFill>
                  <a:latin typeface="+mn-lt"/>
                  <a:ea typeface="+mn-ea"/>
                  <a:cs typeface="+mn-cs"/>
                </a:rPr>
                <a:t xml:space="preserve"> caches pages, provides rollback,</a:t>
              </a:r>
            </a:p>
          </p:txBody>
        </p:sp>
        <p:sp>
          <p:nvSpPr>
            <p:cNvPr id="52" name="TextBox 52"/>
            <p:cNvSpPr txBox="1"/>
            <p:nvPr/>
          </p:nvSpPr>
          <p:spPr>
            <a:xfrm>
              <a:off x="4623054" y="1771650"/>
              <a:ext cx="2246507"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atomic commit, and file locking</a:t>
              </a:r>
            </a:p>
          </p:txBody>
        </p:sp>
        <p:sp>
          <p:nvSpPr>
            <p:cNvPr id="53" name="Line 53"/>
            <p:cNvSpPr/>
            <p:nvPr/>
          </p:nvSpPr>
          <p:spPr>
            <a:xfrm>
              <a:off x="7867650" y="1657350"/>
              <a:ext cx="419100" cy="1"/>
            </a:xfrm>
            <a:prstGeom prst="line">
              <a:avLst/>
            </a:prstGeom>
            <a:noFill/>
            <a:ln w="14288">
              <a:solidFill>
                <a:schemeClr val="accent1"/>
              </a:solidFill>
              <a:tailEnd type="triangle" w="lg" len="lg"/>
            </a:ln>
          </p:spPr>
        </p:sp>
        <p:sp>
          <p:nvSpPr>
            <p:cNvPr id="54" name="TextBox 54"/>
            <p:cNvSpPr txBox="1"/>
            <p:nvPr/>
          </p:nvSpPr>
          <p:spPr>
            <a:xfrm>
              <a:off x="8394954" y="1562100"/>
              <a:ext cx="2312403" cy="234696"/>
            </a:xfrm>
            <a:prstGeom prst="rect">
              <a:avLst/>
            </a:prstGeom>
            <a:noFill/>
            <a:ln>
              <a:noFill/>
            </a:ln>
          </p:spPr>
          <p:txBody>
            <a:bodyPr wrap="none" lIns="0" tIns="0" rIns="0" bIns="0" anchor="t" anchorCtr="0">
              <a:spAutoFit/>
            </a:bodyPr>
            <a:lstStyle/>
            <a:p>
              <a:pPr algn="l"/>
              <a:r>
                <a:rPr lang="en" sz="1200" b="1" dirty="0">
                  <a:solidFill>
                    <a:schemeClr val="accent2"/>
                  </a:solidFill>
                  <a:latin typeface="+mn-lt"/>
                  <a:ea typeface="+mn-ea"/>
                  <a:cs typeface="+mn-cs"/>
                </a:rPr>
                <a:t>VFS</a:t>
              </a:r>
              <a:r>
                <a:rPr lang="en" sz="1200" dirty="0">
                  <a:solidFill>
                    <a:schemeClr val="dk1"/>
                  </a:solidFill>
                  <a:latin typeface="+mn-lt"/>
                  <a:ea typeface="+mn-ea"/>
                  <a:cs typeface="+mn-cs"/>
                </a:rPr>
                <a:t xml:space="preserve"> reads and writes the OS file</a:t>
              </a:r>
            </a:p>
          </p:txBody>
        </p:sp>
        <p:sp>
          <p:nvSpPr>
            <p:cNvPr id="55" name="TextBox 55"/>
            <p:cNvSpPr txBox="1"/>
            <p:nvPr/>
          </p:nvSpPr>
          <p:spPr>
            <a:xfrm>
              <a:off x="8395335" y="1784350"/>
              <a:ext cx="1669948" cy="220028"/>
            </a:xfrm>
            <a:prstGeom prst="rect">
              <a:avLst/>
            </a:prstGeom>
            <a:noFill/>
            <a:ln>
              <a:noFill/>
            </a:ln>
          </p:spPr>
          <p:txBody>
            <a:bodyPr wrap="none" lIns="0" tIns="0" rIns="0" bIns="0" anchor="t" anchorCtr="0">
              <a:spAutoFit/>
            </a:bodyPr>
            <a:lstStyle/>
            <a:p>
              <a:pPr algn="l"/>
              <a:r>
                <a:rPr lang="en" sz="1120" dirty="0">
                  <a:solidFill>
                    <a:schemeClr val="accent5"/>
                  </a:solidFill>
                  <a:latin typeface="Consolas"/>
                  <a:ea typeface="Consolas"/>
                  <a:cs typeface="Consolas"/>
                </a:rPr>
                <a:t>os_unix.c · os_win.c</a:t>
              </a:r>
            </a:p>
          </p:txBody>
        </p:sp>
      </p:grpSp>
      <p:grpSp>
        <p:nvGrpSpPr>
          <p:cNvPr id="75" name="page-anatomy"/>
          <p:cNvGrpSpPr/>
          <p:nvPr/>
        </p:nvGrpSpPr>
        <p:grpSpPr>
          <a:xfrm>
            <a:off x="2509647" y="2178050"/>
            <a:ext cx="9072753" cy="991743"/>
            <a:chOff x="2509647" y="2178050"/>
            <a:chExt cx="9072753" cy="991743"/>
          </a:xfrm>
        </p:grpSpPr>
        <p:grpSp>
          <p:nvGrpSpPr>
            <p:cNvPr id="60" name="Group 60"/>
            <p:cNvGrpSpPr/>
            <p:nvPr/>
          </p:nvGrpSpPr>
          <p:grpSpPr>
            <a:xfrm>
              <a:off x="2523400" y="2178050"/>
              <a:ext cx="9032838" cy="191643"/>
              <a:chOff x="2523400" y="2178050"/>
              <a:chExt cx="9032838" cy="191643"/>
            </a:xfrm>
          </p:grpSpPr>
          <p:sp>
            <p:nvSpPr>
              <p:cNvPr id="57" name="TextBox 57"/>
              <p:cNvSpPr txBox="1"/>
              <p:nvPr/>
            </p:nvSpPr>
            <p:spPr>
              <a:xfrm>
                <a:off x="2523400" y="2178050"/>
                <a:ext cx="1125399" cy="191643"/>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100 B · page 1 only</a:t>
                </a:r>
              </a:p>
            </p:txBody>
          </p:sp>
          <p:sp>
            <p:nvSpPr>
              <p:cNvPr id="58" name="TextBox 58"/>
              <p:cNvSpPr txBox="1"/>
              <p:nvPr/>
            </p:nvSpPr>
            <p:spPr>
              <a:xfrm>
                <a:off x="3911324" y="2178050"/>
                <a:ext cx="540301" cy="191643"/>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8 or 12 B</a:t>
                </a:r>
              </a:p>
            </p:txBody>
          </p:sp>
          <p:sp>
            <p:nvSpPr>
              <p:cNvPr id="59" name="TextBox 59"/>
              <p:cNvSpPr txBox="1"/>
              <p:nvPr/>
            </p:nvSpPr>
            <p:spPr>
              <a:xfrm>
                <a:off x="10922762" y="2178050"/>
                <a:ext cx="633476" cy="191643"/>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usually 0 B</a:t>
                </a:r>
              </a:p>
            </p:txBody>
          </p:sp>
        </p:grpSp>
        <p:sp>
          <p:nvSpPr>
            <p:cNvPr id="61" name="Rectangle 61"/>
            <p:cNvSpPr/>
            <p:nvPr/>
          </p:nvSpPr>
          <p:spPr>
            <a:xfrm>
              <a:off x="2514600" y="2400300"/>
              <a:ext cx="1143000" cy="476250"/>
            </a:xfrm>
            <a:prstGeom prst="rect">
              <a:avLst/>
            </a:prstGeom>
            <a:solidFill>
              <a:schemeClr val="lt2"/>
            </a:solidFill>
            <a:ln w="14288">
              <a:solidFill>
                <a:schemeClr val="accent1"/>
              </a:solidFill>
            </a:ln>
          </p:spPr>
        </p:sp>
        <p:sp>
          <p:nvSpPr>
            <p:cNvPr id="62" name="Rectangle 62"/>
            <p:cNvSpPr/>
            <p:nvPr/>
          </p:nvSpPr>
          <p:spPr>
            <a:xfrm>
              <a:off x="3657600" y="2400300"/>
              <a:ext cx="1047750" cy="476250"/>
            </a:xfrm>
            <a:prstGeom prst="rect">
              <a:avLst/>
            </a:prstGeom>
            <a:solidFill>
              <a:schemeClr val="lt2"/>
            </a:solidFill>
            <a:ln w="14288">
              <a:solidFill>
                <a:schemeClr val="accent2"/>
              </a:solidFill>
            </a:ln>
          </p:spPr>
        </p:sp>
        <p:sp>
          <p:nvSpPr>
            <p:cNvPr id="63" name="Rectangle 63"/>
            <p:cNvSpPr/>
            <p:nvPr/>
          </p:nvSpPr>
          <p:spPr>
            <a:xfrm>
              <a:off x="4705350" y="2400300"/>
              <a:ext cx="1619250" cy="476250"/>
            </a:xfrm>
            <a:prstGeom prst="rect">
              <a:avLst/>
            </a:prstGeom>
            <a:solidFill>
              <a:schemeClr val="lt2"/>
            </a:solidFill>
            <a:ln w="14288">
              <a:solidFill>
                <a:schemeClr val="accent1"/>
              </a:solidFill>
            </a:ln>
          </p:spPr>
        </p:sp>
        <p:sp>
          <p:nvSpPr>
            <p:cNvPr id="64" name="Rectangle 64"/>
            <p:cNvSpPr/>
            <p:nvPr/>
          </p:nvSpPr>
          <p:spPr>
            <a:xfrm>
              <a:off x="6324600" y="2400300"/>
              <a:ext cx="2381250" cy="476250"/>
            </a:xfrm>
            <a:prstGeom prst="rect">
              <a:avLst/>
            </a:prstGeom>
            <a:noFill/>
            <a:ln w="14288">
              <a:solidFill>
                <a:schemeClr val="accent6"/>
              </a:solidFill>
              <a:prstDash val="dash"/>
            </a:ln>
          </p:spPr>
        </p:sp>
        <p:sp>
          <p:nvSpPr>
            <p:cNvPr id="65" name="Rectangle 65"/>
            <p:cNvSpPr/>
            <p:nvPr/>
          </p:nvSpPr>
          <p:spPr>
            <a:xfrm>
              <a:off x="8705850" y="2400300"/>
              <a:ext cx="2190750" cy="476250"/>
            </a:xfrm>
            <a:prstGeom prst="rect">
              <a:avLst/>
            </a:prstGeom>
            <a:solidFill>
              <a:schemeClr val="lt2"/>
            </a:solidFill>
            <a:ln w="14288">
              <a:solidFill>
                <a:schemeClr val="accent1"/>
              </a:solidFill>
            </a:ln>
          </p:spPr>
        </p:sp>
        <p:sp>
          <p:nvSpPr>
            <p:cNvPr id="66" name="Rectangle 66"/>
            <p:cNvSpPr/>
            <p:nvPr/>
          </p:nvSpPr>
          <p:spPr>
            <a:xfrm>
              <a:off x="10896600" y="2400300"/>
              <a:ext cx="685800" cy="476250"/>
            </a:xfrm>
            <a:prstGeom prst="rect">
              <a:avLst/>
            </a:prstGeom>
            <a:noFill/>
            <a:ln w="14288">
              <a:solidFill>
                <a:schemeClr val="accent1"/>
              </a:solidFill>
            </a:ln>
          </p:spPr>
        </p:sp>
        <p:grpSp>
          <p:nvGrpSpPr>
            <p:cNvPr id="73" name="Group 73"/>
            <p:cNvGrpSpPr/>
            <p:nvPr/>
          </p:nvGrpSpPr>
          <p:grpSpPr>
            <a:xfrm>
              <a:off x="2702728" y="2533650"/>
              <a:ext cx="8691481" cy="234696"/>
              <a:chOff x="2702728" y="2533650"/>
              <a:chExt cx="8691481" cy="234696"/>
            </a:xfrm>
          </p:grpSpPr>
          <p:sp>
            <p:nvSpPr>
              <p:cNvPr id="67" name="TextBox 67"/>
              <p:cNvSpPr txBox="1"/>
              <p:nvPr/>
            </p:nvSpPr>
            <p:spPr>
              <a:xfrm>
                <a:off x="2702728" y="2533650"/>
                <a:ext cx="766744"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DB header</a:t>
                </a:r>
              </a:p>
            </p:txBody>
          </p:sp>
          <p:sp>
            <p:nvSpPr>
              <p:cNvPr id="68" name="TextBox 68"/>
              <p:cNvSpPr txBox="1"/>
              <p:nvPr/>
            </p:nvSpPr>
            <p:spPr>
              <a:xfrm>
                <a:off x="3727918" y="2533650"/>
                <a:ext cx="907113"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page header</a:t>
                </a:r>
              </a:p>
            </p:txBody>
          </p:sp>
          <p:sp>
            <p:nvSpPr>
              <p:cNvPr id="69" name="TextBox 69"/>
              <p:cNvSpPr txBox="1"/>
              <p:nvPr/>
            </p:nvSpPr>
            <p:spPr>
              <a:xfrm>
                <a:off x="5009474" y="2533650"/>
                <a:ext cx="1011002"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cell pointers →</a:t>
                </a:r>
              </a:p>
            </p:txBody>
          </p:sp>
          <p:sp>
            <p:nvSpPr>
              <p:cNvPr id="70" name="TextBox 70"/>
              <p:cNvSpPr txBox="1"/>
              <p:nvPr/>
            </p:nvSpPr>
            <p:spPr>
              <a:xfrm>
                <a:off x="6870045" y="2533650"/>
                <a:ext cx="1290360" cy="234696"/>
              </a:xfrm>
              <a:prstGeom prst="rect">
                <a:avLst/>
              </a:prstGeom>
              <a:noFill/>
              <a:ln>
                <a:noFill/>
              </a:ln>
            </p:spPr>
            <p:txBody>
              <a:bodyPr wrap="none" lIns="0" tIns="0" rIns="0" bIns="0" anchor="t" anchorCtr="0">
                <a:spAutoFit/>
              </a:bodyPr>
              <a:lstStyle/>
              <a:p>
                <a:pPr algn="ctr"/>
                <a:r>
                  <a:rPr lang="en" sz="1200" dirty="0">
                    <a:solidFill>
                      <a:schemeClr val="accent5"/>
                    </a:solidFill>
                    <a:latin typeface="+mn-lt"/>
                    <a:ea typeface="+mn-ea"/>
                    <a:cs typeface="+mn-cs"/>
                  </a:rPr>
                  <a:t>unallocated space</a:t>
                </a:r>
              </a:p>
            </p:txBody>
          </p:sp>
          <p:sp>
            <p:nvSpPr>
              <p:cNvPr id="71" name="TextBox 71"/>
              <p:cNvSpPr txBox="1"/>
              <p:nvPr/>
            </p:nvSpPr>
            <p:spPr>
              <a:xfrm>
                <a:off x="9140092" y="2533650"/>
                <a:ext cx="1322265"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 cell content area</a:t>
                </a:r>
              </a:p>
            </p:txBody>
          </p:sp>
          <p:sp>
            <p:nvSpPr>
              <p:cNvPr id="72" name="TextBox 72"/>
              <p:cNvSpPr txBox="1"/>
              <p:nvPr/>
            </p:nvSpPr>
            <p:spPr>
              <a:xfrm>
                <a:off x="11084792" y="2533650"/>
                <a:ext cx="309417"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rsvd</a:t>
                </a:r>
              </a:p>
            </p:txBody>
          </p:sp>
        </p:grpSp>
        <p:sp>
          <p:nvSpPr>
            <p:cNvPr id="74" name="TextBox 74"/>
            <p:cNvSpPr txBox="1"/>
            <p:nvPr/>
          </p:nvSpPr>
          <p:spPr>
            <a:xfrm>
              <a:off x="2509647" y="2978150"/>
              <a:ext cx="5734044"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One b-tree page, regions in file order (widths not to scale). Pointers grow forward, cells grow back.</a:t>
              </a:r>
            </a:p>
          </p:txBody>
        </p:sp>
      </p:grpSp>
      <p:grpSp>
        <p:nvGrpSpPr>
          <p:cNvPr id="103" name="btree-kinds"/>
          <p:cNvGrpSpPr/>
          <p:nvPr/>
        </p:nvGrpSpPr>
        <p:grpSpPr>
          <a:xfrm>
            <a:off x="2508504" y="3422650"/>
            <a:ext cx="4269940" cy="2298446"/>
            <a:chOff x="2508504" y="3422650"/>
            <a:chExt cx="4269940" cy="2298446"/>
          </a:xfrm>
        </p:grpSpPr>
        <p:sp>
          <p:nvSpPr>
            <p:cNvPr id="76" name="TextBox 76"/>
            <p:cNvSpPr txBox="1"/>
            <p:nvPr/>
          </p:nvSpPr>
          <p:spPr>
            <a:xfrm>
              <a:off x="2508885" y="3422650"/>
              <a:ext cx="2517080"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INTERIOR PAGE → CHILDREN</a:t>
              </a:r>
            </a:p>
          </p:txBody>
        </p:sp>
        <p:sp>
          <p:nvSpPr>
            <p:cNvPr id="77" name="Rectangle 77"/>
            <p:cNvSpPr/>
            <p:nvPr/>
          </p:nvSpPr>
          <p:spPr>
            <a:xfrm>
              <a:off x="3276600" y="3733800"/>
              <a:ext cx="2514600" cy="381000"/>
            </a:xfrm>
            <a:prstGeom prst="roundRect">
              <a:avLst>
                <a:gd name="adj" fmla="val 5000"/>
              </a:avLst>
            </a:prstGeom>
            <a:solidFill>
              <a:schemeClr val="lt2"/>
            </a:solidFill>
            <a:ln w="14288">
              <a:solidFill>
                <a:schemeClr val="accent1"/>
              </a:solidFill>
            </a:ln>
          </p:spPr>
        </p:sp>
        <p:grpSp>
          <p:nvGrpSpPr>
            <p:cNvPr id="81" name="Group 81"/>
            <p:cNvGrpSpPr/>
            <p:nvPr/>
          </p:nvGrpSpPr>
          <p:grpSpPr>
            <a:xfrm>
              <a:off x="3811915" y="3832225"/>
              <a:ext cx="1443970" cy="220028"/>
              <a:chOff x="3811915" y="3832225"/>
              <a:chExt cx="1443970" cy="220028"/>
            </a:xfrm>
          </p:grpSpPr>
          <p:sp>
            <p:nvSpPr>
              <p:cNvPr id="78" name="TextBox 78"/>
              <p:cNvSpPr txBox="1"/>
              <p:nvPr/>
            </p:nvSpPr>
            <p:spPr>
              <a:xfrm>
                <a:off x="3811915" y="3832225"/>
                <a:ext cx="186670" cy="220028"/>
              </a:xfrm>
              <a:prstGeom prst="rect">
                <a:avLst/>
              </a:prstGeom>
              <a:noFill/>
              <a:ln>
                <a:noFill/>
              </a:ln>
            </p:spPr>
            <p:txBody>
              <a:bodyPr wrap="none" lIns="0" tIns="0" rIns="0" bIns="0" anchor="t" anchorCtr="0">
                <a:spAutoFit/>
              </a:bodyPr>
              <a:lstStyle/>
              <a:p>
                <a:pPr algn="ctr"/>
                <a:r>
                  <a:rPr lang="en" sz="1120" dirty="0">
                    <a:solidFill>
                      <a:schemeClr val="dk1"/>
                    </a:solidFill>
                    <a:latin typeface="Consolas"/>
                    <a:ea typeface="Consolas"/>
                    <a:cs typeface="Consolas"/>
                  </a:rPr>
                  <a:t>K1</a:t>
                </a:r>
              </a:p>
            </p:txBody>
          </p:sp>
          <p:sp>
            <p:nvSpPr>
              <p:cNvPr id="79" name="TextBox 79"/>
              <p:cNvSpPr txBox="1"/>
              <p:nvPr/>
            </p:nvSpPr>
            <p:spPr>
              <a:xfrm>
                <a:off x="4440565" y="3832225"/>
                <a:ext cx="186670" cy="220028"/>
              </a:xfrm>
              <a:prstGeom prst="rect">
                <a:avLst/>
              </a:prstGeom>
              <a:noFill/>
              <a:ln>
                <a:noFill/>
              </a:ln>
            </p:spPr>
            <p:txBody>
              <a:bodyPr wrap="none" lIns="0" tIns="0" rIns="0" bIns="0" anchor="t" anchorCtr="0">
                <a:spAutoFit/>
              </a:bodyPr>
              <a:lstStyle/>
              <a:p>
                <a:pPr algn="ctr"/>
                <a:r>
                  <a:rPr lang="en" sz="1120" dirty="0">
                    <a:solidFill>
                      <a:schemeClr val="dk1"/>
                    </a:solidFill>
                    <a:latin typeface="Consolas"/>
                    <a:ea typeface="Consolas"/>
                    <a:cs typeface="Consolas"/>
                  </a:rPr>
                  <a:t>K2</a:t>
                </a:r>
              </a:p>
            </p:txBody>
          </p:sp>
          <p:sp>
            <p:nvSpPr>
              <p:cNvPr id="80" name="TextBox 80"/>
              <p:cNvSpPr txBox="1"/>
              <p:nvPr/>
            </p:nvSpPr>
            <p:spPr>
              <a:xfrm>
                <a:off x="5069215" y="3832225"/>
                <a:ext cx="186670" cy="220028"/>
              </a:xfrm>
              <a:prstGeom prst="rect">
                <a:avLst/>
              </a:prstGeom>
              <a:noFill/>
              <a:ln>
                <a:noFill/>
              </a:ln>
            </p:spPr>
            <p:txBody>
              <a:bodyPr wrap="none" lIns="0" tIns="0" rIns="0" bIns="0" anchor="t" anchorCtr="0">
                <a:spAutoFit/>
              </a:bodyPr>
              <a:lstStyle/>
              <a:p>
                <a:pPr algn="ctr"/>
                <a:r>
                  <a:rPr lang="en" sz="1120" dirty="0">
                    <a:solidFill>
                      <a:schemeClr val="dk1"/>
                    </a:solidFill>
                    <a:latin typeface="Consolas"/>
                    <a:ea typeface="Consolas"/>
                    <a:cs typeface="Consolas"/>
                  </a:rPr>
                  <a:t>K3</a:t>
                </a:r>
              </a:p>
            </p:txBody>
          </p:sp>
        </p:grpSp>
        <p:grpSp>
          <p:nvGrpSpPr>
            <p:cNvPr id="84" name="Group 84"/>
            <p:cNvGrpSpPr/>
            <p:nvPr/>
          </p:nvGrpSpPr>
          <p:grpSpPr>
            <a:xfrm>
              <a:off x="4219575" y="3733800"/>
              <a:ext cx="638175" cy="381000"/>
              <a:chOff x="4219575" y="3733800"/>
              <a:chExt cx="638175" cy="381000"/>
            </a:xfrm>
          </p:grpSpPr>
          <p:sp>
            <p:nvSpPr>
              <p:cNvPr id="82" name="Line 82"/>
              <p:cNvSpPr/>
              <p:nvPr/>
            </p:nvSpPr>
            <p:spPr>
              <a:xfrm>
                <a:off x="4219575" y="3733800"/>
                <a:ext cx="9525" cy="381000"/>
              </a:xfrm>
              <a:custGeom>
                <a:avLst/>
                <a:gdLst/>
                <a:ahLst/>
                <a:cxnLst/>
                <a:rect l="l" t="t" r="r" b="b"/>
                <a:pathLst>
                  <a:path w="9525" h="381000">
                    <a:moveTo>
                      <a:pt x="0" y="0"/>
                    </a:moveTo>
                    <a:lnTo>
                      <a:pt x="0" y="381000"/>
                    </a:lnTo>
                  </a:path>
                </a:pathLst>
              </a:custGeom>
              <a:noFill/>
              <a:ln w="9525">
                <a:solidFill>
                  <a:schemeClr val="accent6"/>
                </a:solidFill>
              </a:ln>
            </p:spPr>
          </p:sp>
          <p:sp>
            <p:nvSpPr>
              <p:cNvPr id="83" name="Line 83"/>
              <p:cNvSpPr/>
              <p:nvPr/>
            </p:nvSpPr>
            <p:spPr>
              <a:xfrm>
                <a:off x="4848225" y="3733800"/>
                <a:ext cx="9525" cy="381000"/>
              </a:xfrm>
              <a:custGeom>
                <a:avLst/>
                <a:gdLst/>
                <a:ahLst/>
                <a:cxnLst/>
                <a:rect l="l" t="t" r="r" b="b"/>
                <a:pathLst>
                  <a:path w="9525" h="381000">
                    <a:moveTo>
                      <a:pt x="0" y="0"/>
                    </a:moveTo>
                    <a:lnTo>
                      <a:pt x="0" y="381000"/>
                    </a:lnTo>
                  </a:path>
                </a:pathLst>
              </a:custGeom>
              <a:noFill/>
              <a:ln w="9525">
                <a:solidFill>
                  <a:schemeClr val="accent6"/>
                </a:solidFill>
              </a:ln>
            </p:spPr>
          </p:sp>
        </p:grpSp>
        <p:grpSp>
          <p:nvGrpSpPr>
            <p:cNvPr id="89" name="Group 89"/>
            <p:cNvGrpSpPr/>
            <p:nvPr/>
          </p:nvGrpSpPr>
          <p:grpSpPr>
            <a:xfrm>
              <a:off x="2990850" y="4114800"/>
              <a:ext cx="3143250" cy="400050"/>
              <a:chOff x="2990850" y="4114800"/>
              <a:chExt cx="3143250" cy="400050"/>
            </a:xfrm>
          </p:grpSpPr>
          <p:sp>
            <p:nvSpPr>
              <p:cNvPr id="85" name="Line 85"/>
              <p:cNvSpPr/>
              <p:nvPr/>
            </p:nvSpPr>
            <p:spPr>
              <a:xfrm>
                <a:off x="2990850" y="4114800"/>
                <a:ext cx="361950" cy="400050"/>
              </a:xfrm>
              <a:custGeom>
                <a:avLst/>
                <a:gdLst/>
                <a:ahLst/>
                <a:cxnLst/>
                <a:rect l="l" t="t" r="r" b="b"/>
                <a:pathLst>
                  <a:path w="361950" h="400050">
                    <a:moveTo>
                      <a:pt x="361950" y="0"/>
                    </a:moveTo>
                    <a:lnTo>
                      <a:pt x="0" y="400050"/>
                    </a:lnTo>
                  </a:path>
                </a:pathLst>
              </a:custGeom>
              <a:noFill/>
              <a:ln w="11906">
                <a:solidFill>
                  <a:schemeClr val="accent1"/>
                </a:solidFill>
              </a:ln>
            </p:spPr>
          </p:sp>
          <p:sp>
            <p:nvSpPr>
              <p:cNvPr id="86" name="Line 86"/>
              <p:cNvSpPr/>
              <p:nvPr/>
            </p:nvSpPr>
            <p:spPr>
              <a:xfrm>
                <a:off x="4038600" y="4114800"/>
                <a:ext cx="180975" cy="400050"/>
              </a:xfrm>
              <a:custGeom>
                <a:avLst/>
                <a:gdLst/>
                <a:ahLst/>
                <a:cxnLst/>
                <a:rect l="l" t="t" r="r" b="b"/>
                <a:pathLst>
                  <a:path w="180975" h="400050">
                    <a:moveTo>
                      <a:pt x="180975" y="0"/>
                    </a:moveTo>
                    <a:lnTo>
                      <a:pt x="0" y="400050"/>
                    </a:lnTo>
                  </a:path>
                </a:pathLst>
              </a:custGeom>
              <a:noFill/>
              <a:ln w="11906">
                <a:solidFill>
                  <a:schemeClr val="accent1"/>
                </a:solidFill>
              </a:ln>
            </p:spPr>
          </p:sp>
          <p:sp>
            <p:nvSpPr>
              <p:cNvPr id="87" name="Line 87"/>
              <p:cNvSpPr/>
              <p:nvPr/>
            </p:nvSpPr>
            <p:spPr>
              <a:xfrm>
                <a:off x="4848225" y="4114800"/>
                <a:ext cx="238125" cy="400050"/>
              </a:xfrm>
              <a:custGeom>
                <a:avLst/>
                <a:gdLst/>
                <a:ahLst/>
                <a:cxnLst/>
                <a:rect l="l" t="t" r="r" b="b"/>
                <a:pathLst>
                  <a:path w="238125" h="400050">
                    <a:moveTo>
                      <a:pt x="0" y="0"/>
                    </a:moveTo>
                    <a:lnTo>
                      <a:pt x="238125" y="400050"/>
                    </a:lnTo>
                  </a:path>
                </a:pathLst>
              </a:custGeom>
              <a:noFill/>
              <a:ln w="11906">
                <a:solidFill>
                  <a:schemeClr val="accent1"/>
                </a:solidFill>
              </a:ln>
            </p:spPr>
          </p:sp>
          <p:sp>
            <p:nvSpPr>
              <p:cNvPr id="88" name="Line 88"/>
              <p:cNvSpPr/>
              <p:nvPr/>
            </p:nvSpPr>
            <p:spPr>
              <a:xfrm>
                <a:off x="5715000" y="4114800"/>
                <a:ext cx="419100" cy="400050"/>
              </a:xfrm>
              <a:custGeom>
                <a:avLst/>
                <a:gdLst/>
                <a:ahLst/>
                <a:cxnLst/>
                <a:rect l="l" t="t" r="r" b="b"/>
                <a:pathLst>
                  <a:path w="419100" h="400050">
                    <a:moveTo>
                      <a:pt x="0" y="0"/>
                    </a:moveTo>
                    <a:lnTo>
                      <a:pt x="419100" y="400050"/>
                    </a:lnTo>
                  </a:path>
                </a:pathLst>
              </a:custGeom>
              <a:noFill/>
              <a:ln w="11906">
                <a:solidFill>
                  <a:schemeClr val="accent1"/>
                </a:solidFill>
              </a:ln>
            </p:spPr>
          </p:sp>
        </p:grpSp>
        <p:grpSp>
          <p:nvGrpSpPr>
            <p:cNvPr id="94" name="Group 94"/>
            <p:cNvGrpSpPr/>
            <p:nvPr/>
          </p:nvGrpSpPr>
          <p:grpSpPr>
            <a:xfrm>
              <a:off x="2571750" y="4514850"/>
              <a:ext cx="3981450" cy="304800"/>
              <a:chOff x="2571750" y="4514850"/>
              <a:chExt cx="3981450" cy="304800"/>
            </a:xfrm>
          </p:grpSpPr>
          <p:sp>
            <p:nvSpPr>
              <p:cNvPr id="90" name="Rectangle 90"/>
              <p:cNvSpPr/>
              <p:nvPr/>
            </p:nvSpPr>
            <p:spPr>
              <a:xfrm>
                <a:off x="2571750" y="4514850"/>
                <a:ext cx="838200" cy="304800"/>
              </a:xfrm>
              <a:prstGeom prst="roundRect">
                <a:avLst>
                  <a:gd name="adj" fmla="val 6250"/>
                </a:avLst>
              </a:prstGeom>
              <a:noFill/>
              <a:ln w="11906">
                <a:solidFill>
                  <a:schemeClr val="accent1"/>
                </a:solidFill>
              </a:ln>
            </p:spPr>
          </p:sp>
          <p:sp>
            <p:nvSpPr>
              <p:cNvPr id="91" name="Rectangle 91"/>
              <p:cNvSpPr/>
              <p:nvPr/>
            </p:nvSpPr>
            <p:spPr>
              <a:xfrm>
                <a:off x="3619500" y="4514850"/>
                <a:ext cx="838200" cy="304800"/>
              </a:xfrm>
              <a:prstGeom prst="roundRect">
                <a:avLst>
                  <a:gd name="adj" fmla="val 6250"/>
                </a:avLst>
              </a:prstGeom>
              <a:noFill/>
              <a:ln w="11906">
                <a:solidFill>
                  <a:schemeClr val="accent1"/>
                </a:solidFill>
              </a:ln>
            </p:spPr>
          </p:sp>
          <p:sp>
            <p:nvSpPr>
              <p:cNvPr id="92" name="Rectangle 92"/>
              <p:cNvSpPr/>
              <p:nvPr/>
            </p:nvSpPr>
            <p:spPr>
              <a:xfrm>
                <a:off x="4667250" y="4514850"/>
                <a:ext cx="838200" cy="304800"/>
              </a:xfrm>
              <a:prstGeom prst="roundRect">
                <a:avLst>
                  <a:gd name="adj" fmla="val 6250"/>
                </a:avLst>
              </a:prstGeom>
              <a:noFill/>
              <a:ln w="11906">
                <a:solidFill>
                  <a:schemeClr val="accent1"/>
                </a:solidFill>
              </a:ln>
            </p:spPr>
          </p:sp>
          <p:sp>
            <p:nvSpPr>
              <p:cNvPr id="93" name="Rectangle 93"/>
              <p:cNvSpPr/>
              <p:nvPr/>
            </p:nvSpPr>
            <p:spPr>
              <a:xfrm>
                <a:off x="5715000" y="4514850"/>
                <a:ext cx="838200" cy="304800"/>
              </a:xfrm>
              <a:prstGeom prst="roundRect">
                <a:avLst>
                  <a:gd name="adj" fmla="val 6250"/>
                </a:avLst>
              </a:prstGeom>
              <a:noFill/>
              <a:ln w="11906">
                <a:solidFill>
                  <a:schemeClr val="accent1"/>
                </a:solidFill>
              </a:ln>
            </p:spPr>
          </p:sp>
        </p:grpSp>
        <p:grpSp>
          <p:nvGrpSpPr>
            <p:cNvPr id="99" name="Group 99"/>
            <p:cNvGrpSpPr/>
            <p:nvPr/>
          </p:nvGrpSpPr>
          <p:grpSpPr>
            <a:xfrm>
              <a:off x="2881212" y="4587875"/>
              <a:ext cx="3362525" cy="191643"/>
              <a:chOff x="2881212" y="4587875"/>
              <a:chExt cx="3362525" cy="191643"/>
            </a:xfrm>
          </p:grpSpPr>
          <p:sp>
            <p:nvSpPr>
              <p:cNvPr id="95" name="TextBox 95"/>
              <p:cNvSpPr txBox="1"/>
              <p:nvPr/>
            </p:nvSpPr>
            <p:spPr>
              <a:xfrm>
                <a:off x="2881212" y="4587875"/>
                <a:ext cx="219275" cy="191643"/>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leaf</a:t>
                </a:r>
              </a:p>
            </p:txBody>
          </p:sp>
          <p:sp>
            <p:nvSpPr>
              <p:cNvPr id="96" name="TextBox 96"/>
              <p:cNvSpPr txBox="1"/>
              <p:nvPr/>
            </p:nvSpPr>
            <p:spPr>
              <a:xfrm>
                <a:off x="3928962" y="4587875"/>
                <a:ext cx="219275" cy="191643"/>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leaf</a:t>
                </a:r>
              </a:p>
            </p:txBody>
          </p:sp>
          <p:sp>
            <p:nvSpPr>
              <p:cNvPr id="97" name="TextBox 97"/>
              <p:cNvSpPr txBox="1"/>
              <p:nvPr/>
            </p:nvSpPr>
            <p:spPr>
              <a:xfrm>
                <a:off x="4976712" y="4587875"/>
                <a:ext cx="219275" cy="191643"/>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leaf</a:t>
                </a:r>
              </a:p>
            </p:txBody>
          </p:sp>
          <p:sp>
            <p:nvSpPr>
              <p:cNvPr id="98" name="TextBox 98"/>
              <p:cNvSpPr txBox="1"/>
              <p:nvPr/>
            </p:nvSpPr>
            <p:spPr>
              <a:xfrm>
                <a:off x="6024462" y="4587875"/>
                <a:ext cx="219275" cy="191643"/>
              </a:xfrm>
              <a:prstGeom prst="rect">
                <a:avLst/>
              </a:prstGeom>
              <a:noFill/>
              <a:ln>
                <a:noFill/>
              </a:ln>
            </p:spPr>
            <p:txBody>
              <a:bodyPr wrap="none" lIns="0" tIns="0" rIns="0" bIns="0" anchor="t" anchorCtr="0">
                <a:spAutoFit/>
              </a:bodyPr>
              <a:lstStyle/>
              <a:p>
                <a:pPr algn="ctr"/>
                <a:r>
                  <a:rPr lang="en" sz="980" dirty="0">
                    <a:solidFill>
                      <a:schemeClr val="accent5"/>
                    </a:solidFill>
                    <a:latin typeface="+mn-lt"/>
                    <a:ea typeface="+mn-ea"/>
                    <a:cs typeface="+mn-cs"/>
                  </a:rPr>
                  <a:t>leaf</a:t>
                </a:r>
              </a:p>
            </p:txBody>
          </p:sp>
        </p:grpSp>
        <p:sp>
          <p:nvSpPr>
            <p:cNvPr id="100" name="TextBox 100"/>
            <p:cNvSpPr txBox="1"/>
            <p:nvPr/>
          </p:nvSpPr>
          <p:spPr>
            <a:xfrm>
              <a:off x="2508504" y="4953000"/>
              <a:ext cx="3952664"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An interior page holds </a:t>
              </a:r>
              <a:r>
                <a:rPr lang="en" sz="1200" b="1" dirty="0">
                  <a:solidFill>
                    <a:schemeClr val="accent2"/>
                  </a:solidFill>
                  <a:latin typeface="+mn-lt"/>
                  <a:ea typeface="+mn-ea"/>
                  <a:cs typeface="+mn-cs"/>
                </a:rPr>
                <a:t>K keys and K+1 child pointers</a:t>
              </a:r>
              <a:r>
                <a:rPr lang="en" sz="1200" dirty="0">
                  <a:solidFill>
                    <a:schemeClr val="dk1"/>
                  </a:solidFill>
                  <a:latin typeface="+mn-lt"/>
                  <a:ea typeface="+mn-ea"/>
                  <a:cs typeface="+mn-cs"/>
                </a:rPr>
                <a:t>.</a:t>
              </a:r>
            </a:p>
          </p:txBody>
        </p:sp>
        <p:sp>
          <p:nvSpPr>
            <p:cNvPr id="101" name="TextBox 101"/>
            <p:cNvSpPr txBox="1"/>
            <p:nvPr/>
          </p:nvSpPr>
          <p:spPr>
            <a:xfrm>
              <a:off x="2508504" y="5238750"/>
              <a:ext cx="4269940"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Table b-tree</a:t>
              </a:r>
              <a:r>
                <a:rPr lang="en" sz="1200" dirty="0">
                  <a:solidFill>
                    <a:schemeClr val="dk1"/>
                  </a:solidFill>
                  <a:latin typeface="+mn-lt"/>
                  <a:ea typeface="+mn-ea"/>
                  <a:cs typeface="+mn-cs"/>
                </a:rPr>
                <a:t xml:space="preserve"> — 64-bit signed rowid key; data only in leaves</a:t>
              </a:r>
            </a:p>
          </p:txBody>
        </p:sp>
        <p:sp>
          <p:nvSpPr>
            <p:cNvPr id="102" name="TextBox 102"/>
            <p:cNvSpPr txBox="1"/>
            <p:nvPr/>
          </p:nvSpPr>
          <p:spPr>
            <a:xfrm>
              <a:off x="2508504" y="5486400"/>
              <a:ext cx="3214051"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Index b-tree</a:t>
              </a:r>
              <a:r>
                <a:rPr lang="en" sz="1200" dirty="0">
                  <a:solidFill>
                    <a:schemeClr val="dk1"/>
                  </a:solidFill>
                  <a:latin typeface="+mn-lt"/>
                  <a:ea typeface="+mn-ea"/>
                  <a:cs typeface="+mn-cs"/>
                </a:rPr>
                <a:t xml:space="preserve"> — arbitrary key; no data stored</a:t>
              </a:r>
            </a:p>
          </p:txBody>
        </p:sp>
      </p:grpSp>
      <p:grpSp>
        <p:nvGrpSpPr>
          <p:cNvPr id="113" name="file-facts"/>
          <p:cNvGrpSpPr/>
          <p:nvPr/>
        </p:nvGrpSpPr>
        <p:grpSpPr>
          <a:xfrm>
            <a:off x="7080885" y="3422650"/>
            <a:ext cx="3405140" cy="2471420"/>
            <a:chOff x="7080885" y="3422650"/>
            <a:chExt cx="3405140" cy="2471420"/>
          </a:xfrm>
        </p:grpSpPr>
        <p:sp>
          <p:nvSpPr>
            <p:cNvPr id="104" name="TextBox 104"/>
            <p:cNvSpPr txBox="1"/>
            <p:nvPr/>
          </p:nvSpPr>
          <p:spPr>
            <a:xfrm>
              <a:off x="7080885" y="3422650"/>
              <a:ext cx="2038566"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THE FILE, BY THE PAGE</a:t>
              </a:r>
            </a:p>
          </p:txBody>
        </p:sp>
        <p:sp>
          <p:nvSpPr>
            <p:cNvPr id="105" name="Line 105"/>
            <p:cNvSpPr/>
            <p:nvPr/>
          </p:nvSpPr>
          <p:spPr>
            <a:xfrm>
              <a:off x="7086600" y="3848100"/>
              <a:ext cx="114300" cy="9525"/>
            </a:xfrm>
            <a:custGeom>
              <a:avLst/>
              <a:gdLst/>
              <a:ahLst/>
              <a:cxnLst/>
              <a:rect l="l" t="t" r="r" b="b"/>
              <a:pathLst>
                <a:path w="114300" h="9525">
                  <a:moveTo>
                    <a:pt x="0" y="0"/>
                  </a:moveTo>
                  <a:lnTo>
                    <a:pt x="114300" y="0"/>
                  </a:lnTo>
                </a:path>
              </a:pathLst>
            </a:custGeom>
            <a:noFill/>
            <a:ln w="19050">
              <a:solidFill>
                <a:schemeClr val="accent2"/>
              </a:solidFill>
            </a:ln>
          </p:spPr>
        </p:sp>
        <p:sp>
          <p:nvSpPr>
            <p:cNvPr id="106" name="TextBox 106"/>
            <p:cNvSpPr txBox="1"/>
            <p:nvPr/>
          </p:nvSpPr>
          <p:spPr>
            <a:xfrm>
              <a:off x="7288530" y="3714750"/>
              <a:ext cx="2792044"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 xml:space="preserve">Page size </a:t>
              </a:r>
              <a:r>
                <a:rPr lang="en" sz="1500" b="1" dirty="0">
                  <a:solidFill>
                    <a:schemeClr val="accent2"/>
                  </a:solidFill>
                  <a:latin typeface="+mn-lt"/>
                  <a:ea typeface="+mn-ea"/>
                  <a:cs typeface="+mn-cs"/>
                </a:rPr>
                <a:t>4096 B</a:t>
              </a:r>
              <a:r>
                <a:rPr lang="en" sz="1500" dirty="0">
                  <a:solidFill>
                    <a:schemeClr val="dk1"/>
                  </a:solidFill>
                  <a:latin typeface="+mn-lt"/>
                  <a:ea typeface="+mn-ea"/>
                  <a:cs typeface="+mn-cs"/>
                </a:rPr>
                <a:t xml:space="preserve"> by default; any</a:t>
              </a:r>
              <a:br>
                <a:rPr lang="en" sz="1500" dirty="0">
                  <a:solidFill>
                    <a:schemeClr val="dk1"/>
                  </a:solidFill>
                  <a:latin typeface="+mn-lt"/>
                  <a:ea typeface="+mn-ea"/>
                  <a:cs typeface="+mn-cs"/>
                </a:rPr>
              </a:br>
              <a:r>
                <a:rPr lang="en" sz="1500" dirty="0">
                  <a:solidFill>
                    <a:schemeClr val="dk1"/>
                  </a:solidFill>
                  <a:latin typeface="+mn-lt"/>
                  <a:ea typeface="+mn-ea"/>
                  <a:cs typeface="+mn-cs"/>
                </a:rPr>
                <a:t>power of two from 512 to 65 536</a:t>
              </a:r>
            </a:p>
          </p:txBody>
        </p:sp>
        <p:sp>
          <p:nvSpPr>
            <p:cNvPr id="107" name="Line 107"/>
            <p:cNvSpPr/>
            <p:nvPr/>
          </p:nvSpPr>
          <p:spPr>
            <a:xfrm>
              <a:off x="7086600" y="447675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108" name="TextBox 108"/>
            <p:cNvSpPr txBox="1"/>
            <p:nvPr/>
          </p:nvSpPr>
          <p:spPr>
            <a:xfrm>
              <a:off x="7288530" y="4343400"/>
              <a:ext cx="3197495"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Every read and write is whole pages</a:t>
              </a:r>
            </a:p>
          </p:txBody>
        </p:sp>
        <p:sp>
          <p:nvSpPr>
            <p:cNvPr id="109" name="Line 109"/>
            <p:cNvSpPr/>
            <p:nvPr/>
          </p:nvSpPr>
          <p:spPr>
            <a:xfrm>
              <a:off x="7086600" y="485775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110" name="TextBox 110"/>
            <p:cNvSpPr txBox="1"/>
            <p:nvPr/>
          </p:nvSpPr>
          <p:spPr>
            <a:xfrm>
              <a:off x="7288530" y="4724400"/>
              <a:ext cx="2983992"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One b-tree per table and per index;</a:t>
              </a:r>
              <a:br>
                <a:rPr lang="en" sz="1500" dirty="0">
                  <a:solidFill>
                    <a:schemeClr val="dk1"/>
                  </a:solidFill>
                  <a:latin typeface="+mn-lt"/>
                  <a:ea typeface="+mn-ea"/>
                  <a:cs typeface="+mn-cs"/>
                </a:rPr>
              </a:br>
              <a:r>
                <a:rPr lang="en" sz="1420" dirty="0">
                  <a:solidFill>
                    <a:schemeClr val="accent1"/>
                  </a:solidFill>
                  <a:latin typeface="Consolas"/>
                  <a:ea typeface="Consolas"/>
                  <a:cs typeface="Consolas"/>
                </a:rPr>
                <a:t>sqlite_schema</a:t>
              </a:r>
              <a:r>
                <a:rPr lang="en" sz="1500" dirty="0">
                  <a:solidFill>
                    <a:schemeClr val="dk1"/>
                  </a:solidFill>
                  <a:latin typeface="+mn-lt"/>
                  <a:ea typeface="+mn-ea"/>
                  <a:cs typeface="+mn-cs"/>
                </a:rPr>
                <a:t xml:space="preserve"> is rooted at page 1</a:t>
              </a:r>
            </a:p>
          </p:txBody>
        </p:sp>
        <p:sp>
          <p:nvSpPr>
            <p:cNvPr id="111" name="Line 111"/>
            <p:cNvSpPr/>
            <p:nvPr/>
          </p:nvSpPr>
          <p:spPr>
            <a:xfrm>
              <a:off x="7086600" y="5486400"/>
              <a:ext cx="114300" cy="9525"/>
            </a:xfrm>
            <a:custGeom>
              <a:avLst/>
              <a:gdLst/>
              <a:ahLst/>
              <a:cxnLst/>
              <a:rect l="l" t="t" r="r" b="b"/>
              <a:pathLst>
                <a:path w="114300" h="9525">
                  <a:moveTo>
                    <a:pt x="0" y="0"/>
                  </a:moveTo>
                  <a:lnTo>
                    <a:pt x="114300" y="0"/>
                  </a:lnTo>
                </a:path>
              </a:pathLst>
            </a:custGeom>
            <a:noFill/>
            <a:ln w="19050">
              <a:solidFill>
                <a:schemeClr val="accent1"/>
              </a:solidFill>
            </a:ln>
          </p:spPr>
        </p:sp>
        <p:sp>
          <p:nvSpPr>
            <p:cNvPr id="112" name="TextBox 112"/>
            <p:cNvSpPr txBox="1"/>
            <p:nvPr/>
          </p:nvSpPr>
          <p:spPr>
            <a:xfrm>
              <a:off x="7288530" y="5353050"/>
              <a:ext cx="3162643"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≈4.29e9 pages × 64 KiB ≈ 281 TB max</a:t>
              </a:r>
              <a:br>
                <a:rPr lang="en" sz="1500" dirty="0">
                  <a:solidFill>
                    <a:schemeClr val="dk1"/>
                  </a:solidFill>
                  <a:latin typeface="+mn-lt"/>
                  <a:ea typeface="+mn-ea"/>
                  <a:cs typeface="+mn-cs"/>
                </a:rPr>
              </a:br>
              <a:r>
                <a:rPr lang="en" sz="1200" dirty="0">
                  <a:solidFill>
                    <a:schemeClr val="accent5"/>
                  </a:solidFill>
                  <a:latin typeface="+mn-lt"/>
                  <a:ea typeface="+mn-ea"/>
                  <a:cs typeface="+mn-cs"/>
                </a:rPr>
                <a:t xml:space="preserve">file begins with </a:t>
              </a:r>
              <a:r>
                <a:rPr lang="en" sz="1200" dirty="0">
                  <a:solidFill>
                    <a:schemeClr val="accent1"/>
                  </a:solidFill>
                  <a:latin typeface="Consolas"/>
                  <a:ea typeface="Consolas"/>
                  <a:cs typeface="Consolas"/>
                </a:rPr>
                <a:t>"SQLite format 3"</a:t>
              </a:r>
            </a:p>
          </p:txBody>
        </p:sp>
      </p:grpSp>
      <p:grpSp>
        <p:nvGrpSpPr>
          <p:cNvPr id="118" name="title-block"/>
          <p:cNvGrpSpPr/>
          <p:nvPr/>
        </p:nvGrpSpPr>
        <p:grpSpPr>
          <a:xfrm>
            <a:off x="8001000" y="6229350"/>
            <a:ext cx="3581400" cy="285750"/>
            <a:chOff x="8001000" y="6229350"/>
            <a:chExt cx="3581400" cy="285750"/>
          </a:xfrm>
        </p:grpSpPr>
        <p:sp>
          <p:nvSpPr>
            <p:cNvPr id="114" name="Rectangle 114"/>
            <p:cNvSpPr/>
            <p:nvPr/>
          </p:nvSpPr>
          <p:spPr>
            <a:xfrm>
              <a:off x="8001000" y="6229350"/>
              <a:ext cx="3581400" cy="285750"/>
            </a:xfrm>
            <a:prstGeom prst="rect">
              <a:avLst/>
            </a:prstGeom>
            <a:solidFill>
              <a:schemeClr val="lt2"/>
            </a:solidFill>
            <a:ln w="9525">
              <a:solidFill>
                <a:schemeClr val="accent6"/>
              </a:solidFill>
            </a:ln>
          </p:spPr>
        </p:sp>
        <p:sp>
          <p:nvSpPr>
            <p:cNvPr id="115" name="Line 115"/>
            <p:cNvSpPr/>
            <p:nvPr/>
          </p:nvSpPr>
          <p:spPr>
            <a:xfrm>
              <a:off x="8877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116" name="TextBox 116"/>
            <p:cNvSpPr txBox="1"/>
            <p:nvPr/>
          </p:nvSpPr>
          <p:spPr>
            <a:xfrm>
              <a:off x="8110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06/12</a:t>
              </a:r>
            </a:p>
          </p:txBody>
        </p:sp>
        <p:sp>
          <p:nvSpPr>
            <p:cNvPr id="117" name="TextBox 117"/>
            <p:cNvSpPr txBox="1"/>
            <p:nvPr/>
          </p:nvSpPr>
          <p:spPr>
            <a:xfrm>
              <a:off x="8986647" y="6292850"/>
              <a:ext cx="2068636"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sqlite.org/arch, /fileformat2</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right)">
                                      <p:cBhvr>
                                        <p:cTn id="7" dur="600"/>
                                        <p:tgtEl>
                                          <p:spTgt spid="56"/>
                                        </p:tgtEl>
                                      </p:cBhvr>
                                    </p:animEffect>
                                  </p:childTnLst>
                                </p:cTn>
                              </p:par>
                            </p:childTnLst>
                          </p:cTn>
                        </p:par>
                        <p:par>
                          <p:cTn id="8" fill="hold">
                            <p:stCondLst>
                              <p:cond delay="600"/>
                            </p:stCondLst>
                            <p:childTnLst>
                              <p:par>
                                <p:cTn id="9" presetID="22" presetClass="entr" presetSubtype="2" fill="hold" grpId="0" nodeType="afterEffect">
                                  <p:stCondLst>
                                    <p:cond delay="500"/>
                                  </p:stCondLst>
                                  <p:childTnLst>
                                    <p:set>
                                      <p:cBhvr>
                                        <p:cTn id="10" dur="1" fill="hold">
                                          <p:stCondLst>
                                            <p:cond delay="0"/>
                                          </p:stCondLst>
                                        </p:cTn>
                                        <p:tgtEl>
                                          <p:spTgt spid="75"/>
                                        </p:tgtEl>
                                        <p:attrNameLst>
                                          <p:attrName>style.visibility</p:attrName>
                                        </p:attrNameLst>
                                      </p:cBhvr>
                                      <p:to>
                                        <p:strVal val="visible"/>
                                      </p:to>
                                    </p:set>
                                    <p:animEffect transition="in" filter="wipe(right)">
                                      <p:cBhvr>
                                        <p:cTn id="11" dur="900"/>
                                        <p:tgtEl>
                                          <p:spTgt spid="75"/>
                                        </p:tgtEl>
                                      </p:cBhvr>
                                    </p:animEffect>
                                  </p:childTnLst>
                                </p:cTn>
                              </p:par>
                            </p:childTnLst>
                          </p:cTn>
                        </p:par>
                        <p:par>
                          <p:cTn id="12" fill="hold">
                            <p:stCondLst>
                              <p:cond delay="2000"/>
                            </p:stCondLst>
                            <p:childTnLst>
                              <p:par>
                                <p:cTn id="13" presetID="10" presetClass="entr" presetSubtype="0" fill="hold" grpId="0" nodeType="afterEffect">
                                  <p:stCondLst>
                                    <p:cond delay="500"/>
                                  </p:stCondLst>
                                  <p:childTnLst>
                                    <p:set>
                                      <p:cBhvr>
                                        <p:cTn id="14" dur="1" fill="hold">
                                          <p:stCondLst>
                                            <p:cond delay="0"/>
                                          </p:stCondLst>
                                        </p:cTn>
                                        <p:tgtEl>
                                          <p:spTgt spid="103"/>
                                        </p:tgtEl>
                                        <p:attrNameLst>
                                          <p:attrName>style.visibility</p:attrName>
                                        </p:attrNameLst>
                                      </p:cBhvr>
                                      <p:to>
                                        <p:strVal val="visible"/>
                                      </p:to>
                                    </p:set>
                                    <p:animEffect transition="in" filter="fade">
                                      <p:cBhvr>
                                        <p:cTn id="15" dur="500"/>
                                        <p:tgtEl>
                                          <p:spTgt spid="103"/>
                                        </p:tgtEl>
                                      </p:cBhvr>
                                    </p:animEffect>
                                  </p:childTnLst>
                                </p:cTn>
                              </p:par>
                            </p:childTnLst>
                          </p:cTn>
                        </p:par>
                        <p:par>
                          <p:cTn id="16" fill="hold">
                            <p:stCondLst>
                              <p:cond delay="3000"/>
                            </p:stCondLst>
                            <p:childTnLst>
                              <p:par>
                                <p:cTn id="17" presetID="10" presetClass="entr" presetSubtype="0" fill="hold" grpId="0" nodeType="afterEffect">
                                  <p:stCondLst>
                                    <p:cond delay="500"/>
                                  </p:stCondLst>
                                  <p:childTnLst>
                                    <p:set>
                                      <p:cBhvr>
                                        <p:cTn id="18" dur="1" fill="hold">
                                          <p:stCondLst>
                                            <p:cond delay="0"/>
                                          </p:stCondLst>
                                        </p:cTn>
                                        <p:tgtEl>
                                          <p:spTgt spid="113"/>
                                        </p:tgtEl>
                                        <p:attrNameLst>
                                          <p:attrName>style.visibility</p:attrName>
                                        </p:attrNameLst>
                                      </p:cBhvr>
                                      <p:to>
                                        <p:strVal val="visible"/>
                                      </p:to>
                                    </p:set>
                                    <p:animEffect transition="in" filter="fade">
                                      <p:cBhvr>
                                        <p:cTn id="19"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6888823" cy="815340"/>
            <a:chOff x="594360" y="603250"/>
            <a:chExt cx="6888823" cy="815340"/>
          </a:xfrm>
        </p:grpSpPr>
        <p:sp>
          <p:nvSpPr>
            <p:cNvPr id="18" name="TextBox 18"/>
            <p:cNvSpPr txBox="1"/>
            <p:nvPr/>
          </p:nvSpPr>
          <p:spPr>
            <a:xfrm>
              <a:off x="603885" y="603250"/>
              <a:ext cx="3949762"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06 · ATOMIC COMMIT — TWO MECHANISMS</a:t>
              </a:r>
            </a:p>
          </p:txBody>
        </p:sp>
        <p:sp>
          <p:nvSpPr>
            <p:cNvPr id="19" name="TextBox 19"/>
            <p:cNvSpPr txBox="1"/>
            <p:nvPr/>
          </p:nvSpPr>
          <p:spPr>
            <a:xfrm>
              <a:off x="594360" y="831850"/>
              <a:ext cx="6888823"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Rollback journal vs write-ahead log</a:t>
              </a:r>
            </a:p>
          </p:txBody>
        </p:sp>
      </p:grpSp>
      <p:grpSp>
        <p:nvGrpSpPr>
          <p:cNvPr id="24" name="rb-label"/>
          <p:cNvGrpSpPr/>
          <p:nvPr/>
        </p:nvGrpSpPr>
        <p:grpSpPr>
          <a:xfrm>
            <a:off x="601218" y="1631950"/>
            <a:ext cx="1810135" cy="1199007"/>
            <a:chOff x="601218" y="1631950"/>
            <a:chExt cx="1810135" cy="1199007"/>
          </a:xfrm>
        </p:grpSpPr>
        <p:sp>
          <p:nvSpPr>
            <p:cNvPr id="21" name="TextBox 21"/>
            <p:cNvSpPr txBox="1"/>
            <p:nvPr/>
          </p:nvSpPr>
          <p:spPr>
            <a:xfrm>
              <a:off x="603885" y="1631950"/>
              <a:ext cx="1804184"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ROLLBACK JOURNAL</a:t>
              </a:r>
            </a:p>
          </p:txBody>
        </p:sp>
        <p:sp>
          <p:nvSpPr>
            <p:cNvPr id="22" name="TextBox 22"/>
            <p:cNvSpPr txBox="1"/>
            <p:nvPr/>
          </p:nvSpPr>
          <p:spPr>
            <a:xfrm>
              <a:off x="603504" y="1905000"/>
              <a:ext cx="131255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The default mode.</a:t>
              </a:r>
            </a:p>
          </p:txBody>
        </p:sp>
        <p:sp>
          <p:nvSpPr>
            <p:cNvPr id="23" name="TextBox 23"/>
            <p:cNvSpPr txBox="1"/>
            <p:nvPr/>
          </p:nvSpPr>
          <p:spPr>
            <a:xfrm>
              <a:off x="601218" y="2222500"/>
              <a:ext cx="1810135" cy="608457"/>
            </a:xfrm>
            <a:prstGeom prst="rect">
              <a:avLst/>
            </a:prstGeom>
            <a:noFill/>
            <a:ln>
              <a:noFill/>
            </a:ln>
          </p:spPr>
          <p:txBody>
            <a:bodyPr wrap="none" lIns="0" tIns="0" rIns="0" bIns="0" anchor="t" anchorCtr="0">
              <a:spAutoFit/>
            </a:bodyPr>
            <a:lstStyle/>
            <a:p>
              <a:pPr algn="l">
                <a:lnSpc>
                  <a:spcPts val="2250"/>
                </a:lnSpc>
              </a:pPr>
              <a:r>
                <a:rPr lang="en" sz="1650" dirty="0">
                  <a:solidFill>
                    <a:schemeClr val="dk1"/>
                  </a:solidFill>
                  <a:latin typeface="+mn-lt"/>
                  <a:ea typeface="+mn-ea"/>
                  <a:cs typeface="+mn-cs"/>
                </a:rPr>
                <a:t>Save the old pages,</a:t>
              </a:r>
              <a:br>
                <a:rPr lang="en" sz="1650" dirty="0">
                  <a:solidFill>
                    <a:schemeClr val="dk1"/>
                  </a:solidFill>
                  <a:latin typeface="+mn-lt"/>
                  <a:ea typeface="+mn-ea"/>
                  <a:cs typeface="+mn-cs"/>
                </a:rPr>
              </a:br>
              <a:r>
                <a:rPr lang="en" sz="1650" dirty="0">
                  <a:solidFill>
                    <a:schemeClr val="dk1"/>
                  </a:solidFill>
                  <a:latin typeface="+mn-lt"/>
                  <a:ea typeface="+mn-ea"/>
                  <a:cs typeface="+mn-cs"/>
                </a:rPr>
                <a:t>overwrite in place.</a:t>
              </a:r>
            </a:p>
          </p:txBody>
        </p:sp>
      </p:grpSp>
      <p:grpSp>
        <p:nvGrpSpPr>
          <p:cNvPr id="42" name="rb-diagram"/>
          <p:cNvGrpSpPr/>
          <p:nvPr/>
        </p:nvGrpSpPr>
        <p:grpSpPr>
          <a:xfrm>
            <a:off x="2775204" y="1866900"/>
            <a:ext cx="5987796" cy="1491996"/>
            <a:chOff x="2775204" y="1866900"/>
            <a:chExt cx="5987796" cy="1491996"/>
          </a:xfrm>
        </p:grpSpPr>
        <p:sp>
          <p:nvSpPr>
            <p:cNvPr id="25" name="Rectangle 25"/>
            <p:cNvSpPr/>
            <p:nvPr/>
          </p:nvSpPr>
          <p:spPr>
            <a:xfrm>
              <a:off x="2781300" y="1866900"/>
              <a:ext cx="2057400" cy="1181100"/>
            </a:xfrm>
            <a:prstGeom prst="roundRect">
              <a:avLst>
                <a:gd name="adj" fmla="val 1613"/>
              </a:avLst>
            </a:prstGeom>
            <a:noFill/>
            <a:ln w="14288">
              <a:solidFill>
                <a:schemeClr val="accent1"/>
              </a:solidFill>
            </a:ln>
          </p:spPr>
        </p:sp>
        <p:sp>
          <p:nvSpPr>
            <p:cNvPr id="26" name="TextBox 26"/>
            <p:cNvSpPr txBox="1"/>
            <p:nvPr/>
          </p:nvSpPr>
          <p:spPr>
            <a:xfrm>
              <a:off x="2927604" y="1962150"/>
              <a:ext cx="91420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database file</a:t>
              </a:r>
            </a:p>
          </p:txBody>
        </p:sp>
        <p:grpSp>
          <p:nvGrpSpPr>
            <p:cNvPr id="31" name="Group 31"/>
            <p:cNvGrpSpPr/>
            <p:nvPr/>
          </p:nvGrpSpPr>
          <p:grpSpPr>
            <a:xfrm>
              <a:off x="2933700" y="2286000"/>
              <a:ext cx="1752600" cy="533400"/>
              <a:chOff x="2933700" y="2286000"/>
              <a:chExt cx="1752600" cy="533400"/>
            </a:xfrm>
          </p:grpSpPr>
          <p:sp>
            <p:nvSpPr>
              <p:cNvPr id="27" name="Rectangle 27"/>
              <p:cNvSpPr/>
              <p:nvPr/>
            </p:nvSpPr>
            <p:spPr>
              <a:xfrm>
                <a:off x="2933700" y="2286000"/>
                <a:ext cx="381000" cy="533400"/>
              </a:xfrm>
              <a:prstGeom prst="rect">
                <a:avLst/>
              </a:prstGeom>
              <a:solidFill>
                <a:schemeClr val="lt2"/>
              </a:solidFill>
              <a:ln w="14288">
                <a:solidFill>
                  <a:schemeClr val="accent1"/>
                </a:solidFill>
              </a:ln>
            </p:spPr>
          </p:sp>
          <p:sp>
            <p:nvSpPr>
              <p:cNvPr id="28" name="Rectangle 28"/>
              <p:cNvSpPr/>
              <p:nvPr/>
            </p:nvSpPr>
            <p:spPr>
              <a:xfrm>
                <a:off x="3390900" y="2286000"/>
                <a:ext cx="381000" cy="533400"/>
              </a:xfrm>
              <a:prstGeom prst="rect">
                <a:avLst/>
              </a:prstGeom>
              <a:solidFill>
                <a:schemeClr val="accent2">
                  <a:alpha val="25000"/>
                </a:schemeClr>
              </a:solidFill>
              <a:ln w="14288">
                <a:solidFill>
                  <a:schemeClr val="accent2"/>
                </a:solidFill>
              </a:ln>
            </p:spPr>
          </p:sp>
          <p:sp>
            <p:nvSpPr>
              <p:cNvPr id="29" name="Rectangle 29"/>
              <p:cNvSpPr/>
              <p:nvPr/>
            </p:nvSpPr>
            <p:spPr>
              <a:xfrm>
                <a:off x="3848100" y="2286000"/>
                <a:ext cx="381000" cy="533400"/>
              </a:xfrm>
              <a:prstGeom prst="rect">
                <a:avLst/>
              </a:prstGeom>
              <a:solidFill>
                <a:schemeClr val="lt2"/>
              </a:solidFill>
              <a:ln w="14288">
                <a:solidFill>
                  <a:schemeClr val="accent1"/>
                </a:solidFill>
              </a:ln>
            </p:spPr>
          </p:sp>
          <p:sp>
            <p:nvSpPr>
              <p:cNvPr id="30" name="Rectangle 30"/>
              <p:cNvSpPr/>
              <p:nvPr/>
            </p:nvSpPr>
            <p:spPr>
              <a:xfrm>
                <a:off x="4305300" y="2286000"/>
                <a:ext cx="381000" cy="533400"/>
              </a:xfrm>
              <a:prstGeom prst="rect">
                <a:avLst/>
              </a:prstGeom>
              <a:solidFill>
                <a:schemeClr val="accent2">
                  <a:alpha val="25000"/>
                </a:schemeClr>
              </a:solidFill>
              <a:ln w="14288">
                <a:solidFill>
                  <a:schemeClr val="accent2"/>
                </a:solidFill>
              </a:ln>
            </p:spPr>
          </p:sp>
        </p:grpSp>
        <p:sp>
          <p:nvSpPr>
            <p:cNvPr id="32" name="Line 32"/>
            <p:cNvSpPr/>
            <p:nvPr/>
          </p:nvSpPr>
          <p:spPr>
            <a:xfrm>
              <a:off x="4876800" y="2400300"/>
              <a:ext cx="1943100" cy="1"/>
            </a:xfrm>
            <a:prstGeom prst="line">
              <a:avLst/>
            </a:prstGeom>
            <a:noFill/>
            <a:ln w="14288">
              <a:solidFill>
                <a:schemeClr val="accent1"/>
              </a:solidFill>
              <a:tailEnd type="triangle" w="lg" len="lg"/>
            </a:ln>
          </p:spPr>
        </p:sp>
        <p:sp>
          <p:nvSpPr>
            <p:cNvPr id="33" name="TextBox 33"/>
            <p:cNvSpPr txBox="1"/>
            <p:nvPr/>
          </p:nvSpPr>
          <p:spPr>
            <a:xfrm>
              <a:off x="4985004" y="2133600"/>
              <a:ext cx="153846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① copy original pages</a:t>
              </a:r>
            </a:p>
          </p:txBody>
        </p:sp>
        <p:sp>
          <p:nvSpPr>
            <p:cNvPr id="34" name="Line 34"/>
            <p:cNvSpPr/>
            <p:nvPr/>
          </p:nvSpPr>
          <p:spPr>
            <a:xfrm flipH="1">
              <a:off x="4914900" y="2762250"/>
              <a:ext cx="1905000" cy="1"/>
            </a:xfrm>
            <a:prstGeom prst="line">
              <a:avLst/>
            </a:prstGeom>
            <a:noFill/>
            <a:ln w="11906">
              <a:solidFill>
                <a:schemeClr val="accent1"/>
              </a:solidFill>
              <a:prstDash val="lgDash"/>
              <a:tailEnd type="triangle" w="lg" len="lg"/>
            </a:ln>
          </p:spPr>
        </p:sp>
        <p:sp>
          <p:nvSpPr>
            <p:cNvPr id="35" name="TextBox 35"/>
            <p:cNvSpPr txBox="1"/>
            <p:nvPr/>
          </p:nvSpPr>
          <p:spPr>
            <a:xfrm>
              <a:off x="5024247" y="2844800"/>
              <a:ext cx="2441021"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crash or ROLLBACK: play the journal back</a:t>
              </a:r>
            </a:p>
          </p:txBody>
        </p:sp>
        <p:sp>
          <p:nvSpPr>
            <p:cNvPr id="36" name="Rectangle 36"/>
            <p:cNvSpPr/>
            <p:nvPr/>
          </p:nvSpPr>
          <p:spPr>
            <a:xfrm>
              <a:off x="6858000" y="1866900"/>
              <a:ext cx="1905000" cy="1181100"/>
            </a:xfrm>
            <a:prstGeom prst="roundRect">
              <a:avLst>
                <a:gd name="adj" fmla="val 1613"/>
              </a:avLst>
            </a:prstGeom>
            <a:noFill/>
            <a:ln w="14288">
              <a:solidFill>
                <a:schemeClr val="accent1"/>
              </a:solidFill>
              <a:prstDash val="dash"/>
            </a:ln>
          </p:spPr>
        </p:sp>
        <p:sp>
          <p:nvSpPr>
            <p:cNvPr id="37" name="TextBox 37"/>
            <p:cNvSpPr txBox="1"/>
            <p:nvPr/>
          </p:nvSpPr>
          <p:spPr>
            <a:xfrm>
              <a:off x="7004304" y="1962150"/>
              <a:ext cx="76384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journal file</a:t>
              </a:r>
            </a:p>
          </p:txBody>
        </p:sp>
        <p:grpSp>
          <p:nvGrpSpPr>
            <p:cNvPr id="40" name="Group 40"/>
            <p:cNvGrpSpPr/>
            <p:nvPr/>
          </p:nvGrpSpPr>
          <p:grpSpPr>
            <a:xfrm>
              <a:off x="7010400" y="2286000"/>
              <a:ext cx="838200" cy="533400"/>
              <a:chOff x="7010400" y="2286000"/>
              <a:chExt cx="838200" cy="533400"/>
            </a:xfrm>
          </p:grpSpPr>
          <p:sp>
            <p:nvSpPr>
              <p:cNvPr id="38" name="Rectangle 38"/>
              <p:cNvSpPr/>
              <p:nvPr/>
            </p:nvSpPr>
            <p:spPr>
              <a:xfrm>
                <a:off x="7010400" y="2286000"/>
                <a:ext cx="381000" cy="533400"/>
              </a:xfrm>
              <a:prstGeom prst="rect">
                <a:avLst/>
              </a:prstGeom>
              <a:solidFill>
                <a:schemeClr val="lt2"/>
              </a:solidFill>
              <a:ln w="14288">
                <a:solidFill>
                  <a:schemeClr val="accent1"/>
                </a:solidFill>
              </a:ln>
            </p:spPr>
          </p:sp>
          <p:sp>
            <p:nvSpPr>
              <p:cNvPr id="39" name="Rectangle 39"/>
              <p:cNvSpPr/>
              <p:nvPr/>
            </p:nvSpPr>
            <p:spPr>
              <a:xfrm>
                <a:off x="7467600" y="2286000"/>
                <a:ext cx="381000" cy="533400"/>
              </a:xfrm>
              <a:prstGeom prst="rect">
                <a:avLst/>
              </a:prstGeom>
              <a:solidFill>
                <a:schemeClr val="lt2"/>
              </a:solidFill>
              <a:ln w="14288">
                <a:solidFill>
                  <a:schemeClr val="accent1"/>
                </a:solidFill>
              </a:ln>
            </p:spPr>
          </p:sp>
        </p:grpSp>
        <p:sp>
          <p:nvSpPr>
            <p:cNvPr id="41" name="TextBox 41"/>
            <p:cNvSpPr txBox="1"/>
            <p:nvPr/>
          </p:nvSpPr>
          <p:spPr>
            <a:xfrm>
              <a:off x="2775204" y="3124200"/>
              <a:ext cx="3257142"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② write the changes </a:t>
              </a:r>
              <a:r>
                <a:rPr lang="en" sz="1200" dirty="0">
                  <a:solidFill>
                    <a:schemeClr val="accent2"/>
                  </a:solidFill>
                  <a:latin typeface="+mn-lt"/>
                  <a:ea typeface="+mn-ea"/>
                  <a:cs typeface="+mn-cs"/>
                </a:rPr>
                <a:t>directly into the database</a:t>
              </a:r>
            </a:p>
          </p:txBody>
        </p:sp>
      </p:grpSp>
      <p:grpSp>
        <p:nvGrpSpPr>
          <p:cNvPr id="46" name="rb-commit"/>
          <p:cNvGrpSpPr/>
          <p:nvPr/>
        </p:nvGrpSpPr>
        <p:grpSpPr>
          <a:xfrm>
            <a:off x="8991600" y="1905000"/>
            <a:ext cx="1523933" cy="833120"/>
            <a:chOff x="8991600" y="1905000"/>
            <a:chExt cx="1523933" cy="833120"/>
          </a:xfrm>
        </p:grpSpPr>
        <p:sp>
          <p:nvSpPr>
            <p:cNvPr id="43" name="Line 43"/>
            <p:cNvSpPr/>
            <p:nvPr/>
          </p:nvSpPr>
          <p:spPr>
            <a:xfrm>
              <a:off x="8991600" y="2038350"/>
              <a:ext cx="152400" cy="9525"/>
            </a:xfrm>
            <a:custGeom>
              <a:avLst/>
              <a:gdLst/>
              <a:ahLst/>
              <a:cxnLst/>
              <a:rect l="l" t="t" r="r" b="b"/>
              <a:pathLst>
                <a:path w="152400" h="9525">
                  <a:moveTo>
                    <a:pt x="0" y="0"/>
                  </a:moveTo>
                  <a:lnTo>
                    <a:pt x="152400" y="0"/>
                  </a:lnTo>
                </a:path>
              </a:pathLst>
            </a:custGeom>
            <a:noFill/>
            <a:ln w="19050">
              <a:solidFill>
                <a:schemeClr val="accent2"/>
              </a:solidFill>
            </a:ln>
          </p:spPr>
        </p:sp>
        <p:sp>
          <p:nvSpPr>
            <p:cNvPr id="44" name="TextBox 44"/>
            <p:cNvSpPr txBox="1"/>
            <p:nvPr/>
          </p:nvSpPr>
          <p:spPr>
            <a:xfrm>
              <a:off x="9212580" y="1905000"/>
              <a:ext cx="1302953"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③ COMMIT =</a:t>
              </a:r>
            </a:p>
          </p:txBody>
        </p:sp>
        <p:sp>
          <p:nvSpPr>
            <p:cNvPr id="45" name="TextBox 45"/>
            <p:cNvSpPr txBox="1"/>
            <p:nvPr/>
          </p:nvSpPr>
          <p:spPr>
            <a:xfrm>
              <a:off x="9212580" y="2178050"/>
              <a:ext cx="1225791" cy="560070"/>
            </a:xfrm>
            <a:prstGeom prst="rect">
              <a:avLst/>
            </a:prstGeom>
            <a:noFill/>
            <a:ln>
              <a:noFill/>
            </a:ln>
          </p:spPr>
          <p:txBody>
            <a:bodyPr wrap="none" lIns="0" tIns="0" rIns="0" bIns="0" anchor="t" anchorCtr="0">
              <a:spAutoFit/>
            </a:bodyPr>
            <a:lstStyle/>
            <a:p>
              <a:pPr algn="l">
                <a:lnSpc>
                  <a:spcPts val="2100"/>
                </a:lnSpc>
              </a:pPr>
              <a:r>
                <a:rPr lang="en" sz="1500" dirty="0">
                  <a:solidFill>
                    <a:schemeClr val="dk1"/>
                  </a:solidFill>
                  <a:latin typeface="+mn-lt"/>
                  <a:ea typeface="+mn-ea"/>
                  <a:cs typeface="+mn-cs"/>
                </a:rPr>
                <a:t>the journal file</a:t>
              </a:r>
              <a:br>
                <a:rPr lang="en" sz="1500" dirty="0">
                  <a:solidFill>
                    <a:schemeClr val="dk1"/>
                  </a:solidFill>
                  <a:latin typeface="+mn-lt"/>
                  <a:ea typeface="+mn-ea"/>
                  <a:cs typeface="+mn-cs"/>
                </a:rPr>
              </a:br>
              <a:r>
                <a:rPr lang="en" sz="1500" dirty="0">
                  <a:solidFill>
                    <a:schemeClr val="dk1"/>
                  </a:solidFill>
                  <a:latin typeface="+mn-lt"/>
                  <a:ea typeface="+mn-ea"/>
                  <a:cs typeface="+mn-cs"/>
                </a:rPr>
                <a:t>is deleted</a:t>
              </a:r>
            </a:p>
          </p:txBody>
        </p:sp>
      </p:grpSp>
      <p:grpSp>
        <p:nvGrpSpPr>
          <p:cNvPr id="48" name="lane-divider"/>
          <p:cNvGrpSpPr/>
          <p:nvPr/>
        </p:nvGrpSpPr>
        <p:grpSpPr>
          <a:xfrm>
            <a:off x="609600" y="3733800"/>
            <a:ext cx="10972800" cy="9525"/>
            <a:chOff x="609600" y="3733800"/>
            <a:chExt cx="10972800" cy="9525"/>
          </a:xfrm>
        </p:grpSpPr>
        <p:sp>
          <p:nvSpPr>
            <p:cNvPr id="47" name="Line 47"/>
            <p:cNvSpPr/>
            <p:nvPr/>
          </p:nvSpPr>
          <p:spPr>
            <a:xfrm>
              <a:off x="609600" y="3733800"/>
              <a:ext cx="10972800" cy="9525"/>
            </a:xfrm>
            <a:custGeom>
              <a:avLst/>
              <a:gdLst/>
              <a:ahLst/>
              <a:cxnLst/>
              <a:rect l="l" t="t" r="r" b="b"/>
              <a:pathLst>
                <a:path w="10972800" h="9525">
                  <a:moveTo>
                    <a:pt x="0" y="0"/>
                  </a:moveTo>
                  <a:lnTo>
                    <a:pt x="10972800" y="0"/>
                  </a:lnTo>
                </a:path>
              </a:pathLst>
            </a:custGeom>
            <a:noFill/>
            <a:ln w="9525">
              <a:solidFill>
                <a:schemeClr val="accent6"/>
              </a:solidFill>
              <a:prstDash val="dash"/>
            </a:ln>
          </p:spPr>
        </p:sp>
      </p:grpSp>
      <p:grpSp>
        <p:nvGrpSpPr>
          <p:cNvPr id="52" name="wal-label"/>
          <p:cNvGrpSpPr/>
          <p:nvPr/>
        </p:nvGrpSpPr>
        <p:grpSpPr>
          <a:xfrm>
            <a:off x="601218" y="3956050"/>
            <a:ext cx="1788037" cy="1484757"/>
            <a:chOff x="601218" y="3956050"/>
            <a:chExt cx="1788037" cy="1484757"/>
          </a:xfrm>
        </p:grpSpPr>
        <p:sp>
          <p:nvSpPr>
            <p:cNvPr id="49" name="TextBox 49"/>
            <p:cNvSpPr txBox="1"/>
            <p:nvPr/>
          </p:nvSpPr>
          <p:spPr>
            <a:xfrm>
              <a:off x="603885" y="3956050"/>
              <a:ext cx="1683312" cy="220028"/>
            </a:xfrm>
            <a:prstGeom prst="rect">
              <a:avLst/>
            </a:prstGeom>
            <a:noFill/>
            <a:ln>
              <a:noFill/>
            </a:ln>
          </p:spPr>
          <p:txBody>
            <a:bodyPr wrap="none" lIns="0" tIns="0" rIns="0" bIns="0" anchor="t" anchorCtr="0">
              <a:spAutoFit/>
            </a:bodyPr>
            <a:lstStyle/>
            <a:p>
              <a:pPr algn="l"/>
              <a:r>
                <a:rPr lang="en" sz="1120" spc="150" dirty="0">
                  <a:solidFill>
                    <a:schemeClr val="accent3"/>
                  </a:solidFill>
                  <a:latin typeface="+mn-lt"/>
                  <a:ea typeface="+mn-ea"/>
                  <a:cs typeface="+mn-cs"/>
                </a:rPr>
                <a:t>WRITE-AHEAD LOG</a:t>
              </a:r>
            </a:p>
          </p:txBody>
        </p:sp>
        <p:sp>
          <p:nvSpPr>
            <p:cNvPr id="50" name="TextBox 50"/>
            <p:cNvSpPr txBox="1"/>
            <p:nvPr/>
          </p:nvSpPr>
          <p:spPr>
            <a:xfrm>
              <a:off x="603504" y="4229100"/>
              <a:ext cx="1785751"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Since 3.7.0 (2010-07-21).</a:t>
              </a:r>
            </a:p>
          </p:txBody>
        </p:sp>
        <p:sp>
          <p:nvSpPr>
            <p:cNvPr id="51" name="TextBox 51"/>
            <p:cNvSpPr txBox="1"/>
            <p:nvPr/>
          </p:nvSpPr>
          <p:spPr>
            <a:xfrm>
              <a:off x="601218" y="4546600"/>
              <a:ext cx="1743666" cy="894207"/>
            </a:xfrm>
            <a:prstGeom prst="rect">
              <a:avLst/>
            </a:prstGeom>
            <a:noFill/>
            <a:ln>
              <a:noFill/>
            </a:ln>
          </p:spPr>
          <p:txBody>
            <a:bodyPr wrap="none" lIns="0" tIns="0" rIns="0" bIns="0" anchor="t" anchorCtr="0">
              <a:spAutoFit/>
            </a:bodyPr>
            <a:lstStyle/>
            <a:p>
              <a:pPr algn="l">
                <a:lnSpc>
                  <a:spcPts val="2250"/>
                </a:lnSpc>
              </a:pPr>
              <a:r>
                <a:rPr lang="en" sz="1650" dirty="0">
                  <a:solidFill>
                    <a:schemeClr val="dk1"/>
                  </a:solidFill>
                  <a:latin typeface="+mn-lt"/>
                  <a:ea typeface="+mn-ea"/>
                  <a:cs typeface="+mn-cs"/>
                </a:rPr>
                <a:t>Append the new,</a:t>
              </a:r>
              <a:br>
                <a:rPr lang="en" sz="1650" dirty="0">
                  <a:solidFill>
                    <a:schemeClr val="dk1"/>
                  </a:solidFill>
                  <a:latin typeface="+mn-lt"/>
                  <a:ea typeface="+mn-ea"/>
                  <a:cs typeface="+mn-cs"/>
                </a:rPr>
              </a:br>
              <a:r>
                <a:rPr lang="en" sz="1650" dirty="0">
                  <a:solidFill>
                    <a:schemeClr val="dk1"/>
                  </a:solidFill>
                  <a:latin typeface="+mn-lt"/>
                  <a:ea typeface="+mn-ea"/>
                  <a:cs typeface="+mn-cs"/>
                </a:rPr>
                <a:t>leave the database</a:t>
              </a:r>
              <a:br>
                <a:rPr lang="en" sz="1650" dirty="0">
                  <a:solidFill>
                    <a:schemeClr val="dk1"/>
                  </a:solidFill>
                  <a:latin typeface="+mn-lt"/>
                  <a:ea typeface="+mn-ea"/>
                  <a:cs typeface="+mn-cs"/>
                </a:rPr>
              </a:br>
              <a:r>
                <a:rPr lang="en" sz="1650" dirty="0">
                  <a:solidFill>
                    <a:schemeClr val="dk1"/>
                  </a:solidFill>
                  <a:latin typeface="+mn-lt"/>
                  <a:ea typeface="+mn-ea"/>
                  <a:cs typeface="+mn-cs"/>
                </a:rPr>
                <a:t>alone.</a:t>
              </a:r>
            </a:p>
          </p:txBody>
        </p:sp>
      </p:grpSp>
      <p:grpSp>
        <p:nvGrpSpPr>
          <p:cNvPr id="66" name="wal-db"/>
          <p:cNvGrpSpPr/>
          <p:nvPr/>
        </p:nvGrpSpPr>
        <p:grpSpPr>
          <a:xfrm>
            <a:off x="2781300" y="4191000"/>
            <a:ext cx="2057400" cy="1568196"/>
            <a:chOff x="2781300" y="4191000"/>
            <a:chExt cx="2057400" cy="1568196"/>
          </a:xfrm>
        </p:grpSpPr>
        <p:sp>
          <p:nvSpPr>
            <p:cNvPr id="53" name="Rectangle 53"/>
            <p:cNvSpPr/>
            <p:nvPr/>
          </p:nvSpPr>
          <p:spPr>
            <a:xfrm>
              <a:off x="2781300" y="4191000"/>
              <a:ext cx="2057400" cy="1181100"/>
            </a:xfrm>
            <a:prstGeom prst="roundRect">
              <a:avLst>
                <a:gd name="adj" fmla="val 1613"/>
              </a:avLst>
            </a:prstGeom>
            <a:noFill/>
            <a:ln w="14288">
              <a:solidFill>
                <a:schemeClr val="accent1"/>
              </a:solidFill>
            </a:ln>
          </p:spPr>
        </p:sp>
        <p:sp>
          <p:nvSpPr>
            <p:cNvPr id="54" name="TextBox 54"/>
            <p:cNvSpPr txBox="1"/>
            <p:nvPr/>
          </p:nvSpPr>
          <p:spPr>
            <a:xfrm>
              <a:off x="2927604" y="4286250"/>
              <a:ext cx="91420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database file</a:t>
              </a:r>
            </a:p>
          </p:txBody>
        </p:sp>
        <p:grpSp>
          <p:nvGrpSpPr>
            <p:cNvPr id="59" name="Group 59"/>
            <p:cNvGrpSpPr/>
            <p:nvPr/>
          </p:nvGrpSpPr>
          <p:grpSpPr>
            <a:xfrm>
              <a:off x="2933700" y="4610100"/>
              <a:ext cx="1752600" cy="533400"/>
              <a:chOff x="2933700" y="4610100"/>
              <a:chExt cx="1752600" cy="533400"/>
            </a:xfrm>
          </p:grpSpPr>
          <p:sp>
            <p:nvSpPr>
              <p:cNvPr id="55" name="Rectangle 55"/>
              <p:cNvSpPr/>
              <p:nvPr/>
            </p:nvSpPr>
            <p:spPr>
              <a:xfrm>
                <a:off x="2933700" y="4610100"/>
                <a:ext cx="381000" cy="533400"/>
              </a:xfrm>
              <a:prstGeom prst="rect">
                <a:avLst/>
              </a:prstGeom>
              <a:solidFill>
                <a:schemeClr val="lt2"/>
              </a:solidFill>
              <a:ln w="14288">
                <a:solidFill>
                  <a:schemeClr val="accent1"/>
                </a:solidFill>
              </a:ln>
            </p:spPr>
          </p:sp>
          <p:sp>
            <p:nvSpPr>
              <p:cNvPr id="56" name="Rectangle 56"/>
              <p:cNvSpPr/>
              <p:nvPr/>
            </p:nvSpPr>
            <p:spPr>
              <a:xfrm>
                <a:off x="3390900" y="4610100"/>
                <a:ext cx="381000" cy="533400"/>
              </a:xfrm>
              <a:prstGeom prst="rect">
                <a:avLst/>
              </a:prstGeom>
              <a:solidFill>
                <a:schemeClr val="lt2"/>
              </a:solidFill>
              <a:ln w="14288">
                <a:solidFill>
                  <a:schemeClr val="accent1"/>
                </a:solidFill>
              </a:ln>
            </p:spPr>
          </p:sp>
          <p:sp>
            <p:nvSpPr>
              <p:cNvPr id="57" name="Rectangle 57"/>
              <p:cNvSpPr/>
              <p:nvPr/>
            </p:nvSpPr>
            <p:spPr>
              <a:xfrm>
                <a:off x="3848100" y="4610100"/>
                <a:ext cx="381000" cy="533400"/>
              </a:xfrm>
              <a:prstGeom prst="rect">
                <a:avLst/>
              </a:prstGeom>
              <a:solidFill>
                <a:schemeClr val="lt2"/>
              </a:solidFill>
              <a:ln w="14288">
                <a:solidFill>
                  <a:schemeClr val="accent1"/>
                </a:solidFill>
              </a:ln>
            </p:spPr>
          </p:sp>
          <p:sp>
            <p:nvSpPr>
              <p:cNvPr id="58" name="Rectangle 58"/>
              <p:cNvSpPr/>
              <p:nvPr/>
            </p:nvSpPr>
            <p:spPr>
              <a:xfrm>
                <a:off x="4305300" y="4610100"/>
                <a:ext cx="381000" cy="533400"/>
              </a:xfrm>
              <a:prstGeom prst="rect">
                <a:avLst/>
              </a:prstGeom>
              <a:solidFill>
                <a:schemeClr val="lt2"/>
              </a:solidFill>
              <a:ln w="14288">
                <a:solidFill>
                  <a:schemeClr val="accent1"/>
                </a:solidFill>
              </a:ln>
            </p:spPr>
          </p:sp>
        </p:grpSp>
        <p:grpSp>
          <p:nvGrpSpPr>
            <p:cNvPr id="64" name="Group 64"/>
            <p:cNvGrpSpPr/>
            <p:nvPr/>
          </p:nvGrpSpPr>
          <p:grpSpPr>
            <a:xfrm>
              <a:off x="2809875" y="5534025"/>
              <a:ext cx="171450" cy="171450"/>
              <a:chOff x="2809875" y="5534025"/>
              <a:chExt cx="171450" cy="171450"/>
            </a:xfrm>
          </p:grpSpPr>
          <p:sp>
            <p:nvSpPr>
              <p:cNvPr id="60" name="Freeform 60"/>
              <p:cNvSpPr/>
              <p:nvPr/>
            </p:nvSpPr>
            <p:spPr>
              <a:xfrm>
                <a:off x="2828925" y="5534025"/>
                <a:ext cx="76200" cy="76200"/>
              </a:xfrm>
              <a:custGeom>
                <a:avLst/>
                <a:gdLst/>
                <a:ahLst/>
                <a:cxnLst/>
                <a:rect l="l" t="t" r="r" b="b"/>
                <a:pathLst>
                  <a:path w="76200" h="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path>
                </a:pathLst>
              </a:custGeom>
              <a:noFill/>
              <a:ln w="14288">
                <a:solidFill>
                  <a:srgbClr val="9FB6CF"/>
                </a:solidFill>
              </a:ln>
            </p:spPr>
          </p:sp>
          <p:sp>
            <p:nvSpPr>
              <p:cNvPr id="61" name="Freeform 61"/>
              <p:cNvSpPr/>
              <p:nvPr/>
            </p:nvSpPr>
            <p:spPr>
              <a:xfrm>
                <a:off x="2809875" y="5648325"/>
                <a:ext cx="114300" cy="57150"/>
              </a:xfrm>
              <a:custGeom>
                <a:avLst/>
                <a:gdLst/>
                <a:ahLst/>
                <a:cxnLst/>
                <a:rect l="l" t="t" r="r" b="b"/>
                <a:pathLst>
                  <a:path w="114300" h="57150">
                    <a:moveTo>
                      <a:pt x="0" y="57150"/>
                    </a:moveTo>
                    <a:lnTo>
                      <a:pt x="0" y="38100"/>
                    </a:lnTo>
                    <a:cubicBezTo>
                      <a:pt x="0" y="17058"/>
                      <a:pt x="17058" y="0"/>
                      <a:pt x="38100" y="0"/>
                    </a:cubicBezTo>
                    <a:lnTo>
                      <a:pt x="76200" y="0"/>
                    </a:lnTo>
                    <a:cubicBezTo>
                      <a:pt x="97242" y="0"/>
                      <a:pt x="114300" y="17058"/>
                      <a:pt x="114300" y="38100"/>
                    </a:cubicBezTo>
                    <a:lnTo>
                      <a:pt x="114300" y="57150"/>
                    </a:lnTo>
                  </a:path>
                </a:pathLst>
              </a:custGeom>
              <a:noFill/>
              <a:ln w="14288">
                <a:solidFill>
                  <a:srgbClr val="9FB6CF"/>
                </a:solidFill>
              </a:ln>
            </p:spPr>
          </p:sp>
          <p:sp>
            <p:nvSpPr>
              <p:cNvPr id="62" name="Freeform 62"/>
              <p:cNvSpPr/>
              <p:nvPr/>
            </p:nvSpPr>
            <p:spPr>
              <a:xfrm>
                <a:off x="2933700" y="5535263"/>
                <a:ext cx="28650" cy="73819"/>
              </a:xfrm>
              <a:custGeom>
                <a:avLst/>
                <a:gdLst/>
                <a:ahLst/>
                <a:cxnLst/>
                <a:rect l="l" t="t" r="r" b="b"/>
                <a:pathLst>
                  <a:path w="28650" h="73819">
                    <a:moveTo>
                      <a:pt x="0" y="0"/>
                    </a:moveTo>
                    <a:cubicBezTo>
                      <a:pt x="16858" y="4316"/>
                      <a:pt x="28650" y="19507"/>
                      <a:pt x="28650" y="36909"/>
                    </a:cubicBezTo>
                    <a:cubicBezTo>
                      <a:pt x="28650" y="54312"/>
                      <a:pt x="16858" y="69502"/>
                      <a:pt x="0" y="73819"/>
                    </a:cubicBezTo>
                  </a:path>
                </a:pathLst>
              </a:custGeom>
              <a:noFill/>
              <a:ln w="14288">
                <a:solidFill>
                  <a:srgbClr val="9FB6CF"/>
                </a:solidFill>
              </a:ln>
            </p:spPr>
          </p:sp>
          <p:sp>
            <p:nvSpPr>
              <p:cNvPr id="63" name="Freeform 63"/>
              <p:cNvSpPr/>
              <p:nvPr/>
            </p:nvSpPr>
            <p:spPr>
              <a:xfrm>
                <a:off x="2952750" y="5649754"/>
                <a:ext cx="28575" cy="55721"/>
              </a:xfrm>
              <a:custGeom>
                <a:avLst/>
                <a:gdLst/>
                <a:ahLst/>
                <a:cxnLst/>
                <a:rect l="l" t="t" r="r" b="b"/>
                <a:pathLst>
                  <a:path w="28575" h="55721">
                    <a:moveTo>
                      <a:pt x="28575" y="55721"/>
                    </a:moveTo>
                    <a:lnTo>
                      <a:pt x="28575" y="36671"/>
                    </a:lnTo>
                    <a:cubicBezTo>
                      <a:pt x="28476" y="19379"/>
                      <a:pt x="16743" y="4323"/>
                      <a:pt x="0" y="0"/>
                    </a:cubicBezTo>
                  </a:path>
                </a:pathLst>
              </a:custGeom>
              <a:noFill/>
              <a:ln w="14288">
                <a:solidFill>
                  <a:srgbClr val="9FB6CF"/>
                </a:solidFill>
              </a:ln>
            </p:spPr>
          </p:sp>
        </p:grpSp>
        <p:sp>
          <p:nvSpPr>
            <p:cNvPr id="65" name="TextBox 65"/>
            <p:cNvSpPr txBox="1"/>
            <p:nvPr/>
          </p:nvSpPr>
          <p:spPr>
            <a:xfrm>
              <a:off x="3080004" y="5524500"/>
              <a:ext cx="1684156"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readers use the original</a:t>
              </a:r>
            </a:p>
          </p:txBody>
        </p:sp>
      </p:grpSp>
      <p:grpSp>
        <p:nvGrpSpPr>
          <p:cNvPr id="74" name="wal-writer"/>
          <p:cNvGrpSpPr/>
          <p:nvPr/>
        </p:nvGrpSpPr>
        <p:grpSpPr>
          <a:xfrm>
            <a:off x="5138547" y="4381500"/>
            <a:ext cx="881253" cy="991743"/>
            <a:chOff x="5138547" y="4381500"/>
            <a:chExt cx="881253" cy="991743"/>
          </a:xfrm>
        </p:grpSpPr>
        <p:grpSp>
          <p:nvGrpSpPr>
            <p:cNvPr id="70" name="Group 70"/>
            <p:cNvGrpSpPr/>
            <p:nvPr/>
          </p:nvGrpSpPr>
          <p:grpSpPr>
            <a:xfrm>
              <a:off x="5267325" y="4381500"/>
              <a:ext cx="171450" cy="152400"/>
              <a:chOff x="5267325" y="4381500"/>
              <a:chExt cx="171450" cy="152400"/>
            </a:xfrm>
          </p:grpSpPr>
          <p:sp>
            <p:nvSpPr>
              <p:cNvPr id="67" name="Freeform 67"/>
              <p:cNvSpPr/>
              <p:nvPr/>
            </p:nvSpPr>
            <p:spPr>
              <a:xfrm>
                <a:off x="5267325" y="4419600"/>
                <a:ext cx="38100" cy="76200"/>
              </a:xfrm>
              <a:custGeom>
                <a:avLst/>
                <a:gdLst/>
                <a:ahLst/>
                <a:cxnLst/>
                <a:rect l="l" t="t" r="r" b="b"/>
                <a:pathLst>
                  <a:path w="38100" h="76200">
                    <a:moveTo>
                      <a:pt x="38100" y="0"/>
                    </a:moveTo>
                    <a:lnTo>
                      <a:pt x="0" y="38100"/>
                    </a:lnTo>
                    <a:lnTo>
                      <a:pt x="38100" y="76200"/>
                    </a:lnTo>
                  </a:path>
                </a:pathLst>
              </a:custGeom>
              <a:noFill/>
              <a:ln w="14288">
                <a:solidFill>
                  <a:schemeClr val="accent3"/>
                </a:solidFill>
              </a:ln>
            </p:spPr>
          </p:sp>
          <p:sp>
            <p:nvSpPr>
              <p:cNvPr id="68" name="Freeform 68"/>
              <p:cNvSpPr/>
              <p:nvPr/>
            </p:nvSpPr>
            <p:spPr>
              <a:xfrm>
                <a:off x="5400675" y="4419600"/>
                <a:ext cx="38100" cy="76200"/>
              </a:xfrm>
              <a:custGeom>
                <a:avLst/>
                <a:gdLst/>
                <a:ahLst/>
                <a:cxnLst/>
                <a:rect l="l" t="t" r="r" b="b"/>
                <a:pathLst>
                  <a:path w="38100" h="76200">
                    <a:moveTo>
                      <a:pt x="0" y="0"/>
                    </a:moveTo>
                    <a:lnTo>
                      <a:pt x="38100" y="38100"/>
                    </a:lnTo>
                    <a:lnTo>
                      <a:pt x="0" y="76200"/>
                    </a:lnTo>
                  </a:path>
                </a:pathLst>
              </a:custGeom>
              <a:noFill/>
              <a:ln w="14288">
                <a:solidFill>
                  <a:schemeClr val="accent3"/>
                </a:solidFill>
              </a:ln>
            </p:spPr>
          </p:sp>
          <p:sp>
            <p:nvSpPr>
              <p:cNvPr id="69" name="Freeform 69"/>
              <p:cNvSpPr/>
              <p:nvPr/>
            </p:nvSpPr>
            <p:spPr>
              <a:xfrm>
                <a:off x="5334000" y="4381500"/>
                <a:ext cx="38100" cy="152400"/>
              </a:xfrm>
              <a:custGeom>
                <a:avLst/>
                <a:gdLst/>
                <a:ahLst/>
                <a:cxnLst/>
                <a:rect l="l" t="t" r="r" b="b"/>
                <a:pathLst>
                  <a:path w="38100" h="152400">
                    <a:moveTo>
                      <a:pt x="38100" y="0"/>
                    </a:moveTo>
                    <a:lnTo>
                      <a:pt x="0" y="152400"/>
                    </a:lnTo>
                  </a:path>
                </a:pathLst>
              </a:custGeom>
              <a:noFill/>
              <a:ln w="14288">
                <a:solidFill>
                  <a:schemeClr val="accent3"/>
                </a:solidFill>
              </a:ln>
            </p:spPr>
          </p:sp>
        </p:grpSp>
        <p:sp>
          <p:nvSpPr>
            <p:cNvPr id="71" name="TextBox 71"/>
            <p:cNvSpPr txBox="1"/>
            <p:nvPr/>
          </p:nvSpPr>
          <p:spPr>
            <a:xfrm>
              <a:off x="5519547" y="4387850"/>
              <a:ext cx="342654" cy="191643"/>
            </a:xfrm>
            <a:prstGeom prst="rect">
              <a:avLst/>
            </a:prstGeom>
            <a:noFill/>
            <a:ln>
              <a:noFill/>
            </a:ln>
          </p:spPr>
          <p:txBody>
            <a:bodyPr wrap="none" lIns="0" tIns="0" rIns="0" bIns="0" anchor="t" anchorCtr="0">
              <a:spAutoFit/>
            </a:bodyPr>
            <a:lstStyle/>
            <a:p>
              <a:pPr algn="l"/>
              <a:r>
                <a:rPr lang="en" sz="980" dirty="0">
                  <a:solidFill>
                    <a:schemeClr val="accent3"/>
                  </a:solidFill>
                  <a:latin typeface="+mn-lt"/>
                  <a:ea typeface="+mn-ea"/>
                  <a:cs typeface="+mn-cs"/>
                </a:rPr>
                <a:t>writer</a:t>
              </a:r>
            </a:p>
          </p:txBody>
        </p:sp>
        <p:sp>
          <p:nvSpPr>
            <p:cNvPr id="72" name="Line 72"/>
            <p:cNvSpPr/>
            <p:nvPr/>
          </p:nvSpPr>
          <p:spPr>
            <a:xfrm>
              <a:off x="5143500" y="4876800"/>
              <a:ext cx="876300" cy="1"/>
            </a:xfrm>
            <a:prstGeom prst="line">
              <a:avLst/>
            </a:prstGeom>
            <a:noFill/>
            <a:ln w="14288">
              <a:solidFill>
                <a:schemeClr val="accent3"/>
              </a:solidFill>
              <a:tailEnd type="triangle" w="lg" len="lg"/>
            </a:ln>
          </p:spPr>
        </p:sp>
        <p:sp>
          <p:nvSpPr>
            <p:cNvPr id="73" name="TextBox 73"/>
            <p:cNvSpPr txBox="1"/>
            <p:nvPr/>
          </p:nvSpPr>
          <p:spPr>
            <a:xfrm>
              <a:off x="5138547" y="5029200"/>
              <a:ext cx="566777" cy="344043"/>
            </a:xfrm>
            <a:prstGeom prst="rect">
              <a:avLst/>
            </a:prstGeom>
            <a:noFill/>
            <a:ln>
              <a:noFill/>
            </a:ln>
          </p:spPr>
          <p:txBody>
            <a:bodyPr wrap="none" lIns="0" tIns="0" rIns="0" bIns="0" anchor="t" anchorCtr="0">
              <a:spAutoFit/>
            </a:bodyPr>
            <a:lstStyle/>
            <a:p>
              <a:pPr algn="l">
                <a:lnSpc>
                  <a:spcPts val="1200"/>
                </a:lnSpc>
              </a:pPr>
              <a:r>
                <a:rPr lang="en" sz="980" dirty="0">
                  <a:solidFill>
                    <a:schemeClr val="accent5"/>
                  </a:solidFill>
                  <a:latin typeface="+mn-lt"/>
                  <a:ea typeface="+mn-ea"/>
                  <a:cs typeface="+mn-cs"/>
                </a:rPr>
                <a:t>① changes</a:t>
              </a:r>
              <a:br>
                <a:rPr lang="en" sz="980" dirty="0">
                  <a:solidFill>
                    <a:schemeClr val="accent5"/>
                  </a:solidFill>
                  <a:latin typeface="+mn-lt"/>
                  <a:ea typeface="+mn-ea"/>
                  <a:cs typeface="+mn-cs"/>
                </a:rPr>
              </a:br>
              <a:r>
                <a:rPr lang="en" sz="980" dirty="0">
                  <a:solidFill>
                    <a:schemeClr val="accent5"/>
                  </a:solidFill>
                  <a:latin typeface="+mn-lt"/>
                  <a:ea typeface="+mn-ea"/>
                  <a:cs typeface="+mn-cs"/>
                </a:rPr>
                <a:t>appended</a:t>
              </a:r>
            </a:p>
          </p:txBody>
        </p:sp>
      </p:grpSp>
      <p:grpSp>
        <p:nvGrpSpPr>
          <p:cNvPr id="84" name="!!wal-file"/>
          <p:cNvGrpSpPr/>
          <p:nvPr/>
        </p:nvGrpSpPr>
        <p:grpSpPr>
          <a:xfrm>
            <a:off x="6096000" y="4191000"/>
            <a:ext cx="2857500" cy="1181100"/>
            <a:chOff x="6096000" y="4191000"/>
            <a:chExt cx="2857500" cy="1181100"/>
          </a:xfrm>
        </p:grpSpPr>
        <p:sp>
          <p:nvSpPr>
            <p:cNvPr id="75" name="Rectangle 75"/>
            <p:cNvSpPr/>
            <p:nvPr/>
          </p:nvSpPr>
          <p:spPr>
            <a:xfrm>
              <a:off x="6096000" y="4191000"/>
              <a:ext cx="2857500" cy="1181100"/>
            </a:xfrm>
            <a:prstGeom prst="roundRect">
              <a:avLst>
                <a:gd name="adj" fmla="val 1613"/>
              </a:avLst>
            </a:prstGeom>
            <a:noFill/>
            <a:ln w="14288">
              <a:solidFill>
                <a:schemeClr val="accent3"/>
              </a:solidFill>
            </a:ln>
          </p:spPr>
        </p:sp>
        <p:grpSp>
          <p:nvGrpSpPr>
            <p:cNvPr id="82" name="Group 82"/>
            <p:cNvGrpSpPr/>
            <p:nvPr/>
          </p:nvGrpSpPr>
          <p:grpSpPr>
            <a:xfrm>
              <a:off x="6248400" y="4610100"/>
              <a:ext cx="2552700" cy="533400"/>
              <a:chOff x="6248400" y="4610100"/>
              <a:chExt cx="2552700" cy="533400"/>
            </a:xfrm>
          </p:grpSpPr>
          <p:sp>
            <p:nvSpPr>
              <p:cNvPr id="76" name="Rectangle 76"/>
              <p:cNvSpPr/>
              <p:nvPr/>
            </p:nvSpPr>
            <p:spPr>
              <a:xfrm>
                <a:off x="6248400" y="4610100"/>
                <a:ext cx="361950" cy="533400"/>
              </a:xfrm>
              <a:prstGeom prst="rect">
                <a:avLst/>
              </a:prstGeom>
              <a:solidFill>
                <a:schemeClr val="lt2"/>
              </a:solidFill>
              <a:ln w="14288">
                <a:solidFill>
                  <a:schemeClr val="accent3"/>
                </a:solidFill>
              </a:ln>
            </p:spPr>
          </p:sp>
          <p:sp>
            <p:nvSpPr>
              <p:cNvPr id="77" name="Rectangle 77"/>
              <p:cNvSpPr/>
              <p:nvPr/>
            </p:nvSpPr>
            <p:spPr>
              <a:xfrm>
                <a:off x="6686550" y="4610100"/>
                <a:ext cx="361950" cy="533400"/>
              </a:xfrm>
              <a:prstGeom prst="rect">
                <a:avLst/>
              </a:prstGeom>
              <a:solidFill>
                <a:schemeClr val="lt2"/>
              </a:solidFill>
              <a:ln w="14288">
                <a:solidFill>
                  <a:schemeClr val="accent3"/>
                </a:solidFill>
              </a:ln>
            </p:spPr>
          </p:sp>
          <p:sp>
            <p:nvSpPr>
              <p:cNvPr id="78" name="Rectangle 78"/>
              <p:cNvSpPr/>
              <p:nvPr/>
            </p:nvSpPr>
            <p:spPr>
              <a:xfrm>
                <a:off x="7124700" y="4610100"/>
                <a:ext cx="361950" cy="533400"/>
              </a:xfrm>
              <a:prstGeom prst="rect">
                <a:avLst/>
              </a:prstGeom>
              <a:solidFill>
                <a:schemeClr val="lt2"/>
              </a:solidFill>
              <a:ln w="14288">
                <a:solidFill>
                  <a:schemeClr val="accent3"/>
                </a:solidFill>
              </a:ln>
            </p:spPr>
          </p:sp>
          <p:sp>
            <p:nvSpPr>
              <p:cNvPr id="79" name="Rectangle 79"/>
              <p:cNvSpPr/>
              <p:nvPr/>
            </p:nvSpPr>
            <p:spPr>
              <a:xfrm>
                <a:off x="7562850" y="4610100"/>
                <a:ext cx="361950" cy="533400"/>
              </a:xfrm>
              <a:prstGeom prst="rect">
                <a:avLst/>
              </a:prstGeom>
              <a:solidFill>
                <a:schemeClr val="lt2"/>
              </a:solidFill>
              <a:ln w="14288">
                <a:solidFill>
                  <a:schemeClr val="accent3"/>
                </a:solidFill>
              </a:ln>
            </p:spPr>
          </p:sp>
          <p:sp>
            <p:nvSpPr>
              <p:cNvPr id="80" name="Rectangle 80"/>
              <p:cNvSpPr/>
              <p:nvPr/>
            </p:nvSpPr>
            <p:spPr>
              <a:xfrm>
                <a:off x="8001000" y="4610100"/>
                <a:ext cx="361950" cy="533400"/>
              </a:xfrm>
              <a:prstGeom prst="rect">
                <a:avLst/>
              </a:prstGeom>
              <a:solidFill>
                <a:schemeClr val="lt2"/>
              </a:solidFill>
              <a:ln w="14288">
                <a:solidFill>
                  <a:schemeClr val="accent3"/>
                </a:solidFill>
              </a:ln>
            </p:spPr>
          </p:sp>
          <p:sp>
            <p:nvSpPr>
              <p:cNvPr id="81" name="Rectangle 81"/>
              <p:cNvSpPr/>
              <p:nvPr/>
            </p:nvSpPr>
            <p:spPr>
              <a:xfrm>
                <a:off x="8439150" y="4610100"/>
                <a:ext cx="361950" cy="533400"/>
              </a:xfrm>
              <a:prstGeom prst="rect">
                <a:avLst/>
              </a:prstGeom>
              <a:solidFill>
                <a:schemeClr val="accent2">
                  <a:alpha val="35000"/>
                </a:schemeClr>
              </a:solidFill>
              <a:ln w="14288">
                <a:solidFill>
                  <a:schemeClr val="accent2"/>
                </a:solidFill>
              </a:ln>
            </p:spPr>
          </p:sp>
        </p:grpSp>
        <p:sp>
          <p:nvSpPr>
            <p:cNvPr id="83" name="TextBox 83"/>
            <p:cNvSpPr txBox="1"/>
            <p:nvPr/>
          </p:nvSpPr>
          <p:spPr>
            <a:xfrm>
              <a:off x="6242304" y="4286250"/>
              <a:ext cx="992179"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WAL file </a:t>
              </a:r>
              <a:r>
                <a:rPr lang="en" sz="1120" dirty="0">
                  <a:solidFill>
                    <a:schemeClr val="accent3"/>
                  </a:solidFill>
                  <a:latin typeface="Consolas"/>
                  <a:ea typeface="Consolas"/>
                  <a:cs typeface="Consolas"/>
                </a:rPr>
                <a:t>-wal</a:t>
              </a:r>
            </a:p>
          </p:txBody>
        </p:sp>
      </p:grpSp>
      <p:grpSp>
        <p:nvGrpSpPr>
          <p:cNvPr id="89" name="wal-commit"/>
          <p:cNvGrpSpPr/>
          <p:nvPr/>
        </p:nvGrpSpPr>
        <p:grpSpPr>
          <a:xfrm>
            <a:off x="8991600" y="4229100"/>
            <a:ext cx="2083765" cy="1498346"/>
            <a:chOff x="8991600" y="4229100"/>
            <a:chExt cx="2083765" cy="1498346"/>
          </a:xfrm>
        </p:grpSpPr>
        <p:sp>
          <p:nvSpPr>
            <p:cNvPr id="85" name="Line 85"/>
            <p:cNvSpPr/>
            <p:nvPr/>
          </p:nvSpPr>
          <p:spPr>
            <a:xfrm>
              <a:off x="8991600" y="4362450"/>
              <a:ext cx="152400" cy="9525"/>
            </a:xfrm>
            <a:custGeom>
              <a:avLst/>
              <a:gdLst/>
              <a:ahLst/>
              <a:cxnLst/>
              <a:rect l="l" t="t" r="r" b="b"/>
              <a:pathLst>
                <a:path w="152400" h="9525">
                  <a:moveTo>
                    <a:pt x="0" y="0"/>
                  </a:moveTo>
                  <a:lnTo>
                    <a:pt x="152400" y="0"/>
                  </a:lnTo>
                </a:path>
              </a:pathLst>
            </a:custGeom>
            <a:noFill/>
            <a:ln w="19050">
              <a:solidFill>
                <a:schemeClr val="accent2"/>
              </a:solidFill>
            </a:ln>
          </p:spPr>
        </p:sp>
        <p:sp>
          <p:nvSpPr>
            <p:cNvPr id="86" name="TextBox 86"/>
            <p:cNvSpPr txBox="1"/>
            <p:nvPr/>
          </p:nvSpPr>
          <p:spPr>
            <a:xfrm>
              <a:off x="9212580" y="4229100"/>
              <a:ext cx="1302953"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② COMMIT =</a:t>
              </a:r>
            </a:p>
          </p:txBody>
        </p:sp>
        <p:sp>
          <p:nvSpPr>
            <p:cNvPr id="87" name="TextBox 87"/>
            <p:cNvSpPr txBox="1"/>
            <p:nvPr/>
          </p:nvSpPr>
          <p:spPr>
            <a:xfrm>
              <a:off x="9212580" y="4502150"/>
              <a:ext cx="1862785" cy="560070"/>
            </a:xfrm>
            <a:prstGeom prst="rect">
              <a:avLst/>
            </a:prstGeom>
            <a:noFill/>
            <a:ln>
              <a:noFill/>
            </a:ln>
          </p:spPr>
          <p:txBody>
            <a:bodyPr wrap="none" lIns="0" tIns="0" rIns="0" bIns="0" anchor="t" anchorCtr="0">
              <a:spAutoFit/>
            </a:bodyPr>
            <a:lstStyle/>
            <a:p>
              <a:pPr algn="l">
                <a:lnSpc>
                  <a:spcPts val="2100"/>
                </a:lnSpc>
              </a:pPr>
              <a:r>
                <a:rPr lang="en" sz="1500" dirty="0">
                  <a:solidFill>
                    <a:schemeClr val="dk1"/>
                  </a:solidFill>
                  <a:latin typeface="+mn-lt"/>
                  <a:ea typeface="+mn-ea"/>
                  <a:cs typeface="+mn-cs"/>
                </a:rPr>
                <a:t>a commit record</a:t>
              </a:r>
              <a:br>
                <a:rPr lang="en" sz="1500" dirty="0">
                  <a:solidFill>
                    <a:schemeClr val="dk1"/>
                  </a:solidFill>
                  <a:latin typeface="+mn-lt"/>
                  <a:ea typeface="+mn-ea"/>
                  <a:cs typeface="+mn-cs"/>
                </a:rPr>
              </a:br>
              <a:r>
                <a:rPr lang="en" sz="1500" dirty="0">
                  <a:solidFill>
                    <a:schemeClr val="dk1"/>
                  </a:solidFill>
                  <a:latin typeface="+mn-lt"/>
                  <a:ea typeface="+mn-ea"/>
                  <a:cs typeface="+mn-cs"/>
                </a:rPr>
                <a:t>appended to the WAL</a:t>
              </a:r>
            </a:p>
          </p:txBody>
        </p:sp>
        <p:sp>
          <p:nvSpPr>
            <p:cNvPr id="88" name="TextBox 88"/>
            <p:cNvSpPr txBox="1"/>
            <p:nvPr/>
          </p:nvSpPr>
          <p:spPr>
            <a:xfrm>
              <a:off x="9214104" y="5283200"/>
              <a:ext cx="1707383"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The database file is never</a:t>
              </a:r>
              <a:br>
                <a:rPr lang="en" sz="1200" dirty="0">
                  <a:solidFill>
                    <a:schemeClr val="accent5"/>
                  </a:solidFill>
                  <a:latin typeface="+mn-lt"/>
                  <a:ea typeface="+mn-ea"/>
                  <a:cs typeface="+mn-cs"/>
                </a:rPr>
              </a:br>
              <a:r>
                <a:rPr lang="en" sz="1200" dirty="0">
                  <a:solidFill>
                    <a:schemeClr val="accent5"/>
                  </a:solidFill>
                  <a:latin typeface="+mn-lt"/>
                  <a:ea typeface="+mn-ea"/>
                  <a:cs typeface="+mn-cs"/>
                </a:rPr>
                <a:t>touched to commit.</a:t>
              </a:r>
            </a:p>
          </p:txBody>
        </p:sp>
      </p:grpSp>
      <p:grpSp>
        <p:nvGrpSpPr>
          <p:cNvPr id="94" name="title-block"/>
          <p:cNvGrpSpPr/>
          <p:nvPr/>
        </p:nvGrpSpPr>
        <p:grpSpPr>
          <a:xfrm>
            <a:off x="8382000" y="6229350"/>
            <a:ext cx="3200400" cy="285750"/>
            <a:chOff x="8382000" y="6229350"/>
            <a:chExt cx="3200400" cy="285750"/>
          </a:xfrm>
        </p:grpSpPr>
        <p:sp>
          <p:nvSpPr>
            <p:cNvPr id="90" name="Rectangle 90"/>
            <p:cNvSpPr/>
            <p:nvPr/>
          </p:nvSpPr>
          <p:spPr>
            <a:xfrm>
              <a:off x="8382000" y="6229350"/>
              <a:ext cx="3200400" cy="285750"/>
            </a:xfrm>
            <a:prstGeom prst="rect">
              <a:avLst/>
            </a:prstGeom>
            <a:solidFill>
              <a:schemeClr val="lt2"/>
            </a:solidFill>
            <a:ln w="9525">
              <a:solidFill>
                <a:schemeClr val="accent6"/>
              </a:solidFill>
            </a:ln>
          </p:spPr>
        </p:sp>
        <p:sp>
          <p:nvSpPr>
            <p:cNvPr id="91" name="Line 91"/>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92" name="TextBox 92"/>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07/12</a:t>
              </a:r>
            </a:p>
          </p:txBody>
        </p:sp>
        <p:sp>
          <p:nvSpPr>
            <p:cNvPr id="93" name="TextBox 93"/>
            <p:cNvSpPr txBox="1"/>
            <p:nvPr/>
          </p:nvSpPr>
          <p:spPr>
            <a:xfrm>
              <a:off x="9367647" y="6292850"/>
              <a:ext cx="1262991"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sqlite.org/wal</a:t>
              </a:r>
            </a:p>
          </p:txBody>
        </p:sp>
      </p:grpSp>
    </p:spTree>
  </p:cSld>
  <p:clrMapOvr>
    <a:masterClrMapping/>
  </p:clrMapOvr>
  <p:transitio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right)">
                                      <p:cBhvr>
                                        <p:cTn id="7" dur="800"/>
                                        <p:tgtEl>
                                          <p:spTgt spid="42"/>
                                        </p:tgtEl>
                                      </p:cBhvr>
                                    </p:animEffect>
                                  </p:childTnLst>
                                </p:cTn>
                              </p:par>
                            </p:childTnLst>
                          </p:cTn>
                        </p:par>
                        <p:par>
                          <p:cTn id="8" fill="hold">
                            <p:stCondLst>
                              <p:cond delay="800"/>
                            </p:stCondLst>
                            <p:childTnLst>
                              <p:par>
                                <p:cTn id="9" presetID="10" presetClass="entr" presetSubtype="0" fill="hold" grpId="0" nodeType="afterEffect">
                                  <p:stCondLst>
                                    <p:cond delay="500"/>
                                  </p:stCondLst>
                                  <p:childTnLst>
                                    <p:set>
                                      <p:cBhvr>
                                        <p:cTn id="10" dur="1" fill="hold">
                                          <p:stCondLst>
                                            <p:cond delay="0"/>
                                          </p:stCondLst>
                                        </p:cTn>
                                        <p:tgtEl>
                                          <p:spTgt spid="46"/>
                                        </p:tgtEl>
                                        <p:attrNameLst>
                                          <p:attrName>style.visibility</p:attrName>
                                        </p:attrNameLst>
                                      </p:cBhvr>
                                      <p:to>
                                        <p:strVal val="visible"/>
                                      </p:to>
                                    </p:set>
                                    <p:animEffect transition="in" filter="fade">
                                      <p:cBhvr>
                                        <p:cTn id="11" dur="400"/>
                                        <p:tgtEl>
                                          <p:spTgt spid="46"/>
                                        </p:tgtEl>
                                      </p:cBhvr>
                                    </p:animEffect>
                                  </p:childTnLst>
                                </p:cTn>
                              </p:par>
                            </p:childTnLst>
                          </p:cTn>
                        </p:par>
                        <p:par>
                          <p:cTn id="12" fill="hold">
                            <p:stCondLst>
                              <p:cond delay="1700"/>
                            </p:stCondLst>
                            <p:childTnLst>
                              <p:par>
                                <p:cTn id="13" presetID="10" presetClass="entr" presetSubtype="0" fill="hold" grpId="0" nodeType="afterEffect">
                                  <p:stCondLst>
                                    <p:cond delay="500"/>
                                  </p:stCondLst>
                                  <p:childTnLst>
                                    <p:set>
                                      <p:cBhvr>
                                        <p:cTn id="14" dur="1" fill="hold">
                                          <p:stCondLst>
                                            <p:cond delay="0"/>
                                          </p:stCondLst>
                                        </p:cTn>
                                        <p:tgtEl>
                                          <p:spTgt spid="66"/>
                                        </p:tgtEl>
                                        <p:attrNameLst>
                                          <p:attrName>style.visibility</p:attrName>
                                        </p:attrNameLst>
                                      </p:cBhvr>
                                      <p:to>
                                        <p:strVal val="visible"/>
                                      </p:to>
                                    </p:set>
                                    <p:animEffect transition="in" filter="fade">
                                      <p:cBhvr>
                                        <p:cTn id="15" dur="400"/>
                                        <p:tgtEl>
                                          <p:spTgt spid="66"/>
                                        </p:tgtEl>
                                      </p:cBhvr>
                                    </p:animEffect>
                                  </p:childTnLst>
                                </p:cTn>
                              </p:par>
                            </p:childTnLst>
                          </p:cTn>
                        </p:par>
                        <p:par>
                          <p:cTn id="16" fill="hold">
                            <p:stCondLst>
                              <p:cond delay="2600"/>
                            </p:stCondLst>
                            <p:childTnLst>
                              <p:par>
                                <p:cTn id="17" presetID="10" presetClass="entr" presetSubtype="0" fill="hold" grpId="0" nodeType="afterEffect">
                                  <p:stCondLst>
                                    <p:cond delay="50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400"/>
                                        <p:tgtEl>
                                          <p:spTgt spid="74"/>
                                        </p:tgtEl>
                                      </p:cBhvr>
                                    </p:animEffect>
                                  </p:childTnLst>
                                </p:cTn>
                              </p:par>
                            </p:childTnLst>
                          </p:cTn>
                        </p:par>
                        <p:par>
                          <p:cTn id="20" fill="hold">
                            <p:stCondLst>
                              <p:cond delay="3500"/>
                            </p:stCondLst>
                            <p:childTnLst>
                              <p:par>
                                <p:cTn id="21" presetID="22" presetClass="entr" presetSubtype="2" fill="hold" grpId="0" nodeType="afterEffect">
                                  <p:stCondLst>
                                    <p:cond delay="500"/>
                                  </p:stCondLst>
                                  <p:childTnLst>
                                    <p:set>
                                      <p:cBhvr>
                                        <p:cTn id="22" dur="1" fill="hold">
                                          <p:stCondLst>
                                            <p:cond delay="0"/>
                                          </p:stCondLst>
                                        </p:cTn>
                                        <p:tgtEl>
                                          <p:spTgt spid="84"/>
                                        </p:tgtEl>
                                        <p:attrNameLst>
                                          <p:attrName>style.visibility</p:attrName>
                                        </p:attrNameLst>
                                      </p:cBhvr>
                                      <p:to>
                                        <p:strVal val="visible"/>
                                      </p:to>
                                    </p:set>
                                    <p:animEffect transition="in" filter="wipe(right)">
                                      <p:cBhvr>
                                        <p:cTn id="23" dur="700"/>
                                        <p:tgtEl>
                                          <p:spTgt spid="84"/>
                                        </p:tgtEl>
                                      </p:cBhvr>
                                    </p:animEffect>
                                  </p:childTnLst>
                                </p:cTn>
                              </p:par>
                            </p:childTnLst>
                          </p:cTn>
                        </p:par>
                        <p:par>
                          <p:cTn id="24" fill="hold">
                            <p:stCondLst>
                              <p:cond delay="4700"/>
                            </p:stCondLst>
                            <p:childTnLst>
                              <p:par>
                                <p:cTn id="25" presetID="10" presetClass="entr" presetSubtype="0" fill="hold" grpId="0" nodeType="afterEffect">
                                  <p:stCondLst>
                                    <p:cond delay="500"/>
                                  </p:stCondLst>
                                  <p:childTnLst>
                                    <p:set>
                                      <p:cBhvr>
                                        <p:cTn id="26" dur="1" fill="hold">
                                          <p:stCondLst>
                                            <p:cond delay="0"/>
                                          </p:stCondLst>
                                        </p:cTn>
                                        <p:tgtEl>
                                          <p:spTgt spid="89"/>
                                        </p:tgtEl>
                                        <p:attrNameLst>
                                          <p:attrName>style.visibility</p:attrName>
                                        </p:attrNameLst>
                                      </p:cBhvr>
                                      <p:to>
                                        <p:strVal val="visible"/>
                                      </p:to>
                                    </p:set>
                                    <p:animEffect transition="in" filter="fade">
                                      <p:cBhvr>
                                        <p:cTn id="27" dur="4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7301904" cy="815340"/>
            <a:chOff x="594360" y="603250"/>
            <a:chExt cx="7301904" cy="815340"/>
          </a:xfrm>
        </p:grpSpPr>
        <p:sp>
          <p:nvSpPr>
            <p:cNvPr id="18" name="TextBox 18"/>
            <p:cNvSpPr txBox="1"/>
            <p:nvPr/>
          </p:nvSpPr>
          <p:spPr>
            <a:xfrm>
              <a:off x="603885" y="603250"/>
              <a:ext cx="2060546" cy="220028"/>
            </a:xfrm>
            <a:prstGeom prst="rect">
              <a:avLst/>
            </a:prstGeom>
            <a:noFill/>
            <a:ln>
              <a:noFill/>
            </a:ln>
          </p:spPr>
          <p:txBody>
            <a:bodyPr wrap="none" lIns="0" tIns="0" rIns="0" bIns="0" anchor="t" anchorCtr="0">
              <a:spAutoFit/>
            </a:bodyPr>
            <a:lstStyle/>
            <a:p>
              <a:pPr algn="l"/>
              <a:r>
                <a:rPr lang="en" sz="1120" spc="150" dirty="0">
                  <a:solidFill>
                    <a:schemeClr val="accent3"/>
                  </a:solidFill>
                  <a:latin typeface="+mn-lt"/>
                  <a:ea typeface="+mn-ea"/>
                  <a:cs typeface="+mn-cs"/>
                </a:rPr>
                <a:t>07 · INSIDE WAL MODE</a:t>
              </a:r>
            </a:p>
          </p:txBody>
        </p:sp>
        <p:sp>
          <p:nvSpPr>
            <p:cNvPr id="19" name="TextBox 19"/>
            <p:cNvSpPr txBox="1"/>
            <p:nvPr/>
          </p:nvSpPr>
          <p:spPr>
            <a:xfrm>
              <a:off x="594360" y="831850"/>
              <a:ext cx="7301904"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WAL: readers never block the writer</a:t>
              </a:r>
            </a:p>
          </p:txBody>
        </p:sp>
      </p:grpSp>
      <p:grpSp>
        <p:nvGrpSpPr>
          <p:cNvPr id="30" name="!!wal-file"/>
          <p:cNvGrpSpPr/>
          <p:nvPr/>
        </p:nvGrpSpPr>
        <p:grpSpPr>
          <a:xfrm>
            <a:off x="609600" y="1638300"/>
            <a:ext cx="6096000" cy="1143000"/>
            <a:chOff x="609600" y="1638300"/>
            <a:chExt cx="6096000" cy="1143000"/>
          </a:xfrm>
        </p:grpSpPr>
        <p:sp>
          <p:nvSpPr>
            <p:cNvPr id="21" name="Rectangle 21"/>
            <p:cNvSpPr/>
            <p:nvPr/>
          </p:nvSpPr>
          <p:spPr>
            <a:xfrm>
              <a:off x="609600" y="1638300"/>
              <a:ext cx="6096000" cy="1143000"/>
            </a:xfrm>
            <a:prstGeom prst="roundRect">
              <a:avLst>
                <a:gd name="adj" fmla="val 1667"/>
              </a:avLst>
            </a:prstGeom>
            <a:noFill/>
            <a:ln w="14288">
              <a:solidFill>
                <a:schemeClr val="accent3"/>
              </a:solidFill>
            </a:ln>
          </p:spPr>
        </p:sp>
        <p:grpSp>
          <p:nvGrpSpPr>
            <p:cNvPr id="28" name="Group 28"/>
            <p:cNvGrpSpPr/>
            <p:nvPr/>
          </p:nvGrpSpPr>
          <p:grpSpPr>
            <a:xfrm>
              <a:off x="800100" y="2038350"/>
              <a:ext cx="5562600" cy="571500"/>
              <a:chOff x="800100" y="2038350"/>
              <a:chExt cx="5562600" cy="571500"/>
            </a:xfrm>
          </p:grpSpPr>
          <p:sp>
            <p:nvSpPr>
              <p:cNvPr id="22" name="Rectangle 22"/>
              <p:cNvSpPr/>
              <p:nvPr/>
            </p:nvSpPr>
            <p:spPr>
              <a:xfrm>
                <a:off x="800100" y="2038350"/>
                <a:ext cx="800100" cy="571500"/>
              </a:xfrm>
              <a:prstGeom prst="rect">
                <a:avLst/>
              </a:prstGeom>
              <a:solidFill>
                <a:schemeClr val="lt2"/>
              </a:solidFill>
              <a:ln w="14288">
                <a:solidFill>
                  <a:schemeClr val="accent3"/>
                </a:solidFill>
              </a:ln>
            </p:spPr>
          </p:sp>
          <p:sp>
            <p:nvSpPr>
              <p:cNvPr id="23" name="Rectangle 23"/>
              <p:cNvSpPr/>
              <p:nvPr/>
            </p:nvSpPr>
            <p:spPr>
              <a:xfrm>
                <a:off x="1752600" y="2038350"/>
                <a:ext cx="800100" cy="571500"/>
              </a:xfrm>
              <a:prstGeom prst="rect">
                <a:avLst/>
              </a:prstGeom>
              <a:solidFill>
                <a:schemeClr val="lt2"/>
              </a:solidFill>
              <a:ln w="14288">
                <a:solidFill>
                  <a:schemeClr val="accent3"/>
                </a:solidFill>
              </a:ln>
            </p:spPr>
          </p:sp>
          <p:sp>
            <p:nvSpPr>
              <p:cNvPr id="24" name="Rectangle 24"/>
              <p:cNvSpPr/>
              <p:nvPr/>
            </p:nvSpPr>
            <p:spPr>
              <a:xfrm>
                <a:off x="2705100" y="2038350"/>
                <a:ext cx="800100" cy="571500"/>
              </a:xfrm>
              <a:prstGeom prst="rect">
                <a:avLst/>
              </a:prstGeom>
              <a:solidFill>
                <a:schemeClr val="lt2"/>
              </a:solidFill>
              <a:ln w="14288">
                <a:solidFill>
                  <a:schemeClr val="accent3"/>
                </a:solidFill>
              </a:ln>
            </p:spPr>
          </p:sp>
          <p:sp>
            <p:nvSpPr>
              <p:cNvPr id="25" name="Rectangle 25"/>
              <p:cNvSpPr/>
              <p:nvPr/>
            </p:nvSpPr>
            <p:spPr>
              <a:xfrm>
                <a:off x="3657600" y="2038350"/>
                <a:ext cx="800100" cy="571500"/>
              </a:xfrm>
              <a:prstGeom prst="rect">
                <a:avLst/>
              </a:prstGeom>
              <a:solidFill>
                <a:schemeClr val="lt2"/>
              </a:solidFill>
              <a:ln w="14288">
                <a:solidFill>
                  <a:schemeClr val="accent3"/>
                </a:solidFill>
              </a:ln>
            </p:spPr>
          </p:sp>
          <p:sp>
            <p:nvSpPr>
              <p:cNvPr id="26" name="Rectangle 26"/>
              <p:cNvSpPr/>
              <p:nvPr/>
            </p:nvSpPr>
            <p:spPr>
              <a:xfrm>
                <a:off x="4610100" y="2038350"/>
                <a:ext cx="800100" cy="571500"/>
              </a:xfrm>
              <a:prstGeom prst="rect">
                <a:avLst/>
              </a:prstGeom>
              <a:solidFill>
                <a:schemeClr val="lt2"/>
              </a:solidFill>
              <a:ln w="14288">
                <a:solidFill>
                  <a:schemeClr val="accent3"/>
                </a:solidFill>
              </a:ln>
            </p:spPr>
          </p:sp>
          <p:sp>
            <p:nvSpPr>
              <p:cNvPr id="27" name="Rectangle 27"/>
              <p:cNvSpPr/>
              <p:nvPr/>
            </p:nvSpPr>
            <p:spPr>
              <a:xfrm>
                <a:off x="5562600" y="2038350"/>
                <a:ext cx="800100" cy="571500"/>
              </a:xfrm>
              <a:prstGeom prst="rect">
                <a:avLst/>
              </a:prstGeom>
              <a:solidFill>
                <a:schemeClr val="accent2">
                  <a:alpha val="35000"/>
                </a:schemeClr>
              </a:solidFill>
              <a:ln w="14288">
                <a:solidFill>
                  <a:schemeClr val="accent2"/>
                </a:solidFill>
              </a:ln>
            </p:spPr>
          </p:sp>
        </p:grpSp>
        <p:sp>
          <p:nvSpPr>
            <p:cNvPr id="29" name="TextBox 29"/>
            <p:cNvSpPr txBox="1"/>
            <p:nvPr/>
          </p:nvSpPr>
          <p:spPr>
            <a:xfrm>
              <a:off x="794004" y="1752600"/>
              <a:ext cx="2789857"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WAL file </a:t>
              </a:r>
              <a:r>
                <a:rPr lang="en" sz="1120" dirty="0">
                  <a:solidFill>
                    <a:schemeClr val="accent3"/>
                  </a:solidFill>
                  <a:latin typeface="Consolas"/>
                  <a:ea typeface="Consolas"/>
                  <a:cs typeface="Consolas"/>
                </a:rPr>
                <a:t>-wal</a:t>
              </a:r>
              <a:r>
                <a:rPr lang="en" sz="1200" dirty="0">
                  <a:solidFill>
                    <a:schemeClr val="dk1"/>
                  </a:solidFill>
                  <a:latin typeface="+mn-lt"/>
                  <a:ea typeface="+mn-ea"/>
                  <a:cs typeface="+mn-cs"/>
                </a:rPr>
                <a:t xml:space="preserve"> · frames in append order</a:t>
              </a:r>
            </a:p>
          </p:txBody>
        </p:sp>
      </p:grpSp>
      <p:grpSp>
        <p:nvGrpSpPr>
          <p:cNvPr id="36" name="end-marks"/>
          <p:cNvGrpSpPr/>
          <p:nvPr/>
        </p:nvGrpSpPr>
        <p:grpSpPr>
          <a:xfrm>
            <a:off x="3033456" y="2819400"/>
            <a:ext cx="2996139" cy="445643"/>
            <a:chOff x="3033456" y="2819400"/>
            <a:chExt cx="2996139" cy="445643"/>
          </a:xfrm>
        </p:grpSpPr>
        <p:sp>
          <p:nvSpPr>
            <p:cNvPr id="31" name="Line 31"/>
            <p:cNvSpPr/>
            <p:nvPr/>
          </p:nvSpPr>
          <p:spPr>
            <a:xfrm>
              <a:off x="3581400" y="2819400"/>
              <a:ext cx="9525" cy="209550"/>
            </a:xfrm>
            <a:custGeom>
              <a:avLst/>
              <a:gdLst/>
              <a:ahLst/>
              <a:cxnLst/>
              <a:rect l="l" t="t" r="r" b="b"/>
              <a:pathLst>
                <a:path w="9525" h="209550">
                  <a:moveTo>
                    <a:pt x="0" y="0"/>
                  </a:moveTo>
                  <a:lnTo>
                    <a:pt x="0" y="209550"/>
                  </a:lnTo>
                </a:path>
              </a:pathLst>
            </a:custGeom>
            <a:noFill/>
            <a:ln w="19050">
              <a:solidFill>
                <a:schemeClr val="accent3"/>
              </a:solidFill>
            </a:ln>
          </p:spPr>
        </p:sp>
        <p:sp>
          <p:nvSpPr>
            <p:cNvPr id="32" name="Line 32"/>
            <p:cNvSpPr/>
            <p:nvPr/>
          </p:nvSpPr>
          <p:spPr>
            <a:xfrm>
              <a:off x="5486400" y="2819400"/>
              <a:ext cx="9525" cy="209550"/>
            </a:xfrm>
            <a:custGeom>
              <a:avLst/>
              <a:gdLst/>
              <a:ahLst/>
              <a:cxnLst/>
              <a:rect l="l" t="t" r="r" b="b"/>
              <a:pathLst>
                <a:path w="9525" h="209550">
                  <a:moveTo>
                    <a:pt x="0" y="0"/>
                  </a:moveTo>
                  <a:lnTo>
                    <a:pt x="0" y="209550"/>
                  </a:lnTo>
                </a:path>
              </a:pathLst>
            </a:custGeom>
            <a:noFill/>
            <a:ln w="19050">
              <a:solidFill>
                <a:schemeClr val="accent3"/>
              </a:solidFill>
            </a:ln>
          </p:spPr>
        </p:sp>
        <p:grpSp>
          <p:nvGrpSpPr>
            <p:cNvPr id="35" name="Group 35"/>
            <p:cNvGrpSpPr/>
            <p:nvPr/>
          </p:nvGrpSpPr>
          <p:grpSpPr>
            <a:xfrm>
              <a:off x="3033456" y="3073400"/>
              <a:ext cx="2996139" cy="191643"/>
              <a:chOff x="3033456" y="3073400"/>
              <a:chExt cx="2996139" cy="191643"/>
            </a:xfrm>
          </p:grpSpPr>
          <p:sp>
            <p:nvSpPr>
              <p:cNvPr id="33" name="TextBox 33"/>
              <p:cNvSpPr txBox="1"/>
              <p:nvPr/>
            </p:nvSpPr>
            <p:spPr>
              <a:xfrm>
                <a:off x="3033456" y="3073400"/>
                <a:ext cx="1095888" cy="191643"/>
              </a:xfrm>
              <a:prstGeom prst="rect">
                <a:avLst/>
              </a:prstGeom>
              <a:noFill/>
              <a:ln>
                <a:noFill/>
              </a:ln>
            </p:spPr>
            <p:txBody>
              <a:bodyPr wrap="none" lIns="0" tIns="0" rIns="0" bIns="0" anchor="t" anchorCtr="0">
                <a:spAutoFit/>
              </a:bodyPr>
              <a:lstStyle/>
              <a:p>
                <a:pPr algn="ctr"/>
                <a:r>
                  <a:rPr lang="en" sz="980" dirty="0">
                    <a:solidFill>
                      <a:schemeClr val="accent3"/>
                    </a:solidFill>
                    <a:latin typeface="+mn-lt"/>
                    <a:ea typeface="+mn-ea"/>
                    <a:cs typeface="+mn-cs"/>
                  </a:rPr>
                  <a:t>reader A end mark</a:t>
                </a:r>
              </a:p>
            </p:txBody>
          </p:sp>
          <p:sp>
            <p:nvSpPr>
              <p:cNvPr id="34" name="TextBox 34"/>
              <p:cNvSpPr txBox="1"/>
              <p:nvPr/>
            </p:nvSpPr>
            <p:spPr>
              <a:xfrm>
                <a:off x="4943205" y="3073400"/>
                <a:ext cx="1086390" cy="191643"/>
              </a:xfrm>
              <a:prstGeom prst="rect">
                <a:avLst/>
              </a:prstGeom>
              <a:noFill/>
              <a:ln>
                <a:noFill/>
              </a:ln>
            </p:spPr>
            <p:txBody>
              <a:bodyPr wrap="none" lIns="0" tIns="0" rIns="0" bIns="0" anchor="t" anchorCtr="0">
                <a:spAutoFit/>
              </a:bodyPr>
              <a:lstStyle/>
              <a:p>
                <a:pPr algn="ctr"/>
                <a:r>
                  <a:rPr lang="en" sz="980" dirty="0">
                    <a:solidFill>
                      <a:schemeClr val="accent3"/>
                    </a:solidFill>
                    <a:latin typeface="+mn-lt"/>
                    <a:ea typeface="+mn-ea"/>
                    <a:cs typeface="+mn-cs"/>
                  </a:rPr>
                  <a:t>reader B end mark</a:t>
                </a:r>
              </a:p>
            </p:txBody>
          </p:sp>
        </p:grpSp>
      </p:grpSp>
      <p:grpSp>
        <p:nvGrpSpPr>
          <p:cNvPr id="39" name="writer-note"/>
          <p:cNvGrpSpPr/>
          <p:nvPr/>
        </p:nvGrpSpPr>
        <p:grpSpPr>
          <a:xfrm>
            <a:off x="6800850" y="1949450"/>
            <a:ext cx="3605898" cy="826770"/>
            <a:chOff x="6800850" y="1949450"/>
            <a:chExt cx="3605898" cy="826770"/>
          </a:xfrm>
        </p:grpSpPr>
        <p:sp>
          <p:nvSpPr>
            <p:cNvPr id="37" name="Line 37"/>
            <p:cNvSpPr/>
            <p:nvPr/>
          </p:nvSpPr>
          <p:spPr>
            <a:xfrm flipH="1">
              <a:off x="6800850" y="2324100"/>
              <a:ext cx="895350" cy="1"/>
            </a:xfrm>
            <a:prstGeom prst="line">
              <a:avLst/>
            </a:prstGeom>
            <a:noFill/>
            <a:ln w="14288">
              <a:solidFill>
                <a:schemeClr val="accent2"/>
              </a:solidFill>
              <a:tailEnd type="triangle" w="lg" len="lg"/>
            </a:ln>
          </p:spPr>
        </p:sp>
        <p:sp>
          <p:nvSpPr>
            <p:cNvPr id="38" name="TextBox 38"/>
            <p:cNvSpPr txBox="1"/>
            <p:nvPr/>
          </p:nvSpPr>
          <p:spPr>
            <a:xfrm>
              <a:off x="7802880" y="1949450"/>
              <a:ext cx="2603868" cy="826770"/>
            </a:xfrm>
            <a:prstGeom prst="rect">
              <a:avLst/>
            </a:prstGeom>
            <a:noFill/>
            <a:ln>
              <a:noFill/>
            </a:ln>
          </p:spPr>
          <p:txBody>
            <a:bodyPr wrap="none" lIns="0" tIns="0" rIns="0" bIns="0" anchor="t" anchorCtr="0">
              <a:spAutoFit/>
            </a:bodyPr>
            <a:lstStyle/>
            <a:p>
              <a:pPr algn="l">
                <a:lnSpc>
                  <a:spcPts val="2100"/>
                </a:lnSpc>
              </a:pPr>
              <a:r>
                <a:rPr lang="en" sz="1500" dirty="0">
                  <a:solidFill>
                    <a:schemeClr val="dk1"/>
                  </a:solidFill>
                  <a:latin typeface="+mn-lt"/>
                  <a:ea typeface="+mn-ea"/>
                  <a:cs typeface="+mn-cs"/>
                </a:rPr>
                <a:t xml:space="preserve">The </a:t>
              </a:r>
              <a:r>
                <a:rPr lang="en" sz="1500" b="1" dirty="0">
                  <a:solidFill>
                    <a:schemeClr val="accent2"/>
                  </a:solidFill>
                  <a:latin typeface="+mn-lt"/>
                  <a:ea typeface="+mn-ea"/>
                  <a:cs typeface="+mn-cs"/>
                </a:rPr>
                <a:t>single writer</a:t>
              </a:r>
              <a:r>
                <a:rPr lang="en" sz="1500" dirty="0">
                  <a:solidFill>
                    <a:schemeClr val="dk1"/>
                  </a:solidFill>
                  <a:latin typeface="+mn-lt"/>
                  <a:ea typeface="+mn-ea"/>
                  <a:cs typeface="+mn-cs"/>
                </a:rPr>
                <a:t xml:space="preserve"> appends</a:t>
              </a:r>
              <a:br>
                <a:rPr lang="en" sz="1500" dirty="0">
                  <a:solidFill>
                    <a:schemeClr val="dk1"/>
                  </a:solidFill>
                  <a:latin typeface="+mn-lt"/>
                  <a:ea typeface="+mn-ea"/>
                  <a:cs typeface="+mn-cs"/>
                </a:rPr>
              </a:br>
              <a:r>
                <a:rPr lang="en" sz="1500" dirty="0">
                  <a:solidFill>
                    <a:schemeClr val="dk1"/>
                  </a:solidFill>
                  <a:latin typeface="+mn-lt"/>
                  <a:ea typeface="+mn-ea"/>
                  <a:cs typeface="+mn-cs"/>
                </a:rPr>
                <a:t>new frames at the end; each</a:t>
              </a:r>
              <a:br>
                <a:rPr lang="en" sz="1500" dirty="0">
                  <a:solidFill>
                    <a:schemeClr val="dk1"/>
                  </a:solidFill>
                  <a:latin typeface="+mn-lt"/>
                  <a:ea typeface="+mn-ea"/>
                  <a:cs typeface="+mn-cs"/>
                </a:rPr>
              </a:br>
              <a:r>
                <a:rPr lang="en" sz="1500" dirty="0">
                  <a:solidFill>
                    <a:schemeClr val="dk1"/>
                  </a:solidFill>
                  <a:latin typeface="+mn-lt"/>
                  <a:ea typeface="+mn-ea"/>
                  <a:cs typeface="+mn-cs"/>
                </a:rPr>
                <a:t>reader keeps its own snapshot.</a:t>
              </a:r>
            </a:p>
          </p:txBody>
        </p:sp>
      </p:grpSp>
      <p:grpSp>
        <p:nvGrpSpPr>
          <p:cNvPr id="43" name="checkpoint"/>
          <p:cNvGrpSpPr/>
          <p:nvPr/>
        </p:nvGrpSpPr>
        <p:grpSpPr>
          <a:xfrm>
            <a:off x="800100" y="2857500"/>
            <a:ext cx="1905000" cy="1143000"/>
            <a:chOff x="800100" y="2857500"/>
            <a:chExt cx="1905000" cy="1143000"/>
          </a:xfrm>
        </p:grpSpPr>
        <p:sp>
          <p:nvSpPr>
            <p:cNvPr id="40" name="Line 40"/>
            <p:cNvSpPr/>
            <p:nvPr/>
          </p:nvSpPr>
          <p:spPr>
            <a:xfrm>
              <a:off x="1752600" y="2857500"/>
              <a:ext cx="1" cy="628650"/>
            </a:xfrm>
            <a:prstGeom prst="line">
              <a:avLst/>
            </a:prstGeom>
            <a:noFill/>
            <a:ln w="14288">
              <a:solidFill>
                <a:schemeClr val="accent1"/>
              </a:solidFill>
              <a:prstDash val="lgDash"/>
              <a:tailEnd type="triangle" w="lg" len="lg"/>
            </a:ln>
          </p:spPr>
        </p:sp>
        <p:sp>
          <p:nvSpPr>
            <p:cNvPr id="41" name="Rectangle 41"/>
            <p:cNvSpPr/>
            <p:nvPr/>
          </p:nvSpPr>
          <p:spPr>
            <a:xfrm>
              <a:off x="800100" y="3543300"/>
              <a:ext cx="1905000" cy="457200"/>
            </a:xfrm>
            <a:prstGeom prst="roundRect">
              <a:avLst>
                <a:gd name="adj" fmla="val 4167"/>
              </a:avLst>
            </a:prstGeom>
            <a:solidFill>
              <a:schemeClr val="lt2"/>
            </a:solidFill>
            <a:ln w="14288">
              <a:solidFill>
                <a:schemeClr val="accent1"/>
              </a:solidFill>
            </a:ln>
          </p:spPr>
        </p:sp>
        <p:sp>
          <p:nvSpPr>
            <p:cNvPr id="42" name="TextBox 42"/>
            <p:cNvSpPr txBox="1"/>
            <p:nvPr/>
          </p:nvSpPr>
          <p:spPr>
            <a:xfrm>
              <a:off x="1295497" y="3676650"/>
              <a:ext cx="914205" cy="234696"/>
            </a:xfrm>
            <a:prstGeom prst="rect">
              <a:avLst/>
            </a:prstGeom>
            <a:noFill/>
            <a:ln>
              <a:noFill/>
            </a:ln>
          </p:spPr>
          <p:txBody>
            <a:bodyPr wrap="none" lIns="0" tIns="0" rIns="0" bIns="0" anchor="t" anchorCtr="0">
              <a:spAutoFit/>
            </a:bodyPr>
            <a:lstStyle/>
            <a:p>
              <a:pPr algn="ctr"/>
              <a:r>
                <a:rPr lang="en" sz="1200" dirty="0">
                  <a:solidFill>
                    <a:schemeClr val="dk1"/>
                  </a:solidFill>
                  <a:latin typeface="+mn-lt"/>
                  <a:ea typeface="+mn-ea"/>
                  <a:cs typeface="+mn-cs"/>
                </a:rPr>
                <a:t>database file</a:t>
              </a:r>
            </a:p>
          </p:txBody>
        </p:sp>
      </p:grpSp>
      <p:grpSp>
        <p:nvGrpSpPr>
          <p:cNvPr id="46" name="checkpoint-note"/>
          <p:cNvGrpSpPr/>
          <p:nvPr/>
        </p:nvGrpSpPr>
        <p:grpSpPr>
          <a:xfrm>
            <a:off x="2889504" y="3581400"/>
            <a:ext cx="7817359" cy="463296"/>
            <a:chOff x="2889504" y="3581400"/>
            <a:chExt cx="7817359" cy="463296"/>
          </a:xfrm>
        </p:grpSpPr>
        <p:sp>
          <p:nvSpPr>
            <p:cNvPr id="44" name="TextBox 44"/>
            <p:cNvSpPr txBox="1"/>
            <p:nvPr/>
          </p:nvSpPr>
          <p:spPr>
            <a:xfrm>
              <a:off x="2889504" y="3581400"/>
              <a:ext cx="7368398" cy="234696"/>
            </a:xfrm>
            <a:prstGeom prst="rect">
              <a:avLst/>
            </a:prstGeom>
            <a:noFill/>
            <a:ln>
              <a:noFill/>
            </a:ln>
          </p:spPr>
          <p:txBody>
            <a:bodyPr wrap="none" lIns="0" tIns="0" rIns="0" bIns="0" anchor="t" anchorCtr="0">
              <a:spAutoFit/>
            </a:bodyPr>
            <a:lstStyle/>
            <a:p>
              <a:pPr algn="l"/>
              <a:r>
                <a:rPr lang="en" sz="1200" b="1" dirty="0">
                  <a:solidFill>
                    <a:schemeClr val="accent1"/>
                  </a:solidFill>
                  <a:latin typeface="+mn-lt"/>
                  <a:ea typeface="+mn-ea"/>
                  <a:cs typeface="+mn-cs"/>
                </a:rPr>
                <a:t>Checkpoint</a:t>
              </a:r>
              <a:r>
                <a:rPr lang="en" sz="1200" dirty="0">
                  <a:solidFill>
                    <a:schemeClr val="dk1"/>
                  </a:solidFill>
                  <a:latin typeface="+mn-lt"/>
                  <a:ea typeface="+mn-ea"/>
                  <a:cs typeface="+mn-cs"/>
                </a:rPr>
                <a:t xml:space="preserve"> copies WAL pages back into the database, stopping at the oldest active reader's end mark.</a:t>
              </a:r>
            </a:p>
          </p:txBody>
        </p:sp>
        <p:sp>
          <p:nvSpPr>
            <p:cNvPr id="45" name="TextBox 45"/>
            <p:cNvSpPr txBox="1"/>
            <p:nvPr/>
          </p:nvSpPr>
          <p:spPr>
            <a:xfrm>
              <a:off x="2889504" y="3810000"/>
              <a:ext cx="7817359"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 xml:space="preserve">Automatic once the WAL reaches </a:t>
              </a:r>
              <a:r>
                <a:rPr lang="en" sz="1200" b="1" dirty="0">
                  <a:solidFill>
                    <a:schemeClr val="accent2"/>
                  </a:solidFill>
                  <a:latin typeface="+mn-lt"/>
                  <a:ea typeface="+mn-ea"/>
                  <a:cs typeface="+mn-cs"/>
                </a:rPr>
                <a:t>1000 pages</a:t>
              </a:r>
              <a:r>
                <a:rPr lang="en" sz="1200" dirty="0">
                  <a:solidFill>
                    <a:schemeClr val="accent5"/>
                  </a:solidFill>
                  <a:latin typeface="+mn-lt"/>
                  <a:ea typeface="+mn-ea"/>
                  <a:cs typeface="+mn-cs"/>
                </a:rPr>
                <a:t>; when fully checkpointed and idle, the WAL rewinds to its start.</a:t>
              </a:r>
            </a:p>
          </p:txBody>
        </p:sp>
      </p:grpSp>
      <p:grpSp>
        <p:nvGrpSpPr>
          <p:cNvPr id="52" name="col-consistency"/>
          <p:cNvGrpSpPr/>
          <p:nvPr/>
        </p:nvGrpSpPr>
        <p:grpSpPr>
          <a:xfrm>
            <a:off x="603504" y="4318000"/>
            <a:ext cx="2952825" cy="1593596"/>
            <a:chOff x="603504" y="4318000"/>
            <a:chExt cx="2952825" cy="1593596"/>
          </a:xfrm>
        </p:grpSpPr>
        <p:sp>
          <p:nvSpPr>
            <p:cNvPr id="47" name="TextBox 47"/>
            <p:cNvSpPr txBox="1"/>
            <p:nvPr/>
          </p:nvSpPr>
          <p:spPr>
            <a:xfrm>
              <a:off x="603885" y="4318000"/>
              <a:ext cx="2479335"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HOW IT STAYS CONSISTENT</a:t>
              </a:r>
            </a:p>
          </p:txBody>
        </p:sp>
        <p:sp>
          <p:nvSpPr>
            <p:cNvPr id="48" name="TextBox 48"/>
            <p:cNvSpPr txBox="1"/>
            <p:nvPr/>
          </p:nvSpPr>
          <p:spPr>
            <a:xfrm>
              <a:off x="603504" y="4610100"/>
              <a:ext cx="2938959" cy="234696"/>
            </a:xfrm>
            <a:prstGeom prst="rect">
              <a:avLst/>
            </a:prstGeom>
            <a:noFill/>
            <a:ln>
              <a:noFill/>
            </a:ln>
          </p:spPr>
          <p:txBody>
            <a:bodyPr wrap="none" lIns="0" tIns="0" rIns="0" bIns="0" anchor="t" anchorCtr="0">
              <a:spAutoFit/>
            </a:bodyPr>
            <a:lstStyle/>
            <a:p>
              <a:pPr algn="l" marL="103647" indent="-103647">
                <a:buClr>
                  <a:schemeClr val="dk1"/>
                </a:buClr>
                <a:buSzTx/>
                <a:buFontTx/>
                <a:buChar char="•"/>
              </a:pPr>
              <a:r>
                <a:rPr lang="en" sz="1200" dirty="0">
                  <a:solidFill>
                    <a:schemeClr val="dk1"/>
                  </a:solidFill>
                  <a:latin typeface="+mn-lt"/>
                  <a:ea typeface="+mn-ea"/>
                  <a:cs typeface="+mn-cs"/>
                </a:rPr>
                <a:t>One end mark per read = one snapshot</a:t>
              </a:r>
            </a:p>
          </p:txBody>
        </p:sp>
        <p:sp>
          <p:nvSpPr>
            <p:cNvPr id="49" name="TextBox 49"/>
            <p:cNvSpPr txBox="1"/>
            <p:nvPr/>
          </p:nvSpPr>
          <p:spPr>
            <a:xfrm>
              <a:off x="603504" y="4883150"/>
              <a:ext cx="2825816" cy="444246"/>
            </a:xfrm>
            <a:prstGeom prst="rect">
              <a:avLst/>
            </a:prstGeom>
            <a:noFill/>
            <a:ln>
              <a:noFill/>
            </a:ln>
          </p:spPr>
          <p:txBody>
            <a:bodyPr wrap="none" lIns="0" tIns="0" rIns="0" bIns="0" anchor="t" anchorCtr="0">
              <a:spAutoFit/>
            </a:bodyPr>
            <a:lstStyle/>
            <a:p>
              <a:pPr algn="l" marL="103647" indent="-103647">
                <a:lnSpc>
                  <a:spcPts val="1650"/>
                </a:lnSpc>
                <a:buClr>
                  <a:schemeClr val="dk1"/>
                </a:buClr>
                <a:buSzTx/>
                <a:buFontTx/>
                <a:buChar char="•"/>
              </a:pPr>
              <a:r>
                <a:rPr lang="en" sz="1200" dirty="0">
                  <a:solidFill>
                    <a:schemeClr val="dk1"/>
                  </a:solidFill>
                  <a:latin typeface="+mn-lt"/>
                  <a:ea typeface="+mn-ea"/>
                  <a:cs typeface="+mn-cs"/>
                </a:rPr>
                <a:t>A shared-memory wal-index finds pages</a:t>
              </a:r>
              <a:br>
                <a:rPr lang="en" sz="1200" dirty="0">
                  <a:solidFill>
                    <a:schemeClr val="dk1"/>
                  </a:solidFill>
                  <a:latin typeface="+mn-lt"/>
                  <a:ea typeface="+mn-ea"/>
                  <a:cs typeface="+mn-cs"/>
                </a:rPr>
              </a:br>
              <a:r>
                <a:rPr lang="en" sz="1200" dirty="0">
                  <a:solidFill>
                    <a:schemeClr val="dk1"/>
                  </a:solidFill>
                  <a:latin typeface="+mn-lt"/>
                  <a:ea typeface="+mn-ea"/>
                  <a:cs typeface="+mn-cs"/>
                </a:rPr>
                <a:t>fast, so all processes share one host</a:t>
              </a:r>
            </a:p>
          </p:txBody>
        </p:sp>
        <p:sp>
          <p:nvSpPr>
            <p:cNvPr id="50" name="TextBox 50"/>
            <p:cNvSpPr txBox="1"/>
            <p:nvPr/>
          </p:nvSpPr>
          <p:spPr>
            <a:xfrm>
              <a:off x="603504" y="5391150"/>
              <a:ext cx="2637193" cy="234696"/>
            </a:xfrm>
            <a:prstGeom prst="rect">
              <a:avLst/>
            </a:prstGeom>
            <a:noFill/>
            <a:ln>
              <a:noFill/>
            </a:ln>
          </p:spPr>
          <p:txBody>
            <a:bodyPr wrap="none" lIns="0" tIns="0" rIns="0" bIns="0" anchor="t" anchorCtr="0">
              <a:spAutoFit/>
            </a:bodyPr>
            <a:lstStyle/>
            <a:p>
              <a:pPr algn="l" marL="103647" indent="-103647">
                <a:buClr>
                  <a:schemeClr val="dk1"/>
                </a:buClr>
                <a:buSzTx/>
                <a:buFontTx/>
                <a:buChar char="•"/>
              </a:pPr>
              <a:r>
                <a:rPr lang="en" sz="1200" dirty="0">
                  <a:solidFill>
                    <a:schemeClr val="dk1"/>
                  </a:solidFill>
                  <a:latin typeface="+mn-lt"/>
                  <a:ea typeface="+mn-ea"/>
                  <a:cs typeface="+mn-cs"/>
                </a:rPr>
                <a:t>One WAL file → one writer at a time</a:t>
              </a:r>
            </a:p>
          </p:txBody>
        </p:sp>
        <p:sp>
          <p:nvSpPr>
            <p:cNvPr id="51" name="TextBox 51"/>
            <p:cNvSpPr txBox="1"/>
            <p:nvPr/>
          </p:nvSpPr>
          <p:spPr>
            <a:xfrm>
              <a:off x="603504" y="5676900"/>
              <a:ext cx="2952825" cy="234696"/>
            </a:xfrm>
            <a:prstGeom prst="rect">
              <a:avLst/>
            </a:prstGeom>
            <a:noFill/>
            <a:ln>
              <a:noFill/>
            </a:ln>
          </p:spPr>
          <p:txBody>
            <a:bodyPr wrap="none" lIns="0" tIns="0" rIns="0" bIns="0" anchor="t" anchorCtr="0">
              <a:spAutoFit/>
            </a:bodyPr>
            <a:lstStyle/>
            <a:p>
              <a:pPr algn="l" marL="103647" indent="-103647">
                <a:buClr>
                  <a:schemeClr val="dk1"/>
                </a:buClr>
                <a:buSzTx/>
                <a:buFontTx/>
                <a:buChar char="•"/>
              </a:pPr>
              <a:r>
                <a:rPr lang="en" sz="1200" dirty="0">
                  <a:solidFill>
                    <a:schemeClr val="dk1"/>
                  </a:solidFill>
                  <a:latin typeface="+mn-lt"/>
                  <a:ea typeface="+mn-ea"/>
                  <a:cs typeface="+mn-cs"/>
                </a:rPr>
                <a:t>A long reader can stall the checkpointer</a:t>
              </a:r>
            </a:p>
          </p:txBody>
        </p:sp>
      </p:grpSp>
      <p:grpSp>
        <p:nvGrpSpPr>
          <p:cNvPr id="70" name="col-pros"/>
          <p:cNvGrpSpPr/>
          <p:nvPr/>
        </p:nvGrpSpPr>
        <p:grpSpPr>
          <a:xfrm>
            <a:off x="4337685" y="4318000"/>
            <a:ext cx="3104930" cy="1384046"/>
            <a:chOff x="4337685" y="4318000"/>
            <a:chExt cx="3104930" cy="1384046"/>
          </a:xfrm>
        </p:grpSpPr>
        <p:sp>
          <p:nvSpPr>
            <p:cNvPr id="53" name="TextBox 53"/>
            <p:cNvSpPr txBox="1"/>
            <p:nvPr/>
          </p:nvSpPr>
          <p:spPr>
            <a:xfrm>
              <a:off x="4337685" y="4318000"/>
              <a:ext cx="859601" cy="220028"/>
            </a:xfrm>
            <a:prstGeom prst="rect">
              <a:avLst/>
            </a:prstGeom>
            <a:noFill/>
            <a:ln>
              <a:noFill/>
            </a:ln>
          </p:spPr>
          <p:txBody>
            <a:bodyPr wrap="none" lIns="0" tIns="0" rIns="0" bIns="0" anchor="t" anchorCtr="0">
              <a:spAutoFit/>
            </a:bodyPr>
            <a:lstStyle/>
            <a:p>
              <a:pPr algn="l"/>
              <a:r>
                <a:rPr lang="en" sz="1120" spc="150" dirty="0">
                  <a:solidFill>
                    <a:schemeClr val="accent3"/>
                  </a:solidFill>
                  <a:latin typeface="+mn-lt"/>
                  <a:ea typeface="+mn-ea"/>
                  <a:cs typeface="+mn-cs"/>
                </a:rPr>
                <a:t>WHY WAL</a:t>
              </a:r>
            </a:p>
          </p:txBody>
        </p:sp>
        <p:grpSp>
          <p:nvGrpSpPr>
            <p:cNvPr id="56" name="Group 56"/>
            <p:cNvGrpSpPr/>
            <p:nvPr/>
          </p:nvGrpSpPr>
          <p:grpSpPr>
            <a:xfrm>
              <a:off x="4367212" y="4633912"/>
              <a:ext cx="142875" cy="142875"/>
              <a:chOff x="4367212" y="4633912"/>
              <a:chExt cx="142875" cy="142875"/>
            </a:xfrm>
          </p:grpSpPr>
          <p:sp>
            <p:nvSpPr>
              <p:cNvPr id="54" name="Freeform 54"/>
              <p:cNvSpPr/>
              <p:nvPr/>
            </p:nvSpPr>
            <p:spPr>
              <a:xfrm>
                <a:off x="4367212" y="46339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55" name="Freeform 55"/>
              <p:cNvSpPr/>
              <p:nvPr/>
            </p:nvSpPr>
            <p:spPr>
              <a:xfrm>
                <a:off x="4414837" y="46894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57" name="TextBox 57"/>
            <p:cNvSpPr txBox="1"/>
            <p:nvPr/>
          </p:nvSpPr>
          <p:spPr>
            <a:xfrm>
              <a:off x="4604004" y="4610100"/>
              <a:ext cx="259812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Significantly faster in most scenarios</a:t>
              </a:r>
            </a:p>
          </p:txBody>
        </p:sp>
        <p:grpSp>
          <p:nvGrpSpPr>
            <p:cNvPr id="60" name="Group 60"/>
            <p:cNvGrpSpPr/>
            <p:nvPr/>
          </p:nvGrpSpPr>
          <p:grpSpPr>
            <a:xfrm>
              <a:off x="4367212" y="4919662"/>
              <a:ext cx="142875" cy="142875"/>
              <a:chOff x="4367212" y="4919662"/>
              <a:chExt cx="142875" cy="142875"/>
            </a:xfrm>
          </p:grpSpPr>
          <p:sp>
            <p:nvSpPr>
              <p:cNvPr id="58" name="Freeform 58"/>
              <p:cNvSpPr/>
              <p:nvPr/>
            </p:nvSpPr>
            <p:spPr>
              <a:xfrm>
                <a:off x="4367212" y="491966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59" name="Freeform 59"/>
              <p:cNvSpPr/>
              <p:nvPr/>
            </p:nvSpPr>
            <p:spPr>
              <a:xfrm>
                <a:off x="4414837" y="497522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61" name="TextBox 61"/>
            <p:cNvSpPr txBox="1"/>
            <p:nvPr/>
          </p:nvSpPr>
          <p:spPr>
            <a:xfrm>
              <a:off x="4604004" y="4895850"/>
              <a:ext cx="283861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Readers and the writer run concurrently</a:t>
              </a:r>
            </a:p>
          </p:txBody>
        </p:sp>
        <p:grpSp>
          <p:nvGrpSpPr>
            <p:cNvPr id="64" name="Group 64"/>
            <p:cNvGrpSpPr/>
            <p:nvPr/>
          </p:nvGrpSpPr>
          <p:grpSpPr>
            <a:xfrm>
              <a:off x="4367212" y="5205412"/>
              <a:ext cx="142875" cy="142875"/>
              <a:chOff x="4367212" y="5205412"/>
              <a:chExt cx="142875" cy="142875"/>
            </a:xfrm>
          </p:grpSpPr>
          <p:sp>
            <p:nvSpPr>
              <p:cNvPr id="62" name="Freeform 62"/>
              <p:cNvSpPr/>
              <p:nvPr/>
            </p:nvSpPr>
            <p:spPr>
              <a:xfrm>
                <a:off x="4367212" y="52054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63" name="Freeform 63"/>
              <p:cNvSpPr/>
              <p:nvPr/>
            </p:nvSpPr>
            <p:spPr>
              <a:xfrm>
                <a:off x="4414837" y="52609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65" name="TextBox 65"/>
            <p:cNvSpPr txBox="1"/>
            <p:nvPr/>
          </p:nvSpPr>
          <p:spPr>
            <a:xfrm>
              <a:off x="4604004" y="5181600"/>
              <a:ext cx="1781716"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More sequential disk I/O</a:t>
              </a:r>
            </a:p>
          </p:txBody>
        </p:sp>
        <p:grpSp>
          <p:nvGrpSpPr>
            <p:cNvPr id="68" name="Group 68"/>
            <p:cNvGrpSpPr/>
            <p:nvPr/>
          </p:nvGrpSpPr>
          <p:grpSpPr>
            <a:xfrm>
              <a:off x="4367212" y="5491162"/>
              <a:ext cx="142875" cy="142875"/>
              <a:chOff x="4367212" y="5491162"/>
              <a:chExt cx="142875" cy="142875"/>
            </a:xfrm>
          </p:grpSpPr>
          <p:sp>
            <p:nvSpPr>
              <p:cNvPr id="66" name="Freeform 66"/>
              <p:cNvSpPr/>
              <p:nvPr/>
            </p:nvSpPr>
            <p:spPr>
              <a:xfrm>
                <a:off x="4367212" y="549116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67" name="Freeform 67"/>
              <p:cNvSpPr/>
              <p:nvPr/>
            </p:nvSpPr>
            <p:spPr>
              <a:xfrm>
                <a:off x="4414837" y="554672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69" name="TextBox 69"/>
            <p:cNvSpPr txBox="1"/>
            <p:nvPr/>
          </p:nvSpPr>
          <p:spPr>
            <a:xfrm>
              <a:off x="4604004" y="5467350"/>
              <a:ext cx="1643659"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Far fewer </a:t>
              </a:r>
              <a:r>
                <a:rPr lang="en" sz="1120" dirty="0">
                  <a:solidFill>
                    <a:schemeClr val="accent1"/>
                  </a:solidFill>
                  <a:latin typeface="Consolas"/>
                  <a:ea typeface="Consolas"/>
                  <a:cs typeface="Consolas"/>
                </a:rPr>
                <a:t>fsync()</a:t>
              </a:r>
              <a:r>
                <a:rPr lang="en" sz="1200" dirty="0">
                  <a:solidFill>
                    <a:schemeClr val="dk1"/>
                  </a:solidFill>
                  <a:latin typeface="+mn-lt"/>
                  <a:ea typeface="+mn-ea"/>
                  <a:cs typeface="+mn-cs"/>
                </a:rPr>
                <a:t xml:space="preserve"> calls</a:t>
              </a:r>
            </a:p>
          </p:txBody>
        </p:sp>
      </p:grpSp>
      <p:grpSp>
        <p:nvGrpSpPr>
          <p:cNvPr id="92" name="col-cons"/>
          <p:cNvGrpSpPr/>
          <p:nvPr/>
        </p:nvGrpSpPr>
        <p:grpSpPr>
          <a:xfrm>
            <a:off x="8071485" y="4318000"/>
            <a:ext cx="3186709" cy="1580896"/>
            <a:chOff x="8071485" y="4318000"/>
            <a:chExt cx="3186709" cy="1580896"/>
          </a:xfrm>
        </p:grpSpPr>
        <p:sp>
          <p:nvSpPr>
            <p:cNvPr id="71" name="TextBox 71"/>
            <p:cNvSpPr txBox="1"/>
            <p:nvPr/>
          </p:nvSpPr>
          <p:spPr>
            <a:xfrm>
              <a:off x="8071485" y="4318000"/>
              <a:ext cx="1400163" cy="220028"/>
            </a:xfrm>
            <a:prstGeom prst="rect">
              <a:avLst/>
            </a:prstGeom>
            <a:noFill/>
            <a:ln>
              <a:noFill/>
            </a:ln>
          </p:spPr>
          <p:txBody>
            <a:bodyPr wrap="none" lIns="0" tIns="0" rIns="0" bIns="0" anchor="t" anchorCtr="0">
              <a:spAutoFit/>
            </a:bodyPr>
            <a:lstStyle/>
            <a:p>
              <a:pPr algn="l"/>
              <a:r>
                <a:rPr lang="en" sz="1120" spc="150" dirty="0">
                  <a:solidFill>
                    <a:srgbClr val="FF7A6B"/>
                  </a:solidFill>
                  <a:latin typeface="+mn-lt"/>
                  <a:ea typeface="+mn-ea"/>
                  <a:cs typeface="+mn-cs"/>
                </a:rPr>
                <a:t>WHAT IT COSTS</a:t>
              </a:r>
            </a:p>
          </p:txBody>
        </p:sp>
        <p:grpSp>
          <p:nvGrpSpPr>
            <p:cNvPr id="75" name="Group 75"/>
            <p:cNvGrpSpPr/>
            <p:nvPr/>
          </p:nvGrpSpPr>
          <p:grpSpPr>
            <a:xfrm>
              <a:off x="8092399" y="4631275"/>
              <a:ext cx="160095" cy="137543"/>
              <a:chOff x="8092399" y="4631275"/>
              <a:chExt cx="160095" cy="137543"/>
            </a:xfrm>
          </p:grpSpPr>
          <p:sp>
            <p:nvSpPr>
              <p:cNvPr id="72" name="Freeform 72"/>
              <p:cNvSpPr/>
              <p:nvPr/>
            </p:nvSpPr>
            <p:spPr>
              <a:xfrm>
                <a:off x="8172450" y="4681537"/>
                <a:ext cx="9525" cy="31750"/>
              </a:xfrm>
              <a:custGeom>
                <a:avLst/>
                <a:gdLst/>
                <a:ahLst/>
                <a:cxnLst/>
                <a:rect l="l" t="t" r="r" b="b"/>
                <a:pathLst>
                  <a:path w="9525" h="31750">
                    <a:moveTo>
                      <a:pt x="0" y="0"/>
                    </a:moveTo>
                    <a:lnTo>
                      <a:pt x="0" y="31750"/>
                    </a:lnTo>
                  </a:path>
                </a:pathLst>
              </a:custGeom>
              <a:noFill/>
              <a:ln w="11906">
                <a:solidFill>
                  <a:srgbClr val="FF7A6B"/>
                </a:solidFill>
              </a:ln>
            </p:spPr>
          </p:sp>
          <p:sp>
            <p:nvSpPr>
              <p:cNvPr id="73" name="Freeform 73"/>
              <p:cNvSpPr/>
              <p:nvPr/>
            </p:nvSpPr>
            <p:spPr>
              <a:xfrm>
                <a:off x="8092399" y="4631275"/>
                <a:ext cx="160095" cy="137543"/>
              </a:xfrm>
              <a:custGeom>
                <a:avLst/>
                <a:gdLst/>
                <a:ahLst/>
                <a:cxnLst/>
                <a:rect l="l" t="t" r="r" b="b"/>
                <a:pathLst>
                  <a:path w="160095" h="137543">
                    <a:moveTo>
                      <a:pt x="67057" y="7328"/>
                    </a:moveTo>
                    <a:lnTo>
                      <a:pt x="2716" y="114754"/>
                    </a:lnTo>
                    <a:cubicBezTo>
                      <a:pt x="16" y="119428"/>
                      <a:pt x="0" y="125183"/>
                      <a:pt x="2672" y="129873"/>
                    </a:cubicBezTo>
                    <a:cubicBezTo>
                      <a:pt x="5344" y="134562"/>
                      <a:pt x="10304" y="137482"/>
                      <a:pt x="15701" y="137543"/>
                    </a:cubicBezTo>
                    <a:lnTo>
                      <a:pt x="144400" y="137543"/>
                    </a:lnTo>
                    <a:cubicBezTo>
                      <a:pt x="149794" y="137480"/>
                      <a:pt x="154751" y="134562"/>
                      <a:pt x="157423" y="129875"/>
                    </a:cubicBezTo>
                    <a:cubicBezTo>
                      <a:pt x="160095" y="125188"/>
                      <a:pt x="160081" y="119436"/>
                      <a:pt x="157386" y="114762"/>
                    </a:cubicBezTo>
                    <a:lnTo>
                      <a:pt x="93044" y="7320"/>
                    </a:lnTo>
                    <a:cubicBezTo>
                      <a:pt x="90291" y="2776"/>
                      <a:pt x="85364" y="0"/>
                      <a:pt x="80051" y="0"/>
                    </a:cubicBezTo>
                    <a:cubicBezTo>
                      <a:pt x="74737" y="0"/>
                      <a:pt x="69810" y="2776"/>
                      <a:pt x="67057" y="7320"/>
                    </a:cubicBezTo>
                  </a:path>
                </a:pathLst>
              </a:custGeom>
              <a:noFill/>
              <a:ln w="11906">
                <a:solidFill>
                  <a:srgbClr val="FF7A6B"/>
                </a:solidFill>
              </a:ln>
            </p:spPr>
          </p:sp>
          <p:sp>
            <p:nvSpPr>
              <p:cNvPr id="74" name="Freeform 74"/>
              <p:cNvSpPr/>
              <p:nvPr/>
            </p:nvSpPr>
            <p:spPr>
              <a:xfrm>
                <a:off x="8172450" y="4737100"/>
                <a:ext cx="9525" cy="9525"/>
              </a:xfrm>
              <a:custGeom>
                <a:avLst/>
                <a:gdLst/>
                <a:ahLst/>
                <a:cxnLst/>
                <a:rect l="l" t="t" r="r" b="b"/>
                <a:pathLst>
                  <a:path w="9525" h="9525">
                    <a:moveTo>
                      <a:pt x="0" y="0"/>
                    </a:moveTo>
                    <a:lnTo>
                      <a:pt x="79" y="0"/>
                    </a:lnTo>
                  </a:path>
                </a:pathLst>
              </a:custGeom>
              <a:noFill/>
              <a:ln w="11906">
                <a:solidFill>
                  <a:srgbClr val="FF7A6B"/>
                </a:solidFill>
              </a:ln>
            </p:spPr>
          </p:sp>
        </p:grpSp>
        <p:sp>
          <p:nvSpPr>
            <p:cNvPr id="76" name="TextBox 76"/>
            <p:cNvSpPr txBox="1"/>
            <p:nvPr/>
          </p:nvSpPr>
          <p:spPr>
            <a:xfrm>
              <a:off x="8337804" y="4610100"/>
              <a:ext cx="292039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Same host only — no network filesystem</a:t>
              </a:r>
            </a:p>
          </p:txBody>
        </p:sp>
        <p:grpSp>
          <p:nvGrpSpPr>
            <p:cNvPr id="80" name="Group 80"/>
            <p:cNvGrpSpPr/>
            <p:nvPr/>
          </p:nvGrpSpPr>
          <p:grpSpPr>
            <a:xfrm>
              <a:off x="8092399" y="4917025"/>
              <a:ext cx="160095" cy="137543"/>
              <a:chOff x="8092399" y="4917025"/>
              <a:chExt cx="160095" cy="137543"/>
            </a:xfrm>
          </p:grpSpPr>
          <p:sp>
            <p:nvSpPr>
              <p:cNvPr id="77" name="Freeform 77"/>
              <p:cNvSpPr/>
              <p:nvPr/>
            </p:nvSpPr>
            <p:spPr>
              <a:xfrm>
                <a:off x="8172450" y="4967287"/>
                <a:ext cx="9525" cy="31750"/>
              </a:xfrm>
              <a:custGeom>
                <a:avLst/>
                <a:gdLst/>
                <a:ahLst/>
                <a:cxnLst/>
                <a:rect l="l" t="t" r="r" b="b"/>
                <a:pathLst>
                  <a:path w="9525" h="31750">
                    <a:moveTo>
                      <a:pt x="0" y="0"/>
                    </a:moveTo>
                    <a:lnTo>
                      <a:pt x="0" y="31750"/>
                    </a:lnTo>
                  </a:path>
                </a:pathLst>
              </a:custGeom>
              <a:noFill/>
              <a:ln w="11906">
                <a:solidFill>
                  <a:srgbClr val="FF7A6B"/>
                </a:solidFill>
              </a:ln>
            </p:spPr>
          </p:sp>
          <p:sp>
            <p:nvSpPr>
              <p:cNvPr id="78" name="Freeform 78"/>
              <p:cNvSpPr/>
              <p:nvPr/>
            </p:nvSpPr>
            <p:spPr>
              <a:xfrm>
                <a:off x="8092399" y="4917025"/>
                <a:ext cx="160095" cy="137543"/>
              </a:xfrm>
              <a:custGeom>
                <a:avLst/>
                <a:gdLst/>
                <a:ahLst/>
                <a:cxnLst/>
                <a:rect l="l" t="t" r="r" b="b"/>
                <a:pathLst>
                  <a:path w="160095" h="137543">
                    <a:moveTo>
                      <a:pt x="67057" y="7328"/>
                    </a:moveTo>
                    <a:lnTo>
                      <a:pt x="2716" y="114754"/>
                    </a:lnTo>
                    <a:cubicBezTo>
                      <a:pt x="16" y="119428"/>
                      <a:pt x="0" y="125183"/>
                      <a:pt x="2672" y="129873"/>
                    </a:cubicBezTo>
                    <a:cubicBezTo>
                      <a:pt x="5344" y="134562"/>
                      <a:pt x="10304" y="137482"/>
                      <a:pt x="15701" y="137543"/>
                    </a:cubicBezTo>
                    <a:lnTo>
                      <a:pt x="144400" y="137543"/>
                    </a:lnTo>
                    <a:cubicBezTo>
                      <a:pt x="149794" y="137480"/>
                      <a:pt x="154751" y="134562"/>
                      <a:pt x="157423" y="129875"/>
                    </a:cubicBezTo>
                    <a:cubicBezTo>
                      <a:pt x="160095" y="125188"/>
                      <a:pt x="160081" y="119436"/>
                      <a:pt x="157386" y="114762"/>
                    </a:cubicBezTo>
                    <a:lnTo>
                      <a:pt x="93044" y="7320"/>
                    </a:lnTo>
                    <a:cubicBezTo>
                      <a:pt x="90291" y="2776"/>
                      <a:pt x="85364" y="0"/>
                      <a:pt x="80051" y="0"/>
                    </a:cubicBezTo>
                    <a:cubicBezTo>
                      <a:pt x="74737" y="0"/>
                      <a:pt x="69810" y="2776"/>
                      <a:pt x="67057" y="7320"/>
                    </a:cubicBezTo>
                  </a:path>
                </a:pathLst>
              </a:custGeom>
              <a:noFill/>
              <a:ln w="11906">
                <a:solidFill>
                  <a:srgbClr val="FF7A6B"/>
                </a:solidFill>
              </a:ln>
            </p:spPr>
          </p:sp>
          <p:sp>
            <p:nvSpPr>
              <p:cNvPr id="79" name="Freeform 79"/>
              <p:cNvSpPr/>
              <p:nvPr/>
            </p:nvSpPr>
            <p:spPr>
              <a:xfrm>
                <a:off x="8172450" y="5022850"/>
                <a:ext cx="9525" cy="9525"/>
              </a:xfrm>
              <a:custGeom>
                <a:avLst/>
                <a:gdLst/>
                <a:ahLst/>
                <a:cxnLst/>
                <a:rect l="l" t="t" r="r" b="b"/>
                <a:pathLst>
                  <a:path w="9525" h="9525">
                    <a:moveTo>
                      <a:pt x="0" y="0"/>
                    </a:moveTo>
                    <a:lnTo>
                      <a:pt x="79" y="0"/>
                    </a:lnTo>
                  </a:path>
                </a:pathLst>
              </a:custGeom>
              <a:noFill/>
              <a:ln w="11906">
                <a:solidFill>
                  <a:srgbClr val="FF7A6B"/>
                </a:solidFill>
              </a:ln>
            </p:spPr>
          </p:sp>
        </p:grpSp>
        <p:sp>
          <p:nvSpPr>
            <p:cNvPr id="81" name="TextBox 81"/>
            <p:cNvSpPr txBox="1"/>
            <p:nvPr/>
          </p:nvSpPr>
          <p:spPr>
            <a:xfrm>
              <a:off x="8337804" y="4895850"/>
              <a:ext cx="280228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 xml:space="preserve">Extra </a:t>
              </a:r>
              <a:r>
                <a:rPr lang="en" sz="1120" dirty="0">
                  <a:solidFill>
                    <a:schemeClr val="accent1"/>
                  </a:solidFill>
                  <a:latin typeface="Consolas"/>
                  <a:ea typeface="Consolas"/>
                  <a:cs typeface="Consolas"/>
                </a:rPr>
                <a:t>-wal</a:t>
              </a:r>
              <a:r>
                <a:rPr lang="en" sz="1200" dirty="0">
                  <a:solidFill>
                    <a:schemeClr val="dk1"/>
                  </a:solidFill>
                  <a:latin typeface="+mn-lt"/>
                  <a:ea typeface="+mn-ea"/>
                  <a:cs typeface="+mn-cs"/>
                </a:rPr>
                <a:t xml:space="preserve"> and </a:t>
              </a:r>
              <a:r>
                <a:rPr lang="en" sz="1120" dirty="0">
                  <a:solidFill>
                    <a:schemeClr val="accent1"/>
                  </a:solidFill>
                  <a:latin typeface="Consolas"/>
                  <a:ea typeface="Consolas"/>
                  <a:cs typeface="Consolas"/>
                </a:rPr>
                <a:t>-shm</a:t>
              </a:r>
              <a:r>
                <a:rPr lang="en" sz="1200" dirty="0">
                  <a:solidFill>
                    <a:schemeClr val="dk1"/>
                  </a:solidFill>
                  <a:latin typeface="+mn-lt"/>
                  <a:ea typeface="+mn-ea"/>
                  <a:cs typeface="+mn-cs"/>
                </a:rPr>
                <a:t xml:space="preserve"> files beside the DB</a:t>
              </a:r>
            </a:p>
          </p:txBody>
        </p:sp>
        <p:grpSp>
          <p:nvGrpSpPr>
            <p:cNvPr id="85" name="Group 85"/>
            <p:cNvGrpSpPr/>
            <p:nvPr/>
          </p:nvGrpSpPr>
          <p:grpSpPr>
            <a:xfrm>
              <a:off x="8092399" y="5202775"/>
              <a:ext cx="160095" cy="137543"/>
              <a:chOff x="8092399" y="5202775"/>
              <a:chExt cx="160095" cy="137543"/>
            </a:xfrm>
          </p:grpSpPr>
          <p:sp>
            <p:nvSpPr>
              <p:cNvPr id="82" name="Freeform 82"/>
              <p:cNvSpPr/>
              <p:nvPr/>
            </p:nvSpPr>
            <p:spPr>
              <a:xfrm>
                <a:off x="8172450" y="5253037"/>
                <a:ext cx="9525" cy="31750"/>
              </a:xfrm>
              <a:custGeom>
                <a:avLst/>
                <a:gdLst/>
                <a:ahLst/>
                <a:cxnLst/>
                <a:rect l="l" t="t" r="r" b="b"/>
                <a:pathLst>
                  <a:path w="9525" h="31750">
                    <a:moveTo>
                      <a:pt x="0" y="0"/>
                    </a:moveTo>
                    <a:lnTo>
                      <a:pt x="0" y="31750"/>
                    </a:lnTo>
                  </a:path>
                </a:pathLst>
              </a:custGeom>
              <a:noFill/>
              <a:ln w="11906">
                <a:solidFill>
                  <a:srgbClr val="FF7A6B"/>
                </a:solidFill>
              </a:ln>
            </p:spPr>
          </p:sp>
          <p:sp>
            <p:nvSpPr>
              <p:cNvPr id="83" name="Freeform 83"/>
              <p:cNvSpPr/>
              <p:nvPr/>
            </p:nvSpPr>
            <p:spPr>
              <a:xfrm>
                <a:off x="8092399" y="5202775"/>
                <a:ext cx="160095" cy="137543"/>
              </a:xfrm>
              <a:custGeom>
                <a:avLst/>
                <a:gdLst/>
                <a:ahLst/>
                <a:cxnLst/>
                <a:rect l="l" t="t" r="r" b="b"/>
                <a:pathLst>
                  <a:path w="160095" h="137543">
                    <a:moveTo>
                      <a:pt x="67057" y="7328"/>
                    </a:moveTo>
                    <a:lnTo>
                      <a:pt x="2716" y="114754"/>
                    </a:lnTo>
                    <a:cubicBezTo>
                      <a:pt x="16" y="119428"/>
                      <a:pt x="0" y="125183"/>
                      <a:pt x="2672" y="129873"/>
                    </a:cubicBezTo>
                    <a:cubicBezTo>
                      <a:pt x="5344" y="134562"/>
                      <a:pt x="10304" y="137482"/>
                      <a:pt x="15701" y="137543"/>
                    </a:cubicBezTo>
                    <a:lnTo>
                      <a:pt x="144400" y="137543"/>
                    </a:lnTo>
                    <a:cubicBezTo>
                      <a:pt x="149794" y="137480"/>
                      <a:pt x="154751" y="134562"/>
                      <a:pt x="157423" y="129875"/>
                    </a:cubicBezTo>
                    <a:cubicBezTo>
                      <a:pt x="160095" y="125188"/>
                      <a:pt x="160081" y="119436"/>
                      <a:pt x="157386" y="114762"/>
                    </a:cubicBezTo>
                    <a:lnTo>
                      <a:pt x="93044" y="7320"/>
                    </a:lnTo>
                    <a:cubicBezTo>
                      <a:pt x="90291" y="2776"/>
                      <a:pt x="85364" y="0"/>
                      <a:pt x="80051" y="0"/>
                    </a:cubicBezTo>
                    <a:cubicBezTo>
                      <a:pt x="74737" y="0"/>
                      <a:pt x="69810" y="2776"/>
                      <a:pt x="67057" y="7320"/>
                    </a:cubicBezTo>
                  </a:path>
                </a:pathLst>
              </a:custGeom>
              <a:noFill/>
              <a:ln w="11906">
                <a:solidFill>
                  <a:srgbClr val="FF7A6B"/>
                </a:solidFill>
              </a:ln>
            </p:spPr>
          </p:sp>
          <p:sp>
            <p:nvSpPr>
              <p:cNvPr id="84" name="Freeform 84"/>
              <p:cNvSpPr/>
              <p:nvPr/>
            </p:nvSpPr>
            <p:spPr>
              <a:xfrm>
                <a:off x="8172450" y="5308600"/>
                <a:ext cx="9525" cy="9525"/>
              </a:xfrm>
              <a:custGeom>
                <a:avLst/>
                <a:gdLst/>
                <a:ahLst/>
                <a:cxnLst/>
                <a:rect l="l" t="t" r="r" b="b"/>
                <a:pathLst>
                  <a:path w="9525" h="9525">
                    <a:moveTo>
                      <a:pt x="0" y="0"/>
                    </a:moveTo>
                    <a:lnTo>
                      <a:pt x="79" y="0"/>
                    </a:lnTo>
                  </a:path>
                </a:pathLst>
              </a:custGeom>
              <a:noFill/>
              <a:ln w="11906">
                <a:solidFill>
                  <a:srgbClr val="FF7A6B"/>
                </a:solidFill>
              </a:ln>
            </p:spPr>
          </p:sp>
        </p:grpSp>
        <p:sp>
          <p:nvSpPr>
            <p:cNvPr id="86" name="TextBox 86"/>
            <p:cNvSpPr txBox="1"/>
            <p:nvPr/>
          </p:nvSpPr>
          <p:spPr>
            <a:xfrm>
              <a:off x="8337804" y="5181600"/>
              <a:ext cx="2442266"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1–2% slower for read-mostly work</a:t>
              </a:r>
            </a:p>
          </p:txBody>
        </p:sp>
        <p:grpSp>
          <p:nvGrpSpPr>
            <p:cNvPr id="90" name="Group 90"/>
            <p:cNvGrpSpPr/>
            <p:nvPr/>
          </p:nvGrpSpPr>
          <p:grpSpPr>
            <a:xfrm>
              <a:off x="8092399" y="5488525"/>
              <a:ext cx="160095" cy="137543"/>
              <a:chOff x="8092399" y="5488525"/>
              <a:chExt cx="160095" cy="137543"/>
            </a:xfrm>
          </p:grpSpPr>
          <p:sp>
            <p:nvSpPr>
              <p:cNvPr id="87" name="Freeform 87"/>
              <p:cNvSpPr/>
              <p:nvPr/>
            </p:nvSpPr>
            <p:spPr>
              <a:xfrm>
                <a:off x="8172450" y="5538787"/>
                <a:ext cx="9525" cy="31750"/>
              </a:xfrm>
              <a:custGeom>
                <a:avLst/>
                <a:gdLst/>
                <a:ahLst/>
                <a:cxnLst/>
                <a:rect l="l" t="t" r="r" b="b"/>
                <a:pathLst>
                  <a:path w="9525" h="31750">
                    <a:moveTo>
                      <a:pt x="0" y="0"/>
                    </a:moveTo>
                    <a:lnTo>
                      <a:pt x="0" y="31750"/>
                    </a:lnTo>
                  </a:path>
                </a:pathLst>
              </a:custGeom>
              <a:noFill/>
              <a:ln w="11906">
                <a:solidFill>
                  <a:srgbClr val="FF7A6B"/>
                </a:solidFill>
              </a:ln>
            </p:spPr>
          </p:sp>
          <p:sp>
            <p:nvSpPr>
              <p:cNvPr id="88" name="Freeform 88"/>
              <p:cNvSpPr/>
              <p:nvPr/>
            </p:nvSpPr>
            <p:spPr>
              <a:xfrm>
                <a:off x="8092399" y="5488525"/>
                <a:ext cx="160095" cy="137543"/>
              </a:xfrm>
              <a:custGeom>
                <a:avLst/>
                <a:gdLst/>
                <a:ahLst/>
                <a:cxnLst/>
                <a:rect l="l" t="t" r="r" b="b"/>
                <a:pathLst>
                  <a:path w="160095" h="137543">
                    <a:moveTo>
                      <a:pt x="67057" y="7328"/>
                    </a:moveTo>
                    <a:lnTo>
                      <a:pt x="2716" y="114754"/>
                    </a:lnTo>
                    <a:cubicBezTo>
                      <a:pt x="16" y="119428"/>
                      <a:pt x="0" y="125183"/>
                      <a:pt x="2672" y="129873"/>
                    </a:cubicBezTo>
                    <a:cubicBezTo>
                      <a:pt x="5344" y="134562"/>
                      <a:pt x="10304" y="137482"/>
                      <a:pt x="15701" y="137543"/>
                    </a:cubicBezTo>
                    <a:lnTo>
                      <a:pt x="144400" y="137543"/>
                    </a:lnTo>
                    <a:cubicBezTo>
                      <a:pt x="149794" y="137480"/>
                      <a:pt x="154751" y="134562"/>
                      <a:pt x="157423" y="129875"/>
                    </a:cubicBezTo>
                    <a:cubicBezTo>
                      <a:pt x="160095" y="125188"/>
                      <a:pt x="160081" y="119436"/>
                      <a:pt x="157386" y="114762"/>
                    </a:cubicBezTo>
                    <a:lnTo>
                      <a:pt x="93044" y="7320"/>
                    </a:lnTo>
                    <a:cubicBezTo>
                      <a:pt x="90291" y="2776"/>
                      <a:pt x="85364" y="0"/>
                      <a:pt x="80051" y="0"/>
                    </a:cubicBezTo>
                    <a:cubicBezTo>
                      <a:pt x="74737" y="0"/>
                      <a:pt x="69810" y="2776"/>
                      <a:pt x="67057" y="7320"/>
                    </a:cubicBezTo>
                  </a:path>
                </a:pathLst>
              </a:custGeom>
              <a:noFill/>
              <a:ln w="11906">
                <a:solidFill>
                  <a:srgbClr val="FF7A6B"/>
                </a:solidFill>
              </a:ln>
            </p:spPr>
          </p:sp>
          <p:sp>
            <p:nvSpPr>
              <p:cNvPr id="89" name="Freeform 89"/>
              <p:cNvSpPr/>
              <p:nvPr/>
            </p:nvSpPr>
            <p:spPr>
              <a:xfrm>
                <a:off x="8172450" y="5594350"/>
                <a:ext cx="9525" cy="9525"/>
              </a:xfrm>
              <a:custGeom>
                <a:avLst/>
                <a:gdLst/>
                <a:ahLst/>
                <a:cxnLst/>
                <a:rect l="l" t="t" r="r" b="b"/>
                <a:pathLst>
                  <a:path w="9525" h="9525">
                    <a:moveTo>
                      <a:pt x="0" y="0"/>
                    </a:moveTo>
                    <a:lnTo>
                      <a:pt x="79" y="0"/>
                    </a:lnTo>
                  </a:path>
                </a:pathLst>
              </a:custGeom>
              <a:noFill/>
              <a:ln w="11906">
                <a:solidFill>
                  <a:srgbClr val="FF7A6B"/>
                </a:solidFill>
              </a:ln>
            </p:spPr>
          </p:sp>
        </p:grpSp>
        <p:sp>
          <p:nvSpPr>
            <p:cNvPr id="91" name="TextBox 91"/>
            <p:cNvSpPr txBox="1"/>
            <p:nvPr/>
          </p:nvSpPr>
          <p:spPr>
            <a:xfrm>
              <a:off x="8337804" y="5454650"/>
              <a:ext cx="2320031"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Prefers small transactions; rollback</a:t>
              </a:r>
              <a:br>
                <a:rPr lang="en" sz="1200" dirty="0">
                  <a:solidFill>
                    <a:schemeClr val="dk1"/>
                  </a:solidFill>
                  <a:latin typeface="+mn-lt"/>
                  <a:ea typeface="+mn-ea"/>
                  <a:cs typeface="+mn-cs"/>
                </a:rPr>
              </a:br>
              <a:r>
                <a:rPr lang="en" sz="1200" dirty="0">
                  <a:solidFill>
                    <a:schemeClr val="dk1"/>
                  </a:solidFill>
                  <a:latin typeface="+mn-lt"/>
                  <a:ea typeface="+mn-ea"/>
                  <a:cs typeface="+mn-cs"/>
                </a:rPr>
                <a:t>modes suit ones over ~100 MB</a:t>
              </a:r>
            </a:p>
          </p:txBody>
        </p:sp>
      </p:grpSp>
      <p:grpSp>
        <p:nvGrpSpPr>
          <p:cNvPr id="97" name="title-block"/>
          <p:cNvGrpSpPr/>
          <p:nvPr/>
        </p:nvGrpSpPr>
        <p:grpSpPr>
          <a:xfrm>
            <a:off x="8382000" y="6229350"/>
            <a:ext cx="3200400" cy="285750"/>
            <a:chOff x="8382000" y="6229350"/>
            <a:chExt cx="3200400" cy="285750"/>
          </a:xfrm>
        </p:grpSpPr>
        <p:sp>
          <p:nvSpPr>
            <p:cNvPr id="93" name="Rectangle 93"/>
            <p:cNvSpPr/>
            <p:nvPr/>
          </p:nvSpPr>
          <p:spPr>
            <a:xfrm>
              <a:off x="8382000" y="6229350"/>
              <a:ext cx="3200400" cy="285750"/>
            </a:xfrm>
            <a:prstGeom prst="rect">
              <a:avLst/>
            </a:prstGeom>
            <a:solidFill>
              <a:schemeClr val="lt2"/>
            </a:solidFill>
            <a:ln w="9525">
              <a:solidFill>
                <a:schemeClr val="accent6"/>
              </a:solidFill>
            </a:ln>
          </p:spPr>
        </p:sp>
        <p:sp>
          <p:nvSpPr>
            <p:cNvPr id="94" name="Line 94"/>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95" name="TextBox 95"/>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08/12</a:t>
              </a:r>
            </a:p>
          </p:txBody>
        </p:sp>
        <p:sp>
          <p:nvSpPr>
            <p:cNvPr id="96" name="TextBox 96"/>
            <p:cNvSpPr txBox="1"/>
            <p:nvPr/>
          </p:nvSpPr>
          <p:spPr>
            <a:xfrm>
              <a:off x="9367647" y="6292850"/>
              <a:ext cx="1262991"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sqlite.org/wal</a:t>
              </a:r>
            </a:p>
          </p:txBody>
        </p:sp>
      </p:grpSp>
    </p:spTree>
  </p:cSld>
  <p:clrMapOvr>
    <a:masterClrMapping/>
  </p:clrMapOvr>
  <mc:AlternateContent>
    <mc:Choice Requires="p159">
      <p:transition p14:dur="10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400"/>
                                        <p:tgtEl>
                                          <p:spTgt spid="36"/>
                                        </p:tgtEl>
                                      </p:cBhvr>
                                    </p:animEffect>
                                  </p:childTnLst>
                                </p:cTn>
                              </p:par>
                            </p:childTnLst>
                          </p:cTn>
                        </p:par>
                        <p:par>
                          <p:cTn id="8" fill="hold">
                            <p:stCondLst>
                              <p:cond delay="400"/>
                            </p:stCondLst>
                            <p:childTnLst>
                              <p:par>
                                <p:cTn id="9" presetID="10" presetClass="entr" presetSubtype="0" fill="hold" grpId="0" nodeType="afterEffect">
                                  <p:stCondLst>
                                    <p:cond delay="50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00"/>
                                        <p:tgtEl>
                                          <p:spTgt spid="39"/>
                                        </p:tgtEl>
                                      </p:cBhvr>
                                    </p:animEffect>
                                  </p:childTnLst>
                                </p:cTn>
                              </p:par>
                            </p:childTnLst>
                          </p:cTn>
                        </p:par>
                        <p:par>
                          <p:cTn id="12" fill="hold">
                            <p:stCondLst>
                              <p:cond delay="1300"/>
                            </p:stCondLst>
                            <p:childTnLst>
                              <p:par>
                                <p:cTn id="13" presetID="22" presetClass="entr" presetSubtype="4" fill="hold" grpId="0" nodeType="afterEffect">
                                  <p:stCondLst>
                                    <p:cond delay="500"/>
                                  </p:stCondLst>
                                  <p:childTnLst>
                                    <p:set>
                                      <p:cBhvr>
                                        <p:cTn id="14" dur="1" fill="hold">
                                          <p:stCondLst>
                                            <p:cond delay="0"/>
                                          </p:stCondLst>
                                        </p:cTn>
                                        <p:tgtEl>
                                          <p:spTgt spid="43"/>
                                        </p:tgtEl>
                                        <p:attrNameLst>
                                          <p:attrName>style.visibility</p:attrName>
                                        </p:attrNameLst>
                                      </p:cBhvr>
                                      <p:to>
                                        <p:strVal val="visible"/>
                                      </p:to>
                                    </p:set>
                                    <p:animEffect transition="in" filter="wipe(down)">
                                      <p:cBhvr>
                                        <p:cTn id="15" dur="500"/>
                                        <p:tgtEl>
                                          <p:spTgt spid="43"/>
                                        </p:tgtEl>
                                      </p:cBhvr>
                                    </p:animEffect>
                                  </p:childTnLst>
                                </p:cTn>
                              </p:par>
                            </p:childTnLst>
                          </p:cTn>
                        </p:par>
                        <p:par>
                          <p:cTn id="16" fill="hold">
                            <p:stCondLst>
                              <p:cond delay="2300"/>
                            </p:stCondLst>
                            <p:childTnLst>
                              <p:par>
                                <p:cTn id="17" presetID="10" presetClass="entr" presetSubtype="0" fill="hold" grpId="0" nodeType="afterEffect">
                                  <p:stCondLst>
                                    <p:cond delay="500"/>
                                  </p:stCondLst>
                                  <p:childTnLst>
                                    <p:set>
                                      <p:cBhvr>
                                        <p:cTn id="18" dur="1" fill="hold">
                                          <p:stCondLst>
                                            <p:cond delay="0"/>
                                          </p:stCondLst>
                                        </p:cTn>
                                        <p:tgtEl>
                                          <p:spTgt spid="46"/>
                                        </p:tgtEl>
                                        <p:attrNameLst>
                                          <p:attrName>style.visibility</p:attrName>
                                        </p:attrNameLst>
                                      </p:cBhvr>
                                      <p:to>
                                        <p:strVal val="visible"/>
                                      </p:to>
                                    </p:set>
                                    <p:animEffect transition="in" filter="fade">
                                      <p:cBhvr>
                                        <p:cTn id="19" dur="400"/>
                                        <p:tgtEl>
                                          <p:spTgt spid="46"/>
                                        </p:tgtEl>
                                      </p:cBhvr>
                                    </p:animEffect>
                                  </p:childTnLst>
                                </p:cTn>
                              </p:par>
                            </p:childTnLst>
                          </p:cTn>
                        </p:par>
                        <p:par>
                          <p:cTn id="20" fill="hold">
                            <p:stCondLst>
                              <p:cond delay="3200"/>
                            </p:stCondLst>
                            <p:childTnLst>
                              <p:par>
                                <p:cTn id="21" presetID="10" presetClass="entr" presetSubtype="0" fill="hold" grpId="0" nodeType="afterEffect">
                                  <p:stCondLst>
                                    <p:cond delay="500"/>
                                  </p:stCondLst>
                                  <p:childTnLst>
                                    <p:set>
                                      <p:cBhvr>
                                        <p:cTn id="22" dur="1" fill="hold">
                                          <p:stCondLst>
                                            <p:cond delay="0"/>
                                          </p:stCondLst>
                                        </p:cTn>
                                        <p:tgtEl>
                                          <p:spTgt spid="52"/>
                                        </p:tgtEl>
                                        <p:attrNameLst>
                                          <p:attrName>style.visibility</p:attrName>
                                        </p:attrNameLst>
                                      </p:cBhvr>
                                      <p:to>
                                        <p:strVal val="visible"/>
                                      </p:to>
                                    </p:set>
                                    <p:animEffect transition="in" filter="fade">
                                      <p:cBhvr>
                                        <p:cTn id="23" dur="400"/>
                                        <p:tgtEl>
                                          <p:spTgt spid="52"/>
                                        </p:tgtEl>
                                      </p:cBhvr>
                                    </p:animEffect>
                                  </p:childTnLst>
                                </p:cTn>
                              </p:par>
                            </p:childTnLst>
                          </p:cTn>
                        </p:par>
                        <p:par>
                          <p:cTn id="24" fill="hold">
                            <p:stCondLst>
                              <p:cond delay="4100"/>
                            </p:stCondLst>
                            <p:childTnLst>
                              <p:par>
                                <p:cTn id="25" presetID="10" presetClass="entr" presetSubtype="0" fill="hold" grpId="0" nodeType="afterEffect">
                                  <p:stCondLst>
                                    <p:cond delay="50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400"/>
                                        <p:tgtEl>
                                          <p:spTgt spid="70"/>
                                        </p:tgtEl>
                                      </p:cBhvr>
                                    </p:animEffect>
                                  </p:childTnLst>
                                </p:cTn>
                              </p:par>
                            </p:childTnLst>
                          </p:cTn>
                        </p:par>
                        <p:par>
                          <p:cTn id="28" fill="hold">
                            <p:stCondLst>
                              <p:cond delay="5000"/>
                            </p:stCondLst>
                            <p:childTnLst>
                              <p:par>
                                <p:cTn id="29" presetID="10" presetClass="entr" presetSubtype="0" fill="hold" grpId="0" nodeType="afterEffect">
                                  <p:stCondLst>
                                    <p:cond delay="500"/>
                                  </p:stCondLst>
                                  <p:childTnLst>
                                    <p:set>
                                      <p:cBhvr>
                                        <p:cTn id="30" dur="1" fill="hold">
                                          <p:stCondLst>
                                            <p:cond delay="0"/>
                                          </p:stCondLst>
                                        </p:cTn>
                                        <p:tgtEl>
                                          <p:spTgt spid="92"/>
                                        </p:tgtEl>
                                        <p:attrNameLst>
                                          <p:attrName>style.visibility</p:attrName>
                                        </p:attrNameLst>
                                      </p:cBhvr>
                                      <p:to>
                                        <p:strVal val="visible"/>
                                      </p:to>
                                    </p:set>
                                    <p:animEffect transition="in" filter="fade">
                                      <p:cBhvr>
                                        <p:cTn id="31" dur="4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9818450" cy="815340"/>
            <a:chOff x="594360" y="603250"/>
            <a:chExt cx="9818450" cy="815340"/>
          </a:xfrm>
        </p:grpSpPr>
        <p:sp>
          <p:nvSpPr>
            <p:cNvPr id="18" name="TextBox 18"/>
            <p:cNvSpPr txBox="1"/>
            <p:nvPr/>
          </p:nvSpPr>
          <p:spPr>
            <a:xfrm>
              <a:off x="603885" y="603250"/>
              <a:ext cx="3624772"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08 · WHY YOU CAN TRUST IT — TESTING</a:t>
              </a:r>
            </a:p>
          </p:txBody>
        </p:sp>
        <p:sp>
          <p:nvSpPr>
            <p:cNvPr id="19" name="TextBox 19"/>
            <p:cNvSpPr txBox="1"/>
            <p:nvPr/>
          </p:nvSpPr>
          <p:spPr>
            <a:xfrm>
              <a:off x="594360" y="831850"/>
              <a:ext cx="9818450"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The test code is 590 times larger than the library</a:t>
              </a:r>
            </a:p>
          </p:txBody>
        </p:sp>
      </p:grpSp>
      <p:grpSp>
        <p:nvGrpSpPr>
          <p:cNvPr id="30" name="ratio-hero"/>
          <p:cNvGrpSpPr/>
          <p:nvPr/>
        </p:nvGrpSpPr>
        <p:grpSpPr>
          <a:xfrm>
            <a:off x="533400" y="1631950"/>
            <a:ext cx="3904610" cy="3900043"/>
            <a:chOff x="533400" y="1631950"/>
            <a:chExt cx="3904610" cy="3900043"/>
          </a:xfrm>
        </p:grpSpPr>
        <p:sp>
          <p:nvSpPr>
            <p:cNvPr id="21" name="TextBox 21"/>
            <p:cNvSpPr txBox="1"/>
            <p:nvPr/>
          </p:nvSpPr>
          <p:spPr>
            <a:xfrm>
              <a:off x="603885" y="1631950"/>
              <a:ext cx="2681766"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TEST CODE VS. LIBRARY CODE</a:t>
              </a:r>
            </a:p>
          </p:txBody>
        </p:sp>
        <p:sp>
          <p:nvSpPr>
            <p:cNvPr id="22" name="TextBox 22"/>
            <p:cNvSpPr txBox="1"/>
            <p:nvPr/>
          </p:nvSpPr>
          <p:spPr>
            <a:xfrm>
              <a:off x="533400" y="1828800"/>
              <a:ext cx="2650266" cy="1619250"/>
            </a:xfrm>
            <a:prstGeom prst="rect">
              <a:avLst/>
            </a:prstGeom>
            <a:noFill/>
            <a:ln>
              <a:noFill/>
            </a:ln>
          </p:spPr>
          <p:txBody>
            <a:bodyPr wrap="none" lIns="0" tIns="0" rIns="0" bIns="0" anchor="t" anchorCtr="0">
              <a:spAutoFit/>
            </a:bodyPr>
            <a:lstStyle/>
            <a:p>
              <a:pPr algn="l"/>
              <a:r>
                <a:rPr lang="en" sz="8400" b="1" dirty="0">
                  <a:solidFill>
                    <a:schemeClr val="accent2"/>
                  </a:solidFill>
                  <a:latin typeface="+mj-lt"/>
                  <a:ea typeface="+mj-ea"/>
                  <a:cs typeface="+mj-cs"/>
                </a:rPr>
                <a:t>590×</a:t>
              </a:r>
            </a:p>
          </p:txBody>
        </p:sp>
        <p:sp>
          <p:nvSpPr>
            <p:cNvPr id="23" name="Rectangle 23"/>
            <p:cNvSpPr/>
            <p:nvPr/>
          </p:nvSpPr>
          <p:spPr>
            <a:xfrm>
              <a:off x="609600" y="3238500"/>
              <a:ext cx="1905000" cy="1905000"/>
            </a:xfrm>
            <a:prstGeom prst="rect">
              <a:avLst/>
            </a:prstGeom>
            <a:solidFill>
              <a:schemeClr val="accent3">
                <a:alpha val="12000"/>
              </a:schemeClr>
            </a:solidFill>
            <a:ln w="14288">
              <a:solidFill>
                <a:schemeClr val="accent3"/>
              </a:solidFill>
            </a:ln>
          </p:spPr>
        </p:sp>
        <p:sp>
          <p:nvSpPr>
            <p:cNvPr id="24" name="Rectangle 24"/>
            <p:cNvSpPr/>
            <p:nvPr/>
          </p:nvSpPr>
          <p:spPr>
            <a:xfrm>
              <a:off x="2590800" y="5065109"/>
              <a:ext cx="78391" cy="78391"/>
            </a:xfrm>
            <a:prstGeom prst="rect">
              <a:avLst/>
            </a:prstGeom>
            <a:solidFill>
              <a:schemeClr val="accent2"/>
            </a:solidFill>
            <a:ln>
              <a:noFill/>
            </a:ln>
          </p:spPr>
        </p:sp>
        <p:sp>
          <p:nvSpPr>
            <p:cNvPr id="25" name="TextBox 25"/>
            <p:cNvSpPr txBox="1"/>
            <p:nvPr/>
          </p:nvSpPr>
          <p:spPr>
            <a:xfrm>
              <a:off x="2851404" y="3295650"/>
              <a:ext cx="1463988"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tests and test scripts</a:t>
              </a:r>
            </a:p>
          </p:txBody>
        </p:sp>
        <p:sp>
          <p:nvSpPr>
            <p:cNvPr id="26" name="TextBox 26"/>
            <p:cNvSpPr txBox="1"/>
            <p:nvPr/>
          </p:nvSpPr>
          <p:spPr>
            <a:xfrm>
              <a:off x="2849880" y="3505200"/>
              <a:ext cx="1588130"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92,053.1 KSLOC</a:t>
              </a:r>
            </a:p>
          </p:txBody>
        </p:sp>
        <p:sp>
          <p:nvSpPr>
            <p:cNvPr id="27" name="TextBox 27"/>
            <p:cNvSpPr txBox="1"/>
            <p:nvPr/>
          </p:nvSpPr>
          <p:spPr>
            <a:xfrm>
              <a:off x="2851404" y="4743450"/>
              <a:ext cx="1113857"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the library itself</a:t>
              </a:r>
            </a:p>
          </p:txBody>
        </p:sp>
        <p:sp>
          <p:nvSpPr>
            <p:cNvPr id="28" name="TextBox 28"/>
            <p:cNvSpPr txBox="1"/>
            <p:nvPr/>
          </p:nvSpPr>
          <p:spPr>
            <a:xfrm>
              <a:off x="2849880" y="4953000"/>
              <a:ext cx="1284860"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155.8 KSLOC</a:t>
              </a:r>
            </a:p>
          </p:txBody>
        </p:sp>
        <p:sp>
          <p:nvSpPr>
            <p:cNvPr id="29" name="TextBox 29"/>
            <p:cNvSpPr txBox="1"/>
            <p:nvPr/>
          </p:nvSpPr>
          <p:spPr>
            <a:xfrm>
              <a:off x="604647" y="5340350"/>
              <a:ext cx="3303426"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Square areas drawn to scale · SQLite 3.42.0 (2023-05-16)</a:t>
              </a:r>
            </a:p>
          </p:txBody>
        </p:sp>
      </p:grpSp>
      <p:grpSp>
        <p:nvGrpSpPr>
          <p:cNvPr id="60" name="harness-table"/>
          <p:cNvGrpSpPr/>
          <p:nvPr/>
        </p:nvGrpSpPr>
        <p:grpSpPr>
          <a:xfrm>
            <a:off x="4876800" y="1905000"/>
            <a:ext cx="6705600" cy="3286125"/>
            <a:chOff x="4876800" y="1905000"/>
            <a:chExt cx="6705600" cy="3286125"/>
          </a:xfrm>
        </p:grpSpPr>
        <p:sp>
          <p:nvSpPr>
            <p:cNvPr id="31" name="Rectangle 31"/>
            <p:cNvSpPr/>
            <p:nvPr/>
          </p:nvSpPr>
          <p:spPr>
            <a:xfrm>
              <a:off x="4876800" y="1905000"/>
              <a:ext cx="6705600" cy="381000"/>
            </a:xfrm>
            <a:prstGeom prst="rect">
              <a:avLst/>
            </a:prstGeom>
            <a:solidFill>
              <a:schemeClr val="lt2"/>
            </a:solidFill>
            <a:ln>
              <a:noFill/>
            </a:ln>
          </p:spPr>
        </p:sp>
        <p:sp>
          <p:nvSpPr>
            <p:cNvPr id="32" name="Line 32"/>
            <p:cNvSpPr/>
            <p:nvPr/>
          </p:nvSpPr>
          <p:spPr>
            <a:xfrm>
              <a:off x="4876800" y="2286000"/>
              <a:ext cx="6705600" cy="9525"/>
            </a:xfrm>
            <a:custGeom>
              <a:avLst/>
              <a:gdLst/>
              <a:ahLst/>
              <a:cxnLst/>
              <a:rect l="l" t="t" r="r" b="b"/>
              <a:pathLst>
                <a:path w="6705600" h="9525">
                  <a:moveTo>
                    <a:pt x="0" y="0"/>
                  </a:moveTo>
                  <a:lnTo>
                    <a:pt x="6705600" y="0"/>
                  </a:lnTo>
                </a:path>
              </a:pathLst>
            </a:custGeom>
            <a:noFill/>
            <a:ln w="14288">
              <a:solidFill>
                <a:schemeClr val="accent1"/>
              </a:solidFill>
            </a:ln>
          </p:spPr>
        </p:sp>
        <p:grpSp>
          <p:nvGrpSpPr>
            <p:cNvPr id="37" name="Group 37"/>
            <p:cNvGrpSpPr/>
            <p:nvPr/>
          </p:nvGrpSpPr>
          <p:grpSpPr>
            <a:xfrm>
              <a:off x="4876800" y="3009900"/>
              <a:ext cx="6705600" cy="2181225"/>
              <a:chOff x="4876800" y="3009900"/>
              <a:chExt cx="6705600" cy="2181225"/>
            </a:xfrm>
          </p:grpSpPr>
          <p:sp>
            <p:nvSpPr>
              <p:cNvPr id="33" name="Line 33"/>
              <p:cNvSpPr/>
              <p:nvPr/>
            </p:nvSpPr>
            <p:spPr>
              <a:xfrm>
                <a:off x="4876800" y="3009900"/>
                <a:ext cx="6705600" cy="9525"/>
              </a:xfrm>
              <a:custGeom>
                <a:avLst/>
                <a:gdLst/>
                <a:ahLst/>
                <a:cxnLst/>
                <a:rect l="l" t="t" r="r" b="b"/>
                <a:pathLst>
                  <a:path w="6705600" h="9525">
                    <a:moveTo>
                      <a:pt x="0" y="0"/>
                    </a:moveTo>
                    <a:lnTo>
                      <a:pt x="6705600" y="0"/>
                    </a:lnTo>
                  </a:path>
                </a:pathLst>
              </a:custGeom>
              <a:noFill/>
              <a:ln w="9525">
                <a:solidFill>
                  <a:schemeClr val="accent6"/>
                </a:solidFill>
              </a:ln>
            </p:spPr>
          </p:sp>
          <p:sp>
            <p:nvSpPr>
              <p:cNvPr id="34" name="Line 34"/>
              <p:cNvSpPr/>
              <p:nvPr/>
            </p:nvSpPr>
            <p:spPr>
              <a:xfrm>
                <a:off x="4876800" y="3733800"/>
                <a:ext cx="6705600" cy="9525"/>
              </a:xfrm>
              <a:custGeom>
                <a:avLst/>
                <a:gdLst/>
                <a:ahLst/>
                <a:cxnLst/>
                <a:rect l="l" t="t" r="r" b="b"/>
                <a:pathLst>
                  <a:path w="6705600" h="9525">
                    <a:moveTo>
                      <a:pt x="0" y="0"/>
                    </a:moveTo>
                    <a:lnTo>
                      <a:pt x="6705600" y="0"/>
                    </a:lnTo>
                  </a:path>
                </a:pathLst>
              </a:custGeom>
              <a:noFill/>
              <a:ln w="9525">
                <a:solidFill>
                  <a:schemeClr val="accent6"/>
                </a:solidFill>
              </a:ln>
            </p:spPr>
          </p:sp>
          <p:sp>
            <p:nvSpPr>
              <p:cNvPr id="35" name="Line 35"/>
              <p:cNvSpPr/>
              <p:nvPr/>
            </p:nvSpPr>
            <p:spPr>
              <a:xfrm>
                <a:off x="4876800" y="4457700"/>
                <a:ext cx="6705600" cy="9525"/>
              </a:xfrm>
              <a:custGeom>
                <a:avLst/>
                <a:gdLst/>
                <a:ahLst/>
                <a:cxnLst/>
                <a:rect l="l" t="t" r="r" b="b"/>
                <a:pathLst>
                  <a:path w="6705600" h="9525">
                    <a:moveTo>
                      <a:pt x="0" y="0"/>
                    </a:moveTo>
                    <a:lnTo>
                      <a:pt x="6705600" y="0"/>
                    </a:lnTo>
                  </a:path>
                </a:pathLst>
              </a:custGeom>
              <a:noFill/>
              <a:ln w="9525">
                <a:solidFill>
                  <a:schemeClr val="accent6"/>
                </a:solidFill>
              </a:ln>
            </p:spPr>
          </p:sp>
          <p:sp>
            <p:nvSpPr>
              <p:cNvPr id="36" name="Line 36"/>
              <p:cNvSpPr/>
              <p:nvPr/>
            </p:nvSpPr>
            <p:spPr>
              <a:xfrm>
                <a:off x="4876800" y="5181600"/>
                <a:ext cx="6705600" cy="9525"/>
              </a:xfrm>
              <a:custGeom>
                <a:avLst/>
                <a:gdLst/>
                <a:ahLst/>
                <a:cxnLst/>
                <a:rect l="l" t="t" r="r" b="b"/>
                <a:pathLst>
                  <a:path w="6705600" h="9525">
                    <a:moveTo>
                      <a:pt x="0" y="0"/>
                    </a:moveTo>
                    <a:lnTo>
                      <a:pt x="6705600" y="0"/>
                    </a:lnTo>
                  </a:path>
                </a:pathLst>
              </a:custGeom>
              <a:noFill/>
              <a:ln w="9525">
                <a:solidFill>
                  <a:schemeClr val="accent6"/>
                </a:solidFill>
              </a:ln>
            </p:spPr>
          </p:sp>
        </p:grpSp>
        <p:grpSp>
          <p:nvGrpSpPr>
            <p:cNvPr id="42" name="Group 42"/>
            <p:cNvGrpSpPr/>
            <p:nvPr/>
          </p:nvGrpSpPr>
          <p:grpSpPr>
            <a:xfrm>
              <a:off x="4985385" y="2003425"/>
              <a:ext cx="5433407" cy="220028"/>
              <a:chOff x="4985385" y="2003425"/>
              <a:chExt cx="5433407" cy="220028"/>
            </a:xfrm>
          </p:grpSpPr>
          <p:sp>
            <p:nvSpPr>
              <p:cNvPr id="38" name="TextBox 38"/>
              <p:cNvSpPr txBox="1"/>
              <p:nvPr/>
            </p:nvSpPr>
            <p:spPr>
              <a:xfrm>
                <a:off x="4985385" y="2003425"/>
                <a:ext cx="738707" cy="220028"/>
              </a:xfrm>
              <a:prstGeom prst="rect">
                <a:avLst/>
              </a:prstGeom>
              <a:noFill/>
              <a:ln>
                <a:noFill/>
              </a:ln>
            </p:spPr>
            <p:txBody>
              <a:bodyPr wrap="none" lIns="0" tIns="0" rIns="0" bIns="0" anchor="t" anchorCtr="0">
                <a:spAutoFit/>
              </a:bodyPr>
              <a:lstStyle/>
              <a:p>
                <a:pPr algn="l"/>
                <a:r>
                  <a:rPr lang="en" sz="1120" b="1" dirty="0">
                    <a:solidFill>
                      <a:schemeClr val="accent1"/>
                    </a:solidFill>
                    <a:latin typeface="+mn-lt"/>
                    <a:ea typeface="+mn-ea"/>
                    <a:cs typeface="+mn-cs"/>
                  </a:rPr>
                  <a:t>HARNESS</a:t>
                </a:r>
              </a:p>
            </p:txBody>
          </p:sp>
          <p:sp>
            <p:nvSpPr>
              <p:cNvPr id="39" name="TextBox 39"/>
              <p:cNvSpPr txBox="1"/>
              <p:nvPr/>
            </p:nvSpPr>
            <p:spPr>
              <a:xfrm>
                <a:off x="6223635" y="2003425"/>
                <a:ext cx="478364" cy="220028"/>
              </a:xfrm>
              <a:prstGeom prst="rect">
                <a:avLst/>
              </a:prstGeom>
              <a:noFill/>
              <a:ln>
                <a:noFill/>
              </a:ln>
            </p:spPr>
            <p:txBody>
              <a:bodyPr wrap="none" lIns="0" tIns="0" rIns="0" bIns="0" anchor="t" anchorCtr="0">
                <a:spAutoFit/>
              </a:bodyPr>
              <a:lstStyle/>
              <a:p>
                <a:pPr algn="l"/>
                <a:r>
                  <a:rPr lang="en" sz="1120" b="1" dirty="0">
                    <a:solidFill>
                      <a:schemeClr val="accent1"/>
                    </a:solidFill>
                    <a:latin typeface="+mn-lt"/>
                    <a:ea typeface="+mn-ea"/>
                    <a:cs typeface="+mn-cs"/>
                  </a:rPr>
                  <a:t>SCALE</a:t>
                </a:r>
              </a:p>
            </p:txBody>
          </p:sp>
          <p:sp>
            <p:nvSpPr>
              <p:cNvPr id="40" name="TextBox 40"/>
              <p:cNvSpPr txBox="1"/>
              <p:nvPr/>
            </p:nvSpPr>
            <p:spPr>
              <a:xfrm>
                <a:off x="8033385" y="2003425"/>
                <a:ext cx="890926" cy="220028"/>
              </a:xfrm>
              <a:prstGeom prst="rect">
                <a:avLst/>
              </a:prstGeom>
              <a:noFill/>
              <a:ln>
                <a:noFill/>
              </a:ln>
            </p:spPr>
            <p:txBody>
              <a:bodyPr wrap="none" lIns="0" tIns="0" rIns="0" bIns="0" anchor="t" anchorCtr="0">
                <a:spAutoFit/>
              </a:bodyPr>
              <a:lstStyle/>
              <a:p>
                <a:pPr algn="l"/>
                <a:r>
                  <a:rPr lang="en" sz="1120" b="1" dirty="0">
                    <a:solidFill>
                      <a:schemeClr val="accent1"/>
                    </a:solidFill>
                    <a:latin typeface="+mn-lt"/>
                    <a:ea typeface="+mn-ea"/>
                    <a:cs typeface="+mn-cs"/>
                  </a:rPr>
                  <a:t>TEST CASES</a:t>
                </a:r>
              </a:p>
            </p:txBody>
          </p:sp>
          <p:sp>
            <p:nvSpPr>
              <p:cNvPr id="41" name="TextBox 41"/>
              <p:cNvSpPr txBox="1"/>
              <p:nvPr/>
            </p:nvSpPr>
            <p:spPr>
              <a:xfrm>
                <a:off x="9462135" y="2003425"/>
                <a:ext cx="956657" cy="220028"/>
              </a:xfrm>
              <a:prstGeom prst="rect">
                <a:avLst/>
              </a:prstGeom>
              <a:noFill/>
              <a:ln>
                <a:noFill/>
              </a:ln>
            </p:spPr>
            <p:txBody>
              <a:bodyPr wrap="none" lIns="0" tIns="0" rIns="0" bIns="0" anchor="t" anchorCtr="0">
                <a:spAutoFit/>
              </a:bodyPr>
              <a:lstStyle/>
              <a:p>
                <a:pPr algn="l"/>
                <a:r>
                  <a:rPr lang="en" sz="1120" b="1" dirty="0">
                    <a:solidFill>
                      <a:schemeClr val="accent1"/>
                    </a:solidFill>
                    <a:latin typeface="+mn-lt"/>
                    <a:ea typeface="+mn-ea"/>
                    <a:cs typeface="+mn-cs"/>
                  </a:rPr>
                  <a:t>GUARANTEE</a:t>
                </a:r>
              </a:p>
            </p:txBody>
          </p:sp>
        </p:grpSp>
        <p:grpSp>
          <p:nvGrpSpPr>
            <p:cNvPr id="59" name="Group 59"/>
            <p:cNvGrpSpPr/>
            <p:nvPr/>
          </p:nvGrpSpPr>
          <p:grpSpPr>
            <a:xfrm>
              <a:off x="4985004" y="2400300"/>
              <a:ext cx="6518438" cy="2609596"/>
              <a:chOff x="4985004" y="2400300"/>
              <a:chExt cx="6518438" cy="2609596"/>
            </a:xfrm>
          </p:grpSpPr>
          <p:sp>
            <p:nvSpPr>
              <p:cNvPr id="43" name="TextBox 43"/>
              <p:cNvSpPr txBox="1"/>
              <p:nvPr/>
            </p:nvSpPr>
            <p:spPr>
              <a:xfrm>
                <a:off x="4985004" y="2400300"/>
                <a:ext cx="70445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TCL tests</a:t>
                </a:r>
              </a:p>
            </p:txBody>
          </p:sp>
          <p:sp>
            <p:nvSpPr>
              <p:cNvPr id="44" name="TextBox 44"/>
              <p:cNvSpPr txBox="1"/>
              <p:nvPr/>
            </p:nvSpPr>
            <p:spPr>
              <a:xfrm>
                <a:off x="6223254" y="2413000"/>
                <a:ext cx="1122487"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1,390 script files,</a:t>
                </a:r>
                <a:br>
                  <a:rPr lang="en" sz="1200" dirty="0">
                    <a:solidFill>
                      <a:schemeClr val="dk1"/>
                    </a:solidFill>
                    <a:latin typeface="+mn-lt"/>
                    <a:ea typeface="+mn-ea"/>
                    <a:cs typeface="+mn-cs"/>
                  </a:rPr>
                </a:br>
                <a:r>
                  <a:rPr lang="en" sz="1200" dirty="0">
                    <a:solidFill>
                      <a:schemeClr val="dk1"/>
                    </a:solidFill>
                    <a:latin typeface="+mn-lt"/>
                    <a:ea typeface="+mn-ea"/>
                    <a:cs typeface="+mn-cs"/>
                  </a:rPr>
                  <a:t>23.2 MB</a:t>
                </a:r>
              </a:p>
            </p:txBody>
          </p:sp>
          <p:sp>
            <p:nvSpPr>
              <p:cNvPr id="45" name="TextBox 45"/>
              <p:cNvSpPr txBox="1"/>
              <p:nvPr/>
            </p:nvSpPr>
            <p:spPr>
              <a:xfrm>
                <a:off x="8033004" y="2413000"/>
                <a:ext cx="1041913"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51,445 distinct;</a:t>
                </a:r>
                <a:br>
                  <a:rPr lang="en" sz="1200" dirty="0">
                    <a:solidFill>
                      <a:schemeClr val="dk1"/>
                    </a:solidFill>
                    <a:latin typeface="+mn-lt"/>
                    <a:ea typeface="+mn-ea"/>
                    <a:cs typeface="+mn-cs"/>
                  </a:rPr>
                </a:br>
                <a:r>
                  <a:rPr lang="en" sz="1200" dirty="0">
                    <a:solidFill>
                      <a:schemeClr val="dk1"/>
                    </a:solidFill>
                    <a:latin typeface="+mn-lt"/>
                    <a:ea typeface="+mn-ea"/>
                    <a:cs typeface="+mn-cs"/>
                  </a:rPr>
                  <a:t>millions of runs</a:t>
                </a:r>
              </a:p>
            </p:txBody>
          </p:sp>
          <p:sp>
            <p:nvSpPr>
              <p:cNvPr id="46" name="TextBox 46"/>
              <p:cNvSpPr txBox="1"/>
              <p:nvPr/>
            </p:nvSpPr>
            <p:spPr>
              <a:xfrm>
                <a:off x="9461754" y="2413000"/>
                <a:ext cx="1367531"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Primary suite during</a:t>
                </a:r>
                <a:br>
                  <a:rPr lang="en" sz="1200" dirty="0">
                    <a:solidFill>
                      <a:schemeClr val="dk1"/>
                    </a:solidFill>
                    <a:latin typeface="+mn-lt"/>
                    <a:ea typeface="+mn-ea"/>
                    <a:cs typeface="+mn-cs"/>
                  </a:rPr>
                </a:br>
                <a:r>
                  <a:rPr lang="en" sz="1200" dirty="0">
                    <a:solidFill>
                      <a:schemeClr val="dk1"/>
                    </a:solidFill>
                    <a:latin typeface="+mn-lt"/>
                    <a:ea typeface="+mn-ea"/>
                    <a:cs typeface="+mn-cs"/>
                  </a:rPr>
                  <a:t>development</a:t>
                </a:r>
              </a:p>
            </p:txBody>
          </p:sp>
          <p:sp>
            <p:nvSpPr>
              <p:cNvPr id="47" name="TextBox 47"/>
              <p:cNvSpPr txBox="1"/>
              <p:nvPr/>
            </p:nvSpPr>
            <p:spPr>
              <a:xfrm>
                <a:off x="4985004" y="3124200"/>
                <a:ext cx="341142"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TH3</a:t>
                </a:r>
              </a:p>
            </p:txBody>
          </p:sp>
          <p:sp>
            <p:nvSpPr>
              <p:cNvPr id="48" name="TextBox 48"/>
              <p:cNvSpPr txBox="1"/>
              <p:nvPr/>
            </p:nvSpPr>
            <p:spPr>
              <a:xfrm>
                <a:off x="6223254" y="3136900"/>
                <a:ext cx="1329019"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1,055.4 KSLOC of C;</a:t>
                </a:r>
                <a:br>
                  <a:rPr lang="en" sz="1200" dirty="0">
                    <a:solidFill>
                      <a:schemeClr val="dk1"/>
                    </a:solidFill>
                    <a:latin typeface="+mn-lt"/>
                    <a:ea typeface="+mn-ea"/>
                    <a:cs typeface="+mn-cs"/>
                  </a:rPr>
                </a:br>
                <a:r>
                  <a:rPr lang="en" sz="1200" dirty="0">
                    <a:solidFill>
                      <a:schemeClr val="dk1"/>
                    </a:solidFill>
                    <a:latin typeface="+mn-lt"/>
                    <a:ea typeface="+mn-ea"/>
                    <a:cs typeface="+mn-cs"/>
                  </a:rPr>
                  <a:t>proprietary</a:t>
                </a:r>
              </a:p>
            </p:txBody>
          </p:sp>
          <p:sp>
            <p:nvSpPr>
              <p:cNvPr id="49" name="TextBox 49"/>
              <p:cNvSpPr txBox="1"/>
              <p:nvPr/>
            </p:nvSpPr>
            <p:spPr>
              <a:xfrm>
                <a:off x="8033004" y="3136900"/>
                <a:ext cx="1152159"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50,362 distinct;</a:t>
                </a:r>
                <a:br>
                  <a:rPr lang="en" sz="1200" dirty="0">
                    <a:solidFill>
                      <a:schemeClr val="dk1"/>
                    </a:solidFill>
                    <a:latin typeface="+mn-lt"/>
                    <a:ea typeface="+mn-ea"/>
                    <a:cs typeface="+mn-cs"/>
                  </a:rPr>
                </a:br>
                <a:r>
                  <a:rPr lang="en" sz="1200" dirty="0">
                    <a:solidFill>
                      <a:schemeClr val="dk1"/>
                    </a:solidFill>
                    <a:latin typeface="+mn-lt"/>
                    <a:ea typeface="+mn-ea"/>
                    <a:cs typeface="+mn-cs"/>
                  </a:rPr>
                  <a:t>~2.4 M instances</a:t>
                </a:r>
              </a:p>
            </p:txBody>
          </p:sp>
          <p:sp>
            <p:nvSpPr>
              <p:cNvPr id="50" name="TextBox 50"/>
              <p:cNvSpPr txBox="1"/>
              <p:nvPr/>
            </p:nvSpPr>
            <p:spPr>
              <a:xfrm>
                <a:off x="9461754" y="3136900"/>
                <a:ext cx="2041688" cy="425196"/>
              </a:xfrm>
              <a:prstGeom prst="rect">
                <a:avLst/>
              </a:prstGeom>
              <a:noFill/>
              <a:ln>
                <a:noFill/>
              </a:ln>
            </p:spPr>
            <p:txBody>
              <a:bodyPr wrap="none" lIns="0" tIns="0" rIns="0" bIns="0" anchor="t" anchorCtr="0">
                <a:spAutoFit/>
              </a:bodyPr>
              <a:lstStyle/>
              <a:p>
                <a:pPr algn="l">
                  <a:lnSpc>
                    <a:spcPts val="1500"/>
                  </a:lnSpc>
                </a:pPr>
                <a:r>
                  <a:rPr lang="en" sz="1200" b="1" dirty="0">
                    <a:solidFill>
                      <a:schemeClr val="accent2"/>
                    </a:solidFill>
                    <a:latin typeface="+mn-lt"/>
                    <a:ea typeface="+mn-ea"/>
                    <a:cs typeface="+mn-cs"/>
                  </a:rPr>
                  <a:t>100% branch + 100%</a:t>
                </a:r>
                <a:br>
                  <a:rPr lang="en" sz="1200" b="1" dirty="0">
                    <a:solidFill>
                      <a:schemeClr val="accent2"/>
                    </a:solidFill>
                    <a:latin typeface="+mn-lt"/>
                    <a:ea typeface="+mn-ea"/>
                    <a:cs typeface="+mn-cs"/>
                  </a:rPr>
                </a:br>
                <a:r>
                  <a:rPr lang="en" sz="1200" b="1" dirty="0">
                    <a:solidFill>
                      <a:schemeClr val="accent2"/>
                    </a:solidFill>
                    <a:latin typeface="+mn-lt"/>
                    <a:ea typeface="+mn-ea"/>
                    <a:cs typeface="+mn-cs"/>
                  </a:rPr>
                  <a:t>MC/DC coverage of the core</a:t>
                </a:r>
              </a:p>
            </p:txBody>
          </p:sp>
          <p:sp>
            <p:nvSpPr>
              <p:cNvPr id="51" name="TextBox 51"/>
              <p:cNvSpPr txBox="1"/>
              <p:nvPr/>
            </p:nvSpPr>
            <p:spPr>
              <a:xfrm>
                <a:off x="4985004" y="3860800"/>
                <a:ext cx="715015" cy="425196"/>
              </a:xfrm>
              <a:prstGeom prst="rect">
                <a:avLst/>
              </a:prstGeom>
              <a:noFill/>
              <a:ln>
                <a:noFill/>
              </a:ln>
            </p:spPr>
            <p:txBody>
              <a:bodyPr wrap="none" lIns="0" tIns="0" rIns="0" bIns="0" anchor="t" anchorCtr="0">
                <a:spAutoFit/>
              </a:bodyPr>
              <a:lstStyle/>
              <a:p>
                <a:pPr algn="l">
                  <a:lnSpc>
                    <a:spcPts val="1500"/>
                  </a:lnSpc>
                </a:pPr>
                <a:r>
                  <a:rPr lang="en" sz="1200" b="1" dirty="0">
                    <a:solidFill>
                      <a:schemeClr val="dk1"/>
                    </a:solidFill>
                    <a:latin typeface="+mn-lt"/>
                    <a:ea typeface="+mn-ea"/>
                    <a:cs typeface="+mn-cs"/>
                  </a:rPr>
                  <a:t>SQL Logic</a:t>
                </a:r>
                <a:br>
                  <a:rPr lang="en" sz="1200" b="1" dirty="0">
                    <a:solidFill>
                      <a:schemeClr val="dk1"/>
                    </a:solidFill>
                    <a:latin typeface="+mn-lt"/>
                    <a:ea typeface="+mn-ea"/>
                    <a:cs typeface="+mn-cs"/>
                  </a:rPr>
                </a:br>
                <a:r>
                  <a:rPr lang="en" sz="1200" b="1" dirty="0">
                    <a:solidFill>
                      <a:schemeClr val="dk1"/>
                    </a:solidFill>
                    <a:latin typeface="+mn-lt"/>
                    <a:ea typeface="+mn-ea"/>
                    <a:cs typeface="+mn-cs"/>
                  </a:rPr>
                  <a:t>Test</a:t>
                </a:r>
              </a:p>
            </p:txBody>
          </p:sp>
          <p:sp>
            <p:nvSpPr>
              <p:cNvPr id="52" name="TextBox 52"/>
              <p:cNvSpPr txBox="1"/>
              <p:nvPr/>
            </p:nvSpPr>
            <p:spPr>
              <a:xfrm>
                <a:off x="6223254" y="3848100"/>
                <a:ext cx="142410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1.12 GB of test data</a:t>
                </a:r>
              </a:p>
            </p:txBody>
          </p:sp>
          <p:sp>
            <p:nvSpPr>
              <p:cNvPr id="53" name="TextBox 53"/>
              <p:cNvSpPr txBox="1"/>
              <p:nvPr/>
            </p:nvSpPr>
            <p:spPr>
              <a:xfrm>
                <a:off x="8033004" y="3848100"/>
                <a:ext cx="981123"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7.2 M queries</a:t>
                </a:r>
              </a:p>
            </p:txBody>
          </p:sp>
          <p:sp>
            <p:nvSpPr>
              <p:cNvPr id="54" name="TextBox 54"/>
              <p:cNvSpPr txBox="1"/>
              <p:nvPr/>
            </p:nvSpPr>
            <p:spPr>
              <a:xfrm>
                <a:off x="9461754" y="3860800"/>
                <a:ext cx="1543888" cy="6156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Same answers as</a:t>
                </a:r>
                <a:br>
                  <a:rPr lang="en" sz="1200" dirty="0">
                    <a:solidFill>
                      <a:schemeClr val="dk1"/>
                    </a:solidFill>
                    <a:latin typeface="+mn-lt"/>
                    <a:ea typeface="+mn-ea"/>
                    <a:cs typeface="+mn-cs"/>
                  </a:rPr>
                </a:br>
                <a:r>
                  <a:rPr lang="en" sz="1200" dirty="0">
                    <a:solidFill>
                      <a:schemeClr val="dk1"/>
                    </a:solidFill>
                    <a:latin typeface="+mn-lt"/>
                    <a:ea typeface="+mn-ea"/>
                    <a:cs typeface="+mn-cs"/>
                  </a:rPr>
                  <a:t>PostgreSQL, MySQL,</a:t>
                </a:r>
                <a:br>
                  <a:rPr lang="en" sz="1200" dirty="0">
                    <a:solidFill>
                      <a:schemeClr val="dk1"/>
                    </a:solidFill>
                    <a:latin typeface="+mn-lt"/>
                    <a:ea typeface="+mn-ea"/>
                    <a:cs typeface="+mn-cs"/>
                  </a:rPr>
                </a:br>
                <a:r>
                  <a:rPr lang="en" sz="1200" dirty="0">
                    <a:solidFill>
                      <a:schemeClr val="dk1"/>
                    </a:solidFill>
                    <a:latin typeface="+mn-lt"/>
                    <a:ea typeface="+mn-ea"/>
                    <a:cs typeface="+mn-cs"/>
                  </a:rPr>
                  <a:t>SQL Server, Oracle 10g</a:t>
                </a:r>
              </a:p>
            </p:txBody>
          </p:sp>
          <p:sp>
            <p:nvSpPr>
              <p:cNvPr id="55" name="TextBox 55"/>
              <p:cNvSpPr txBox="1"/>
              <p:nvPr/>
            </p:nvSpPr>
            <p:spPr>
              <a:xfrm>
                <a:off x="4985004" y="4572000"/>
                <a:ext cx="743776" cy="234696"/>
              </a:xfrm>
              <a:prstGeom prst="rect">
                <a:avLst/>
              </a:prstGeom>
              <a:noFill/>
              <a:ln>
                <a:noFill/>
              </a:ln>
            </p:spPr>
            <p:txBody>
              <a:bodyPr wrap="none" lIns="0" tIns="0" rIns="0" bIns="0" anchor="t" anchorCtr="0">
                <a:spAutoFit/>
              </a:bodyPr>
              <a:lstStyle/>
              <a:p>
                <a:pPr algn="l"/>
                <a:r>
                  <a:rPr lang="en" sz="1200" b="1" dirty="0">
                    <a:solidFill>
                      <a:schemeClr val="dk1"/>
                    </a:solidFill>
                    <a:latin typeface="+mn-lt"/>
                    <a:ea typeface="+mn-ea"/>
                    <a:cs typeface="+mn-cs"/>
                  </a:rPr>
                  <a:t>dbsqlfuzz</a:t>
                </a:r>
              </a:p>
            </p:txBody>
          </p:sp>
          <p:sp>
            <p:nvSpPr>
              <p:cNvPr id="56" name="TextBox 56"/>
              <p:cNvSpPr txBox="1"/>
              <p:nvPr/>
            </p:nvSpPr>
            <p:spPr>
              <a:xfrm>
                <a:off x="6223254" y="4584700"/>
                <a:ext cx="954908"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336 seed files;</a:t>
                </a:r>
                <a:br>
                  <a:rPr lang="en" sz="1200" dirty="0">
                    <a:solidFill>
                      <a:schemeClr val="dk1"/>
                    </a:solidFill>
                    <a:latin typeface="+mn-lt"/>
                    <a:ea typeface="+mn-ea"/>
                    <a:cs typeface="+mn-cs"/>
                  </a:rPr>
                </a:br>
                <a:r>
                  <a:rPr lang="en" sz="1200" dirty="0">
                    <a:solidFill>
                      <a:schemeClr val="dk1"/>
                    </a:solidFill>
                    <a:latin typeface="+mn-lt"/>
                    <a:ea typeface="+mn-ea"/>
                    <a:cs typeface="+mn-cs"/>
                  </a:rPr>
                  <a:t>proprietary</a:t>
                </a:r>
              </a:p>
            </p:txBody>
          </p:sp>
          <p:sp>
            <p:nvSpPr>
              <p:cNvPr id="57" name="TextBox 57"/>
              <p:cNvSpPr txBox="1"/>
              <p:nvPr/>
            </p:nvSpPr>
            <p:spPr>
              <a:xfrm>
                <a:off x="8033004" y="4584700"/>
                <a:ext cx="1089706"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~1 billion</a:t>
                </a:r>
                <a:br>
                  <a:rPr lang="en" sz="1200" dirty="0">
                    <a:solidFill>
                      <a:schemeClr val="dk1"/>
                    </a:solidFill>
                    <a:latin typeface="+mn-lt"/>
                    <a:ea typeface="+mn-ea"/>
                    <a:cs typeface="+mn-cs"/>
                  </a:rPr>
                </a:br>
                <a:r>
                  <a:rPr lang="en" sz="1200" dirty="0">
                    <a:solidFill>
                      <a:schemeClr val="dk1"/>
                    </a:solidFill>
                    <a:latin typeface="+mn-lt"/>
                    <a:ea typeface="+mn-ea"/>
                    <a:cs typeface="+mn-cs"/>
                  </a:rPr>
                  <a:t>mutations a day</a:t>
                </a:r>
              </a:p>
            </p:txBody>
          </p:sp>
          <p:sp>
            <p:nvSpPr>
              <p:cNvPr id="58" name="TextBox 58"/>
              <p:cNvSpPr txBox="1"/>
              <p:nvPr/>
            </p:nvSpPr>
            <p:spPr>
              <a:xfrm>
                <a:off x="9461754" y="4584700"/>
                <a:ext cx="1485870" cy="425196"/>
              </a:xfrm>
              <a:prstGeom prst="rect">
                <a:avLst/>
              </a:prstGeom>
              <a:noFill/>
              <a:ln>
                <a:noFill/>
              </a:ln>
            </p:spPr>
            <p:txBody>
              <a:bodyPr wrap="none" lIns="0" tIns="0" rIns="0" bIns="0" anchor="t" anchorCtr="0">
                <a:spAutoFit/>
              </a:bodyPr>
              <a:lstStyle/>
              <a:p>
                <a:pPr algn="l">
                  <a:lnSpc>
                    <a:spcPts val="1500"/>
                  </a:lnSpc>
                </a:pPr>
                <a:r>
                  <a:rPr lang="en" sz="1200" dirty="0">
                    <a:solidFill>
                      <a:schemeClr val="dk1"/>
                    </a:solidFill>
                    <a:latin typeface="+mn-lt"/>
                    <a:ea typeface="+mn-ea"/>
                    <a:cs typeface="+mn-cs"/>
                  </a:rPr>
                  <a:t>Mutates SQL and the</a:t>
                </a:r>
                <a:br>
                  <a:rPr lang="en" sz="1200" dirty="0">
                    <a:solidFill>
                      <a:schemeClr val="dk1"/>
                    </a:solidFill>
                    <a:latin typeface="+mn-lt"/>
                    <a:ea typeface="+mn-ea"/>
                    <a:cs typeface="+mn-cs"/>
                  </a:rPr>
                </a:br>
                <a:r>
                  <a:rPr lang="en" sz="1200" dirty="0">
                    <a:solidFill>
                      <a:schemeClr val="dk1"/>
                    </a:solidFill>
                    <a:latin typeface="+mn-lt"/>
                    <a:ea typeface="+mn-ea"/>
                    <a:cs typeface="+mn-cs"/>
                  </a:rPr>
                  <a:t>database file together</a:t>
                </a:r>
              </a:p>
            </p:txBody>
          </p:sp>
        </p:grpSp>
      </p:grpSp>
      <p:grpSp>
        <p:nvGrpSpPr>
          <p:cNvPr id="67" name="test-extras"/>
          <p:cNvGrpSpPr/>
          <p:nvPr/>
        </p:nvGrpSpPr>
        <p:grpSpPr>
          <a:xfrm>
            <a:off x="4902721" y="5359400"/>
            <a:ext cx="5215999" cy="444246"/>
            <a:chOff x="4902721" y="5359400"/>
            <a:chExt cx="5215999" cy="444246"/>
          </a:xfrm>
        </p:grpSpPr>
        <p:grpSp>
          <p:nvGrpSpPr>
            <p:cNvPr id="65" name="Group 65"/>
            <p:cNvGrpSpPr/>
            <p:nvPr/>
          </p:nvGrpSpPr>
          <p:grpSpPr>
            <a:xfrm>
              <a:off x="4902721" y="5381625"/>
              <a:ext cx="176096" cy="174118"/>
              <a:chOff x="4902721" y="5381625"/>
              <a:chExt cx="176096" cy="174118"/>
            </a:xfrm>
          </p:grpSpPr>
          <p:sp>
            <p:nvSpPr>
              <p:cNvPr id="61" name="Freeform 61"/>
              <p:cNvSpPr/>
              <p:nvPr/>
            </p:nvSpPr>
            <p:spPr>
              <a:xfrm>
                <a:off x="4902721" y="5391150"/>
                <a:ext cx="164579" cy="164593"/>
              </a:xfrm>
              <a:custGeom>
                <a:avLst/>
                <a:gdLst/>
                <a:ahLst/>
                <a:cxnLst/>
                <a:rect l="l" t="t" r="r" b="b"/>
                <a:pathLst>
                  <a:path w="164579" h="164593">
                    <a:moveTo>
                      <a:pt x="164579" y="38481"/>
                    </a:moveTo>
                    <a:lnTo>
                      <a:pt x="49117" y="153962"/>
                    </a:lnTo>
                    <a:cubicBezTo>
                      <a:pt x="38491" y="164591"/>
                      <a:pt x="21260" y="164593"/>
                      <a:pt x="10631" y="153967"/>
                    </a:cubicBezTo>
                    <a:cubicBezTo>
                      <a:pt x="2" y="143341"/>
                      <a:pt x="0" y="126110"/>
                      <a:pt x="10626" y="115481"/>
                    </a:cubicBezTo>
                    <a:lnTo>
                      <a:pt x="126088" y="0"/>
                    </a:lnTo>
                  </a:path>
                </a:pathLst>
              </a:custGeom>
              <a:noFill/>
              <a:ln w="14288">
                <a:solidFill>
                  <a:schemeClr val="accent1"/>
                </a:solidFill>
              </a:ln>
            </p:spPr>
          </p:sp>
          <p:sp>
            <p:nvSpPr>
              <p:cNvPr id="62" name="Freeform 62"/>
              <p:cNvSpPr/>
              <p:nvPr/>
            </p:nvSpPr>
            <p:spPr>
              <a:xfrm>
                <a:off x="4943475" y="5476875"/>
                <a:ext cx="76200" cy="9525"/>
              </a:xfrm>
              <a:custGeom>
                <a:avLst/>
                <a:gdLst/>
                <a:ahLst/>
                <a:cxnLst/>
                <a:rect l="l" t="t" r="r" b="b"/>
                <a:pathLst>
                  <a:path w="76200" h="9525">
                    <a:moveTo>
                      <a:pt x="0" y="0"/>
                    </a:moveTo>
                    <a:lnTo>
                      <a:pt x="76200" y="0"/>
                    </a:lnTo>
                  </a:path>
                </a:pathLst>
              </a:custGeom>
              <a:noFill/>
              <a:ln w="14288">
                <a:solidFill>
                  <a:schemeClr val="accent1"/>
                </a:solidFill>
              </a:ln>
            </p:spPr>
          </p:sp>
          <p:sp>
            <p:nvSpPr>
              <p:cNvPr id="63" name="Freeform 63"/>
              <p:cNvSpPr/>
              <p:nvPr/>
            </p:nvSpPr>
            <p:spPr>
              <a:xfrm>
                <a:off x="5036733" y="5495925"/>
                <a:ext cx="42084" cy="48657"/>
              </a:xfrm>
              <a:custGeom>
                <a:avLst/>
                <a:gdLst/>
                <a:ahLst/>
                <a:cxnLst/>
                <a:rect l="l" t="t" r="r" b="b"/>
                <a:pathLst>
                  <a:path w="42084" h="48657">
                    <a:moveTo>
                      <a:pt x="21042" y="0"/>
                    </a:moveTo>
                    <a:lnTo>
                      <a:pt x="35329" y="15240"/>
                    </a:lnTo>
                    <a:cubicBezTo>
                      <a:pt x="42084" y="22899"/>
                      <a:pt x="41598" y="34521"/>
                      <a:pt x="34228" y="41589"/>
                    </a:cubicBezTo>
                    <a:cubicBezTo>
                      <a:pt x="26858" y="48657"/>
                      <a:pt x="15226" y="48657"/>
                      <a:pt x="7856" y="41589"/>
                    </a:cubicBezTo>
                    <a:cubicBezTo>
                      <a:pt x="486" y="34521"/>
                      <a:pt x="0" y="22899"/>
                      <a:pt x="6754" y="15240"/>
                    </a:cubicBezTo>
                    <a:lnTo>
                      <a:pt x="21042" y="0"/>
                    </a:lnTo>
                  </a:path>
                </a:pathLst>
              </a:custGeom>
              <a:noFill/>
              <a:ln w="14288">
                <a:solidFill>
                  <a:schemeClr val="accent1"/>
                </a:solidFill>
              </a:ln>
            </p:spPr>
          </p:sp>
          <p:sp>
            <p:nvSpPr>
              <p:cNvPr id="64" name="Freeform 64"/>
              <p:cNvSpPr/>
              <p:nvPr/>
            </p:nvSpPr>
            <p:spPr>
              <a:xfrm>
                <a:off x="5019675" y="5381625"/>
                <a:ext cx="57150" cy="57150"/>
              </a:xfrm>
              <a:custGeom>
                <a:avLst/>
                <a:gdLst/>
                <a:ahLst/>
                <a:cxnLst/>
                <a:rect l="l" t="t" r="r" b="b"/>
                <a:pathLst>
                  <a:path w="57150" h="57150">
                    <a:moveTo>
                      <a:pt x="0" y="0"/>
                    </a:moveTo>
                    <a:lnTo>
                      <a:pt x="57150" y="57150"/>
                    </a:lnTo>
                  </a:path>
                </a:pathLst>
              </a:custGeom>
              <a:noFill/>
              <a:ln w="14288">
                <a:solidFill>
                  <a:schemeClr val="accent1"/>
                </a:solidFill>
              </a:ln>
            </p:spPr>
          </p:sp>
        </p:grpSp>
        <p:sp>
          <p:nvSpPr>
            <p:cNvPr id="66" name="TextBox 66"/>
            <p:cNvSpPr txBox="1"/>
            <p:nvPr/>
          </p:nvSpPr>
          <p:spPr>
            <a:xfrm>
              <a:off x="5194554" y="5359400"/>
              <a:ext cx="4924166"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Also: out-of-memory, I/O-error, crash and power-loss tests. A pre-release</a:t>
              </a:r>
              <a:br>
                <a:rPr lang="en" sz="1200" dirty="0">
                  <a:solidFill>
                    <a:schemeClr val="accent5"/>
                  </a:solidFill>
                  <a:latin typeface="+mn-lt"/>
                  <a:ea typeface="+mn-ea"/>
                  <a:cs typeface="+mn-cs"/>
                </a:rPr>
              </a:br>
              <a:r>
                <a:rPr lang="en" sz="1200" dirty="0">
                  <a:solidFill>
                    <a:schemeClr val="accent5"/>
                  </a:solidFill>
                  <a:latin typeface="+mn-lt"/>
                  <a:ea typeface="+mn-ea"/>
                  <a:cs typeface="+mn-cs"/>
                </a:rPr>
                <a:t xml:space="preserve">TH3 soak runs about </a:t>
              </a:r>
              <a:r>
                <a:rPr lang="en" sz="1200" b="1" dirty="0">
                  <a:solidFill>
                    <a:schemeClr val="dk1"/>
                  </a:solidFill>
                  <a:latin typeface="+mn-lt"/>
                  <a:ea typeface="+mn-ea"/>
                  <a:cs typeface="+mn-cs"/>
                </a:rPr>
                <a:t>248.5 million tests</a:t>
              </a:r>
              <a:r>
                <a:rPr lang="en" sz="1200" dirty="0">
                  <a:solidFill>
                    <a:schemeClr val="accent5"/>
                  </a:solidFill>
                  <a:latin typeface="+mn-lt"/>
                  <a:ea typeface="+mn-ea"/>
                  <a:cs typeface="+mn-cs"/>
                </a:rPr>
                <a:t>.</a:t>
              </a:r>
            </a:p>
          </p:txBody>
        </p:sp>
      </p:grpSp>
      <p:grpSp>
        <p:nvGrpSpPr>
          <p:cNvPr id="72" name="title-block"/>
          <p:cNvGrpSpPr/>
          <p:nvPr/>
        </p:nvGrpSpPr>
        <p:grpSpPr>
          <a:xfrm>
            <a:off x="8382000" y="6229350"/>
            <a:ext cx="3200400" cy="285750"/>
            <a:chOff x="8382000" y="6229350"/>
            <a:chExt cx="3200400" cy="285750"/>
          </a:xfrm>
        </p:grpSpPr>
        <p:sp>
          <p:nvSpPr>
            <p:cNvPr id="68" name="Rectangle 68"/>
            <p:cNvSpPr/>
            <p:nvPr/>
          </p:nvSpPr>
          <p:spPr>
            <a:xfrm>
              <a:off x="8382000" y="6229350"/>
              <a:ext cx="3200400" cy="285750"/>
            </a:xfrm>
            <a:prstGeom prst="rect">
              <a:avLst/>
            </a:prstGeom>
            <a:solidFill>
              <a:schemeClr val="lt2"/>
            </a:solidFill>
            <a:ln w="9525">
              <a:solidFill>
                <a:schemeClr val="accent6"/>
              </a:solidFill>
            </a:ln>
          </p:spPr>
        </p:sp>
        <p:sp>
          <p:nvSpPr>
            <p:cNvPr id="69" name="Line 69"/>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70" name="TextBox 70"/>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09/12</a:t>
              </a:r>
            </a:p>
          </p:txBody>
        </p:sp>
        <p:sp>
          <p:nvSpPr>
            <p:cNvPr id="71" name="TextBox 71"/>
            <p:cNvSpPr txBox="1"/>
            <p:nvPr/>
          </p:nvSpPr>
          <p:spPr>
            <a:xfrm>
              <a:off x="9367647" y="6292850"/>
              <a:ext cx="1467079"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sqlite.org/testing</a:t>
              </a:r>
            </a:p>
          </p:txBody>
        </p:sp>
      </p:grpSp>
    </p:spTree>
  </p:cSld>
  <p:clrMapOvr>
    <a:masterClrMapping/>
  </p:clrMapOvr>
  <p:transition xmlns:p14="http://schemas.microsoft.com/office/powerpoint/2010/mai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3" presetClass="entr" presetSubtype="16"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800" fill="hold"/>
                                        <p:tgtEl>
                                          <p:spTgt spid="30"/>
                                        </p:tgtEl>
                                        <p:attrNameLst>
                                          <p:attrName>ppt_w</p:attrName>
                                        </p:attrNameLst>
                                      </p:cBhvr>
                                      <p:tavLst>
                                        <p:tav tm="0">
                                          <p:val>
                                            <p:fltVal val="0"/>
                                          </p:val>
                                        </p:tav>
                                        <p:tav tm="100000">
                                          <p:val>
                                            <p:strVal val="#ppt_w"/>
                                          </p:val>
                                        </p:tav>
                                      </p:tavLst>
                                    </p:anim>
                                    <p:anim calcmode="lin" valueType="num">
                                      <p:cBhvr>
                                        <p:cTn id="8" dur="800" fill="hold"/>
                                        <p:tgtEl>
                                          <p:spTgt spid="30"/>
                                        </p:tgtEl>
                                        <p:attrNameLst>
                                          <p:attrName>ppt_h</p:attrName>
                                        </p:attrNameLst>
                                      </p:cBhvr>
                                      <p:tavLst>
                                        <p:tav tm="0">
                                          <p:val>
                                            <p:fltVal val="0"/>
                                          </p:val>
                                        </p:tav>
                                        <p:tav tm="100000">
                                          <p:val>
                                            <p:strVal val="#ppt_h"/>
                                          </p:val>
                                        </p:tav>
                                      </p:tavLst>
                                    </p:anim>
                                  </p:childTnLst>
                                </p:cTn>
                              </p:par>
                            </p:childTnLst>
                          </p:cTn>
                        </p:par>
                        <p:par>
                          <p:cTn id="9" fill="hold">
                            <p:stCondLst>
                              <p:cond delay="800"/>
                            </p:stCondLst>
                            <p:childTnLst>
                              <p:par>
                                <p:cTn xmlns:p="http://schemas.openxmlformats.org/presentationml/2006/main" id="10" presetID="10" presetClass="entr" presetSubtype="0" fill="hold" grpId="0" nodeType="afterEffect">
                                  <p:stCondLst>
                                    <p:cond delay="50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600"/>
                                        <p:tgtEl>
                                          <p:spTgt spid="60"/>
                                        </p:tgtEl>
                                      </p:cBhvr>
                                    </p:animEffect>
                                  </p:childTnLst>
                                </p:cTn>
                              </p:par>
                            </p:childTnLst>
                          </p:cTn>
                        </p:par>
                        <p:par>
                          <p:cTn id="13" fill="hold">
                            <p:stCondLst>
                              <p:cond delay="1900"/>
                            </p:stCondLst>
                            <p:childTnLst>
                              <p:par>
                                <p:cTn xmlns:p="http://schemas.openxmlformats.org/presentationml/2006/main" id="14" presetID="10" presetClass="entr" presetSubtype="0" fill="hold" grpId="0" nodeType="afterEffect">
                                  <p:stCondLst>
                                    <p:cond delay="500"/>
                                  </p:stCondLst>
                                  <p:childTnLst>
                                    <p:set>
                                      <p:cBhvr>
                                        <p:cTn id="15" dur="1" fill="hold">
                                          <p:stCondLst>
                                            <p:cond delay="0"/>
                                          </p:stCondLst>
                                        </p:cTn>
                                        <p:tgtEl>
                                          <p:spTgt spid="67"/>
                                        </p:tgtEl>
                                        <p:attrNameLst>
                                          <p:attrName>style.visibility</p:attrName>
                                        </p:attrNameLst>
                                      </p:cBhvr>
                                      <p:to>
                                        <p:strVal val="visible"/>
                                      </p:to>
                                    </p:set>
                                    <p:animEffect transition="in" filter="fade">
                                      <p:cBhvr>
                                        <p:cTn id="16"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8787425" cy="815340"/>
            <a:chOff x="594360" y="603250"/>
            <a:chExt cx="8787425" cy="815340"/>
          </a:xfrm>
        </p:grpSpPr>
        <p:sp>
          <p:nvSpPr>
            <p:cNvPr id="18" name="TextBox 18"/>
            <p:cNvSpPr txBox="1"/>
            <p:nvPr/>
          </p:nvSpPr>
          <p:spPr>
            <a:xfrm>
              <a:off x="603885" y="603250"/>
              <a:ext cx="3602772"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09 · WHY YOU CAN TRUST IT — LICENSE</a:t>
              </a:r>
            </a:p>
          </p:txBody>
        </p:sp>
        <p:sp>
          <p:nvSpPr>
            <p:cNvPr id="19" name="TextBox 19"/>
            <p:cNvSpPr txBox="1"/>
            <p:nvPr/>
          </p:nvSpPr>
          <p:spPr>
            <a:xfrm>
              <a:off x="594360" y="831850"/>
              <a:ext cx="8787425"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No license to comply with: it is public domain</a:t>
              </a:r>
            </a:p>
          </p:txBody>
        </p:sp>
      </p:grpSp>
      <p:grpSp>
        <p:nvGrpSpPr>
          <p:cNvPr id="24" name="pd-quote"/>
          <p:cNvGrpSpPr/>
          <p:nvPr/>
        </p:nvGrpSpPr>
        <p:grpSpPr>
          <a:xfrm>
            <a:off x="628650" y="1866900"/>
            <a:ext cx="8857488" cy="1663446"/>
            <a:chOff x="628650" y="1866900"/>
            <a:chExt cx="8857488" cy="1663446"/>
          </a:xfrm>
        </p:grpSpPr>
        <p:sp>
          <p:nvSpPr>
            <p:cNvPr id="21" name="Line 21"/>
            <p:cNvSpPr/>
            <p:nvPr/>
          </p:nvSpPr>
          <p:spPr>
            <a:xfrm>
              <a:off x="628650" y="1866900"/>
              <a:ext cx="9525" cy="1485900"/>
            </a:xfrm>
            <a:custGeom>
              <a:avLst/>
              <a:gdLst/>
              <a:ahLst/>
              <a:cxnLst/>
              <a:rect l="l" t="t" r="r" b="b"/>
              <a:pathLst>
                <a:path w="9525" h="1485900">
                  <a:moveTo>
                    <a:pt x="0" y="0"/>
                  </a:moveTo>
                  <a:lnTo>
                    <a:pt x="0" y="1485900"/>
                  </a:lnTo>
                </a:path>
              </a:pathLst>
            </a:custGeom>
            <a:noFill/>
            <a:ln w="28575">
              <a:solidFill>
                <a:schemeClr val="accent2"/>
              </a:solidFill>
            </a:ln>
          </p:spPr>
        </p:sp>
        <p:sp>
          <p:nvSpPr>
            <p:cNvPr id="22" name="TextBox 22"/>
            <p:cNvSpPr txBox="1"/>
            <p:nvPr/>
          </p:nvSpPr>
          <p:spPr>
            <a:xfrm>
              <a:off x="903732" y="1955800"/>
              <a:ext cx="8582406" cy="1172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j-lt"/>
                  <a:ea typeface="+mj-ea"/>
                  <a:cs typeface="+mj-cs"/>
                </a:rPr>
                <a:t>“Anyone is free to copy, modify, publish, use, compile, sell, or</a:t>
              </a:r>
              <a:br>
                <a:rPr lang="en" sz="2100" dirty="0">
                  <a:solidFill>
                    <a:schemeClr val="dk1"/>
                  </a:solidFill>
                  <a:latin typeface="+mj-lt"/>
                  <a:ea typeface="+mj-ea"/>
                  <a:cs typeface="+mj-cs"/>
                </a:rPr>
              </a:br>
              <a:r>
                <a:rPr lang="en" sz="2100" dirty="0">
                  <a:solidFill>
                    <a:schemeClr val="dk1"/>
                  </a:solidFill>
                  <a:latin typeface="+mj-lt"/>
                  <a:ea typeface="+mj-ea"/>
                  <a:cs typeface="+mj-cs"/>
                </a:rPr>
                <a:t>distribute the original SQLite code … for any purpose, commercial</a:t>
              </a:r>
              <a:br>
                <a:rPr lang="en" sz="2100" dirty="0">
                  <a:solidFill>
                    <a:schemeClr val="dk1"/>
                  </a:solidFill>
                  <a:latin typeface="+mj-lt"/>
                  <a:ea typeface="+mj-ea"/>
                  <a:cs typeface="+mj-cs"/>
                </a:rPr>
              </a:br>
              <a:r>
                <a:rPr lang="en" sz="2100" dirty="0">
                  <a:solidFill>
                    <a:schemeClr val="dk1"/>
                  </a:solidFill>
                  <a:latin typeface="+mj-lt"/>
                  <a:ea typeface="+mj-ea"/>
                  <a:cs typeface="+mj-cs"/>
                </a:rPr>
                <a:t>or non-commercial, and by any means.”</a:t>
              </a:r>
            </a:p>
          </p:txBody>
        </p:sp>
        <p:sp>
          <p:nvSpPr>
            <p:cNvPr id="23" name="TextBox 23"/>
            <p:cNvSpPr txBox="1"/>
            <p:nvPr/>
          </p:nvSpPr>
          <p:spPr>
            <a:xfrm>
              <a:off x="908304" y="3295650"/>
              <a:ext cx="6539754" cy="234696"/>
            </a:xfrm>
            <a:prstGeom prst="rect">
              <a:avLst/>
            </a:prstGeom>
            <a:noFill/>
            <a:ln>
              <a:noFill/>
            </a:ln>
          </p:spPr>
          <p:txBody>
            <a:bodyPr wrap="none" lIns="0" tIns="0" rIns="0" bIns="0" anchor="t" anchorCtr="0">
              <a:spAutoFit/>
            </a:bodyPr>
            <a:lstStyle/>
            <a:p>
              <a:pPr algn="l"/>
              <a:r>
                <a:rPr lang="en" sz="1200" dirty="0">
                  <a:solidFill>
                    <a:schemeClr val="accent5"/>
                  </a:solidFill>
                  <a:latin typeface="+mn-lt"/>
                  <a:ea typeface="+mn-ea"/>
                  <a:cs typeface="+mn-cs"/>
                </a:rPr>
                <a:t>— SQLite Copyright page. All code and documentation are dedicated to the public domain.</a:t>
              </a:r>
            </a:p>
          </p:txBody>
        </p:sp>
      </p:grpSp>
      <p:grpSp>
        <p:nvGrpSpPr>
          <p:cNvPr id="35" name="pd-affidavits"/>
          <p:cNvGrpSpPr/>
          <p:nvPr/>
        </p:nvGrpSpPr>
        <p:grpSpPr>
          <a:xfrm>
            <a:off x="609600" y="4000500"/>
            <a:ext cx="3200400" cy="1219200"/>
            <a:chOff x="609600" y="4000500"/>
            <a:chExt cx="3200400" cy="1219200"/>
          </a:xfrm>
        </p:grpSpPr>
        <p:sp>
          <p:nvSpPr>
            <p:cNvPr id="25" name="Rectangle 25"/>
            <p:cNvSpPr/>
            <p:nvPr/>
          </p:nvSpPr>
          <p:spPr>
            <a:xfrm>
              <a:off x="609600" y="4000500"/>
              <a:ext cx="3200400" cy="1219200"/>
            </a:xfrm>
            <a:prstGeom prst="roundRect">
              <a:avLst>
                <a:gd name="adj" fmla="val 1562"/>
              </a:avLst>
            </a:prstGeom>
            <a:noFill/>
            <a:ln w="14288">
              <a:solidFill>
                <a:schemeClr val="accent1"/>
              </a:solidFill>
            </a:ln>
          </p:spPr>
        </p:sp>
        <p:grpSp>
          <p:nvGrpSpPr>
            <p:cNvPr id="32" name="Group 32"/>
            <p:cNvGrpSpPr/>
            <p:nvPr/>
          </p:nvGrpSpPr>
          <p:grpSpPr>
            <a:xfrm>
              <a:off x="833438" y="4227513"/>
              <a:ext cx="200026" cy="188912"/>
              <a:chOff x="833438" y="4227513"/>
              <a:chExt cx="200026" cy="188912"/>
            </a:xfrm>
          </p:grpSpPr>
          <p:sp>
            <p:nvSpPr>
              <p:cNvPr id="26" name="Freeform 26"/>
              <p:cNvSpPr/>
              <p:nvPr/>
            </p:nvSpPr>
            <p:spPr>
              <a:xfrm>
                <a:off x="933450" y="4305300"/>
                <a:ext cx="66675" cy="66675"/>
              </a:xfrm>
              <a:custGeom>
                <a:avLst/>
                <a:gdLst/>
                <a:ahLst/>
                <a:cxnLst/>
                <a:rect l="l" t="t" r="r" b="b"/>
                <a:pathLst>
                  <a:path w="66675" h="66675">
                    <a:moveTo>
                      <a:pt x="0" y="33338"/>
                    </a:moveTo>
                    <a:cubicBezTo>
                      <a:pt x="0" y="51749"/>
                      <a:pt x="14926" y="66675"/>
                      <a:pt x="33338" y="66675"/>
                    </a:cubicBezTo>
                    <a:cubicBezTo>
                      <a:pt x="51749" y="66675"/>
                      <a:pt x="66675" y="51749"/>
                      <a:pt x="66675" y="33338"/>
                    </a:cubicBezTo>
                    <a:cubicBezTo>
                      <a:pt x="66675" y="14926"/>
                      <a:pt x="51749" y="0"/>
                      <a:pt x="33338" y="0"/>
                    </a:cubicBezTo>
                    <a:cubicBezTo>
                      <a:pt x="14926" y="0"/>
                      <a:pt x="0" y="14926"/>
                      <a:pt x="0" y="33338"/>
                    </a:cubicBezTo>
                  </a:path>
                </a:pathLst>
              </a:custGeom>
              <a:noFill/>
              <a:ln w="16669">
                <a:solidFill>
                  <a:schemeClr val="accent2"/>
                </a:solidFill>
              </a:ln>
            </p:spPr>
          </p:sp>
          <p:sp>
            <p:nvSpPr>
              <p:cNvPr id="27" name="Freeform 27"/>
              <p:cNvSpPr/>
              <p:nvPr/>
            </p:nvSpPr>
            <p:spPr>
              <a:xfrm>
                <a:off x="944563" y="4366419"/>
                <a:ext cx="44450" cy="50006"/>
              </a:xfrm>
              <a:custGeom>
                <a:avLst/>
                <a:gdLst/>
                <a:ahLst/>
                <a:cxnLst/>
                <a:rect l="l" t="t" r="r" b="b"/>
                <a:pathLst>
                  <a:path w="44450" h="50006">
                    <a:moveTo>
                      <a:pt x="0" y="0"/>
                    </a:moveTo>
                    <a:lnTo>
                      <a:pt x="0" y="50006"/>
                    </a:lnTo>
                    <a:lnTo>
                      <a:pt x="22225" y="33338"/>
                    </a:lnTo>
                    <a:lnTo>
                      <a:pt x="44450" y="50006"/>
                    </a:lnTo>
                    <a:lnTo>
                      <a:pt x="44450" y="0"/>
                    </a:lnTo>
                  </a:path>
                </a:pathLst>
              </a:custGeom>
              <a:noFill/>
              <a:ln w="16669">
                <a:solidFill>
                  <a:schemeClr val="accent2"/>
                </a:solidFill>
              </a:ln>
            </p:spPr>
          </p:sp>
          <p:sp>
            <p:nvSpPr>
              <p:cNvPr id="28" name="Freeform 28"/>
              <p:cNvSpPr/>
              <p:nvPr/>
            </p:nvSpPr>
            <p:spPr>
              <a:xfrm>
                <a:off x="833438" y="4227513"/>
                <a:ext cx="200026" cy="155575"/>
              </a:xfrm>
              <a:custGeom>
                <a:avLst/>
                <a:gdLst/>
                <a:ahLst/>
                <a:cxnLst/>
                <a:rect l="l" t="t" r="r" b="b"/>
                <a:pathLst>
                  <a:path w="200026" h="155575">
                    <a:moveTo>
                      <a:pt x="77788" y="155575"/>
                    </a:moveTo>
                    <a:lnTo>
                      <a:pt x="22225" y="155575"/>
                    </a:lnTo>
                    <a:cubicBezTo>
                      <a:pt x="9950" y="155575"/>
                      <a:pt x="0" y="145625"/>
                      <a:pt x="0" y="133350"/>
                    </a:cubicBezTo>
                    <a:lnTo>
                      <a:pt x="0" y="22225"/>
                    </a:lnTo>
                    <a:cubicBezTo>
                      <a:pt x="0" y="10001"/>
                      <a:pt x="10001" y="0"/>
                      <a:pt x="22225" y="0"/>
                    </a:cubicBezTo>
                    <a:lnTo>
                      <a:pt x="177801" y="0"/>
                    </a:lnTo>
                    <a:cubicBezTo>
                      <a:pt x="190075" y="0"/>
                      <a:pt x="200026" y="9950"/>
                      <a:pt x="200026" y="22225"/>
                    </a:cubicBezTo>
                    <a:lnTo>
                      <a:pt x="200026" y="133350"/>
                    </a:lnTo>
                    <a:cubicBezTo>
                      <a:pt x="200017" y="141282"/>
                      <a:pt x="195782" y="148609"/>
                      <a:pt x="188913" y="152575"/>
                    </a:cubicBezTo>
                  </a:path>
                </a:pathLst>
              </a:custGeom>
              <a:noFill/>
              <a:ln w="16669">
                <a:solidFill>
                  <a:schemeClr val="accent2"/>
                </a:solidFill>
              </a:ln>
            </p:spPr>
          </p:sp>
          <p:sp>
            <p:nvSpPr>
              <p:cNvPr id="29" name="Freeform 29"/>
              <p:cNvSpPr/>
              <p:nvPr/>
            </p:nvSpPr>
            <p:spPr>
              <a:xfrm>
                <a:off x="866775" y="4271963"/>
                <a:ext cx="133350" cy="9525"/>
              </a:xfrm>
              <a:custGeom>
                <a:avLst/>
                <a:gdLst/>
                <a:ahLst/>
                <a:cxnLst/>
                <a:rect l="l" t="t" r="r" b="b"/>
                <a:pathLst>
                  <a:path w="133350" h="9525">
                    <a:moveTo>
                      <a:pt x="0" y="0"/>
                    </a:moveTo>
                    <a:lnTo>
                      <a:pt x="133350" y="0"/>
                    </a:lnTo>
                  </a:path>
                </a:pathLst>
              </a:custGeom>
              <a:noFill/>
              <a:ln w="16669">
                <a:solidFill>
                  <a:schemeClr val="accent2"/>
                </a:solidFill>
              </a:ln>
            </p:spPr>
          </p:sp>
          <p:sp>
            <p:nvSpPr>
              <p:cNvPr id="30" name="Freeform 30"/>
              <p:cNvSpPr/>
              <p:nvPr/>
            </p:nvSpPr>
            <p:spPr>
              <a:xfrm>
                <a:off x="866775" y="4305300"/>
                <a:ext cx="33338" cy="9525"/>
              </a:xfrm>
              <a:custGeom>
                <a:avLst/>
                <a:gdLst/>
                <a:ahLst/>
                <a:cxnLst/>
                <a:rect l="l" t="t" r="r" b="b"/>
                <a:pathLst>
                  <a:path w="33338" h="9525">
                    <a:moveTo>
                      <a:pt x="0" y="0"/>
                    </a:moveTo>
                    <a:lnTo>
                      <a:pt x="33338" y="0"/>
                    </a:lnTo>
                  </a:path>
                </a:pathLst>
              </a:custGeom>
              <a:noFill/>
              <a:ln w="16669">
                <a:solidFill>
                  <a:schemeClr val="accent2"/>
                </a:solidFill>
              </a:ln>
            </p:spPr>
          </p:sp>
          <p:sp>
            <p:nvSpPr>
              <p:cNvPr id="31" name="Freeform 31"/>
              <p:cNvSpPr/>
              <p:nvPr/>
            </p:nvSpPr>
            <p:spPr>
              <a:xfrm>
                <a:off x="866775" y="4338638"/>
                <a:ext cx="22225" cy="9525"/>
              </a:xfrm>
              <a:custGeom>
                <a:avLst/>
                <a:gdLst/>
                <a:ahLst/>
                <a:cxnLst/>
                <a:rect l="l" t="t" r="r" b="b"/>
                <a:pathLst>
                  <a:path w="22225" h="9525">
                    <a:moveTo>
                      <a:pt x="0" y="0"/>
                    </a:moveTo>
                    <a:lnTo>
                      <a:pt x="22225" y="0"/>
                    </a:lnTo>
                  </a:path>
                </a:pathLst>
              </a:custGeom>
              <a:noFill/>
              <a:ln w="16669">
                <a:solidFill>
                  <a:schemeClr val="accent2"/>
                </a:solidFill>
              </a:ln>
            </p:spPr>
          </p:sp>
        </p:grpSp>
        <p:sp>
          <p:nvSpPr>
            <p:cNvPr id="33" name="TextBox 33"/>
            <p:cNvSpPr txBox="1"/>
            <p:nvPr/>
          </p:nvSpPr>
          <p:spPr>
            <a:xfrm>
              <a:off x="1173480" y="4171950"/>
              <a:ext cx="1967789"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Every author signs a</a:t>
              </a:r>
              <a:br>
                <a:rPr lang="en" sz="1500" dirty="0">
                  <a:solidFill>
                    <a:schemeClr val="dk1"/>
                  </a:solidFill>
                  <a:latin typeface="+mn-lt"/>
                  <a:ea typeface="+mn-ea"/>
                  <a:cs typeface="+mn-cs"/>
                </a:rPr>
              </a:br>
              <a:r>
                <a:rPr lang="en" sz="1500" dirty="0">
                  <a:solidFill>
                    <a:schemeClr val="dk1"/>
                  </a:solidFill>
                  <a:latin typeface="+mn-lt"/>
                  <a:ea typeface="+mn-ea"/>
                  <a:cs typeface="+mn-cs"/>
                </a:rPr>
                <a:t>public-domain affidavit</a:t>
              </a:r>
            </a:p>
          </p:txBody>
        </p:sp>
        <p:sp>
          <p:nvSpPr>
            <p:cNvPr id="34" name="TextBox 34"/>
            <p:cNvSpPr txBox="1"/>
            <p:nvPr/>
          </p:nvSpPr>
          <p:spPr>
            <a:xfrm>
              <a:off x="795147" y="4883150"/>
              <a:ext cx="2063787"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Originals kept in a firesafe at Hwaci</a:t>
              </a:r>
            </a:p>
          </p:txBody>
        </p:sp>
      </p:grpSp>
      <p:grpSp>
        <p:nvGrpSpPr>
          <p:cNvPr id="37" name="pd-arrow-1"/>
          <p:cNvGrpSpPr/>
          <p:nvPr/>
        </p:nvGrpSpPr>
        <p:grpSpPr>
          <a:xfrm>
            <a:off x="3867150" y="4610100"/>
            <a:ext cx="400050" cy="1"/>
            <a:chOff x="3867150" y="4610100"/>
            <a:chExt cx="400050" cy="1"/>
          </a:xfrm>
        </p:grpSpPr>
        <p:sp>
          <p:nvSpPr>
            <p:cNvPr id="36" name="Line 36"/>
            <p:cNvSpPr/>
            <p:nvPr/>
          </p:nvSpPr>
          <p:spPr>
            <a:xfrm>
              <a:off x="3867150" y="4610100"/>
              <a:ext cx="400050" cy="1"/>
            </a:xfrm>
            <a:prstGeom prst="line">
              <a:avLst/>
            </a:prstGeom>
            <a:noFill/>
            <a:ln w="14288">
              <a:solidFill>
                <a:schemeClr val="accent1"/>
              </a:solidFill>
              <a:tailEnd type="triangle" w="lg" len="lg"/>
            </a:ln>
          </p:spPr>
        </p:sp>
      </p:grpSp>
      <p:grpSp>
        <p:nvGrpSpPr>
          <p:cNvPr id="43" name="pd-scratch"/>
          <p:cNvGrpSpPr/>
          <p:nvPr/>
        </p:nvGrpSpPr>
        <p:grpSpPr>
          <a:xfrm>
            <a:off x="4343400" y="4000500"/>
            <a:ext cx="3505200" cy="1219200"/>
            <a:chOff x="4343400" y="4000500"/>
            <a:chExt cx="3505200" cy="1219200"/>
          </a:xfrm>
        </p:grpSpPr>
        <p:sp>
          <p:nvSpPr>
            <p:cNvPr id="38" name="Rectangle 38"/>
            <p:cNvSpPr/>
            <p:nvPr/>
          </p:nvSpPr>
          <p:spPr>
            <a:xfrm>
              <a:off x="4343400" y="4000500"/>
              <a:ext cx="3505200" cy="1219200"/>
            </a:xfrm>
            <a:prstGeom prst="roundRect">
              <a:avLst>
                <a:gd name="adj" fmla="val 1562"/>
              </a:avLst>
            </a:prstGeom>
            <a:noFill/>
            <a:ln w="14288">
              <a:solidFill>
                <a:schemeClr val="accent1"/>
              </a:solidFill>
            </a:ln>
          </p:spPr>
        </p:sp>
        <p:grpSp>
          <p:nvGrpSpPr>
            <p:cNvPr id="41" name="Group 41"/>
            <p:cNvGrpSpPr/>
            <p:nvPr/>
          </p:nvGrpSpPr>
          <p:grpSpPr>
            <a:xfrm>
              <a:off x="4578350" y="4216394"/>
              <a:ext cx="177801" cy="177807"/>
              <a:chOff x="4578350" y="4216394"/>
              <a:chExt cx="177801" cy="177807"/>
            </a:xfrm>
          </p:grpSpPr>
          <p:sp>
            <p:nvSpPr>
              <p:cNvPr id="39" name="Freeform 39"/>
              <p:cNvSpPr/>
              <p:nvPr/>
            </p:nvSpPr>
            <p:spPr>
              <a:xfrm>
                <a:off x="4578350" y="4227513"/>
                <a:ext cx="166688" cy="166688"/>
              </a:xfrm>
              <a:custGeom>
                <a:avLst/>
                <a:gdLst/>
                <a:ahLst/>
                <a:cxnLst/>
                <a:rect l="l" t="t" r="r" b="b"/>
                <a:pathLst>
                  <a:path w="166688" h="166688">
                    <a:moveTo>
                      <a:pt x="0" y="166688"/>
                    </a:moveTo>
                    <a:lnTo>
                      <a:pt x="111125" y="55563"/>
                    </a:lnTo>
                    <a:moveTo>
                      <a:pt x="111125" y="0"/>
                    </a:moveTo>
                    <a:lnTo>
                      <a:pt x="111125" y="55563"/>
                    </a:lnTo>
                    <a:lnTo>
                      <a:pt x="166688" y="55563"/>
                    </a:lnTo>
                    <a:moveTo>
                      <a:pt x="66675" y="44450"/>
                    </a:moveTo>
                    <a:lnTo>
                      <a:pt x="66675" y="100013"/>
                    </a:lnTo>
                    <a:lnTo>
                      <a:pt x="122238" y="100013"/>
                    </a:lnTo>
                    <a:moveTo>
                      <a:pt x="22225" y="88900"/>
                    </a:moveTo>
                    <a:lnTo>
                      <a:pt x="22225" y="144463"/>
                    </a:lnTo>
                    <a:lnTo>
                      <a:pt x="77788" y="144463"/>
                    </a:lnTo>
                    <a:moveTo>
                      <a:pt x="22225" y="88900"/>
                    </a:moveTo>
                    <a:lnTo>
                      <a:pt x="66675" y="44450"/>
                    </a:lnTo>
                    <a:lnTo>
                      <a:pt x="111125" y="0"/>
                    </a:lnTo>
                  </a:path>
                </a:pathLst>
              </a:custGeom>
              <a:noFill/>
              <a:ln w="16669">
                <a:solidFill>
                  <a:schemeClr val="accent1"/>
                </a:solidFill>
              </a:ln>
            </p:spPr>
          </p:sp>
          <p:sp>
            <p:nvSpPr>
              <p:cNvPr id="40" name="Freeform 40"/>
              <p:cNvSpPr/>
              <p:nvPr/>
            </p:nvSpPr>
            <p:spPr>
              <a:xfrm>
                <a:off x="4656138" y="4216394"/>
                <a:ext cx="100013" cy="155581"/>
              </a:xfrm>
              <a:custGeom>
                <a:avLst/>
                <a:gdLst/>
                <a:ahLst/>
                <a:cxnLst/>
                <a:rect l="l" t="t" r="r" b="b"/>
                <a:pathLst>
                  <a:path w="100013" h="155581">
                    <a:moveTo>
                      <a:pt x="88900" y="66681"/>
                    </a:moveTo>
                    <a:cubicBezTo>
                      <a:pt x="95990" y="59614"/>
                      <a:pt x="100013" y="49846"/>
                      <a:pt x="100013" y="39055"/>
                    </a:cubicBezTo>
                    <a:cubicBezTo>
                      <a:pt x="100010" y="28694"/>
                      <a:pt x="95890" y="18758"/>
                      <a:pt x="88560" y="11435"/>
                    </a:cubicBezTo>
                    <a:cubicBezTo>
                      <a:pt x="81231" y="4111"/>
                      <a:pt x="71291" y="0"/>
                      <a:pt x="60930" y="6"/>
                    </a:cubicBezTo>
                    <a:cubicBezTo>
                      <a:pt x="50151" y="6"/>
                      <a:pt x="40405" y="4084"/>
                      <a:pt x="33338" y="11118"/>
                    </a:cubicBezTo>
                    <a:moveTo>
                      <a:pt x="0" y="155581"/>
                    </a:moveTo>
                    <a:lnTo>
                      <a:pt x="44450" y="111131"/>
                    </a:lnTo>
                    <a:lnTo>
                      <a:pt x="88900" y="66681"/>
                    </a:lnTo>
                  </a:path>
                </a:pathLst>
              </a:custGeom>
              <a:noFill/>
              <a:ln w="16669">
                <a:solidFill>
                  <a:schemeClr val="accent1"/>
                </a:solidFill>
              </a:ln>
            </p:spPr>
          </p:sp>
        </p:grpSp>
        <p:sp>
          <p:nvSpPr>
            <p:cNvPr id="42" name="TextBox 42"/>
            <p:cNvSpPr txBox="1"/>
            <p:nvPr/>
          </p:nvSpPr>
          <p:spPr>
            <a:xfrm>
              <a:off x="4907280" y="4171950"/>
              <a:ext cx="1905324" cy="78867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Every line written from</a:t>
              </a:r>
              <a:br>
                <a:rPr lang="en" sz="1500" dirty="0">
                  <a:solidFill>
                    <a:schemeClr val="dk1"/>
                  </a:solidFill>
                  <a:latin typeface="+mn-lt"/>
                  <a:ea typeface="+mn-ea"/>
                  <a:cs typeface="+mn-cs"/>
                </a:rPr>
              </a:br>
              <a:r>
                <a:rPr lang="en" sz="1500" dirty="0">
                  <a:solidFill>
                    <a:schemeClr val="dk1"/>
                  </a:solidFill>
                  <a:latin typeface="+mn-lt"/>
                  <a:ea typeface="+mn-ea"/>
                  <a:cs typeface="+mn-cs"/>
                </a:rPr>
                <a:t>scratch, traceable to</a:t>
              </a:r>
              <a:br>
                <a:rPr lang="en" sz="1500" dirty="0">
                  <a:solidFill>
                    <a:schemeClr val="dk1"/>
                  </a:solidFill>
                  <a:latin typeface="+mn-lt"/>
                  <a:ea typeface="+mn-ea"/>
                  <a:cs typeface="+mn-cs"/>
                </a:rPr>
              </a:br>
              <a:r>
                <a:rPr lang="en" sz="1500" dirty="0">
                  <a:solidFill>
                    <a:schemeClr val="dk1"/>
                  </a:solidFill>
                  <a:latin typeface="+mn-lt"/>
                  <a:ea typeface="+mn-ea"/>
                  <a:cs typeface="+mn-cs"/>
                </a:rPr>
                <a:t>its original author</a:t>
              </a:r>
            </a:p>
          </p:txBody>
        </p:sp>
      </p:grpSp>
      <p:grpSp>
        <p:nvGrpSpPr>
          <p:cNvPr id="45" name="pd-arrow-2"/>
          <p:cNvGrpSpPr/>
          <p:nvPr/>
        </p:nvGrpSpPr>
        <p:grpSpPr>
          <a:xfrm>
            <a:off x="7905750" y="4610100"/>
            <a:ext cx="400050" cy="1"/>
            <a:chOff x="7905750" y="4610100"/>
            <a:chExt cx="400050" cy="1"/>
          </a:xfrm>
        </p:grpSpPr>
        <p:sp>
          <p:nvSpPr>
            <p:cNvPr id="44" name="Line 44"/>
            <p:cNvSpPr/>
            <p:nvPr/>
          </p:nvSpPr>
          <p:spPr>
            <a:xfrm>
              <a:off x="7905750" y="4610100"/>
              <a:ext cx="400050" cy="1"/>
            </a:xfrm>
            <a:prstGeom prst="line">
              <a:avLst/>
            </a:prstGeom>
            <a:noFill/>
            <a:ln w="14288">
              <a:solidFill>
                <a:schemeClr val="accent1"/>
              </a:solidFill>
              <a:tailEnd type="triangle" w="lg" len="lg"/>
            </a:ln>
          </p:spPr>
        </p:sp>
      </p:grpSp>
      <p:grpSp>
        <p:nvGrpSpPr>
          <p:cNvPr id="52" name="pd-contribution"/>
          <p:cNvGrpSpPr/>
          <p:nvPr/>
        </p:nvGrpSpPr>
        <p:grpSpPr>
          <a:xfrm>
            <a:off x="8382000" y="4000500"/>
            <a:ext cx="3200400" cy="1219200"/>
            <a:chOff x="8382000" y="4000500"/>
            <a:chExt cx="3200400" cy="1219200"/>
          </a:xfrm>
        </p:grpSpPr>
        <p:sp>
          <p:nvSpPr>
            <p:cNvPr id="46" name="Rectangle 46"/>
            <p:cNvSpPr/>
            <p:nvPr/>
          </p:nvSpPr>
          <p:spPr>
            <a:xfrm>
              <a:off x="8382000" y="4000500"/>
              <a:ext cx="3200400" cy="1219200"/>
            </a:xfrm>
            <a:prstGeom prst="roundRect">
              <a:avLst>
                <a:gd name="adj" fmla="val 1562"/>
              </a:avLst>
            </a:prstGeom>
            <a:noFill/>
            <a:ln w="14288">
              <a:solidFill>
                <a:schemeClr val="accent1"/>
              </a:solidFill>
            </a:ln>
          </p:spPr>
        </p:sp>
        <p:grpSp>
          <p:nvGrpSpPr>
            <p:cNvPr id="50" name="Group 50"/>
            <p:cNvGrpSpPr/>
            <p:nvPr/>
          </p:nvGrpSpPr>
          <p:grpSpPr>
            <a:xfrm>
              <a:off x="8628063" y="4205288"/>
              <a:ext cx="155575" cy="200025"/>
              <a:chOff x="8628063" y="4205288"/>
              <a:chExt cx="155575" cy="200025"/>
            </a:xfrm>
          </p:grpSpPr>
          <p:sp>
            <p:nvSpPr>
              <p:cNvPr id="47" name="Freeform 47"/>
              <p:cNvSpPr/>
              <p:nvPr/>
            </p:nvSpPr>
            <p:spPr>
              <a:xfrm>
                <a:off x="8628063" y="4294188"/>
                <a:ext cx="155575" cy="111125"/>
              </a:xfrm>
              <a:custGeom>
                <a:avLst/>
                <a:gdLst/>
                <a:ahLst/>
                <a:cxnLst/>
                <a:rect l="l" t="t" r="r" b="b"/>
                <a:pathLst>
                  <a:path w="155575" h="111125">
                    <a:moveTo>
                      <a:pt x="0" y="22225"/>
                    </a:moveTo>
                    <a:cubicBezTo>
                      <a:pt x="0" y="9950"/>
                      <a:pt x="9950" y="0"/>
                      <a:pt x="22225" y="0"/>
                    </a:cubicBezTo>
                    <a:lnTo>
                      <a:pt x="133350" y="0"/>
                    </a:lnTo>
                    <a:cubicBezTo>
                      <a:pt x="145625" y="0"/>
                      <a:pt x="155575" y="9950"/>
                      <a:pt x="155575" y="22225"/>
                    </a:cubicBezTo>
                    <a:lnTo>
                      <a:pt x="155575" y="88900"/>
                    </a:lnTo>
                    <a:cubicBezTo>
                      <a:pt x="155575" y="101175"/>
                      <a:pt x="145625" y="111125"/>
                      <a:pt x="133350" y="111125"/>
                    </a:cubicBezTo>
                    <a:lnTo>
                      <a:pt x="22225" y="111125"/>
                    </a:lnTo>
                    <a:cubicBezTo>
                      <a:pt x="9950" y="111125"/>
                      <a:pt x="0" y="101175"/>
                      <a:pt x="0" y="88900"/>
                    </a:cubicBezTo>
                    <a:lnTo>
                      <a:pt x="0" y="22225"/>
                    </a:lnTo>
                  </a:path>
                </a:pathLst>
              </a:custGeom>
              <a:noFill/>
              <a:ln w="16669">
                <a:solidFill>
                  <a:schemeClr val="accent1"/>
                </a:solidFill>
              </a:ln>
            </p:spPr>
          </p:sp>
          <p:sp>
            <p:nvSpPr>
              <p:cNvPr id="48" name="Freeform 48"/>
              <p:cNvSpPr/>
              <p:nvPr/>
            </p:nvSpPr>
            <p:spPr>
              <a:xfrm>
                <a:off x="8694738" y="4338638"/>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16669">
                <a:solidFill>
                  <a:schemeClr val="accent1"/>
                </a:solidFill>
              </a:ln>
            </p:spPr>
          </p:sp>
          <p:sp>
            <p:nvSpPr>
              <p:cNvPr id="49" name="Freeform 49"/>
              <p:cNvSpPr/>
              <p:nvPr/>
            </p:nvSpPr>
            <p:spPr>
              <a:xfrm>
                <a:off x="8661400" y="4205288"/>
                <a:ext cx="88900" cy="88900"/>
              </a:xfrm>
              <a:custGeom>
                <a:avLst/>
                <a:gdLst/>
                <a:ahLst/>
                <a:cxnLst/>
                <a:rect l="l" t="t" r="r" b="b"/>
                <a:pathLst>
                  <a:path w="88900" h="88900">
                    <a:moveTo>
                      <a:pt x="0" y="88900"/>
                    </a:moveTo>
                    <a:lnTo>
                      <a:pt x="0" y="44450"/>
                    </a:lnTo>
                    <a:cubicBezTo>
                      <a:pt x="0" y="19901"/>
                      <a:pt x="19901" y="0"/>
                      <a:pt x="44450" y="0"/>
                    </a:cubicBezTo>
                    <a:cubicBezTo>
                      <a:pt x="68999" y="0"/>
                      <a:pt x="88900" y="19901"/>
                      <a:pt x="88900" y="44450"/>
                    </a:cubicBezTo>
                    <a:lnTo>
                      <a:pt x="88900" y="88900"/>
                    </a:lnTo>
                  </a:path>
                </a:pathLst>
              </a:custGeom>
              <a:noFill/>
              <a:ln w="16669">
                <a:solidFill>
                  <a:schemeClr val="accent1"/>
                </a:solidFill>
              </a:ln>
            </p:spPr>
          </p:sp>
        </p:grpSp>
        <p:sp>
          <p:nvSpPr>
            <p:cNvPr id="51" name="TextBox 51"/>
            <p:cNvSpPr txBox="1"/>
            <p:nvPr/>
          </p:nvSpPr>
          <p:spPr>
            <a:xfrm>
              <a:off x="8945880" y="4171950"/>
              <a:ext cx="2159318" cy="78867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 xml:space="preserve">Open-source, but </a:t>
              </a:r>
              <a:r>
                <a:rPr lang="en" sz="1500" b="1" dirty="0">
                  <a:solidFill>
                    <a:schemeClr val="accent2"/>
                  </a:solidFill>
                  <a:latin typeface="+mn-lt"/>
                  <a:ea typeface="+mn-ea"/>
                  <a:cs typeface="+mn-cs"/>
                </a:rPr>
                <a:t>not</a:t>
              </a:r>
              <a:br>
                <a:rPr lang="en" sz="1500" b="1" dirty="0">
                  <a:solidFill>
                    <a:schemeClr val="accent2"/>
                  </a:solidFill>
                  <a:latin typeface="+mn-lt"/>
                  <a:ea typeface="+mn-ea"/>
                  <a:cs typeface="+mn-cs"/>
                </a:rPr>
              </a:br>
              <a:r>
                <a:rPr lang="en" sz="1500" b="1" dirty="0">
                  <a:solidFill>
                    <a:schemeClr val="accent2"/>
                  </a:solidFill>
                  <a:latin typeface="+mn-lt"/>
                  <a:ea typeface="+mn-ea"/>
                  <a:cs typeface="+mn-cs"/>
                </a:rPr>
                <a:t>open-contribution</a:t>
              </a:r>
              <a:r>
                <a:rPr lang="en" sz="1500" dirty="0">
                  <a:solidFill>
                    <a:schemeClr val="dk1"/>
                  </a:solidFill>
                  <a:latin typeface="+mn-lt"/>
                  <a:ea typeface="+mn-ea"/>
                  <a:cs typeface="+mn-cs"/>
                </a:rPr>
                <a:t>: no</a:t>
              </a:r>
              <a:br>
                <a:rPr lang="en" sz="1500" dirty="0">
                  <a:solidFill>
                    <a:schemeClr val="dk1"/>
                  </a:solidFill>
                  <a:latin typeface="+mn-lt"/>
                  <a:ea typeface="+mn-ea"/>
                  <a:cs typeface="+mn-cs"/>
                </a:rPr>
              </a:br>
              <a:r>
                <a:rPr lang="en" sz="1500" dirty="0">
                  <a:solidFill>
                    <a:schemeClr val="dk1"/>
                  </a:solidFill>
                  <a:latin typeface="+mn-lt"/>
                  <a:ea typeface="+mn-ea"/>
                  <a:cs typeface="+mn-cs"/>
                </a:rPr>
                <a:t>patch without an affidavit</a:t>
              </a:r>
            </a:p>
          </p:txBody>
        </p:sp>
      </p:grpSp>
      <p:grpSp>
        <p:nvGrpSpPr>
          <p:cNvPr id="54" name="pd-warranty"/>
          <p:cNvGrpSpPr/>
          <p:nvPr/>
        </p:nvGrpSpPr>
        <p:grpSpPr>
          <a:xfrm>
            <a:off x="603504" y="5588000"/>
            <a:ext cx="4772147" cy="444246"/>
            <a:chOff x="603504" y="5588000"/>
            <a:chExt cx="4772147" cy="444246"/>
          </a:xfrm>
        </p:grpSpPr>
        <p:sp>
          <p:nvSpPr>
            <p:cNvPr id="53" name="TextBox 53"/>
            <p:cNvSpPr txBox="1"/>
            <p:nvPr/>
          </p:nvSpPr>
          <p:spPr>
            <a:xfrm>
              <a:off x="603504" y="5588000"/>
              <a:ext cx="4772147"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Where public domain is not recognized, Hwaci sells a Warranty of Title;</a:t>
              </a:r>
              <a:br>
                <a:rPr lang="en" sz="1200" dirty="0">
                  <a:solidFill>
                    <a:schemeClr val="accent5"/>
                  </a:solidFill>
                  <a:latin typeface="+mn-lt"/>
                  <a:ea typeface="+mn-ea"/>
                  <a:cs typeface="+mn-cs"/>
                </a:rPr>
              </a:br>
              <a:r>
                <a:rPr lang="en" sz="1200" dirty="0">
                  <a:solidFill>
                    <a:schemeClr val="accent5"/>
                  </a:solidFill>
                  <a:latin typeface="+mn-lt"/>
                  <a:ea typeface="+mn-ea"/>
                  <a:cs typeface="+mn-cs"/>
                </a:rPr>
                <a:t>proceeds fund continuing improvement and support of SQLite.</a:t>
              </a:r>
            </a:p>
          </p:txBody>
        </p:sp>
      </p:grpSp>
      <p:grpSp>
        <p:nvGrpSpPr>
          <p:cNvPr id="59" name="title-block"/>
          <p:cNvGrpSpPr/>
          <p:nvPr/>
        </p:nvGrpSpPr>
        <p:grpSpPr>
          <a:xfrm>
            <a:off x="8382000" y="6229350"/>
            <a:ext cx="3200400" cy="285750"/>
            <a:chOff x="8382000" y="6229350"/>
            <a:chExt cx="3200400" cy="285750"/>
          </a:xfrm>
        </p:grpSpPr>
        <p:sp>
          <p:nvSpPr>
            <p:cNvPr id="55" name="Rectangle 55"/>
            <p:cNvSpPr/>
            <p:nvPr/>
          </p:nvSpPr>
          <p:spPr>
            <a:xfrm>
              <a:off x="8382000" y="6229350"/>
              <a:ext cx="3200400" cy="285750"/>
            </a:xfrm>
            <a:prstGeom prst="rect">
              <a:avLst/>
            </a:prstGeom>
            <a:solidFill>
              <a:schemeClr val="lt2"/>
            </a:solidFill>
            <a:ln w="9525">
              <a:solidFill>
                <a:schemeClr val="accent6"/>
              </a:solidFill>
            </a:ln>
          </p:spPr>
        </p:sp>
        <p:sp>
          <p:nvSpPr>
            <p:cNvPr id="56" name="Line 56"/>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57" name="TextBox 57"/>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10/12</a:t>
              </a:r>
            </a:p>
          </p:txBody>
        </p:sp>
        <p:sp>
          <p:nvSpPr>
            <p:cNvPr id="58" name="TextBox 58"/>
            <p:cNvSpPr txBox="1"/>
            <p:nvPr/>
          </p:nvSpPr>
          <p:spPr>
            <a:xfrm>
              <a:off x="9367647" y="6292850"/>
              <a:ext cx="1622954"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sqlite.org/copyright</a:t>
              </a:r>
            </a:p>
          </p:txBody>
        </p:sp>
      </p:grpSp>
    </p:spTree>
  </p:cSld>
  <p:clrMapOvr>
    <a:masterClrMapping/>
  </p:clrMapOvr>
  <p:transition xmlns:p14="http://schemas.microsoft.com/office/powerpoint/2010/mai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800"/>
                                        <p:tgtEl>
                                          <p:spTgt spid="24"/>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400"/>
                                        <p:tgtEl>
                                          <p:spTgt spid="35"/>
                                        </p:tgtEl>
                                      </p:cBhvr>
                                    </p:animEffect>
                                  </p:childTnLst>
                                </p:cTn>
                              </p:par>
                            </p:childTnLst>
                          </p:cTn>
                        </p:par>
                        <p:par>
                          <p:cTn id="12" fill="hold">
                            <p:stCondLst>
                              <p:cond delay="17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37"/>
                                        </p:tgtEl>
                                        <p:attrNameLst>
                                          <p:attrName>style.visibility</p:attrName>
                                        </p:attrNameLst>
                                      </p:cBhvr>
                                      <p:to>
                                        <p:strVal val="visible"/>
                                      </p:to>
                                    </p:set>
                                    <p:animEffect transition="in" filter="wipe(right)">
                                      <p:cBhvr>
                                        <p:cTn id="15" dur="300"/>
                                        <p:tgtEl>
                                          <p:spTgt spid="37"/>
                                        </p:tgtEl>
                                      </p:cBhvr>
                                    </p:animEffect>
                                  </p:childTnLst>
                                </p:cTn>
                              </p:par>
                            </p:childTnLst>
                          </p:cTn>
                        </p:par>
                        <p:par>
                          <p:cTn id="16" fill="hold">
                            <p:stCondLst>
                              <p:cond delay="25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400"/>
                                        <p:tgtEl>
                                          <p:spTgt spid="43"/>
                                        </p:tgtEl>
                                      </p:cBhvr>
                                    </p:animEffect>
                                  </p:childTnLst>
                                </p:cTn>
                              </p:par>
                            </p:childTnLst>
                          </p:cTn>
                        </p:par>
                        <p:par>
                          <p:cTn id="20" fill="hold">
                            <p:stCondLst>
                              <p:cond delay="3400"/>
                            </p:stCondLst>
                            <p:childTnLst>
                              <p:par>
                                <p:cTn xmlns:p="http://schemas.openxmlformats.org/presentationml/2006/main" id="21" presetID="22" presetClass="entr" presetSubtype="2" fill="hold" grpId="0" nodeType="afterEffect">
                                  <p:stCondLst>
                                    <p:cond delay="500"/>
                                  </p:stCondLst>
                                  <p:childTnLst>
                                    <p:set>
                                      <p:cBhvr>
                                        <p:cTn id="22" dur="1" fill="hold">
                                          <p:stCondLst>
                                            <p:cond delay="0"/>
                                          </p:stCondLst>
                                        </p:cTn>
                                        <p:tgtEl>
                                          <p:spTgt spid="45"/>
                                        </p:tgtEl>
                                        <p:attrNameLst>
                                          <p:attrName>style.visibility</p:attrName>
                                        </p:attrNameLst>
                                      </p:cBhvr>
                                      <p:to>
                                        <p:strVal val="visible"/>
                                      </p:to>
                                    </p:set>
                                    <p:animEffect transition="in" filter="wipe(right)">
                                      <p:cBhvr>
                                        <p:cTn id="23" dur="300"/>
                                        <p:tgtEl>
                                          <p:spTgt spid="45"/>
                                        </p:tgtEl>
                                      </p:cBhvr>
                                    </p:animEffect>
                                  </p:childTnLst>
                                </p:cTn>
                              </p:par>
                            </p:childTnLst>
                          </p:cTn>
                        </p:par>
                        <p:par>
                          <p:cTn id="24" fill="hold">
                            <p:stCondLst>
                              <p:cond delay="4200"/>
                            </p:stCondLst>
                            <p:childTnLst>
                              <p:par>
                                <p:cTn xmlns:p="http://schemas.openxmlformats.org/presentationml/2006/main" id="25" presetID="10" presetClass="entr" presetSubtype="0" fill="hold" grpId="0" nodeType="afterEffect">
                                  <p:stCondLst>
                                    <p:cond delay="50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400"/>
                                        <p:tgtEl>
                                          <p:spTgt spid="52"/>
                                        </p:tgtEl>
                                      </p:cBhvr>
                                    </p:animEffect>
                                  </p:childTnLst>
                                </p:cTn>
                              </p:par>
                            </p:childTnLst>
                          </p:cTn>
                        </p:par>
                        <p:par>
                          <p:cTn id="28" fill="hold">
                            <p:stCondLst>
                              <p:cond delay="5100"/>
                            </p:stCondLst>
                            <p:childTnLst>
                              <p:par>
                                <p:cTn xmlns:p="http://schemas.openxmlformats.org/presentationml/2006/main" id="29" presetID="10" presetClass="entr" presetSubtype="0" fill="hold" grpId="0" nodeType="afterEffect">
                                  <p:stCondLst>
                                    <p:cond delay="50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 name="sheet-grid"/>
          <p:cNvGrpSpPr/>
          <p:nvPr/>
        </p:nvGrpSpPr>
        <p:grpSpPr>
          <a:xfrm>
            <a:off x="190500" y="190500"/>
            <a:ext cx="11811000" cy="6477000"/>
            <a:chOff x="190500" y="190500"/>
            <a:chExt cx="11811000" cy="6477000"/>
          </a:xfrm>
        </p:grpSpPr>
        <p:sp>
          <p:nvSpPr>
            <p:cNvPr id="2" name="Line 2"/>
            <p:cNvSpPr/>
            <p:nvPr/>
          </p:nvSpPr>
          <p:spPr>
            <a:xfrm>
              <a:off x="1219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3" name="Line 3"/>
            <p:cNvSpPr/>
            <p:nvPr/>
          </p:nvSpPr>
          <p:spPr>
            <a:xfrm>
              <a:off x="2438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4" name="Line 4"/>
            <p:cNvSpPr/>
            <p:nvPr/>
          </p:nvSpPr>
          <p:spPr>
            <a:xfrm>
              <a:off x="3657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5" name="Line 5"/>
            <p:cNvSpPr/>
            <p:nvPr/>
          </p:nvSpPr>
          <p:spPr>
            <a:xfrm>
              <a:off x="4876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6" name="Line 6"/>
            <p:cNvSpPr/>
            <p:nvPr/>
          </p:nvSpPr>
          <p:spPr>
            <a:xfrm>
              <a:off x="60960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7" name="Line 7"/>
            <p:cNvSpPr/>
            <p:nvPr/>
          </p:nvSpPr>
          <p:spPr>
            <a:xfrm>
              <a:off x="73152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8" name="Line 8"/>
            <p:cNvSpPr/>
            <p:nvPr/>
          </p:nvSpPr>
          <p:spPr>
            <a:xfrm>
              <a:off x="85344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9" name="Line 9"/>
            <p:cNvSpPr/>
            <p:nvPr/>
          </p:nvSpPr>
          <p:spPr>
            <a:xfrm>
              <a:off x="97536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0" name="Line 10"/>
            <p:cNvSpPr/>
            <p:nvPr/>
          </p:nvSpPr>
          <p:spPr>
            <a:xfrm>
              <a:off x="10972800" y="190500"/>
              <a:ext cx="9525" cy="6477000"/>
            </a:xfrm>
            <a:custGeom>
              <a:avLst/>
              <a:gdLst/>
              <a:ahLst/>
              <a:cxnLst/>
              <a:rect l="l" t="t" r="r" b="b"/>
              <a:pathLst>
                <a:path w="9525" h="6477000">
                  <a:moveTo>
                    <a:pt x="0" y="0"/>
                  </a:moveTo>
                  <a:lnTo>
                    <a:pt x="0" y="6477000"/>
                  </a:lnTo>
                </a:path>
              </a:pathLst>
            </a:custGeom>
            <a:noFill/>
            <a:ln w="9525">
              <a:solidFill>
                <a:srgbClr val="16305A"/>
              </a:solidFill>
            </a:ln>
          </p:spPr>
        </p:sp>
        <p:sp>
          <p:nvSpPr>
            <p:cNvPr id="11" name="Line 11"/>
            <p:cNvSpPr/>
            <p:nvPr/>
          </p:nvSpPr>
          <p:spPr>
            <a:xfrm>
              <a:off x="190500" y="12192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2" name="Line 12"/>
            <p:cNvSpPr/>
            <p:nvPr/>
          </p:nvSpPr>
          <p:spPr>
            <a:xfrm>
              <a:off x="190500" y="24384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3" name="Line 13"/>
            <p:cNvSpPr/>
            <p:nvPr/>
          </p:nvSpPr>
          <p:spPr>
            <a:xfrm>
              <a:off x="190500" y="36576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4" name="Line 14"/>
            <p:cNvSpPr/>
            <p:nvPr/>
          </p:nvSpPr>
          <p:spPr>
            <a:xfrm>
              <a:off x="190500" y="48768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5" name="Line 15"/>
            <p:cNvSpPr/>
            <p:nvPr/>
          </p:nvSpPr>
          <p:spPr>
            <a:xfrm>
              <a:off x="190500" y="6096000"/>
              <a:ext cx="11811000" cy="9525"/>
            </a:xfrm>
            <a:custGeom>
              <a:avLst/>
              <a:gdLst/>
              <a:ahLst/>
              <a:cxnLst/>
              <a:rect l="l" t="t" r="r" b="b"/>
              <a:pathLst>
                <a:path w="11811000" h="9525">
                  <a:moveTo>
                    <a:pt x="0" y="0"/>
                  </a:moveTo>
                  <a:lnTo>
                    <a:pt x="11811000" y="0"/>
                  </a:lnTo>
                </a:path>
              </a:pathLst>
            </a:custGeom>
            <a:noFill/>
            <a:ln w="9525">
              <a:solidFill>
                <a:srgbClr val="16305A"/>
              </a:solidFill>
            </a:ln>
          </p:spPr>
        </p:sp>
        <p:sp>
          <p:nvSpPr>
            <p:cNvPr id="16" name="Rectangle 16"/>
            <p:cNvSpPr/>
            <p:nvPr/>
          </p:nvSpPr>
          <p:spPr>
            <a:xfrm>
              <a:off x="190500" y="190500"/>
              <a:ext cx="11811000" cy="6477000"/>
            </a:xfrm>
            <a:prstGeom prst="rect">
              <a:avLst/>
            </a:prstGeom>
            <a:noFill/>
            <a:ln w="9525">
              <a:solidFill>
                <a:schemeClr val="accent6"/>
              </a:solidFill>
            </a:ln>
          </p:spPr>
        </p:sp>
      </p:grpSp>
      <p:grpSp>
        <p:nvGrpSpPr>
          <p:cNvPr id="20" name="header"/>
          <p:cNvGrpSpPr/>
          <p:nvPr/>
        </p:nvGrpSpPr>
        <p:grpSpPr>
          <a:xfrm>
            <a:off x="594360" y="603250"/>
            <a:ext cx="7797130" cy="815340"/>
            <a:chOff x="594360" y="603250"/>
            <a:chExt cx="7797130" cy="815340"/>
          </a:xfrm>
        </p:grpSpPr>
        <p:sp>
          <p:nvSpPr>
            <p:cNvPr id="18" name="TextBox 18"/>
            <p:cNvSpPr txBox="1"/>
            <p:nvPr/>
          </p:nvSpPr>
          <p:spPr>
            <a:xfrm>
              <a:off x="603885" y="603250"/>
              <a:ext cx="4152032" cy="220028"/>
            </a:xfrm>
            <a:prstGeom prst="rect">
              <a:avLst/>
            </a:prstGeom>
            <a:noFill/>
            <a:ln>
              <a:noFill/>
            </a:ln>
          </p:spPr>
          <p:txBody>
            <a:bodyPr wrap="none" lIns="0" tIns="0" rIns="0" bIns="0" anchor="t" anchorCtr="0">
              <a:spAutoFit/>
            </a:bodyPr>
            <a:lstStyle/>
            <a:p>
              <a:pPr algn="l"/>
              <a:r>
                <a:rPr lang="en" sz="1120" spc="150" dirty="0">
                  <a:solidFill>
                    <a:schemeClr val="accent1"/>
                  </a:solidFill>
                  <a:latin typeface="+mn-lt"/>
                  <a:ea typeface="+mn-ea"/>
                  <a:cs typeface="+mn-cs"/>
                </a:rPr>
                <a:t>10 · CHOOSING IT — THE OFFICIAL CHECKLIST</a:t>
              </a:r>
            </a:p>
          </p:txBody>
        </p:sp>
        <p:sp>
          <p:nvSpPr>
            <p:cNvPr id="19" name="TextBox 19"/>
            <p:cNvSpPr txBox="1"/>
            <p:nvPr/>
          </p:nvSpPr>
          <p:spPr>
            <a:xfrm>
              <a:off x="594360" y="831850"/>
              <a:ext cx="7797130" cy="586740"/>
            </a:xfrm>
            <a:prstGeom prst="rect">
              <a:avLst/>
            </a:prstGeom>
            <a:noFill/>
            <a:ln>
              <a:noFill/>
            </a:ln>
          </p:spPr>
          <p:txBody>
            <a:bodyPr wrap="none" lIns="0" tIns="0" rIns="0" bIns="0" anchor="t" anchorCtr="0">
              <a:spAutoFit/>
            </a:bodyPr>
            <a:lstStyle/>
            <a:p>
              <a:pPr algn="l"/>
              <a:r>
                <a:rPr lang="en" sz="3000" dirty="0">
                  <a:solidFill>
                    <a:schemeClr val="dk1"/>
                  </a:solidFill>
                  <a:latin typeface="+mj-lt"/>
                  <a:ea typeface="+mj-ea"/>
                  <a:cs typeface="+mj-cs"/>
                </a:rPr>
                <a:t>Three questions before you pick SQLite</a:t>
              </a:r>
            </a:p>
          </p:txBody>
        </p:sp>
      </p:grpSp>
      <p:grpSp>
        <p:nvGrpSpPr>
          <p:cNvPr id="35" name="gate-network"/>
          <p:cNvGrpSpPr/>
          <p:nvPr/>
        </p:nvGrpSpPr>
        <p:grpSpPr>
          <a:xfrm>
            <a:off x="609600" y="1714500"/>
            <a:ext cx="6324600" cy="952500"/>
            <a:chOff x="609600" y="1714500"/>
            <a:chExt cx="6324600" cy="952500"/>
          </a:xfrm>
        </p:grpSpPr>
        <p:sp>
          <p:nvSpPr>
            <p:cNvPr id="21" name="Freeform 21"/>
            <p:cNvSpPr/>
            <p:nvPr/>
          </p:nvSpPr>
          <p:spPr>
            <a:xfrm>
              <a:off x="609600" y="1714500"/>
              <a:ext cx="533400" cy="533400"/>
            </a:xfrm>
            <a:prstGeom prst="flowChartDecision">
              <a:avLst/>
            </a:prstGeom>
            <a:solidFill>
              <a:schemeClr val="lt2"/>
            </a:solidFill>
            <a:ln w="14288">
              <a:solidFill>
                <a:schemeClr val="accent1"/>
              </a:solidFill>
            </a:ln>
          </p:spPr>
        </p:sp>
        <p:sp>
          <p:nvSpPr>
            <p:cNvPr id="22" name="TextBox 22"/>
            <p:cNvSpPr txBox="1"/>
            <p:nvPr/>
          </p:nvSpPr>
          <p:spPr>
            <a:xfrm>
              <a:off x="822437" y="1885950"/>
              <a:ext cx="107726" cy="250317"/>
            </a:xfrm>
            <a:prstGeom prst="rect">
              <a:avLst/>
            </a:prstGeom>
            <a:noFill/>
            <a:ln>
              <a:noFill/>
            </a:ln>
          </p:spPr>
          <p:txBody>
            <a:bodyPr wrap="none" lIns="0" tIns="0" rIns="0" bIns="0" anchor="t" anchorCtr="0">
              <a:spAutoFit/>
            </a:bodyPr>
            <a:lstStyle/>
            <a:p>
              <a:pPr algn="ctr"/>
              <a:r>
                <a:rPr lang="en" sz="1280" dirty="0">
                  <a:solidFill>
                    <a:schemeClr val="accent1"/>
                  </a:solidFill>
                  <a:latin typeface="Consolas"/>
                  <a:ea typeface="Consolas"/>
                  <a:cs typeface="Consolas"/>
                </a:rPr>
                <a:t>1</a:t>
              </a:r>
            </a:p>
          </p:txBody>
        </p:sp>
        <p:sp>
          <p:nvSpPr>
            <p:cNvPr id="23" name="TextBox 23"/>
            <p:cNvSpPr txBox="1"/>
            <p:nvPr/>
          </p:nvSpPr>
          <p:spPr>
            <a:xfrm>
              <a:off x="1287780" y="1733550"/>
              <a:ext cx="2552719"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Is the data separated from the</a:t>
              </a:r>
              <a:br>
                <a:rPr lang="en" sz="1500" dirty="0">
                  <a:solidFill>
                    <a:schemeClr val="dk1"/>
                  </a:solidFill>
                  <a:latin typeface="+mn-lt"/>
                  <a:ea typeface="+mn-ea"/>
                  <a:cs typeface="+mn-cs"/>
                </a:rPr>
              </a:br>
              <a:r>
                <a:rPr lang="en" sz="1500" dirty="0">
                  <a:solidFill>
                    <a:schemeClr val="dk1"/>
                  </a:solidFill>
                  <a:latin typeface="+mn-lt"/>
                  <a:ea typeface="+mn-ea"/>
                  <a:cs typeface="+mn-cs"/>
                </a:rPr>
                <a:t>application by a network?</a:t>
              </a:r>
            </a:p>
          </p:txBody>
        </p:sp>
        <p:sp>
          <p:nvSpPr>
            <p:cNvPr id="24" name="Line 24"/>
            <p:cNvSpPr/>
            <p:nvPr/>
          </p:nvSpPr>
          <p:spPr>
            <a:xfrm>
              <a:off x="4191000" y="1981200"/>
              <a:ext cx="1104900" cy="1"/>
            </a:xfrm>
            <a:prstGeom prst="line">
              <a:avLst/>
            </a:prstGeom>
            <a:noFill/>
            <a:ln w="14288">
              <a:solidFill>
                <a:srgbClr val="FF7A6B"/>
              </a:solidFill>
              <a:tailEnd type="triangle" w="lg" len="lg"/>
            </a:ln>
          </p:spPr>
        </p:sp>
        <p:sp>
          <p:nvSpPr>
            <p:cNvPr id="25" name="TextBox 25"/>
            <p:cNvSpPr txBox="1"/>
            <p:nvPr/>
          </p:nvSpPr>
          <p:spPr>
            <a:xfrm>
              <a:off x="4795647" y="1758950"/>
              <a:ext cx="198721" cy="191643"/>
            </a:xfrm>
            <a:prstGeom prst="rect">
              <a:avLst/>
            </a:prstGeom>
            <a:noFill/>
            <a:ln>
              <a:noFill/>
            </a:ln>
          </p:spPr>
          <p:txBody>
            <a:bodyPr wrap="none" lIns="0" tIns="0" rIns="0" bIns="0" anchor="t" anchorCtr="0">
              <a:spAutoFit/>
            </a:bodyPr>
            <a:lstStyle/>
            <a:p>
              <a:pPr algn="l"/>
              <a:r>
                <a:rPr lang="en" sz="980" dirty="0">
                  <a:solidFill>
                    <a:srgbClr val="FF7A6B"/>
                  </a:solidFill>
                  <a:latin typeface="+mn-lt"/>
                  <a:ea typeface="+mn-ea"/>
                  <a:cs typeface="+mn-cs"/>
                </a:rPr>
                <a:t>yes</a:t>
              </a:r>
            </a:p>
          </p:txBody>
        </p:sp>
        <p:sp>
          <p:nvSpPr>
            <p:cNvPr id="26" name="Rectangle 26"/>
            <p:cNvSpPr/>
            <p:nvPr/>
          </p:nvSpPr>
          <p:spPr>
            <a:xfrm>
              <a:off x="5372100" y="1809750"/>
              <a:ext cx="1562100" cy="342900"/>
            </a:xfrm>
            <a:prstGeom prst="roundRect">
              <a:avLst>
                <a:gd name="adj" fmla="val 5556"/>
              </a:avLst>
            </a:prstGeom>
            <a:noFill/>
            <a:ln w="14288">
              <a:solidFill>
                <a:srgbClr val="FF7A6B"/>
              </a:solidFill>
            </a:ln>
          </p:spPr>
        </p:sp>
        <p:grpSp>
          <p:nvGrpSpPr>
            <p:cNvPr id="31" name="Group 31"/>
            <p:cNvGrpSpPr/>
            <p:nvPr/>
          </p:nvGrpSpPr>
          <p:grpSpPr>
            <a:xfrm>
              <a:off x="5495925" y="1905000"/>
              <a:ext cx="171450" cy="152400"/>
              <a:chOff x="5495925" y="1905000"/>
              <a:chExt cx="171450" cy="152400"/>
            </a:xfrm>
          </p:grpSpPr>
          <p:sp>
            <p:nvSpPr>
              <p:cNvPr id="27" name="Freeform 27"/>
              <p:cNvSpPr/>
              <p:nvPr/>
            </p:nvSpPr>
            <p:spPr>
              <a:xfrm>
                <a:off x="5495925" y="19050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rgbClr val="FF7A6B"/>
                </a:solidFill>
              </a:ln>
            </p:spPr>
          </p:sp>
          <p:sp>
            <p:nvSpPr>
              <p:cNvPr id="28" name="Freeform 28"/>
              <p:cNvSpPr/>
              <p:nvPr/>
            </p:nvSpPr>
            <p:spPr>
              <a:xfrm>
                <a:off x="5495925" y="19812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rgbClr val="FF7A6B"/>
                </a:solidFill>
              </a:ln>
            </p:spPr>
          </p:sp>
          <p:sp>
            <p:nvSpPr>
              <p:cNvPr id="29" name="Freeform 29"/>
              <p:cNvSpPr/>
              <p:nvPr/>
            </p:nvSpPr>
            <p:spPr>
              <a:xfrm>
                <a:off x="5534025" y="1943100"/>
                <a:ext cx="9525" cy="9525"/>
              </a:xfrm>
              <a:custGeom>
                <a:avLst/>
                <a:gdLst/>
                <a:ahLst/>
                <a:cxnLst/>
                <a:rect l="l" t="t" r="r" b="b"/>
                <a:pathLst>
                  <a:path w="9525" h="9525">
                    <a:moveTo>
                      <a:pt x="0" y="0"/>
                    </a:moveTo>
                    <a:lnTo>
                      <a:pt x="0" y="95"/>
                    </a:lnTo>
                  </a:path>
                </a:pathLst>
              </a:custGeom>
              <a:noFill/>
              <a:ln w="14288">
                <a:solidFill>
                  <a:srgbClr val="FF7A6B"/>
                </a:solidFill>
              </a:ln>
            </p:spPr>
          </p:sp>
          <p:sp>
            <p:nvSpPr>
              <p:cNvPr id="30" name="Freeform 30"/>
              <p:cNvSpPr/>
              <p:nvPr/>
            </p:nvSpPr>
            <p:spPr>
              <a:xfrm>
                <a:off x="5534025" y="2019300"/>
                <a:ext cx="9525" cy="9525"/>
              </a:xfrm>
              <a:custGeom>
                <a:avLst/>
                <a:gdLst/>
                <a:ahLst/>
                <a:cxnLst/>
                <a:rect l="l" t="t" r="r" b="b"/>
                <a:pathLst>
                  <a:path w="9525" h="9525">
                    <a:moveTo>
                      <a:pt x="0" y="0"/>
                    </a:moveTo>
                    <a:lnTo>
                      <a:pt x="0" y="95"/>
                    </a:lnTo>
                  </a:path>
                </a:pathLst>
              </a:custGeom>
              <a:noFill/>
              <a:ln w="14288">
                <a:solidFill>
                  <a:srgbClr val="FF7A6B"/>
                </a:solidFill>
              </a:ln>
            </p:spPr>
          </p:sp>
        </p:grpSp>
        <p:sp>
          <p:nvSpPr>
            <p:cNvPr id="32" name="TextBox 32"/>
            <p:cNvSpPr txBox="1"/>
            <p:nvPr/>
          </p:nvSpPr>
          <p:spPr>
            <a:xfrm>
              <a:off x="5766054" y="1885950"/>
              <a:ext cx="885903" cy="234696"/>
            </a:xfrm>
            <a:prstGeom prst="rect">
              <a:avLst/>
            </a:prstGeom>
            <a:noFill/>
            <a:ln>
              <a:noFill/>
            </a:ln>
          </p:spPr>
          <p:txBody>
            <a:bodyPr wrap="none" lIns="0" tIns="0" rIns="0" bIns="0" anchor="t" anchorCtr="0">
              <a:spAutoFit/>
            </a:bodyPr>
            <a:lstStyle/>
            <a:p>
              <a:pPr algn="l"/>
              <a:r>
                <a:rPr lang="en" sz="1200" dirty="0">
                  <a:solidFill>
                    <a:srgbClr val="FF7A6B"/>
                  </a:solidFill>
                  <a:latin typeface="+mn-lt"/>
                  <a:ea typeface="+mn-ea"/>
                  <a:cs typeface="+mn-cs"/>
                </a:rPr>
                <a:t>client/server</a:t>
              </a:r>
            </a:p>
          </p:txBody>
        </p:sp>
        <p:sp>
          <p:nvSpPr>
            <p:cNvPr id="33" name="Line 33"/>
            <p:cNvSpPr/>
            <p:nvPr/>
          </p:nvSpPr>
          <p:spPr>
            <a:xfrm>
              <a:off x="876300" y="2247900"/>
              <a:ext cx="1" cy="419100"/>
            </a:xfrm>
            <a:prstGeom prst="line">
              <a:avLst/>
            </a:prstGeom>
            <a:noFill/>
            <a:ln w="14288">
              <a:solidFill>
                <a:schemeClr val="accent1"/>
              </a:solidFill>
              <a:tailEnd type="triangle" w="lg" len="lg"/>
            </a:ln>
          </p:spPr>
        </p:sp>
        <p:sp>
          <p:nvSpPr>
            <p:cNvPr id="34" name="TextBox 34"/>
            <p:cNvSpPr txBox="1"/>
            <p:nvPr/>
          </p:nvSpPr>
          <p:spPr>
            <a:xfrm>
              <a:off x="966597" y="2406650"/>
              <a:ext cx="161860"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no</a:t>
              </a:r>
            </a:p>
          </p:txBody>
        </p:sp>
      </p:grpSp>
      <p:grpSp>
        <p:nvGrpSpPr>
          <p:cNvPr id="51" name="gate-writers"/>
          <p:cNvGrpSpPr/>
          <p:nvPr/>
        </p:nvGrpSpPr>
        <p:grpSpPr>
          <a:xfrm>
            <a:off x="609600" y="2705100"/>
            <a:ext cx="6324600" cy="952500"/>
            <a:chOff x="609600" y="2705100"/>
            <a:chExt cx="6324600" cy="952500"/>
          </a:xfrm>
        </p:grpSpPr>
        <p:sp>
          <p:nvSpPr>
            <p:cNvPr id="36" name="Freeform 36"/>
            <p:cNvSpPr/>
            <p:nvPr/>
          </p:nvSpPr>
          <p:spPr>
            <a:xfrm>
              <a:off x="609600" y="2705100"/>
              <a:ext cx="533400" cy="533400"/>
            </a:xfrm>
            <a:prstGeom prst="flowChartDecision">
              <a:avLst/>
            </a:prstGeom>
            <a:solidFill>
              <a:schemeClr val="lt2"/>
            </a:solidFill>
            <a:ln w="14288">
              <a:solidFill>
                <a:schemeClr val="accent1"/>
              </a:solidFill>
            </a:ln>
          </p:spPr>
        </p:sp>
        <p:sp>
          <p:nvSpPr>
            <p:cNvPr id="37" name="TextBox 37"/>
            <p:cNvSpPr txBox="1"/>
            <p:nvPr/>
          </p:nvSpPr>
          <p:spPr>
            <a:xfrm>
              <a:off x="822437" y="2876550"/>
              <a:ext cx="107726" cy="250317"/>
            </a:xfrm>
            <a:prstGeom prst="rect">
              <a:avLst/>
            </a:prstGeom>
            <a:noFill/>
            <a:ln>
              <a:noFill/>
            </a:ln>
          </p:spPr>
          <p:txBody>
            <a:bodyPr wrap="none" lIns="0" tIns="0" rIns="0" bIns="0" anchor="t" anchorCtr="0">
              <a:spAutoFit/>
            </a:bodyPr>
            <a:lstStyle/>
            <a:p>
              <a:pPr algn="ctr"/>
              <a:r>
                <a:rPr lang="en" sz="1280" dirty="0">
                  <a:solidFill>
                    <a:schemeClr val="accent1"/>
                  </a:solidFill>
                  <a:latin typeface="Consolas"/>
                  <a:ea typeface="Consolas"/>
                  <a:cs typeface="Consolas"/>
                </a:rPr>
                <a:t>2</a:t>
              </a:r>
            </a:p>
          </p:txBody>
        </p:sp>
        <p:sp>
          <p:nvSpPr>
            <p:cNvPr id="38" name="TextBox 38"/>
            <p:cNvSpPr txBox="1"/>
            <p:nvPr/>
          </p:nvSpPr>
          <p:spPr>
            <a:xfrm>
              <a:off x="1287780" y="2724150"/>
              <a:ext cx="2513057"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Many concurrent writers that</a:t>
              </a:r>
              <a:br>
                <a:rPr lang="en" sz="1500" dirty="0">
                  <a:solidFill>
                    <a:schemeClr val="dk1"/>
                  </a:solidFill>
                  <a:latin typeface="+mn-lt"/>
                  <a:ea typeface="+mn-ea"/>
                  <a:cs typeface="+mn-cs"/>
                </a:rPr>
              </a:br>
              <a:r>
                <a:rPr lang="en" sz="1500" dirty="0">
                  <a:solidFill>
                    <a:schemeClr val="dk1"/>
                  </a:solidFill>
                  <a:latin typeface="+mn-lt"/>
                  <a:ea typeface="+mn-ea"/>
                  <a:cs typeface="+mn-cs"/>
                </a:rPr>
                <a:t>cannot queue and take turns?</a:t>
              </a:r>
            </a:p>
          </p:txBody>
        </p:sp>
        <p:sp>
          <p:nvSpPr>
            <p:cNvPr id="39" name="TextBox 39"/>
            <p:cNvSpPr txBox="1"/>
            <p:nvPr/>
          </p:nvSpPr>
          <p:spPr>
            <a:xfrm>
              <a:off x="1290447" y="3282950"/>
              <a:ext cx="4557086"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SQLite: unlimited readers, one writer at a time; writes usually take milliseconds</a:t>
              </a:r>
            </a:p>
          </p:txBody>
        </p:sp>
        <p:sp>
          <p:nvSpPr>
            <p:cNvPr id="40" name="Line 40"/>
            <p:cNvSpPr/>
            <p:nvPr/>
          </p:nvSpPr>
          <p:spPr>
            <a:xfrm>
              <a:off x="4191000" y="2971800"/>
              <a:ext cx="1104900" cy="1"/>
            </a:xfrm>
            <a:prstGeom prst="line">
              <a:avLst/>
            </a:prstGeom>
            <a:noFill/>
            <a:ln w="14288">
              <a:solidFill>
                <a:srgbClr val="FF7A6B"/>
              </a:solidFill>
              <a:tailEnd type="triangle" w="lg" len="lg"/>
            </a:ln>
          </p:spPr>
        </p:sp>
        <p:sp>
          <p:nvSpPr>
            <p:cNvPr id="41" name="TextBox 41"/>
            <p:cNvSpPr txBox="1"/>
            <p:nvPr/>
          </p:nvSpPr>
          <p:spPr>
            <a:xfrm>
              <a:off x="4795647" y="2749550"/>
              <a:ext cx="198721" cy="191643"/>
            </a:xfrm>
            <a:prstGeom prst="rect">
              <a:avLst/>
            </a:prstGeom>
            <a:noFill/>
            <a:ln>
              <a:noFill/>
            </a:ln>
          </p:spPr>
          <p:txBody>
            <a:bodyPr wrap="none" lIns="0" tIns="0" rIns="0" bIns="0" anchor="t" anchorCtr="0">
              <a:spAutoFit/>
            </a:bodyPr>
            <a:lstStyle/>
            <a:p>
              <a:pPr algn="l"/>
              <a:r>
                <a:rPr lang="en" sz="980" dirty="0">
                  <a:solidFill>
                    <a:srgbClr val="FF7A6B"/>
                  </a:solidFill>
                  <a:latin typeface="+mn-lt"/>
                  <a:ea typeface="+mn-ea"/>
                  <a:cs typeface="+mn-cs"/>
                </a:rPr>
                <a:t>yes</a:t>
              </a:r>
            </a:p>
          </p:txBody>
        </p:sp>
        <p:sp>
          <p:nvSpPr>
            <p:cNvPr id="42" name="Rectangle 42"/>
            <p:cNvSpPr/>
            <p:nvPr/>
          </p:nvSpPr>
          <p:spPr>
            <a:xfrm>
              <a:off x="5372100" y="2800350"/>
              <a:ext cx="1562100" cy="342900"/>
            </a:xfrm>
            <a:prstGeom prst="roundRect">
              <a:avLst>
                <a:gd name="adj" fmla="val 5556"/>
              </a:avLst>
            </a:prstGeom>
            <a:noFill/>
            <a:ln w="14288">
              <a:solidFill>
                <a:srgbClr val="FF7A6B"/>
              </a:solidFill>
            </a:ln>
          </p:spPr>
        </p:sp>
        <p:grpSp>
          <p:nvGrpSpPr>
            <p:cNvPr id="47" name="Group 47"/>
            <p:cNvGrpSpPr/>
            <p:nvPr/>
          </p:nvGrpSpPr>
          <p:grpSpPr>
            <a:xfrm>
              <a:off x="5495925" y="2895600"/>
              <a:ext cx="171450" cy="152400"/>
              <a:chOff x="5495925" y="2895600"/>
              <a:chExt cx="171450" cy="152400"/>
            </a:xfrm>
          </p:grpSpPr>
          <p:sp>
            <p:nvSpPr>
              <p:cNvPr id="43" name="Freeform 43"/>
              <p:cNvSpPr/>
              <p:nvPr/>
            </p:nvSpPr>
            <p:spPr>
              <a:xfrm>
                <a:off x="5495925" y="28956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rgbClr val="FF7A6B"/>
                </a:solidFill>
              </a:ln>
            </p:spPr>
          </p:sp>
          <p:sp>
            <p:nvSpPr>
              <p:cNvPr id="44" name="Freeform 44"/>
              <p:cNvSpPr/>
              <p:nvPr/>
            </p:nvSpPr>
            <p:spPr>
              <a:xfrm>
                <a:off x="5495925" y="29718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rgbClr val="FF7A6B"/>
                </a:solidFill>
              </a:ln>
            </p:spPr>
          </p:sp>
          <p:sp>
            <p:nvSpPr>
              <p:cNvPr id="45" name="Freeform 45"/>
              <p:cNvSpPr/>
              <p:nvPr/>
            </p:nvSpPr>
            <p:spPr>
              <a:xfrm>
                <a:off x="5534025" y="2933700"/>
                <a:ext cx="9525" cy="9525"/>
              </a:xfrm>
              <a:custGeom>
                <a:avLst/>
                <a:gdLst/>
                <a:ahLst/>
                <a:cxnLst/>
                <a:rect l="l" t="t" r="r" b="b"/>
                <a:pathLst>
                  <a:path w="9525" h="9525">
                    <a:moveTo>
                      <a:pt x="0" y="0"/>
                    </a:moveTo>
                    <a:lnTo>
                      <a:pt x="0" y="95"/>
                    </a:lnTo>
                  </a:path>
                </a:pathLst>
              </a:custGeom>
              <a:noFill/>
              <a:ln w="14288">
                <a:solidFill>
                  <a:srgbClr val="FF7A6B"/>
                </a:solidFill>
              </a:ln>
            </p:spPr>
          </p:sp>
          <p:sp>
            <p:nvSpPr>
              <p:cNvPr id="46" name="Freeform 46"/>
              <p:cNvSpPr/>
              <p:nvPr/>
            </p:nvSpPr>
            <p:spPr>
              <a:xfrm>
                <a:off x="5534025" y="3009900"/>
                <a:ext cx="9525" cy="9525"/>
              </a:xfrm>
              <a:custGeom>
                <a:avLst/>
                <a:gdLst/>
                <a:ahLst/>
                <a:cxnLst/>
                <a:rect l="l" t="t" r="r" b="b"/>
                <a:pathLst>
                  <a:path w="9525" h="9525">
                    <a:moveTo>
                      <a:pt x="0" y="0"/>
                    </a:moveTo>
                    <a:lnTo>
                      <a:pt x="0" y="95"/>
                    </a:lnTo>
                  </a:path>
                </a:pathLst>
              </a:custGeom>
              <a:noFill/>
              <a:ln w="14288">
                <a:solidFill>
                  <a:srgbClr val="FF7A6B"/>
                </a:solidFill>
              </a:ln>
            </p:spPr>
          </p:sp>
        </p:grpSp>
        <p:sp>
          <p:nvSpPr>
            <p:cNvPr id="48" name="TextBox 48"/>
            <p:cNvSpPr txBox="1"/>
            <p:nvPr/>
          </p:nvSpPr>
          <p:spPr>
            <a:xfrm>
              <a:off x="5766054" y="2876550"/>
              <a:ext cx="885903" cy="234696"/>
            </a:xfrm>
            <a:prstGeom prst="rect">
              <a:avLst/>
            </a:prstGeom>
            <a:noFill/>
            <a:ln>
              <a:noFill/>
            </a:ln>
          </p:spPr>
          <p:txBody>
            <a:bodyPr wrap="none" lIns="0" tIns="0" rIns="0" bIns="0" anchor="t" anchorCtr="0">
              <a:spAutoFit/>
            </a:bodyPr>
            <a:lstStyle/>
            <a:p>
              <a:pPr algn="l"/>
              <a:r>
                <a:rPr lang="en" sz="1200" dirty="0">
                  <a:solidFill>
                    <a:srgbClr val="FF7A6B"/>
                  </a:solidFill>
                  <a:latin typeface="+mn-lt"/>
                  <a:ea typeface="+mn-ea"/>
                  <a:cs typeface="+mn-cs"/>
                </a:rPr>
                <a:t>client/server</a:t>
              </a:r>
            </a:p>
          </p:txBody>
        </p:sp>
        <p:sp>
          <p:nvSpPr>
            <p:cNvPr id="49" name="Line 49"/>
            <p:cNvSpPr/>
            <p:nvPr/>
          </p:nvSpPr>
          <p:spPr>
            <a:xfrm>
              <a:off x="876300" y="3238500"/>
              <a:ext cx="1" cy="419100"/>
            </a:xfrm>
            <a:prstGeom prst="line">
              <a:avLst/>
            </a:prstGeom>
            <a:noFill/>
            <a:ln w="14288">
              <a:solidFill>
                <a:schemeClr val="accent1"/>
              </a:solidFill>
              <a:tailEnd type="triangle" w="lg" len="lg"/>
            </a:ln>
          </p:spPr>
        </p:sp>
        <p:sp>
          <p:nvSpPr>
            <p:cNvPr id="50" name="TextBox 50"/>
            <p:cNvSpPr txBox="1"/>
            <p:nvPr/>
          </p:nvSpPr>
          <p:spPr>
            <a:xfrm>
              <a:off x="966597" y="3454400"/>
              <a:ext cx="161860"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no</a:t>
              </a:r>
            </a:p>
          </p:txBody>
        </p:sp>
      </p:grpSp>
      <p:grpSp>
        <p:nvGrpSpPr>
          <p:cNvPr id="66" name="gate-size"/>
          <p:cNvGrpSpPr/>
          <p:nvPr/>
        </p:nvGrpSpPr>
        <p:grpSpPr>
          <a:xfrm>
            <a:off x="609600" y="3695700"/>
            <a:ext cx="6324600" cy="1028700"/>
            <a:chOff x="609600" y="3695700"/>
            <a:chExt cx="6324600" cy="1028700"/>
          </a:xfrm>
        </p:grpSpPr>
        <p:sp>
          <p:nvSpPr>
            <p:cNvPr id="52" name="Freeform 52"/>
            <p:cNvSpPr/>
            <p:nvPr/>
          </p:nvSpPr>
          <p:spPr>
            <a:xfrm>
              <a:off x="609600" y="3695700"/>
              <a:ext cx="533400" cy="533400"/>
            </a:xfrm>
            <a:prstGeom prst="flowChartDecision">
              <a:avLst/>
            </a:prstGeom>
            <a:solidFill>
              <a:schemeClr val="lt2"/>
            </a:solidFill>
            <a:ln w="14288">
              <a:solidFill>
                <a:schemeClr val="accent1"/>
              </a:solidFill>
            </a:ln>
          </p:spPr>
        </p:sp>
        <p:sp>
          <p:nvSpPr>
            <p:cNvPr id="53" name="TextBox 53"/>
            <p:cNvSpPr txBox="1"/>
            <p:nvPr/>
          </p:nvSpPr>
          <p:spPr>
            <a:xfrm>
              <a:off x="822437" y="3867150"/>
              <a:ext cx="107726" cy="250317"/>
            </a:xfrm>
            <a:prstGeom prst="rect">
              <a:avLst/>
            </a:prstGeom>
            <a:noFill/>
            <a:ln>
              <a:noFill/>
            </a:ln>
          </p:spPr>
          <p:txBody>
            <a:bodyPr wrap="none" lIns="0" tIns="0" rIns="0" bIns="0" anchor="t" anchorCtr="0">
              <a:spAutoFit/>
            </a:bodyPr>
            <a:lstStyle/>
            <a:p>
              <a:pPr algn="ctr"/>
              <a:r>
                <a:rPr lang="en" sz="1280" dirty="0">
                  <a:solidFill>
                    <a:schemeClr val="accent1"/>
                  </a:solidFill>
                  <a:latin typeface="Consolas"/>
                  <a:ea typeface="Consolas"/>
                  <a:cs typeface="Consolas"/>
                </a:rPr>
                <a:t>3</a:t>
              </a:r>
            </a:p>
          </p:txBody>
        </p:sp>
        <p:sp>
          <p:nvSpPr>
            <p:cNvPr id="54" name="TextBox 54"/>
            <p:cNvSpPr txBox="1"/>
            <p:nvPr/>
          </p:nvSpPr>
          <p:spPr>
            <a:xfrm>
              <a:off x="1287780" y="3714750"/>
              <a:ext cx="254618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Big data — more than one file</a:t>
              </a:r>
              <a:br>
                <a:rPr lang="en" sz="1500" dirty="0">
                  <a:solidFill>
                    <a:schemeClr val="dk1"/>
                  </a:solidFill>
                  <a:latin typeface="+mn-lt"/>
                  <a:ea typeface="+mn-ea"/>
                  <a:cs typeface="+mn-cs"/>
                </a:rPr>
              </a:br>
              <a:r>
                <a:rPr lang="en" sz="1500" dirty="0">
                  <a:solidFill>
                    <a:schemeClr val="dk1"/>
                  </a:solidFill>
                  <a:latin typeface="+mn-lt"/>
                  <a:ea typeface="+mn-ea"/>
                  <a:cs typeface="+mn-cs"/>
                </a:rPr>
                <a:t>can hold? (limit: 281 TB)</a:t>
              </a:r>
            </a:p>
          </p:txBody>
        </p:sp>
        <p:sp>
          <p:nvSpPr>
            <p:cNvPr id="55" name="Line 55"/>
            <p:cNvSpPr/>
            <p:nvPr/>
          </p:nvSpPr>
          <p:spPr>
            <a:xfrm>
              <a:off x="4191000" y="3962400"/>
              <a:ext cx="1104900" cy="1"/>
            </a:xfrm>
            <a:prstGeom prst="line">
              <a:avLst/>
            </a:prstGeom>
            <a:noFill/>
            <a:ln w="14288">
              <a:solidFill>
                <a:srgbClr val="FF7A6B"/>
              </a:solidFill>
              <a:tailEnd type="triangle" w="lg" len="lg"/>
            </a:ln>
          </p:spPr>
        </p:sp>
        <p:sp>
          <p:nvSpPr>
            <p:cNvPr id="56" name="TextBox 56"/>
            <p:cNvSpPr txBox="1"/>
            <p:nvPr/>
          </p:nvSpPr>
          <p:spPr>
            <a:xfrm>
              <a:off x="4795647" y="3740150"/>
              <a:ext cx="198721" cy="191643"/>
            </a:xfrm>
            <a:prstGeom prst="rect">
              <a:avLst/>
            </a:prstGeom>
            <a:noFill/>
            <a:ln>
              <a:noFill/>
            </a:ln>
          </p:spPr>
          <p:txBody>
            <a:bodyPr wrap="none" lIns="0" tIns="0" rIns="0" bIns="0" anchor="t" anchorCtr="0">
              <a:spAutoFit/>
            </a:bodyPr>
            <a:lstStyle/>
            <a:p>
              <a:pPr algn="l"/>
              <a:r>
                <a:rPr lang="en" sz="980" dirty="0">
                  <a:solidFill>
                    <a:srgbClr val="FF7A6B"/>
                  </a:solidFill>
                  <a:latin typeface="+mn-lt"/>
                  <a:ea typeface="+mn-ea"/>
                  <a:cs typeface="+mn-cs"/>
                </a:rPr>
                <a:t>yes</a:t>
              </a:r>
            </a:p>
          </p:txBody>
        </p:sp>
        <p:sp>
          <p:nvSpPr>
            <p:cNvPr id="57" name="Rectangle 57"/>
            <p:cNvSpPr/>
            <p:nvPr/>
          </p:nvSpPr>
          <p:spPr>
            <a:xfrm>
              <a:off x="5372100" y="3790950"/>
              <a:ext cx="1562100" cy="342900"/>
            </a:xfrm>
            <a:prstGeom prst="roundRect">
              <a:avLst>
                <a:gd name="adj" fmla="val 5556"/>
              </a:avLst>
            </a:prstGeom>
            <a:noFill/>
            <a:ln w="14288">
              <a:solidFill>
                <a:srgbClr val="FF7A6B"/>
              </a:solidFill>
            </a:ln>
          </p:spPr>
        </p:sp>
        <p:grpSp>
          <p:nvGrpSpPr>
            <p:cNvPr id="62" name="Group 62"/>
            <p:cNvGrpSpPr/>
            <p:nvPr/>
          </p:nvGrpSpPr>
          <p:grpSpPr>
            <a:xfrm>
              <a:off x="5495925" y="3886200"/>
              <a:ext cx="171450" cy="152400"/>
              <a:chOff x="5495925" y="3886200"/>
              <a:chExt cx="171450" cy="152400"/>
            </a:xfrm>
          </p:grpSpPr>
          <p:sp>
            <p:nvSpPr>
              <p:cNvPr id="58" name="Freeform 58"/>
              <p:cNvSpPr/>
              <p:nvPr/>
            </p:nvSpPr>
            <p:spPr>
              <a:xfrm>
                <a:off x="5495925" y="38862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rgbClr val="FF7A6B"/>
                </a:solidFill>
              </a:ln>
            </p:spPr>
          </p:sp>
          <p:sp>
            <p:nvSpPr>
              <p:cNvPr id="59" name="Freeform 59"/>
              <p:cNvSpPr/>
              <p:nvPr/>
            </p:nvSpPr>
            <p:spPr>
              <a:xfrm>
                <a:off x="5495925" y="3962400"/>
                <a:ext cx="171450" cy="76200"/>
              </a:xfrm>
              <a:custGeom>
                <a:avLst/>
                <a:gdLst/>
                <a:ahLst/>
                <a:cxnLst/>
                <a:rect l="l" t="t" r="r" b="b"/>
                <a:pathLst>
                  <a:path w="171450" h="76200">
                    <a:moveTo>
                      <a:pt x="0" y="28575"/>
                    </a:moveTo>
                    <a:cubicBezTo>
                      <a:pt x="0" y="12793"/>
                      <a:pt x="12793" y="0"/>
                      <a:pt x="28575" y="0"/>
                    </a:cubicBezTo>
                    <a:lnTo>
                      <a:pt x="142875" y="0"/>
                    </a:lnTo>
                    <a:cubicBezTo>
                      <a:pt x="158657" y="0"/>
                      <a:pt x="171450" y="12793"/>
                      <a:pt x="171450" y="28575"/>
                    </a:cubicBezTo>
                    <a:lnTo>
                      <a:pt x="171450" y="47625"/>
                    </a:lnTo>
                    <a:cubicBezTo>
                      <a:pt x="171450" y="63407"/>
                      <a:pt x="158657" y="76200"/>
                      <a:pt x="142875" y="76200"/>
                    </a:cubicBezTo>
                    <a:lnTo>
                      <a:pt x="28575" y="76200"/>
                    </a:lnTo>
                    <a:cubicBezTo>
                      <a:pt x="12793" y="76200"/>
                      <a:pt x="0" y="63407"/>
                      <a:pt x="0" y="47625"/>
                    </a:cubicBezTo>
                    <a:lnTo>
                      <a:pt x="0" y="28575"/>
                    </a:lnTo>
                  </a:path>
                </a:pathLst>
              </a:custGeom>
              <a:noFill/>
              <a:ln w="14288">
                <a:solidFill>
                  <a:srgbClr val="FF7A6B"/>
                </a:solidFill>
              </a:ln>
            </p:spPr>
          </p:sp>
          <p:sp>
            <p:nvSpPr>
              <p:cNvPr id="60" name="Freeform 60"/>
              <p:cNvSpPr/>
              <p:nvPr/>
            </p:nvSpPr>
            <p:spPr>
              <a:xfrm>
                <a:off x="5534025" y="3924300"/>
                <a:ext cx="9525" cy="9525"/>
              </a:xfrm>
              <a:custGeom>
                <a:avLst/>
                <a:gdLst/>
                <a:ahLst/>
                <a:cxnLst/>
                <a:rect l="l" t="t" r="r" b="b"/>
                <a:pathLst>
                  <a:path w="9525" h="9525">
                    <a:moveTo>
                      <a:pt x="0" y="0"/>
                    </a:moveTo>
                    <a:lnTo>
                      <a:pt x="0" y="95"/>
                    </a:lnTo>
                  </a:path>
                </a:pathLst>
              </a:custGeom>
              <a:noFill/>
              <a:ln w="14288">
                <a:solidFill>
                  <a:srgbClr val="FF7A6B"/>
                </a:solidFill>
              </a:ln>
            </p:spPr>
          </p:sp>
          <p:sp>
            <p:nvSpPr>
              <p:cNvPr id="61" name="Freeform 61"/>
              <p:cNvSpPr/>
              <p:nvPr/>
            </p:nvSpPr>
            <p:spPr>
              <a:xfrm>
                <a:off x="5534025" y="4000500"/>
                <a:ext cx="9525" cy="9525"/>
              </a:xfrm>
              <a:custGeom>
                <a:avLst/>
                <a:gdLst/>
                <a:ahLst/>
                <a:cxnLst/>
                <a:rect l="l" t="t" r="r" b="b"/>
                <a:pathLst>
                  <a:path w="9525" h="9525">
                    <a:moveTo>
                      <a:pt x="0" y="0"/>
                    </a:moveTo>
                    <a:lnTo>
                      <a:pt x="0" y="95"/>
                    </a:lnTo>
                  </a:path>
                </a:pathLst>
              </a:custGeom>
              <a:noFill/>
              <a:ln w="14288">
                <a:solidFill>
                  <a:srgbClr val="FF7A6B"/>
                </a:solidFill>
              </a:ln>
            </p:spPr>
          </p:sp>
        </p:grpSp>
        <p:sp>
          <p:nvSpPr>
            <p:cNvPr id="63" name="TextBox 63"/>
            <p:cNvSpPr txBox="1"/>
            <p:nvPr/>
          </p:nvSpPr>
          <p:spPr>
            <a:xfrm>
              <a:off x="5766054" y="3867150"/>
              <a:ext cx="885903" cy="234696"/>
            </a:xfrm>
            <a:prstGeom prst="rect">
              <a:avLst/>
            </a:prstGeom>
            <a:noFill/>
            <a:ln>
              <a:noFill/>
            </a:ln>
          </p:spPr>
          <p:txBody>
            <a:bodyPr wrap="none" lIns="0" tIns="0" rIns="0" bIns="0" anchor="t" anchorCtr="0">
              <a:spAutoFit/>
            </a:bodyPr>
            <a:lstStyle/>
            <a:p>
              <a:pPr algn="l"/>
              <a:r>
                <a:rPr lang="en" sz="1200" dirty="0">
                  <a:solidFill>
                    <a:srgbClr val="FF7A6B"/>
                  </a:solidFill>
                  <a:latin typeface="+mn-lt"/>
                  <a:ea typeface="+mn-ea"/>
                  <a:cs typeface="+mn-cs"/>
                </a:rPr>
                <a:t>client/server</a:t>
              </a:r>
            </a:p>
          </p:txBody>
        </p:sp>
        <p:sp>
          <p:nvSpPr>
            <p:cNvPr id="64" name="Line 64"/>
            <p:cNvSpPr/>
            <p:nvPr/>
          </p:nvSpPr>
          <p:spPr>
            <a:xfrm>
              <a:off x="876300" y="4229100"/>
              <a:ext cx="1" cy="495300"/>
            </a:xfrm>
            <a:prstGeom prst="line">
              <a:avLst/>
            </a:prstGeom>
            <a:noFill/>
            <a:ln w="14288">
              <a:solidFill>
                <a:schemeClr val="accent1"/>
              </a:solidFill>
              <a:tailEnd type="triangle" w="lg" len="lg"/>
            </a:ln>
          </p:spPr>
        </p:sp>
        <p:sp>
          <p:nvSpPr>
            <p:cNvPr id="65" name="TextBox 65"/>
            <p:cNvSpPr txBox="1"/>
            <p:nvPr/>
          </p:nvSpPr>
          <p:spPr>
            <a:xfrm>
              <a:off x="966597" y="4406900"/>
              <a:ext cx="161860"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no</a:t>
              </a:r>
            </a:p>
          </p:txBody>
        </p:sp>
      </p:grpSp>
      <p:grpSp>
        <p:nvGrpSpPr>
          <p:cNvPr id="69" name="gate-choose"/>
          <p:cNvGrpSpPr/>
          <p:nvPr/>
        </p:nvGrpSpPr>
        <p:grpSpPr>
          <a:xfrm>
            <a:off x="609600" y="4762500"/>
            <a:ext cx="3429000" cy="571500"/>
            <a:chOff x="609600" y="4762500"/>
            <a:chExt cx="3429000" cy="571500"/>
          </a:xfrm>
        </p:grpSpPr>
        <p:sp>
          <p:nvSpPr>
            <p:cNvPr id="67" name="Freeform 67"/>
            <p:cNvSpPr/>
            <p:nvPr/>
          </p:nvSpPr>
          <p:spPr>
            <a:xfrm>
              <a:off x="609600" y="4762500"/>
              <a:ext cx="3429000" cy="571500"/>
            </a:xfrm>
            <a:prstGeom prst="flowChartTerminator">
              <a:avLst/>
            </a:prstGeom>
            <a:solidFill>
              <a:schemeClr val="lt2"/>
            </a:solidFill>
            <a:ln w="19050">
              <a:solidFill>
                <a:schemeClr val="accent2"/>
              </a:solidFill>
            </a:ln>
          </p:spPr>
        </p:sp>
        <p:sp>
          <p:nvSpPr>
            <p:cNvPr id="68" name="TextBox 68"/>
            <p:cNvSpPr txBox="1"/>
            <p:nvPr/>
          </p:nvSpPr>
          <p:spPr>
            <a:xfrm>
              <a:off x="914042" y="4921250"/>
              <a:ext cx="2820116" cy="322707"/>
            </a:xfrm>
            <a:prstGeom prst="rect">
              <a:avLst/>
            </a:prstGeom>
            <a:noFill/>
            <a:ln>
              <a:noFill/>
            </a:ln>
          </p:spPr>
          <p:txBody>
            <a:bodyPr wrap="none" lIns="0" tIns="0" rIns="0" bIns="0" anchor="t" anchorCtr="0">
              <a:spAutoFit/>
            </a:bodyPr>
            <a:lstStyle/>
            <a:p>
              <a:pPr algn="ctr"/>
              <a:r>
                <a:rPr lang="en" sz="1650" b="1" dirty="0">
                  <a:solidFill>
                    <a:schemeClr val="accent2"/>
                  </a:solidFill>
                  <a:latin typeface="+mn-lt"/>
                  <a:ea typeface="+mn-ea"/>
                  <a:cs typeface="+mn-cs"/>
                </a:rPr>
                <a:t>Otherwise → choose SQLite</a:t>
              </a:r>
            </a:p>
          </p:txBody>
        </p:sp>
      </p:grpSp>
      <p:grpSp>
        <p:nvGrpSpPr>
          <p:cNvPr id="107" name="works-well"/>
          <p:cNvGrpSpPr/>
          <p:nvPr/>
        </p:nvGrpSpPr>
        <p:grpSpPr>
          <a:xfrm>
            <a:off x="7309485" y="1631950"/>
            <a:ext cx="3484467" cy="2984246"/>
            <a:chOff x="7309485" y="1631950"/>
            <a:chExt cx="3484467" cy="2984246"/>
          </a:xfrm>
        </p:grpSpPr>
        <p:sp>
          <p:nvSpPr>
            <p:cNvPr id="70" name="TextBox 70"/>
            <p:cNvSpPr txBox="1"/>
            <p:nvPr/>
          </p:nvSpPr>
          <p:spPr>
            <a:xfrm>
              <a:off x="7309485" y="1631950"/>
              <a:ext cx="2091241" cy="220028"/>
            </a:xfrm>
            <a:prstGeom prst="rect">
              <a:avLst/>
            </a:prstGeom>
            <a:noFill/>
            <a:ln>
              <a:noFill/>
            </a:ln>
          </p:spPr>
          <p:txBody>
            <a:bodyPr wrap="none" lIns="0" tIns="0" rIns="0" bIns="0" anchor="t" anchorCtr="0">
              <a:spAutoFit/>
            </a:bodyPr>
            <a:lstStyle/>
            <a:p>
              <a:pPr algn="l"/>
              <a:r>
                <a:rPr lang="en" sz="1120" spc="150" dirty="0">
                  <a:solidFill>
                    <a:schemeClr val="accent3"/>
                  </a:solidFill>
                  <a:latin typeface="+mn-lt"/>
                  <a:ea typeface="+mn-ea"/>
                  <a:cs typeface="+mn-cs"/>
                </a:rPr>
                <a:t>WHERE IT WORKS WELL</a:t>
              </a:r>
            </a:p>
          </p:txBody>
        </p:sp>
        <p:grpSp>
          <p:nvGrpSpPr>
            <p:cNvPr id="73" name="Group 73"/>
            <p:cNvGrpSpPr/>
            <p:nvPr/>
          </p:nvGrpSpPr>
          <p:grpSpPr>
            <a:xfrm>
              <a:off x="7339012" y="1966912"/>
              <a:ext cx="142875" cy="142875"/>
              <a:chOff x="7339012" y="1966912"/>
              <a:chExt cx="142875" cy="142875"/>
            </a:xfrm>
          </p:grpSpPr>
          <p:sp>
            <p:nvSpPr>
              <p:cNvPr id="71" name="Freeform 71"/>
              <p:cNvSpPr/>
              <p:nvPr/>
            </p:nvSpPr>
            <p:spPr>
              <a:xfrm>
                <a:off x="7339012" y="19669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72" name="Freeform 72"/>
              <p:cNvSpPr/>
              <p:nvPr/>
            </p:nvSpPr>
            <p:spPr>
              <a:xfrm>
                <a:off x="7386637" y="20224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74" name="TextBox 74"/>
            <p:cNvSpPr txBox="1"/>
            <p:nvPr/>
          </p:nvSpPr>
          <p:spPr>
            <a:xfrm>
              <a:off x="7575804" y="1943100"/>
              <a:ext cx="3218148"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Embedded devices and the internet of things</a:t>
              </a:r>
            </a:p>
          </p:txBody>
        </p:sp>
        <p:grpSp>
          <p:nvGrpSpPr>
            <p:cNvPr id="77" name="Group 77"/>
            <p:cNvGrpSpPr/>
            <p:nvPr/>
          </p:nvGrpSpPr>
          <p:grpSpPr>
            <a:xfrm>
              <a:off x="7339012" y="2271712"/>
              <a:ext cx="142875" cy="142875"/>
              <a:chOff x="7339012" y="2271712"/>
              <a:chExt cx="142875" cy="142875"/>
            </a:xfrm>
          </p:grpSpPr>
          <p:sp>
            <p:nvSpPr>
              <p:cNvPr id="75" name="Freeform 75"/>
              <p:cNvSpPr/>
              <p:nvPr/>
            </p:nvSpPr>
            <p:spPr>
              <a:xfrm>
                <a:off x="7339012" y="22717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76" name="Freeform 76"/>
              <p:cNvSpPr/>
              <p:nvPr/>
            </p:nvSpPr>
            <p:spPr>
              <a:xfrm>
                <a:off x="7386637" y="23272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78" name="TextBox 78"/>
            <p:cNvSpPr txBox="1"/>
            <p:nvPr/>
          </p:nvSpPr>
          <p:spPr>
            <a:xfrm>
              <a:off x="7575804" y="2247900"/>
              <a:ext cx="160487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Application file format</a:t>
              </a:r>
            </a:p>
          </p:txBody>
        </p:sp>
        <p:grpSp>
          <p:nvGrpSpPr>
            <p:cNvPr id="81" name="Group 81"/>
            <p:cNvGrpSpPr/>
            <p:nvPr/>
          </p:nvGrpSpPr>
          <p:grpSpPr>
            <a:xfrm>
              <a:off x="7339012" y="2576512"/>
              <a:ext cx="142875" cy="142875"/>
              <a:chOff x="7339012" y="2576512"/>
              <a:chExt cx="142875" cy="142875"/>
            </a:xfrm>
          </p:grpSpPr>
          <p:sp>
            <p:nvSpPr>
              <p:cNvPr id="79" name="Freeform 79"/>
              <p:cNvSpPr/>
              <p:nvPr/>
            </p:nvSpPr>
            <p:spPr>
              <a:xfrm>
                <a:off x="7339012" y="25765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80" name="Freeform 80"/>
              <p:cNvSpPr/>
              <p:nvPr/>
            </p:nvSpPr>
            <p:spPr>
              <a:xfrm>
                <a:off x="7386637" y="26320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82" name="TextBox 82"/>
            <p:cNvSpPr txBox="1"/>
            <p:nvPr/>
          </p:nvSpPr>
          <p:spPr>
            <a:xfrm>
              <a:off x="7575804" y="2552700"/>
              <a:ext cx="225918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Websites under ~100K hits/day</a:t>
              </a:r>
            </a:p>
          </p:txBody>
        </p:sp>
        <p:grpSp>
          <p:nvGrpSpPr>
            <p:cNvPr id="85" name="Group 85"/>
            <p:cNvGrpSpPr/>
            <p:nvPr/>
          </p:nvGrpSpPr>
          <p:grpSpPr>
            <a:xfrm>
              <a:off x="7339012" y="2881312"/>
              <a:ext cx="142875" cy="142875"/>
              <a:chOff x="7339012" y="2881312"/>
              <a:chExt cx="142875" cy="142875"/>
            </a:xfrm>
          </p:grpSpPr>
          <p:sp>
            <p:nvSpPr>
              <p:cNvPr id="83" name="Freeform 83"/>
              <p:cNvSpPr/>
              <p:nvPr/>
            </p:nvSpPr>
            <p:spPr>
              <a:xfrm>
                <a:off x="7339012" y="28813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84" name="Freeform 84"/>
              <p:cNvSpPr/>
              <p:nvPr/>
            </p:nvSpPr>
            <p:spPr>
              <a:xfrm>
                <a:off x="7386637" y="29368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86" name="TextBox 86"/>
            <p:cNvSpPr txBox="1"/>
            <p:nvPr/>
          </p:nvSpPr>
          <p:spPr>
            <a:xfrm>
              <a:off x="7575804" y="2857500"/>
              <a:ext cx="942530"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Data analysis</a:t>
              </a:r>
            </a:p>
          </p:txBody>
        </p:sp>
        <p:grpSp>
          <p:nvGrpSpPr>
            <p:cNvPr id="89" name="Group 89"/>
            <p:cNvGrpSpPr/>
            <p:nvPr/>
          </p:nvGrpSpPr>
          <p:grpSpPr>
            <a:xfrm>
              <a:off x="7339012" y="3186112"/>
              <a:ext cx="142875" cy="142875"/>
              <a:chOff x="7339012" y="3186112"/>
              <a:chExt cx="142875" cy="142875"/>
            </a:xfrm>
          </p:grpSpPr>
          <p:sp>
            <p:nvSpPr>
              <p:cNvPr id="87" name="Freeform 87"/>
              <p:cNvSpPr/>
              <p:nvPr/>
            </p:nvSpPr>
            <p:spPr>
              <a:xfrm>
                <a:off x="7339012" y="31861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88" name="Freeform 88"/>
              <p:cNvSpPr/>
              <p:nvPr/>
            </p:nvSpPr>
            <p:spPr>
              <a:xfrm>
                <a:off x="7386637" y="32416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90" name="TextBox 90"/>
            <p:cNvSpPr txBox="1"/>
            <p:nvPr/>
          </p:nvSpPr>
          <p:spPr>
            <a:xfrm>
              <a:off x="7575804" y="3162300"/>
              <a:ext cx="181253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Cache for enterprise data</a:t>
              </a:r>
            </a:p>
          </p:txBody>
        </p:sp>
        <p:grpSp>
          <p:nvGrpSpPr>
            <p:cNvPr id="93" name="Group 93"/>
            <p:cNvGrpSpPr/>
            <p:nvPr/>
          </p:nvGrpSpPr>
          <p:grpSpPr>
            <a:xfrm>
              <a:off x="7339012" y="3490912"/>
              <a:ext cx="142875" cy="142875"/>
              <a:chOff x="7339012" y="3490912"/>
              <a:chExt cx="142875" cy="142875"/>
            </a:xfrm>
          </p:grpSpPr>
          <p:sp>
            <p:nvSpPr>
              <p:cNvPr id="91" name="Freeform 91"/>
              <p:cNvSpPr/>
              <p:nvPr/>
            </p:nvSpPr>
            <p:spPr>
              <a:xfrm>
                <a:off x="7339012" y="34909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92" name="Freeform 92"/>
              <p:cNvSpPr/>
              <p:nvPr/>
            </p:nvSpPr>
            <p:spPr>
              <a:xfrm>
                <a:off x="7386637" y="35464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94" name="TextBox 94"/>
            <p:cNvSpPr txBox="1"/>
            <p:nvPr/>
          </p:nvSpPr>
          <p:spPr>
            <a:xfrm>
              <a:off x="7575804" y="3467100"/>
              <a:ext cx="3094665"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Server-side database (e.g. one DB per user)</a:t>
              </a:r>
            </a:p>
          </p:txBody>
        </p:sp>
        <p:grpSp>
          <p:nvGrpSpPr>
            <p:cNvPr id="97" name="Group 97"/>
            <p:cNvGrpSpPr/>
            <p:nvPr/>
          </p:nvGrpSpPr>
          <p:grpSpPr>
            <a:xfrm>
              <a:off x="7339012" y="3795712"/>
              <a:ext cx="142875" cy="142875"/>
              <a:chOff x="7339012" y="3795712"/>
              <a:chExt cx="142875" cy="142875"/>
            </a:xfrm>
          </p:grpSpPr>
          <p:sp>
            <p:nvSpPr>
              <p:cNvPr id="95" name="Freeform 95"/>
              <p:cNvSpPr/>
              <p:nvPr/>
            </p:nvSpPr>
            <p:spPr>
              <a:xfrm>
                <a:off x="7339012" y="37957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96" name="Freeform 96"/>
              <p:cNvSpPr/>
              <p:nvPr/>
            </p:nvSpPr>
            <p:spPr>
              <a:xfrm>
                <a:off x="7386637" y="38512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98" name="TextBox 98"/>
            <p:cNvSpPr txBox="1"/>
            <p:nvPr/>
          </p:nvSpPr>
          <p:spPr>
            <a:xfrm>
              <a:off x="7575804" y="3771900"/>
              <a:ext cx="145938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Data transfer format</a:t>
              </a:r>
            </a:p>
          </p:txBody>
        </p:sp>
        <p:grpSp>
          <p:nvGrpSpPr>
            <p:cNvPr id="101" name="Group 101"/>
            <p:cNvGrpSpPr/>
            <p:nvPr/>
          </p:nvGrpSpPr>
          <p:grpSpPr>
            <a:xfrm>
              <a:off x="7339012" y="4100512"/>
              <a:ext cx="142875" cy="142875"/>
              <a:chOff x="7339012" y="4100512"/>
              <a:chExt cx="142875" cy="142875"/>
            </a:xfrm>
          </p:grpSpPr>
          <p:sp>
            <p:nvSpPr>
              <p:cNvPr id="99" name="Freeform 99"/>
              <p:cNvSpPr/>
              <p:nvPr/>
            </p:nvSpPr>
            <p:spPr>
              <a:xfrm>
                <a:off x="7339012" y="41005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100" name="Freeform 100"/>
              <p:cNvSpPr/>
              <p:nvPr/>
            </p:nvSpPr>
            <p:spPr>
              <a:xfrm>
                <a:off x="7386637" y="41560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102" name="TextBox 102"/>
            <p:cNvSpPr txBox="1"/>
            <p:nvPr/>
          </p:nvSpPr>
          <p:spPr>
            <a:xfrm>
              <a:off x="7575804" y="4076700"/>
              <a:ext cx="2074581"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File archive or data container</a:t>
              </a:r>
            </a:p>
          </p:txBody>
        </p:sp>
        <p:grpSp>
          <p:nvGrpSpPr>
            <p:cNvPr id="105" name="Group 105"/>
            <p:cNvGrpSpPr/>
            <p:nvPr/>
          </p:nvGrpSpPr>
          <p:grpSpPr>
            <a:xfrm>
              <a:off x="7339012" y="4405312"/>
              <a:ext cx="142875" cy="142875"/>
              <a:chOff x="7339012" y="4405312"/>
              <a:chExt cx="142875" cy="142875"/>
            </a:xfrm>
          </p:grpSpPr>
          <p:sp>
            <p:nvSpPr>
              <p:cNvPr id="103" name="Freeform 103"/>
              <p:cNvSpPr/>
              <p:nvPr/>
            </p:nvSpPr>
            <p:spPr>
              <a:xfrm>
                <a:off x="7339012" y="440531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1906">
                <a:solidFill>
                  <a:schemeClr val="accent3"/>
                </a:solidFill>
              </a:ln>
            </p:spPr>
          </p:sp>
          <p:sp>
            <p:nvSpPr>
              <p:cNvPr id="104" name="Freeform 104"/>
              <p:cNvSpPr/>
              <p:nvPr/>
            </p:nvSpPr>
            <p:spPr>
              <a:xfrm>
                <a:off x="7386637" y="4460875"/>
                <a:ext cx="47625" cy="31750"/>
              </a:xfrm>
              <a:custGeom>
                <a:avLst/>
                <a:gdLst/>
                <a:ahLst/>
                <a:cxnLst/>
                <a:rect l="l" t="t" r="r" b="b"/>
                <a:pathLst>
                  <a:path w="47625" h="31750">
                    <a:moveTo>
                      <a:pt x="0" y="15875"/>
                    </a:moveTo>
                    <a:lnTo>
                      <a:pt x="15875" y="31750"/>
                    </a:lnTo>
                    <a:lnTo>
                      <a:pt x="47625" y="0"/>
                    </a:lnTo>
                  </a:path>
                </a:pathLst>
              </a:custGeom>
              <a:noFill/>
              <a:ln w="11906">
                <a:solidFill>
                  <a:schemeClr val="accent3"/>
                </a:solidFill>
              </a:ln>
            </p:spPr>
          </p:sp>
        </p:grpSp>
        <p:sp>
          <p:nvSpPr>
            <p:cNvPr id="106" name="TextBox 106"/>
            <p:cNvSpPr txBox="1"/>
            <p:nvPr/>
          </p:nvSpPr>
          <p:spPr>
            <a:xfrm>
              <a:off x="7575804" y="4381500"/>
              <a:ext cx="2296607" cy="234696"/>
            </a:xfrm>
            <a:prstGeom prst="rect">
              <a:avLst/>
            </a:prstGeom>
            <a:noFill/>
            <a:ln>
              <a:noFill/>
            </a:ln>
          </p:spPr>
          <p:txBody>
            <a:bodyPr wrap="none" lIns="0" tIns="0" rIns="0" bIns="0" anchor="t" anchorCtr="0">
              <a:spAutoFit/>
            </a:bodyPr>
            <a:lstStyle/>
            <a:p>
              <a:pPr algn="l"/>
              <a:r>
                <a:rPr lang="en" sz="1200" dirty="0">
                  <a:solidFill>
                    <a:schemeClr val="dk1"/>
                  </a:solidFill>
                  <a:latin typeface="+mn-lt"/>
                  <a:ea typeface="+mn-ea"/>
                  <a:cs typeface="+mn-cs"/>
                </a:rPr>
                <a:t>Internal or temporary databases</a:t>
              </a:r>
            </a:p>
          </p:txBody>
        </p:sp>
      </p:grpSp>
      <p:grpSp>
        <p:nvGrpSpPr>
          <p:cNvPr id="110" name="traffic-note"/>
          <p:cNvGrpSpPr/>
          <p:nvPr/>
        </p:nvGrpSpPr>
        <p:grpSpPr>
          <a:xfrm>
            <a:off x="7315200" y="4902200"/>
            <a:ext cx="3171078" cy="653796"/>
            <a:chOff x="7315200" y="4902200"/>
            <a:chExt cx="3171078" cy="653796"/>
          </a:xfrm>
        </p:grpSpPr>
        <p:sp>
          <p:nvSpPr>
            <p:cNvPr id="108" name="Line 108"/>
            <p:cNvSpPr/>
            <p:nvPr/>
          </p:nvSpPr>
          <p:spPr>
            <a:xfrm>
              <a:off x="7315200" y="5010150"/>
              <a:ext cx="152400" cy="9525"/>
            </a:xfrm>
            <a:custGeom>
              <a:avLst/>
              <a:gdLst/>
              <a:ahLst/>
              <a:cxnLst/>
              <a:rect l="l" t="t" r="r" b="b"/>
              <a:pathLst>
                <a:path w="152400" h="9525">
                  <a:moveTo>
                    <a:pt x="0" y="0"/>
                  </a:moveTo>
                  <a:lnTo>
                    <a:pt x="152400" y="0"/>
                  </a:lnTo>
                </a:path>
              </a:pathLst>
            </a:custGeom>
            <a:noFill/>
            <a:ln w="19050">
              <a:solidFill>
                <a:schemeClr val="accent2"/>
              </a:solidFill>
            </a:ln>
          </p:spPr>
        </p:sp>
        <p:sp>
          <p:nvSpPr>
            <p:cNvPr id="109" name="TextBox 109"/>
            <p:cNvSpPr txBox="1"/>
            <p:nvPr/>
          </p:nvSpPr>
          <p:spPr>
            <a:xfrm>
              <a:off x="7537704" y="4902200"/>
              <a:ext cx="2948574" cy="653796"/>
            </a:xfrm>
            <a:prstGeom prst="rect">
              <a:avLst/>
            </a:prstGeom>
            <a:noFill/>
            <a:ln>
              <a:noFill/>
            </a:ln>
          </p:spPr>
          <p:txBody>
            <a:bodyPr wrap="none" lIns="0" tIns="0" rIns="0" bIns="0" anchor="t" anchorCtr="0">
              <a:spAutoFit/>
            </a:bodyPr>
            <a:lstStyle/>
            <a:p>
              <a:pPr algn="l">
                <a:lnSpc>
                  <a:spcPts val="1650"/>
                </a:lnSpc>
              </a:pPr>
              <a:r>
                <a:rPr lang="en" sz="1200" dirty="0">
                  <a:solidFill>
                    <a:schemeClr val="accent5"/>
                  </a:solidFill>
                  <a:latin typeface="+mn-lt"/>
                  <a:ea typeface="+mn-ea"/>
                  <a:cs typeface="+mn-cs"/>
                </a:rPr>
                <a:t>100K hits/day is a conservative estimate,</a:t>
              </a:r>
              <a:br>
                <a:rPr lang="en" sz="1200" dirty="0">
                  <a:solidFill>
                    <a:schemeClr val="accent5"/>
                  </a:solidFill>
                  <a:latin typeface="+mn-lt"/>
                  <a:ea typeface="+mn-ea"/>
                  <a:cs typeface="+mn-cs"/>
                </a:rPr>
              </a:br>
              <a:r>
                <a:rPr lang="en" sz="1200" dirty="0">
                  <a:solidFill>
                    <a:schemeClr val="accent5"/>
                  </a:solidFill>
                  <a:latin typeface="+mn-lt"/>
                  <a:ea typeface="+mn-ea"/>
                  <a:cs typeface="+mn-cs"/>
                </a:rPr>
                <a:t>not a hard upper bound — SQLite has been</a:t>
              </a:r>
              <a:br>
                <a:rPr lang="en" sz="1200" dirty="0">
                  <a:solidFill>
                    <a:schemeClr val="accent5"/>
                  </a:solidFill>
                  <a:latin typeface="+mn-lt"/>
                  <a:ea typeface="+mn-ea"/>
                  <a:cs typeface="+mn-cs"/>
                </a:rPr>
              </a:br>
              <a:r>
                <a:rPr lang="en" sz="1200" dirty="0">
                  <a:solidFill>
                    <a:schemeClr val="accent5"/>
                  </a:solidFill>
                  <a:latin typeface="+mn-lt"/>
                  <a:ea typeface="+mn-ea"/>
                  <a:cs typeface="+mn-cs"/>
                </a:rPr>
                <a:t>demonstrated at 10 times that traffic.</a:t>
              </a:r>
            </a:p>
          </p:txBody>
        </p:sp>
      </p:grpSp>
      <p:grpSp>
        <p:nvGrpSpPr>
          <p:cNvPr id="115" name="title-block"/>
          <p:cNvGrpSpPr/>
          <p:nvPr/>
        </p:nvGrpSpPr>
        <p:grpSpPr>
          <a:xfrm>
            <a:off x="8382000" y="6229350"/>
            <a:ext cx="3200400" cy="285750"/>
            <a:chOff x="8382000" y="6229350"/>
            <a:chExt cx="3200400" cy="285750"/>
          </a:xfrm>
        </p:grpSpPr>
        <p:sp>
          <p:nvSpPr>
            <p:cNvPr id="111" name="Rectangle 111"/>
            <p:cNvSpPr/>
            <p:nvPr/>
          </p:nvSpPr>
          <p:spPr>
            <a:xfrm>
              <a:off x="8382000" y="6229350"/>
              <a:ext cx="3200400" cy="285750"/>
            </a:xfrm>
            <a:prstGeom prst="rect">
              <a:avLst/>
            </a:prstGeom>
            <a:solidFill>
              <a:schemeClr val="lt2"/>
            </a:solidFill>
            <a:ln w="9525">
              <a:solidFill>
                <a:schemeClr val="accent6"/>
              </a:solidFill>
            </a:ln>
          </p:spPr>
        </p:sp>
        <p:sp>
          <p:nvSpPr>
            <p:cNvPr id="112" name="Line 112"/>
            <p:cNvSpPr/>
            <p:nvPr/>
          </p:nvSpPr>
          <p:spPr>
            <a:xfrm>
              <a:off x="9258300" y="6229350"/>
              <a:ext cx="9525" cy="285750"/>
            </a:xfrm>
            <a:custGeom>
              <a:avLst/>
              <a:gdLst/>
              <a:ahLst/>
              <a:cxnLst/>
              <a:rect l="l" t="t" r="r" b="b"/>
              <a:pathLst>
                <a:path w="9525" h="285750">
                  <a:moveTo>
                    <a:pt x="0" y="0"/>
                  </a:moveTo>
                  <a:lnTo>
                    <a:pt x="0" y="285750"/>
                  </a:lnTo>
                </a:path>
              </a:pathLst>
            </a:custGeom>
            <a:noFill/>
            <a:ln w="9525">
              <a:solidFill>
                <a:schemeClr val="accent6"/>
              </a:solidFill>
            </a:ln>
          </p:spPr>
        </p:sp>
        <p:sp>
          <p:nvSpPr>
            <p:cNvPr id="113" name="TextBox 113"/>
            <p:cNvSpPr txBox="1"/>
            <p:nvPr/>
          </p:nvSpPr>
          <p:spPr>
            <a:xfrm>
              <a:off x="8491347" y="6305550"/>
              <a:ext cx="699912" cy="191643"/>
            </a:xfrm>
            <a:prstGeom prst="rect">
              <a:avLst/>
            </a:prstGeom>
            <a:noFill/>
            <a:ln>
              <a:noFill/>
            </a:ln>
          </p:spPr>
          <p:txBody>
            <a:bodyPr wrap="none" lIns="0" tIns="0" rIns="0" bIns="0" anchor="t" anchorCtr="0">
              <a:spAutoFit/>
            </a:bodyPr>
            <a:lstStyle/>
            <a:p>
              <a:pPr algn="l"/>
              <a:r>
                <a:rPr lang="en" sz="980" dirty="0">
                  <a:solidFill>
                    <a:schemeClr val="accent1"/>
                  </a:solidFill>
                  <a:latin typeface="Consolas"/>
                  <a:ea typeface="Consolas"/>
                  <a:cs typeface="Consolas"/>
                </a:rPr>
                <a:t>SHT 11/12</a:t>
              </a:r>
            </a:p>
          </p:txBody>
        </p:sp>
        <p:sp>
          <p:nvSpPr>
            <p:cNvPr id="114" name="TextBox 114"/>
            <p:cNvSpPr txBox="1"/>
            <p:nvPr/>
          </p:nvSpPr>
          <p:spPr>
            <a:xfrm>
              <a:off x="9367647" y="6292850"/>
              <a:ext cx="1703924"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Source: sqlite.org/whentouse</a:t>
              </a:r>
            </a:p>
          </p:txBody>
        </p:sp>
      </p:grpSp>
    </p:spTree>
  </p:cSld>
  <p:clrMapOvr>
    <a:masterClrMapping/>
  </p:clrMapOvr>
  <p:transition xmlns:p14="http://schemas.microsoft.com/office/powerpoint/2010/mai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par>
                          <p:cTn id="8" fill="hold">
                            <p:stCondLst>
                              <p:cond delay="500"/>
                            </p:stCondLst>
                            <p:childTnLst>
                              <p:par>
                                <p:cTn xmlns:p="http://schemas.openxmlformats.org/presentationml/2006/main" id="9" presetID="22" presetClass="entr" presetSubtype="4" fill="hold" grpId="0" nodeType="afterEffect">
                                  <p:stCondLst>
                                    <p:cond delay="500"/>
                                  </p:stCondLst>
                                  <p:childTnLst>
                                    <p:set>
                                      <p:cBhvr>
                                        <p:cTn id="10" dur="1" fill="hold">
                                          <p:stCondLst>
                                            <p:cond delay="0"/>
                                          </p:stCondLst>
                                        </p:cTn>
                                        <p:tgtEl>
                                          <p:spTgt spid="51"/>
                                        </p:tgtEl>
                                        <p:attrNameLst>
                                          <p:attrName>style.visibility</p:attrName>
                                        </p:attrNameLst>
                                      </p:cBhvr>
                                      <p:to>
                                        <p:strVal val="visible"/>
                                      </p:to>
                                    </p:set>
                                    <p:animEffect transition="in" filter="wipe(down)">
                                      <p:cBhvr>
                                        <p:cTn id="11" dur="500"/>
                                        <p:tgtEl>
                                          <p:spTgt spid="51"/>
                                        </p:tgtEl>
                                      </p:cBhvr>
                                    </p:animEffect>
                                  </p:childTnLst>
                                </p:cTn>
                              </p:par>
                            </p:childTnLst>
                          </p:cTn>
                        </p:par>
                        <p:par>
                          <p:cTn id="12" fill="hold">
                            <p:stCondLst>
                              <p:cond delay="1500"/>
                            </p:stCondLst>
                            <p:childTnLst>
                              <p:par>
                                <p:cTn xmlns:p="http://schemas.openxmlformats.org/presentationml/2006/main" id="13" presetID="22" presetClass="entr" presetSubtype="4" fill="hold" grpId="0" nodeType="afterEffect">
                                  <p:stCondLst>
                                    <p:cond delay="500"/>
                                  </p:stCondLst>
                                  <p:childTnLst>
                                    <p:set>
                                      <p:cBhvr>
                                        <p:cTn id="14" dur="1" fill="hold">
                                          <p:stCondLst>
                                            <p:cond delay="0"/>
                                          </p:stCondLst>
                                        </p:cTn>
                                        <p:tgtEl>
                                          <p:spTgt spid="66"/>
                                        </p:tgtEl>
                                        <p:attrNameLst>
                                          <p:attrName>style.visibility</p:attrName>
                                        </p:attrNameLst>
                                      </p:cBhvr>
                                      <p:to>
                                        <p:strVal val="visible"/>
                                      </p:to>
                                    </p:set>
                                    <p:animEffect transition="in" filter="wipe(down)">
                                      <p:cBhvr>
                                        <p:cTn id="15" dur="500"/>
                                        <p:tgtEl>
                                          <p:spTgt spid="66"/>
                                        </p:tgtEl>
                                      </p:cBhvr>
                                    </p:animEffect>
                                  </p:childTnLst>
                                </p:cTn>
                              </p:par>
                            </p:childTnLst>
                          </p:cTn>
                        </p:par>
                        <p:par>
                          <p:cTn id="16" fill="hold">
                            <p:stCondLst>
                              <p:cond delay="2500"/>
                            </p:stCondLst>
                            <p:childTnLst>
                              <p:par>
                                <p:cTn xmlns:p="http://schemas.openxmlformats.org/presentationml/2006/main" id="17" presetID="23" presetClass="entr" presetSubtype="16" fill="hold" grpId="0" nodeType="afterEffect">
                                  <p:stCondLst>
                                    <p:cond delay="500"/>
                                  </p:stCondLst>
                                  <p:childTnLst>
                                    <p:set>
                                      <p:cBhvr>
                                        <p:cTn id="18" dur="1" fill="hold">
                                          <p:stCondLst>
                                            <p:cond delay="0"/>
                                          </p:stCondLst>
                                        </p:cTn>
                                        <p:tgtEl>
                                          <p:spTgt spid="69"/>
                                        </p:tgtEl>
                                        <p:attrNameLst>
                                          <p:attrName>style.visibility</p:attrName>
                                        </p:attrNameLst>
                                      </p:cBhvr>
                                      <p:to>
                                        <p:strVal val="visible"/>
                                      </p:to>
                                    </p:set>
                                    <p:anim calcmode="lin" valueType="num">
                                      <p:cBhvr>
                                        <p:cTn id="19" dur="600" fill="hold"/>
                                        <p:tgtEl>
                                          <p:spTgt spid="69"/>
                                        </p:tgtEl>
                                        <p:attrNameLst>
                                          <p:attrName>ppt_w</p:attrName>
                                        </p:attrNameLst>
                                      </p:cBhvr>
                                      <p:tavLst>
                                        <p:tav tm="0">
                                          <p:val>
                                            <p:fltVal val="0"/>
                                          </p:val>
                                        </p:tav>
                                        <p:tav tm="100000">
                                          <p:val>
                                            <p:strVal val="#ppt_w"/>
                                          </p:val>
                                        </p:tav>
                                      </p:tavLst>
                                    </p:anim>
                                    <p:anim calcmode="lin" valueType="num">
                                      <p:cBhvr>
                                        <p:cTn id="20" dur="600" fill="hold"/>
                                        <p:tgtEl>
                                          <p:spTgt spid="69"/>
                                        </p:tgtEl>
                                        <p:attrNameLst>
                                          <p:attrName>ppt_h</p:attrName>
                                        </p:attrNameLst>
                                      </p:cBhvr>
                                      <p:tavLst>
                                        <p:tav tm="0">
                                          <p:val>
                                            <p:fltVal val="0"/>
                                          </p:val>
                                        </p:tav>
                                        <p:tav tm="100000">
                                          <p:val>
                                            <p:strVal val="#ppt_h"/>
                                          </p:val>
                                        </p:tav>
                                      </p:tavLst>
                                    </p:anim>
                                  </p:childTnLst>
                                </p:cTn>
                              </p:par>
                            </p:childTnLst>
                          </p:cTn>
                        </p:par>
                        <p:par>
                          <p:cTn id="21" fill="hold">
                            <p:stCondLst>
                              <p:cond delay="3600"/>
                            </p:stCondLst>
                            <p:childTnLst>
                              <p:par>
                                <p:cTn xmlns:p="http://schemas.openxmlformats.org/presentationml/2006/main" id="22" presetID="10" presetClass="entr" presetSubtype="0" fill="hold" grpId="0" nodeType="afterEffect">
                                  <p:stCondLst>
                                    <p:cond delay="500"/>
                                  </p:stCondLst>
                                  <p:childTnLst>
                                    <p:set>
                                      <p:cBhvr>
                                        <p:cTn id="23" dur="1" fill="hold">
                                          <p:stCondLst>
                                            <p:cond delay="0"/>
                                          </p:stCondLst>
                                        </p:cTn>
                                        <p:tgtEl>
                                          <p:spTgt spid="107"/>
                                        </p:tgtEl>
                                        <p:attrNameLst>
                                          <p:attrName>style.visibility</p:attrName>
                                        </p:attrNameLst>
                                      </p:cBhvr>
                                      <p:to>
                                        <p:strVal val="visible"/>
                                      </p:to>
                                    </p:set>
                                    <p:animEffect transition="in" filter="fade">
                                      <p:cBhvr>
                                        <p:cTn id="24" dur="500"/>
                                        <p:tgtEl>
                                          <p:spTgt spid="107"/>
                                        </p:tgtEl>
                                      </p:cBhvr>
                                    </p:animEffect>
                                  </p:childTnLst>
                                </p:cTn>
                              </p:par>
                            </p:childTnLst>
                          </p:cTn>
                        </p:par>
                        <p:par>
                          <p:cTn id="25" fill="hold">
                            <p:stCondLst>
                              <p:cond delay="4600"/>
                            </p:stCondLst>
                            <p:childTnLst>
                              <p:par>
                                <p:cTn xmlns:p="http://schemas.openxmlformats.org/presentationml/2006/main" id="26" presetID="10" presetClass="entr" presetSubtype="0" fill="hold" grpId="0" nodeType="afterEffect">
                                  <p:stCondLst>
                                    <p:cond delay="500"/>
                                  </p:stCondLst>
                                  <p:childTnLst>
                                    <p:set>
                                      <p:cBhvr>
                                        <p:cTn id="27" dur="1" fill="hold">
                                          <p:stCondLst>
                                            <p:cond delay="0"/>
                                          </p:stCondLst>
                                        </p:cTn>
                                        <p:tgtEl>
                                          <p:spTgt spid="110"/>
                                        </p:tgtEl>
                                        <p:attrNameLst>
                                          <p:attrName>style.visibility</p:attrName>
                                        </p:attrNameLst>
                                      </p:cBhvr>
                                      <p:to>
                                        <p:strVal val="visible"/>
                                      </p:to>
                                    </p:set>
                                    <p:animEffect transition="in" filter="fade">
                                      <p:cBhvr>
                                        <p:cTn id="28" dur="4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closing-field"/>
          <p:cNvPicPr>
            <a:picLocks noChangeAspect="1"/>
          </p:cNvPicPr>
          <p:nvPr/>
        </p:nvPicPr>
        <p:blipFill>
          <a:blip r:embed="rId2"/>
          <a:srcRect l="389" t="0" r="389" b="0"/>
          <a:stretch>
            <a:fillRect/>
          </a:stretch>
        </p:blipFill>
        <p:spPr>
          <a:xfrm>
            <a:off x="0" y="0"/>
            <a:ext cx="12192000" cy="6858000"/>
          </a:xfrm>
          <a:prstGeom prst="rect">
            <a:avLst/>
          </a:prstGeom>
        </p:spPr>
      </p:pic>
      <p:sp>
        <p:nvSpPr>
          <p:cNvPr id="3" name="closing-scrim"/>
          <p:cNvSpPr/>
          <p:nvPr/>
        </p:nvSpPr>
        <p:spPr>
          <a:xfrm>
            <a:off x="0" y="0"/>
            <a:ext cx="12192000" cy="6858000"/>
          </a:xfrm>
          <a:prstGeom prst="rect">
            <a:avLst/>
          </a:prstGeom>
          <a:gradFill>
            <a:gsLst>
              <a:gs pos="0">
                <a:schemeClr val="lt1">
                  <a:alpha val="92000"/>
                </a:schemeClr>
              </a:gs>
              <a:gs pos="55000">
                <a:schemeClr val="lt1">
                  <a:alpha val="62000"/>
                </a:schemeClr>
              </a:gs>
              <a:gs pos="100000">
                <a:schemeClr val="lt1">
                  <a:alpha val="30000"/>
                </a:schemeClr>
              </a:gs>
            </a:gsLst>
            <a:lin ang="0" scaled="1"/>
          </a:gradFill>
          <a:ln>
            <a:noFill/>
          </a:ln>
        </p:spPr>
      </p:sp>
      <p:grpSp>
        <p:nvGrpSpPr>
          <p:cNvPr id="6" name="closing-kicker"/>
          <p:cNvGrpSpPr/>
          <p:nvPr/>
        </p:nvGrpSpPr>
        <p:grpSpPr>
          <a:xfrm>
            <a:off x="699913" y="1500516"/>
            <a:ext cx="2337838" cy="275262"/>
            <a:chOff x="699913" y="1500516"/>
            <a:chExt cx="2337838" cy="275262"/>
          </a:xfrm>
        </p:grpSpPr>
        <p:sp>
          <p:nvSpPr>
            <p:cNvPr id="4" name="Freeform 4"/>
            <p:cNvSpPr/>
            <p:nvPr/>
          </p:nvSpPr>
          <p:spPr>
            <a:xfrm>
              <a:off x="699913" y="1500516"/>
              <a:ext cx="254755" cy="271135"/>
            </a:xfrm>
            <a:custGeom>
              <a:avLst/>
              <a:gdLst/>
              <a:ahLst/>
              <a:cxnLst/>
              <a:rect l="l" t="t" r="r" b="b"/>
              <a:pathLst>
                <a:path w="254755" h="271135">
                  <a:moveTo>
                    <a:pt x="226785" y="10224"/>
                  </a:moveTo>
                  <a:cubicBezTo>
                    <a:pt x="215316" y="0"/>
                    <a:pt x="201448" y="4112"/>
                    <a:pt x="187746" y="16269"/>
                  </a:cubicBezTo>
                  <a:cubicBezTo>
                    <a:pt x="185634" y="18160"/>
                    <a:pt x="183606" y="20144"/>
                    <a:pt x="181668" y="22214"/>
                  </a:cubicBezTo>
                  <a:cubicBezTo>
                    <a:pt x="158231" y="47073"/>
                    <a:pt x="136484" y="93112"/>
                    <a:pt x="129728" y="128272"/>
                  </a:cubicBezTo>
                  <a:cubicBezTo>
                    <a:pt x="132361" y="133606"/>
                    <a:pt x="134417" y="140418"/>
                    <a:pt x="135773" y="145619"/>
                  </a:cubicBezTo>
                  <a:cubicBezTo>
                    <a:pt x="136452" y="148205"/>
                    <a:pt x="137060" y="150810"/>
                    <a:pt x="137595" y="153431"/>
                  </a:cubicBezTo>
                  <a:cubicBezTo>
                    <a:pt x="137595" y="153431"/>
                    <a:pt x="137384" y="152642"/>
                    <a:pt x="136529" y="150141"/>
                  </a:cubicBezTo>
                  <a:lnTo>
                    <a:pt x="135973" y="148519"/>
                  </a:lnTo>
                  <a:cubicBezTo>
                    <a:pt x="135858" y="148220"/>
                    <a:pt x="135736" y="147923"/>
                    <a:pt x="135606" y="147630"/>
                  </a:cubicBezTo>
                  <a:cubicBezTo>
                    <a:pt x="134073" y="144074"/>
                    <a:pt x="129850" y="136573"/>
                    <a:pt x="127983" y="133306"/>
                  </a:cubicBezTo>
                  <a:cubicBezTo>
                    <a:pt x="126394" y="138007"/>
                    <a:pt x="124983" y="142396"/>
                    <a:pt x="123805" y="146374"/>
                  </a:cubicBezTo>
                  <a:cubicBezTo>
                    <a:pt x="129183" y="156198"/>
                    <a:pt x="132450" y="173044"/>
                    <a:pt x="132450" y="173044"/>
                  </a:cubicBezTo>
                  <a:cubicBezTo>
                    <a:pt x="132450" y="173044"/>
                    <a:pt x="132172" y="171944"/>
                    <a:pt x="130817" y="168133"/>
                  </a:cubicBezTo>
                  <a:cubicBezTo>
                    <a:pt x="129628" y="164766"/>
                    <a:pt x="123660" y="154309"/>
                    <a:pt x="122238" y="151864"/>
                  </a:cubicBezTo>
                  <a:cubicBezTo>
                    <a:pt x="119826" y="160798"/>
                    <a:pt x="118860" y="166821"/>
                    <a:pt x="119726" y="168288"/>
                  </a:cubicBezTo>
                  <a:cubicBezTo>
                    <a:pt x="121416" y="171133"/>
                    <a:pt x="123016" y="176045"/>
                    <a:pt x="124416" y="181468"/>
                  </a:cubicBezTo>
                  <a:cubicBezTo>
                    <a:pt x="127594" y="193691"/>
                    <a:pt x="129805" y="208582"/>
                    <a:pt x="129805" y="208582"/>
                  </a:cubicBezTo>
                  <a:lnTo>
                    <a:pt x="129994" y="211071"/>
                  </a:lnTo>
                  <a:cubicBezTo>
                    <a:pt x="129577" y="221254"/>
                    <a:pt x="129785" y="231452"/>
                    <a:pt x="130617" y="241609"/>
                  </a:cubicBezTo>
                  <a:cubicBezTo>
                    <a:pt x="131672" y="254344"/>
                    <a:pt x="133650" y="265278"/>
                    <a:pt x="136173" y="271135"/>
                  </a:cubicBezTo>
                  <a:lnTo>
                    <a:pt x="137895" y="270201"/>
                  </a:lnTo>
                  <a:cubicBezTo>
                    <a:pt x="134184" y="258666"/>
                    <a:pt x="132673" y="243542"/>
                    <a:pt x="133339" y="226118"/>
                  </a:cubicBezTo>
                  <a:cubicBezTo>
                    <a:pt x="134339" y="199470"/>
                    <a:pt x="140474" y="167333"/>
                    <a:pt x="151797" y="133839"/>
                  </a:cubicBezTo>
                  <a:cubicBezTo>
                    <a:pt x="170944" y="83277"/>
                    <a:pt x="197503" y="42705"/>
                    <a:pt x="221806" y="23325"/>
                  </a:cubicBezTo>
                  <a:cubicBezTo>
                    <a:pt x="199659" y="43328"/>
                    <a:pt x="169666" y="108114"/>
                    <a:pt x="160687" y="132095"/>
                  </a:cubicBezTo>
                  <a:cubicBezTo>
                    <a:pt x="150641" y="158943"/>
                    <a:pt x="143518" y="184146"/>
                    <a:pt x="139229" y="208293"/>
                  </a:cubicBezTo>
                  <a:cubicBezTo>
                    <a:pt x="146630" y="185657"/>
                    <a:pt x="170577" y="175934"/>
                    <a:pt x="170577" y="175934"/>
                  </a:cubicBezTo>
                  <a:cubicBezTo>
                    <a:pt x="170577" y="175934"/>
                    <a:pt x="182323" y="161443"/>
                    <a:pt x="196047" y="140751"/>
                  </a:cubicBezTo>
                  <a:cubicBezTo>
                    <a:pt x="187824" y="142629"/>
                    <a:pt x="174322" y="145841"/>
                    <a:pt x="169799" y="147741"/>
                  </a:cubicBezTo>
                  <a:cubicBezTo>
                    <a:pt x="163132" y="150530"/>
                    <a:pt x="161332" y="151486"/>
                    <a:pt x="161332" y="151486"/>
                  </a:cubicBezTo>
                  <a:cubicBezTo>
                    <a:pt x="161332" y="151486"/>
                    <a:pt x="182946" y="138329"/>
                    <a:pt x="201481" y="132372"/>
                  </a:cubicBezTo>
                  <a:cubicBezTo>
                    <a:pt x="226973" y="92223"/>
                    <a:pt x="254755" y="35182"/>
                    <a:pt x="226785" y="10224"/>
                  </a:cubicBezTo>
                  <a:moveTo>
                    <a:pt x="20391" y="16258"/>
                  </a:moveTo>
                  <a:cubicBezTo>
                    <a:pt x="9143" y="16300"/>
                    <a:pt x="37" y="25412"/>
                    <a:pt x="0" y="36660"/>
                  </a:cubicBezTo>
                  <a:lnTo>
                    <a:pt x="0" y="221217"/>
                  </a:lnTo>
                  <a:cubicBezTo>
                    <a:pt x="37" y="232462"/>
                    <a:pt x="9147" y="241567"/>
                    <a:pt x="20391" y="241598"/>
                  </a:cubicBezTo>
                  <a:lnTo>
                    <a:pt x="125049" y="241598"/>
                  </a:lnTo>
                  <a:cubicBezTo>
                    <a:pt x="124265" y="231590"/>
                    <a:pt x="124072" y="221546"/>
                    <a:pt x="124471" y="211516"/>
                  </a:cubicBezTo>
                  <a:cubicBezTo>
                    <a:pt x="124405" y="210827"/>
                    <a:pt x="124349" y="209949"/>
                    <a:pt x="124294" y="209293"/>
                  </a:cubicBezTo>
                  <a:cubicBezTo>
                    <a:pt x="122938" y="200411"/>
                    <a:pt x="121184" y="191593"/>
                    <a:pt x="119037" y="182868"/>
                  </a:cubicBezTo>
                  <a:cubicBezTo>
                    <a:pt x="117693" y="177645"/>
                    <a:pt x="115981" y="172889"/>
                    <a:pt x="114937" y="171122"/>
                  </a:cubicBezTo>
                  <a:cubicBezTo>
                    <a:pt x="113648" y="168933"/>
                    <a:pt x="113848" y="167677"/>
                    <a:pt x="113859" y="166321"/>
                  </a:cubicBezTo>
                  <a:cubicBezTo>
                    <a:pt x="113859" y="164988"/>
                    <a:pt x="114026" y="163599"/>
                    <a:pt x="114270" y="162032"/>
                  </a:cubicBezTo>
                  <a:cubicBezTo>
                    <a:pt x="114928" y="158117"/>
                    <a:pt x="115797" y="154241"/>
                    <a:pt x="116870" y="150419"/>
                  </a:cubicBezTo>
                  <a:lnTo>
                    <a:pt x="119282" y="150108"/>
                  </a:lnTo>
                  <a:cubicBezTo>
                    <a:pt x="119093" y="149719"/>
                    <a:pt x="119126" y="149386"/>
                    <a:pt x="118937" y="149030"/>
                  </a:cubicBezTo>
                  <a:lnTo>
                    <a:pt x="118482" y="144796"/>
                  </a:lnTo>
                  <a:cubicBezTo>
                    <a:pt x="119812" y="140347"/>
                    <a:pt x="121227" y="135923"/>
                    <a:pt x="122727" y="131528"/>
                  </a:cubicBezTo>
                  <a:lnTo>
                    <a:pt x="124949" y="131317"/>
                  </a:lnTo>
                  <a:cubicBezTo>
                    <a:pt x="124860" y="131139"/>
                    <a:pt x="124838" y="130895"/>
                    <a:pt x="124749" y="130728"/>
                  </a:cubicBezTo>
                  <a:lnTo>
                    <a:pt x="124271" y="127216"/>
                  </a:lnTo>
                  <a:cubicBezTo>
                    <a:pt x="131272" y="90767"/>
                    <a:pt x="153020" y="44506"/>
                    <a:pt x="177612" y="18413"/>
                  </a:cubicBezTo>
                  <a:cubicBezTo>
                    <a:pt x="178345" y="17647"/>
                    <a:pt x="179090" y="16991"/>
                    <a:pt x="179812" y="16258"/>
                  </a:cubicBezTo>
                  <a:close/>
                </a:path>
              </a:pathLst>
            </a:custGeom>
            <a:solidFill>
              <a:schemeClr val="accent1"/>
            </a:solidFill>
            <a:ln>
              <a:noFill/>
            </a:ln>
          </p:spPr>
        </p:sp>
        <p:sp>
          <p:nvSpPr>
            <p:cNvPr id="5" name="TextBox 5"/>
            <p:cNvSpPr txBox="1"/>
            <p:nvPr/>
          </p:nvSpPr>
          <p:spPr>
            <a:xfrm>
              <a:off x="1061085" y="1555750"/>
              <a:ext cx="1976666" cy="220028"/>
            </a:xfrm>
            <a:prstGeom prst="rect">
              <a:avLst/>
            </a:prstGeom>
            <a:noFill/>
            <a:ln>
              <a:noFill/>
            </a:ln>
          </p:spPr>
          <p:txBody>
            <a:bodyPr wrap="none" lIns="0" tIns="0" rIns="0" bIns="0" anchor="t" anchorCtr="0">
              <a:spAutoFit/>
            </a:bodyPr>
            <a:lstStyle/>
            <a:p>
              <a:pPr algn="l"/>
              <a:r>
                <a:rPr lang="en" sz="1120" spc="150" dirty="0">
                  <a:solidFill>
                    <a:schemeClr val="accent5"/>
                  </a:solidFill>
                  <a:latin typeface="+mn-lt"/>
                  <a:ea typeface="+mn-ea"/>
                  <a:cs typeface="+mn-cs"/>
                </a:rPr>
                <a:t>SHEET 12 · TAKEAWAY</a:t>
              </a:r>
            </a:p>
          </p:txBody>
        </p:sp>
      </p:grpSp>
      <p:grpSp>
        <p:nvGrpSpPr>
          <p:cNvPr id="8" name="closing-title"/>
          <p:cNvGrpSpPr/>
          <p:nvPr/>
        </p:nvGrpSpPr>
        <p:grpSpPr>
          <a:xfrm>
            <a:off x="666750" y="1835150"/>
            <a:ext cx="6232874" cy="1943100"/>
            <a:chOff x="666750" y="1835150"/>
            <a:chExt cx="6232874" cy="1943100"/>
          </a:xfrm>
        </p:grpSpPr>
        <p:sp>
          <p:nvSpPr>
            <p:cNvPr id="7" name="TextBox 7"/>
            <p:cNvSpPr txBox="1"/>
            <p:nvPr/>
          </p:nvSpPr>
          <p:spPr>
            <a:xfrm>
              <a:off x="666750" y="1835150"/>
              <a:ext cx="6232874" cy="1943100"/>
            </a:xfrm>
            <a:prstGeom prst="rect">
              <a:avLst/>
            </a:prstGeom>
            <a:noFill/>
            <a:ln>
              <a:noFill/>
            </a:ln>
          </p:spPr>
          <p:txBody>
            <a:bodyPr wrap="none" lIns="0" tIns="0" rIns="0" bIns="0" anchor="t" anchorCtr="0">
              <a:spAutoFit/>
            </a:bodyPr>
            <a:lstStyle/>
            <a:p>
              <a:pPr algn="l">
                <a:lnSpc>
                  <a:spcPts val="6600"/>
                </a:lnSpc>
              </a:pPr>
              <a:r>
                <a:rPr lang="en" sz="5700" b="1" dirty="0">
                  <a:solidFill>
                    <a:schemeClr val="dk1"/>
                  </a:solidFill>
                  <a:latin typeface="+mj-lt"/>
                  <a:ea typeface="+mj-ea"/>
                  <a:cs typeface="+mj-cs"/>
                </a:rPr>
                <a:t>SQLite competes</a:t>
              </a:r>
              <a:br>
                <a:rPr lang="en" sz="5700" b="1" dirty="0">
                  <a:solidFill>
                    <a:schemeClr val="dk1"/>
                  </a:solidFill>
                  <a:latin typeface="+mj-lt"/>
                  <a:ea typeface="+mj-ea"/>
                  <a:cs typeface="+mj-cs"/>
                </a:rPr>
              </a:br>
              <a:r>
                <a:rPr lang="en" sz="5700" b="1" dirty="0">
                  <a:solidFill>
                    <a:schemeClr val="dk1"/>
                  </a:solidFill>
                  <a:latin typeface="+mj-lt"/>
                  <a:ea typeface="+mj-ea"/>
                  <a:cs typeface="+mj-cs"/>
                </a:rPr>
                <a:t xml:space="preserve">with </a:t>
              </a:r>
              <a:r>
                <a:rPr lang="en" sz="5700" b="1" dirty="0">
                  <a:solidFill>
                    <a:schemeClr val="accent2"/>
                  </a:solidFill>
                  <a:latin typeface="Consolas"/>
                  <a:ea typeface="Consolas"/>
                  <a:cs typeface="Consolas"/>
                </a:rPr>
                <a:t>fopen()</a:t>
              </a:r>
            </a:p>
          </p:txBody>
        </p:sp>
      </p:grpSp>
      <p:grpSp>
        <p:nvGrpSpPr>
          <p:cNvPr id="10" name="closing-takeaway"/>
          <p:cNvGrpSpPr/>
          <p:nvPr/>
        </p:nvGrpSpPr>
        <p:grpSpPr>
          <a:xfrm>
            <a:off x="675894" y="3683000"/>
            <a:ext cx="7537463" cy="381381"/>
            <a:chOff x="675894" y="3683000"/>
            <a:chExt cx="7537463" cy="381381"/>
          </a:xfrm>
        </p:grpSpPr>
        <p:sp>
          <p:nvSpPr>
            <p:cNvPr id="9" name="TextBox 9"/>
            <p:cNvSpPr txBox="1"/>
            <p:nvPr/>
          </p:nvSpPr>
          <p:spPr>
            <a:xfrm>
              <a:off x="675894" y="3683000"/>
              <a:ext cx="7537463" cy="381381"/>
            </a:xfrm>
            <a:prstGeom prst="rect">
              <a:avLst/>
            </a:prstGeom>
            <a:noFill/>
            <a:ln>
              <a:noFill/>
            </a:ln>
          </p:spPr>
          <p:txBody>
            <a:bodyPr wrap="none" lIns="0" tIns="0" rIns="0" bIns="0" anchor="t" anchorCtr="0">
              <a:spAutoFit/>
            </a:bodyPr>
            <a:lstStyle/>
            <a:p>
              <a:pPr algn="l"/>
              <a:r>
                <a:rPr lang="en" sz="1950" dirty="0">
                  <a:solidFill>
                    <a:schemeClr val="dk1"/>
                  </a:solidFill>
                  <a:latin typeface="+mn-lt"/>
                  <a:ea typeface="+mn-ea"/>
                  <a:cs typeface="+mn-cs"/>
                </a:rPr>
                <a:t xml:space="preserve">Reach for SQLite wherever you would have reached for </a:t>
              </a:r>
              <a:r>
                <a:rPr lang="en" sz="1950" dirty="0">
                  <a:solidFill>
                    <a:schemeClr val="accent2"/>
                  </a:solidFill>
                  <a:latin typeface="Consolas"/>
                  <a:ea typeface="Consolas"/>
                  <a:cs typeface="Consolas"/>
                </a:rPr>
                <a:t>fopen()</a:t>
              </a:r>
              <a:r>
                <a:rPr lang="en" sz="1950" dirty="0">
                  <a:solidFill>
                    <a:schemeClr val="dk1"/>
                  </a:solidFill>
                  <a:latin typeface="+mn-lt"/>
                  <a:ea typeface="+mn-ea"/>
                  <a:cs typeface="+mn-cs"/>
                </a:rPr>
                <a:t>.</a:t>
              </a:r>
            </a:p>
          </p:txBody>
        </p:sp>
      </p:grpSp>
      <p:grpSp>
        <p:nvGrpSpPr>
          <p:cNvPr id="16" name="reason-architecture"/>
          <p:cNvGrpSpPr/>
          <p:nvPr/>
        </p:nvGrpSpPr>
        <p:grpSpPr>
          <a:xfrm>
            <a:off x="685800" y="4305300"/>
            <a:ext cx="3200400" cy="647700"/>
            <a:chOff x="685800" y="4305300"/>
            <a:chExt cx="3200400" cy="647700"/>
          </a:xfrm>
        </p:grpSpPr>
        <p:sp>
          <p:nvSpPr>
            <p:cNvPr id="11" name="Rectangle 11"/>
            <p:cNvSpPr/>
            <p:nvPr/>
          </p:nvSpPr>
          <p:spPr>
            <a:xfrm>
              <a:off x="685800" y="4305300"/>
              <a:ext cx="3200400" cy="647700"/>
            </a:xfrm>
            <a:prstGeom prst="roundRect">
              <a:avLst>
                <a:gd name="adj" fmla="val 2941"/>
              </a:avLst>
            </a:prstGeom>
            <a:solidFill>
              <a:schemeClr val="lt1">
                <a:alpha val="60000"/>
              </a:schemeClr>
            </a:solidFill>
            <a:ln w="14288">
              <a:solidFill>
                <a:schemeClr val="accent1"/>
              </a:solidFill>
            </a:ln>
          </p:spPr>
        </p:sp>
        <p:grpSp>
          <p:nvGrpSpPr>
            <p:cNvPr id="14" name="Group 14"/>
            <p:cNvGrpSpPr/>
            <p:nvPr/>
          </p:nvGrpSpPr>
          <p:grpSpPr>
            <a:xfrm>
              <a:off x="885825" y="4543425"/>
              <a:ext cx="133350" cy="171450"/>
              <a:chOff x="885825" y="4543425"/>
              <a:chExt cx="133350" cy="171450"/>
            </a:xfrm>
          </p:grpSpPr>
          <p:sp>
            <p:nvSpPr>
              <p:cNvPr id="12" name="Freeform 12"/>
              <p:cNvSpPr/>
              <p:nvPr/>
            </p:nvSpPr>
            <p:spPr>
              <a:xfrm>
                <a:off x="971550" y="4543425"/>
                <a:ext cx="47625" cy="47625"/>
              </a:xfrm>
              <a:custGeom>
                <a:avLst/>
                <a:gdLst/>
                <a:ahLst/>
                <a:cxnLst/>
                <a:rect l="l" t="t" r="r" b="b"/>
                <a:pathLst>
                  <a:path w="47625" h="47625">
                    <a:moveTo>
                      <a:pt x="0" y="0"/>
                    </a:moveTo>
                    <a:lnTo>
                      <a:pt x="0" y="38100"/>
                    </a:lnTo>
                    <a:cubicBezTo>
                      <a:pt x="0" y="43361"/>
                      <a:pt x="4264" y="47625"/>
                      <a:pt x="9525" y="47625"/>
                    </a:cubicBezTo>
                    <a:lnTo>
                      <a:pt x="47625" y="47625"/>
                    </a:lnTo>
                  </a:path>
                </a:pathLst>
              </a:custGeom>
              <a:noFill/>
              <a:ln w="14288">
                <a:solidFill>
                  <a:schemeClr val="accent1"/>
                </a:solidFill>
              </a:ln>
            </p:spPr>
          </p:sp>
          <p:sp>
            <p:nvSpPr>
              <p:cNvPr id="13" name="Freeform 13"/>
              <p:cNvSpPr/>
              <p:nvPr/>
            </p:nvSpPr>
            <p:spPr>
              <a:xfrm>
                <a:off x="885825" y="4543425"/>
                <a:ext cx="133350" cy="171450"/>
              </a:xfrm>
              <a:custGeom>
                <a:avLst/>
                <a:gdLst/>
                <a:ahLst/>
                <a:cxnLst/>
                <a:rect l="l" t="t" r="r" b="b"/>
                <a:pathLst>
                  <a:path w="133350" h="171450">
                    <a:moveTo>
                      <a:pt x="114300" y="171450"/>
                    </a:moveTo>
                    <a:lnTo>
                      <a:pt x="19050" y="171450"/>
                    </a:lnTo>
                    <a:cubicBezTo>
                      <a:pt x="8529" y="171450"/>
                      <a:pt x="0" y="162921"/>
                      <a:pt x="0" y="152400"/>
                    </a:cubicBezTo>
                    <a:lnTo>
                      <a:pt x="0" y="19050"/>
                    </a:lnTo>
                    <a:cubicBezTo>
                      <a:pt x="0" y="8529"/>
                      <a:pt x="8529" y="0"/>
                      <a:pt x="19050" y="0"/>
                    </a:cubicBezTo>
                    <a:lnTo>
                      <a:pt x="85725" y="0"/>
                    </a:lnTo>
                    <a:lnTo>
                      <a:pt x="133350" y="47625"/>
                    </a:lnTo>
                    <a:lnTo>
                      <a:pt x="133350" y="152400"/>
                    </a:lnTo>
                    <a:cubicBezTo>
                      <a:pt x="133350" y="162921"/>
                      <a:pt x="124821" y="171450"/>
                      <a:pt x="114300" y="171450"/>
                    </a:cubicBezTo>
                  </a:path>
                </a:pathLst>
              </a:custGeom>
              <a:noFill/>
              <a:ln w="14288">
                <a:solidFill>
                  <a:schemeClr val="accent1"/>
                </a:solidFill>
              </a:ln>
            </p:spPr>
          </p:sp>
        </p:grpSp>
        <p:sp>
          <p:nvSpPr>
            <p:cNvPr id="15" name="TextBox 15"/>
            <p:cNvSpPr txBox="1"/>
            <p:nvPr/>
          </p:nvSpPr>
          <p:spPr>
            <a:xfrm>
              <a:off x="1175004" y="4406900"/>
              <a:ext cx="1918472"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In-process, one ordinary file,</a:t>
              </a:r>
              <a:br>
                <a:rPr lang="en" sz="1200" dirty="0">
                  <a:solidFill>
                    <a:schemeClr val="dk1"/>
                  </a:solidFill>
                  <a:latin typeface="+mn-lt"/>
                  <a:ea typeface="+mn-ea"/>
                  <a:cs typeface="+mn-cs"/>
                </a:rPr>
              </a:br>
              <a:r>
                <a:rPr lang="en" sz="1200" dirty="0">
                  <a:solidFill>
                    <a:schemeClr val="dk1"/>
                  </a:solidFill>
                  <a:latin typeface="+mn-lt"/>
                  <a:ea typeface="+mn-ea"/>
                  <a:cs typeface="+mn-cs"/>
                </a:rPr>
                <a:t>zero configuration</a:t>
              </a:r>
            </a:p>
          </p:txBody>
        </p:sp>
      </p:grpSp>
      <p:grpSp>
        <p:nvGrpSpPr>
          <p:cNvPr id="22" name="reason-trust"/>
          <p:cNvGrpSpPr/>
          <p:nvPr/>
        </p:nvGrpSpPr>
        <p:grpSpPr>
          <a:xfrm>
            <a:off x="4076700" y="4305300"/>
            <a:ext cx="3200400" cy="647700"/>
            <a:chOff x="4076700" y="4305300"/>
            <a:chExt cx="3200400" cy="647700"/>
          </a:xfrm>
        </p:grpSpPr>
        <p:sp>
          <p:nvSpPr>
            <p:cNvPr id="17" name="Rectangle 17"/>
            <p:cNvSpPr/>
            <p:nvPr/>
          </p:nvSpPr>
          <p:spPr>
            <a:xfrm>
              <a:off x="4076700" y="4305300"/>
              <a:ext cx="3200400" cy="647700"/>
            </a:xfrm>
            <a:prstGeom prst="roundRect">
              <a:avLst>
                <a:gd name="adj" fmla="val 2941"/>
              </a:avLst>
            </a:prstGeom>
            <a:solidFill>
              <a:schemeClr val="lt1">
                <a:alpha val="60000"/>
              </a:schemeClr>
            </a:solidFill>
            <a:ln w="14288">
              <a:solidFill>
                <a:schemeClr val="accent1"/>
              </a:solidFill>
            </a:ln>
          </p:spPr>
        </p:sp>
        <p:grpSp>
          <p:nvGrpSpPr>
            <p:cNvPr id="20" name="Group 20"/>
            <p:cNvGrpSpPr/>
            <p:nvPr/>
          </p:nvGrpSpPr>
          <p:grpSpPr>
            <a:xfrm>
              <a:off x="4244821" y="4543425"/>
              <a:ext cx="186006" cy="171450"/>
              <a:chOff x="4244821" y="4543425"/>
              <a:chExt cx="186006" cy="171450"/>
            </a:xfrm>
          </p:grpSpPr>
          <p:sp>
            <p:nvSpPr>
              <p:cNvPr id="18" name="Freeform 18"/>
              <p:cNvSpPr/>
              <p:nvPr/>
            </p:nvSpPr>
            <p:spPr>
              <a:xfrm>
                <a:off x="4244821" y="4543425"/>
                <a:ext cx="186006" cy="169983"/>
              </a:xfrm>
              <a:custGeom>
                <a:avLst/>
                <a:gdLst/>
                <a:ahLst/>
                <a:cxnLst/>
                <a:rect l="l" t="t" r="r" b="b"/>
                <a:pathLst>
                  <a:path w="186006" h="169983">
                    <a:moveTo>
                      <a:pt x="93436" y="169983"/>
                    </a:moveTo>
                    <a:cubicBezTo>
                      <a:pt x="33766" y="151487"/>
                      <a:pt x="0" y="88510"/>
                      <a:pt x="17617" y="28575"/>
                    </a:cubicBezTo>
                    <a:cubicBezTo>
                      <a:pt x="47292" y="29933"/>
                      <a:pt x="76331" y="19684"/>
                      <a:pt x="98579" y="0"/>
                    </a:cubicBezTo>
                    <a:cubicBezTo>
                      <a:pt x="120828" y="19684"/>
                      <a:pt x="149867" y="29933"/>
                      <a:pt x="179542" y="28575"/>
                    </a:cubicBezTo>
                    <a:cubicBezTo>
                      <a:pt x="186006" y="50569"/>
                      <a:pt x="185708" y="73999"/>
                      <a:pt x="178685" y="95822"/>
                    </a:cubicBezTo>
                  </a:path>
                </a:pathLst>
              </a:custGeom>
              <a:noFill/>
              <a:ln w="14288">
                <a:solidFill>
                  <a:schemeClr val="accent1"/>
                </a:solidFill>
              </a:ln>
            </p:spPr>
          </p:sp>
          <p:sp>
            <p:nvSpPr>
              <p:cNvPr id="19" name="Freeform 19"/>
              <p:cNvSpPr/>
              <p:nvPr/>
            </p:nvSpPr>
            <p:spPr>
              <a:xfrm>
                <a:off x="4371975" y="4676775"/>
                <a:ext cx="57150" cy="38100"/>
              </a:xfrm>
              <a:custGeom>
                <a:avLst/>
                <a:gdLst/>
                <a:ahLst/>
                <a:cxnLst/>
                <a:rect l="l" t="t" r="r" b="b"/>
                <a:pathLst>
                  <a:path w="57150" h="38100">
                    <a:moveTo>
                      <a:pt x="0" y="19050"/>
                    </a:moveTo>
                    <a:lnTo>
                      <a:pt x="19050" y="38100"/>
                    </a:lnTo>
                    <a:lnTo>
                      <a:pt x="57150" y="0"/>
                    </a:lnTo>
                  </a:path>
                </a:pathLst>
              </a:custGeom>
              <a:noFill/>
              <a:ln w="14288">
                <a:solidFill>
                  <a:schemeClr val="accent1"/>
                </a:solidFill>
              </a:ln>
            </p:spPr>
          </p:sp>
        </p:grpSp>
        <p:sp>
          <p:nvSpPr>
            <p:cNvPr id="21" name="TextBox 21"/>
            <p:cNvSpPr txBox="1"/>
            <p:nvPr/>
          </p:nvSpPr>
          <p:spPr>
            <a:xfrm>
              <a:off x="4565904" y="4406900"/>
              <a:ext cx="1806214"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Test code 590× the library,</a:t>
              </a:r>
              <a:br>
                <a:rPr lang="en" sz="1200" dirty="0">
                  <a:solidFill>
                    <a:schemeClr val="dk1"/>
                  </a:solidFill>
                  <a:latin typeface="+mn-lt"/>
                  <a:ea typeface="+mn-ea"/>
                  <a:cs typeface="+mn-cs"/>
                </a:rPr>
              </a:br>
              <a:r>
                <a:rPr lang="en" sz="1200" dirty="0">
                  <a:solidFill>
                    <a:schemeClr val="dk1"/>
                  </a:solidFill>
                  <a:latin typeface="+mn-lt"/>
                  <a:ea typeface="+mn-ea"/>
                  <a:cs typeface="+mn-cs"/>
                </a:rPr>
                <a:t>100% branch and MC/DC</a:t>
              </a:r>
            </a:p>
          </p:txBody>
        </p:sp>
      </p:grpSp>
      <p:grpSp>
        <p:nvGrpSpPr>
          <p:cNvPr id="29" name="reason-freedom"/>
          <p:cNvGrpSpPr/>
          <p:nvPr/>
        </p:nvGrpSpPr>
        <p:grpSpPr>
          <a:xfrm>
            <a:off x="7467600" y="4305300"/>
            <a:ext cx="3200400" cy="647700"/>
            <a:chOff x="7467600" y="4305300"/>
            <a:chExt cx="3200400" cy="647700"/>
          </a:xfrm>
        </p:grpSpPr>
        <p:sp>
          <p:nvSpPr>
            <p:cNvPr id="23" name="Rectangle 23"/>
            <p:cNvSpPr/>
            <p:nvPr/>
          </p:nvSpPr>
          <p:spPr>
            <a:xfrm>
              <a:off x="7467600" y="4305300"/>
              <a:ext cx="3200400" cy="647700"/>
            </a:xfrm>
            <a:prstGeom prst="roundRect">
              <a:avLst>
                <a:gd name="adj" fmla="val 2941"/>
              </a:avLst>
            </a:prstGeom>
            <a:solidFill>
              <a:schemeClr val="lt1">
                <a:alpha val="60000"/>
              </a:schemeClr>
            </a:solidFill>
            <a:ln w="14288">
              <a:solidFill>
                <a:schemeClr val="accent1"/>
              </a:solidFill>
            </a:ln>
          </p:spPr>
        </p:sp>
        <p:grpSp>
          <p:nvGrpSpPr>
            <p:cNvPr id="27" name="Group 27"/>
            <p:cNvGrpSpPr/>
            <p:nvPr/>
          </p:nvGrpSpPr>
          <p:grpSpPr>
            <a:xfrm>
              <a:off x="7648575" y="4543425"/>
              <a:ext cx="171450" cy="171450"/>
              <a:chOff x="7648575" y="4543425"/>
              <a:chExt cx="171450" cy="171450"/>
            </a:xfrm>
          </p:grpSpPr>
          <p:sp>
            <p:nvSpPr>
              <p:cNvPr id="24" name="Freeform 24"/>
              <p:cNvSpPr/>
              <p:nvPr/>
            </p:nvSpPr>
            <p:spPr>
              <a:xfrm>
                <a:off x="7648575" y="4543425"/>
                <a:ext cx="171450" cy="171450"/>
              </a:xfrm>
              <a:custGeom>
                <a:avLst/>
                <a:gdLst/>
                <a:ahLst/>
                <a:cxnLst/>
                <a:rect l="l" t="t" r="r" b="b"/>
                <a:pathLst>
                  <a:path w="171450" h="171450">
                    <a:moveTo>
                      <a:pt x="114300" y="171450"/>
                    </a:moveTo>
                    <a:lnTo>
                      <a:pt x="28575" y="171450"/>
                    </a:lnTo>
                    <a:cubicBezTo>
                      <a:pt x="12793" y="171450"/>
                      <a:pt x="0" y="158657"/>
                      <a:pt x="0" y="142875"/>
                    </a:cubicBezTo>
                    <a:lnTo>
                      <a:pt x="0" y="133350"/>
                    </a:lnTo>
                    <a:lnTo>
                      <a:pt x="95250" y="133350"/>
                    </a:lnTo>
                    <a:lnTo>
                      <a:pt x="95250" y="152400"/>
                    </a:lnTo>
                    <a:cubicBezTo>
                      <a:pt x="95250" y="162921"/>
                      <a:pt x="103779" y="171450"/>
                      <a:pt x="114300" y="171450"/>
                    </a:cubicBezTo>
                    <a:cubicBezTo>
                      <a:pt x="124821" y="171450"/>
                      <a:pt x="133350" y="162921"/>
                      <a:pt x="133350" y="152400"/>
                    </a:cubicBezTo>
                    <a:lnTo>
                      <a:pt x="133350" y="19050"/>
                    </a:lnTo>
                    <a:cubicBezTo>
                      <a:pt x="133350" y="8529"/>
                      <a:pt x="141879" y="0"/>
                      <a:pt x="152400" y="0"/>
                    </a:cubicBezTo>
                    <a:cubicBezTo>
                      <a:pt x="162921" y="0"/>
                      <a:pt x="171450" y="8529"/>
                      <a:pt x="171450" y="19050"/>
                    </a:cubicBezTo>
                    <a:cubicBezTo>
                      <a:pt x="171450" y="29571"/>
                      <a:pt x="162921" y="38100"/>
                      <a:pt x="152400" y="38100"/>
                    </a:cubicBezTo>
                    <a:lnTo>
                      <a:pt x="133350" y="38100"/>
                    </a:lnTo>
                    <a:moveTo>
                      <a:pt x="152400" y="0"/>
                    </a:moveTo>
                    <a:lnTo>
                      <a:pt x="47625" y="0"/>
                    </a:lnTo>
                    <a:cubicBezTo>
                      <a:pt x="31843" y="0"/>
                      <a:pt x="19050" y="12793"/>
                      <a:pt x="19050" y="28575"/>
                    </a:cubicBezTo>
                    <a:lnTo>
                      <a:pt x="19050" y="133350"/>
                    </a:lnTo>
                  </a:path>
                </a:pathLst>
              </a:custGeom>
              <a:noFill/>
              <a:ln w="14288">
                <a:solidFill>
                  <a:schemeClr val="accent1"/>
                </a:solidFill>
              </a:ln>
            </p:spPr>
          </p:sp>
          <p:sp>
            <p:nvSpPr>
              <p:cNvPr id="25" name="Freeform 25"/>
              <p:cNvSpPr/>
              <p:nvPr/>
            </p:nvSpPr>
            <p:spPr>
              <a:xfrm>
                <a:off x="7705725" y="4581525"/>
                <a:ext cx="38100" cy="9525"/>
              </a:xfrm>
              <a:custGeom>
                <a:avLst/>
                <a:gdLst/>
                <a:ahLst/>
                <a:cxnLst/>
                <a:rect l="l" t="t" r="r" b="b"/>
                <a:pathLst>
                  <a:path w="38100" h="9525">
                    <a:moveTo>
                      <a:pt x="0" y="0"/>
                    </a:moveTo>
                    <a:lnTo>
                      <a:pt x="38100" y="0"/>
                    </a:lnTo>
                  </a:path>
                </a:pathLst>
              </a:custGeom>
              <a:noFill/>
              <a:ln w="14288">
                <a:solidFill>
                  <a:schemeClr val="accent1"/>
                </a:solidFill>
              </a:ln>
            </p:spPr>
          </p:sp>
          <p:sp>
            <p:nvSpPr>
              <p:cNvPr id="26" name="Freeform 26"/>
              <p:cNvSpPr/>
              <p:nvPr/>
            </p:nvSpPr>
            <p:spPr>
              <a:xfrm>
                <a:off x="7705725" y="4619625"/>
                <a:ext cx="38100" cy="9525"/>
              </a:xfrm>
              <a:custGeom>
                <a:avLst/>
                <a:gdLst/>
                <a:ahLst/>
                <a:cxnLst/>
                <a:rect l="l" t="t" r="r" b="b"/>
                <a:pathLst>
                  <a:path w="38100" h="9525">
                    <a:moveTo>
                      <a:pt x="0" y="0"/>
                    </a:moveTo>
                    <a:lnTo>
                      <a:pt x="38100" y="0"/>
                    </a:lnTo>
                  </a:path>
                </a:pathLst>
              </a:custGeom>
              <a:noFill/>
              <a:ln w="14288">
                <a:solidFill>
                  <a:schemeClr val="accent1"/>
                </a:solidFill>
              </a:ln>
            </p:spPr>
          </p:sp>
        </p:grpSp>
        <p:sp>
          <p:nvSpPr>
            <p:cNvPr id="28" name="TextBox 28"/>
            <p:cNvSpPr txBox="1"/>
            <p:nvPr/>
          </p:nvSpPr>
          <p:spPr>
            <a:xfrm>
              <a:off x="7956804" y="4406900"/>
              <a:ext cx="1698056" cy="444246"/>
            </a:xfrm>
            <a:prstGeom prst="rect">
              <a:avLst/>
            </a:prstGeom>
            <a:noFill/>
            <a:ln>
              <a:noFill/>
            </a:ln>
          </p:spPr>
          <p:txBody>
            <a:bodyPr wrap="none" lIns="0" tIns="0" rIns="0" bIns="0" anchor="t" anchorCtr="0">
              <a:spAutoFit/>
            </a:bodyPr>
            <a:lstStyle/>
            <a:p>
              <a:pPr algn="l">
                <a:lnSpc>
                  <a:spcPts val="1650"/>
                </a:lnSpc>
              </a:pPr>
              <a:r>
                <a:rPr lang="en" sz="1200" dirty="0">
                  <a:solidFill>
                    <a:schemeClr val="dk1"/>
                  </a:solidFill>
                  <a:latin typeface="+mn-lt"/>
                  <a:ea typeface="+mn-ea"/>
                  <a:cs typeface="+mn-cs"/>
                </a:rPr>
                <a:t>Public domain — free for</a:t>
              </a:r>
              <a:br>
                <a:rPr lang="en" sz="1200" dirty="0">
                  <a:solidFill>
                    <a:schemeClr val="dk1"/>
                  </a:solidFill>
                  <a:latin typeface="+mn-lt"/>
                  <a:ea typeface="+mn-ea"/>
                  <a:cs typeface="+mn-cs"/>
                </a:rPr>
              </a:br>
              <a:r>
                <a:rPr lang="en" sz="1200" dirty="0">
                  <a:solidFill>
                    <a:schemeClr val="dk1"/>
                  </a:solidFill>
                  <a:latin typeface="+mn-lt"/>
                  <a:ea typeface="+mn-ea"/>
                  <a:cs typeface="+mn-cs"/>
                </a:rPr>
                <a:t>any purpose, no license</a:t>
              </a:r>
            </a:p>
          </p:txBody>
        </p:sp>
      </p:grpSp>
      <p:grpSp>
        <p:nvGrpSpPr>
          <p:cNvPr id="32" name="closing-motto"/>
          <p:cNvGrpSpPr/>
          <p:nvPr/>
        </p:nvGrpSpPr>
        <p:grpSpPr>
          <a:xfrm>
            <a:off x="675132" y="5422900"/>
            <a:ext cx="7075160" cy="661543"/>
            <a:chOff x="675132" y="5422900"/>
            <a:chExt cx="7075160" cy="661543"/>
          </a:xfrm>
        </p:grpSpPr>
        <p:sp>
          <p:nvSpPr>
            <p:cNvPr id="30" name="TextBox 30"/>
            <p:cNvSpPr txBox="1"/>
            <p:nvPr/>
          </p:nvSpPr>
          <p:spPr>
            <a:xfrm>
              <a:off x="675132" y="5422900"/>
              <a:ext cx="5631320" cy="410718"/>
            </a:xfrm>
            <a:prstGeom prst="rect">
              <a:avLst/>
            </a:prstGeom>
            <a:noFill/>
            <a:ln>
              <a:noFill/>
            </a:ln>
          </p:spPr>
          <p:txBody>
            <a:bodyPr wrap="none" lIns="0" tIns="0" rIns="0" bIns="0" anchor="t" anchorCtr="0">
              <a:spAutoFit/>
            </a:bodyPr>
            <a:lstStyle/>
            <a:p>
              <a:pPr algn="l"/>
              <a:r>
                <a:rPr lang="en" sz="2100" dirty="0">
                  <a:solidFill>
                    <a:schemeClr val="accent1"/>
                  </a:solidFill>
                  <a:latin typeface="+mj-lt"/>
                  <a:ea typeface="+mj-ea"/>
                  <a:cs typeface="+mj-cs"/>
                </a:rPr>
                <a:t xml:space="preserve">Small. Fast. Reliable. </a:t>
              </a:r>
              <a:r>
                <a:rPr lang="en" sz="2100" dirty="0">
                  <a:solidFill>
                    <a:schemeClr val="accent2"/>
                  </a:solidFill>
                  <a:latin typeface="+mj-lt"/>
                  <a:ea typeface="+mj-ea"/>
                  <a:cs typeface="+mj-cs"/>
                </a:rPr>
                <a:t>Choose any three.</a:t>
              </a:r>
            </a:p>
          </p:txBody>
        </p:sp>
        <p:sp>
          <p:nvSpPr>
            <p:cNvPr id="31" name="TextBox 31"/>
            <p:cNvSpPr txBox="1"/>
            <p:nvPr/>
          </p:nvSpPr>
          <p:spPr>
            <a:xfrm>
              <a:off x="680847" y="5892800"/>
              <a:ext cx="7069445" cy="191643"/>
            </a:xfrm>
            <a:prstGeom prst="rect">
              <a:avLst/>
            </a:prstGeom>
            <a:noFill/>
            <a:ln>
              <a:noFill/>
            </a:ln>
          </p:spPr>
          <p:txBody>
            <a:bodyPr wrap="none" lIns="0" tIns="0" rIns="0" bIns="0" anchor="t" anchorCtr="0">
              <a:spAutoFit/>
            </a:bodyPr>
            <a:lstStyle/>
            <a:p>
              <a:pPr algn="l"/>
              <a:r>
                <a:rPr lang="en" sz="980" dirty="0">
                  <a:solidFill>
                    <a:schemeClr val="accent5"/>
                  </a:solidFill>
                  <a:latin typeface="+mn-lt"/>
                  <a:ea typeface="+mn-ea"/>
                  <a:cs typeface="+mn-cs"/>
                </a:rPr>
                <a:t>Motto and every figure in this deck: sqlite.org (about, mostdeployed, arch, fileformat2, wal, testing, copyright, whentouse)</a:t>
              </a:r>
            </a:p>
          </p:txBody>
        </p:sp>
      </p:grpSp>
    </p:spTree>
  </p:cSld>
  <p:clrMapOvr>
    <a:masterClrMapping/>
  </p:clrMapOvr>
  <p:transition xmlns:p14="http://schemas.microsoft.com/office/powerpoint/2010/main" p14:dur="6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800"/>
                                        <p:tgtEl>
                                          <p:spTgt spid="8"/>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600"/>
                                        <p:tgtEl>
                                          <p:spTgt spid="10"/>
                                        </p:tgtEl>
                                      </p:cBhvr>
                                    </p:animEffect>
                                  </p:childTnLst>
                                </p:cTn>
                              </p:par>
                            </p:childTnLst>
                          </p:cTn>
                        </p:par>
                        <p:par>
                          <p:cTn id="12" fill="hold">
                            <p:stCondLst>
                              <p:cond delay="1900"/>
                            </p:stCondLst>
                            <p:childTnLst>
                              <p:par>
                                <p:cTn xmlns:p="http://schemas.openxmlformats.org/presentationml/2006/main" id="13" presetID="30" presetClass="entr" presetSubtype="0" fill="hold" grpId="0" nodeType="afterEffect">
                                  <p:stCondLst>
                                    <p:cond delay="50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decel="100000"/>
                                        <p:tgtEl>
                                          <p:spTgt spid="16"/>
                                        </p:tgtEl>
                                      </p:cBhvr>
                                    </p:animEffect>
                                    <p:anim calcmode="lin" valueType="num">
                                      <p:cBhvr>
                                        <p:cTn id="16" dur="400" decel="100000" fill="hold"/>
                                        <p:tgtEl>
                                          <p:spTgt spid="16"/>
                                        </p:tgtEl>
                                        <p:attrNameLst>
                                          <p:attrName>style.rotation</p:attrName>
                                        </p:attrNameLst>
                                      </p:cBhvr>
                                      <p:tavLst>
                                        <p:tav tm="0">
                                          <p:val>
                                            <p:fltVal val="-90"/>
                                          </p:val>
                                        </p:tav>
                                        <p:tav tm="100000">
                                          <p:val>
                                            <p:fltVal val="0"/>
                                          </p:val>
                                        </p:tav>
                                      </p:tavLst>
                                    </p:anim>
                                    <p:anim calcmode="lin" valueType="num">
                                      <p:cBhvr>
                                        <p:cTn id="17" dur="400" decel="100000" fill="hold"/>
                                        <p:tgtEl>
                                          <p:spTgt spid="16"/>
                                        </p:tgtEl>
                                        <p:attrNameLst>
                                          <p:attrName>ppt_x</p:attrName>
                                        </p:attrNameLst>
                                      </p:cBhvr>
                                      <p:tavLst>
                                        <p:tav tm="0">
                                          <p:val>
                                            <p:strVal val="#ppt_x+0.4"/>
                                          </p:val>
                                        </p:tav>
                                        <p:tav tm="100000">
                                          <p:val>
                                            <p:strVal val="#ppt_x-0.05"/>
                                          </p:val>
                                        </p:tav>
                                      </p:tavLst>
                                    </p:anim>
                                    <p:anim calcmode="lin" valueType="num">
                                      <p:cBhvr>
                                        <p:cTn id="18" dur="400" decel="100000" fill="hold"/>
                                        <p:tgtEl>
                                          <p:spTgt spid="16"/>
                                        </p:tgtEl>
                                        <p:attrNameLst>
                                          <p:attrName>ppt_y</p:attrName>
                                        </p:attrNameLst>
                                      </p:cBhvr>
                                      <p:tavLst>
                                        <p:tav tm="0">
                                          <p:val>
                                            <p:strVal val="#ppt_y-0.4"/>
                                          </p:val>
                                        </p:tav>
                                        <p:tav tm="100000">
                                          <p:val>
                                            <p:strVal val="#ppt_y+0.1"/>
                                          </p:val>
                                        </p:tav>
                                      </p:tavLst>
                                    </p:anim>
                                    <p:anim calcmode="lin" valueType="num">
                                      <p:cBhvr>
                                        <p:cTn id="19" dur="100" accel="100000" fill="hold">
                                          <p:stCondLst>
                                            <p:cond delay="400"/>
                                          </p:stCondLst>
                                        </p:cTn>
                                        <p:tgtEl>
                                          <p:spTgt spid="16"/>
                                        </p:tgtEl>
                                        <p:attrNameLst>
                                          <p:attrName>ppt_x</p:attrName>
                                        </p:attrNameLst>
                                      </p:cBhvr>
                                      <p:tavLst>
                                        <p:tav tm="0">
                                          <p:val>
                                            <p:strVal val="#ppt_x-0.05"/>
                                          </p:val>
                                        </p:tav>
                                        <p:tav tm="100000">
                                          <p:val>
                                            <p:strVal val="#ppt_x"/>
                                          </p:val>
                                        </p:tav>
                                      </p:tavLst>
                                    </p:anim>
                                    <p:anim calcmode="lin" valueType="num">
                                      <p:cBhvr>
                                        <p:cTn id="20" dur="100" accel="100000" fill="hold">
                                          <p:stCondLst>
                                            <p:cond delay="400"/>
                                          </p:stCondLst>
                                        </p:cTn>
                                        <p:tgtEl>
                                          <p:spTgt spid="16"/>
                                        </p:tgtEl>
                                        <p:attrNameLst>
                                          <p:attrName>ppt_y</p:attrName>
                                        </p:attrNameLst>
                                      </p:cBhvr>
                                      <p:tavLst>
                                        <p:tav tm="0">
                                          <p:val>
                                            <p:strVal val="#ppt_y+0.1"/>
                                          </p:val>
                                        </p:tav>
                                        <p:tav tm="100000">
                                          <p:val>
                                            <p:strVal val="#ppt_y"/>
                                          </p:val>
                                        </p:tav>
                                      </p:tavLst>
                                    </p:anim>
                                  </p:childTnLst>
                                </p:cTn>
                              </p:par>
                            </p:childTnLst>
                          </p:cTn>
                        </p:par>
                        <p:par>
                          <p:cTn id="21" fill="hold">
                            <p:stCondLst>
                              <p:cond delay="2900"/>
                            </p:stCondLst>
                            <p:childTnLst>
                              <p:par>
                                <p:cTn xmlns:p="http://schemas.openxmlformats.org/presentationml/2006/main" id="22" presetID="30" presetClass="entr" presetSubtype="0" fill="hold" grpId="0" nodeType="afterEffect">
                                  <p:stCondLst>
                                    <p:cond delay="50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400" decel="100000"/>
                                        <p:tgtEl>
                                          <p:spTgt spid="22"/>
                                        </p:tgtEl>
                                      </p:cBhvr>
                                    </p:animEffect>
                                    <p:anim calcmode="lin" valueType="num">
                                      <p:cBhvr>
                                        <p:cTn id="25" dur="400" decel="100000" fill="hold"/>
                                        <p:tgtEl>
                                          <p:spTgt spid="22"/>
                                        </p:tgtEl>
                                        <p:attrNameLst>
                                          <p:attrName>style.rotation</p:attrName>
                                        </p:attrNameLst>
                                      </p:cBhvr>
                                      <p:tavLst>
                                        <p:tav tm="0">
                                          <p:val>
                                            <p:fltVal val="-90"/>
                                          </p:val>
                                        </p:tav>
                                        <p:tav tm="100000">
                                          <p:val>
                                            <p:fltVal val="0"/>
                                          </p:val>
                                        </p:tav>
                                      </p:tavLst>
                                    </p:anim>
                                    <p:anim calcmode="lin" valueType="num">
                                      <p:cBhvr>
                                        <p:cTn id="26" dur="400" decel="100000" fill="hold"/>
                                        <p:tgtEl>
                                          <p:spTgt spid="22"/>
                                        </p:tgtEl>
                                        <p:attrNameLst>
                                          <p:attrName>ppt_x</p:attrName>
                                        </p:attrNameLst>
                                      </p:cBhvr>
                                      <p:tavLst>
                                        <p:tav tm="0">
                                          <p:val>
                                            <p:strVal val="#ppt_x+0.4"/>
                                          </p:val>
                                        </p:tav>
                                        <p:tav tm="100000">
                                          <p:val>
                                            <p:strVal val="#ppt_x-0.05"/>
                                          </p:val>
                                        </p:tav>
                                      </p:tavLst>
                                    </p:anim>
                                    <p:anim calcmode="lin" valueType="num">
                                      <p:cBhvr>
                                        <p:cTn id="27" dur="400" decel="100000" fill="hold"/>
                                        <p:tgtEl>
                                          <p:spTgt spid="22"/>
                                        </p:tgtEl>
                                        <p:attrNameLst>
                                          <p:attrName>ppt_y</p:attrName>
                                        </p:attrNameLst>
                                      </p:cBhvr>
                                      <p:tavLst>
                                        <p:tav tm="0">
                                          <p:val>
                                            <p:strVal val="#ppt_y-0.4"/>
                                          </p:val>
                                        </p:tav>
                                        <p:tav tm="100000">
                                          <p:val>
                                            <p:strVal val="#ppt_y+0.1"/>
                                          </p:val>
                                        </p:tav>
                                      </p:tavLst>
                                    </p:anim>
                                    <p:anim calcmode="lin" valueType="num">
                                      <p:cBhvr>
                                        <p:cTn id="28" dur="100" accel="100000" fill="hold">
                                          <p:stCondLst>
                                            <p:cond delay="400"/>
                                          </p:stCondLst>
                                        </p:cTn>
                                        <p:tgtEl>
                                          <p:spTgt spid="22"/>
                                        </p:tgtEl>
                                        <p:attrNameLst>
                                          <p:attrName>ppt_x</p:attrName>
                                        </p:attrNameLst>
                                      </p:cBhvr>
                                      <p:tavLst>
                                        <p:tav tm="0">
                                          <p:val>
                                            <p:strVal val="#ppt_x-0.05"/>
                                          </p:val>
                                        </p:tav>
                                        <p:tav tm="100000">
                                          <p:val>
                                            <p:strVal val="#ppt_x"/>
                                          </p:val>
                                        </p:tav>
                                      </p:tavLst>
                                    </p:anim>
                                    <p:anim calcmode="lin" valueType="num">
                                      <p:cBhvr>
                                        <p:cTn id="29" dur="100" accel="100000" fill="hold">
                                          <p:stCondLst>
                                            <p:cond delay="400"/>
                                          </p:stCondLst>
                                        </p:cTn>
                                        <p:tgtEl>
                                          <p:spTgt spid="22"/>
                                        </p:tgtEl>
                                        <p:attrNameLst>
                                          <p:attrName>ppt_y</p:attrName>
                                        </p:attrNameLst>
                                      </p:cBhvr>
                                      <p:tavLst>
                                        <p:tav tm="0">
                                          <p:val>
                                            <p:strVal val="#ppt_y+0.1"/>
                                          </p:val>
                                        </p:tav>
                                        <p:tav tm="100000">
                                          <p:val>
                                            <p:strVal val="#ppt_y"/>
                                          </p:val>
                                        </p:tav>
                                      </p:tavLst>
                                    </p:anim>
                                  </p:childTnLst>
                                </p:cTn>
                              </p:par>
                            </p:childTnLst>
                          </p:cTn>
                        </p:par>
                        <p:par>
                          <p:cTn id="30" fill="hold">
                            <p:stCondLst>
                              <p:cond delay="3900"/>
                            </p:stCondLst>
                            <p:childTnLst>
                              <p:par>
                                <p:cTn xmlns:p="http://schemas.openxmlformats.org/presentationml/2006/main" id="31" presetID="30" presetClass="entr" presetSubtype="0" fill="hold" grpId="0" nodeType="afterEffect">
                                  <p:stCondLst>
                                    <p:cond delay="50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400" decel="100000"/>
                                        <p:tgtEl>
                                          <p:spTgt spid="29"/>
                                        </p:tgtEl>
                                      </p:cBhvr>
                                    </p:animEffect>
                                    <p:anim calcmode="lin" valueType="num">
                                      <p:cBhvr>
                                        <p:cTn id="34" dur="400" decel="100000" fill="hold"/>
                                        <p:tgtEl>
                                          <p:spTgt spid="29"/>
                                        </p:tgtEl>
                                        <p:attrNameLst>
                                          <p:attrName>style.rotation</p:attrName>
                                        </p:attrNameLst>
                                      </p:cBhvr>
                                      <p:tavLst>
                                        <p:tav tm="0">
                                          <p:val>
                                            <p:fltVal val="-90"/>
                                          </p:val>
                                        </p:tav>
                                        <p:tav tm="100000">
                                          <p:val>
                                            <p:fltVal val="0"/>
                                          </p:val>
                                        </p:tav>
                                      </p:tavLst>
                                    </p:anim>
                                    <p:anim calcmode="lin" valueType="num">
                                      <p:cBhvr>
                                        <p:cTn id="35" dur="400" decel="100000" fill="hold"/>
                                        <p:tgtEl>
                                          <p:spTgt spid="29"/>
                                        </p:tgtEl>
                                        <p:attrNameLst>
                                          <p:attrName>ppt_x</p:attrName>
                                        </p:attrNameLst>
                                      </p:cBhvr>
                                      <p:tavLst>
                                        <p:tav tm="0">
                                          <p:val>
                                            <p:strVal val="#ppt_x+0.4"/>
                                          </p:val>
                                        </p:tav>
                                        <p:tav tm="100000">
                                          <p:val>
                                            <p:strVal val="#ppt_x-0.05"/>
                                          </p:val>
                                        </p:tav>
                                      </p:tavLst>
                                    </p:anim>
                                    <p:anim calcmode="lin" valueType="num">
                                      <p:cBhvr>
                                        <p:cTn id="36" dur="400" decel="100000" fill="hold"/>
                                        <p:tgtEl>
                                          <p:spTgt spid="29"/>
                                        </p:tgtEl>
                                        <p:attrNameLst>
                                          <p:attrName>ppt_y</p:attrName>
                                        </p:attrNameLst>
                                      </p:cBhvr>
                                      <p:tavLst>
                                        <p:tav tm="0">
                                          <p:val>
                                            <p:strVal val="#ppt_y-0.4"/>
                                          </p:val>
                                        </p:tav>
                                        <p:tav tm="100000">
                                          <p:val>
                                            <p:strVal val="#ppt_y+0.1"/>
                                          </p:val>
                                        </p:tav>
                                      </p:tavLst>
                                    </p:anim>
                                    <p:anim calcmode="lin" valueType="num">
                                      <p:cBhvr>
                                        <p:cTn id="37" dur="100" accel="100000" fill="hold">
                                          <p:stCondLst>
                                            <p:cond delay="400"/>
                                          </p:stCondLst>
                                        </p:cTn>
                                        <p:tgtEl>
                                          <p:spTgt spid="29"/>
                                        </p:tgtEl>
                                        <p:attrNameLst>
                                          <p:attrName>ppt_x</p:attrName>
                                        </p:attrNameLst>
                                      </p:cBhvr>
                                      <p:tavLst>
                                        <p:tav tm="0">
                                          <p:val>
                                            <p:strVal val="#ppt_x-0.05"/>
                                          </p:val>
                                        </p:tav>
                                        <p:tav tm="100000">
                                          <p:val>
                                            <p:strVal val="#ppt_x"/>
                                          </p:val>
                                        </p:tav>
                                      </p:tavLst>
                                    </p:anim>
                                    <p:anim calcmode="lin" valueType="num">
                                      <p:cBhvr>
                                        <p:cTn id="38" dur="100" accel="100000" fill="hold">
                                          <p:stCondLst>
                                            <p:cond delay="400"/>
                                          </p:stCondLst>
                                        </p:cTn>
                                        <p:tgtEl>
                                          <p:spTgt spid="29"/>
                                        </p:tgtEl>
                                        <p:attrNameLst>
                                          <p:attrName>ppt_y</p:attrName>
                                        </p:attrNameLst>
                                      </p:cBhvr>
                                      <p:tavLst>
                                        <p:tav tm="0">
                                          <p:val>
                                            <p:strVal val="#ppt_y+0.1"/>
                                          </p:val>
                                        </p:tav>
                                        <p:tav tm="100000">
                                          <p:val>
                                            <p:strVal val="#ppt_y"/>
                                          </p:val>
                                        </p:tav>
                                      </p:tavLst>
                                    </p:anim>
                                  </p:childTnLst>
                                </p:cTn>
                              </p:par>
                            </p:childTnLst>
                          </p:cTn>
                        </p:par>
                        <p:par>
                          <p:cTn id="39" fill="hold">
                            <p:stCondLst>
                              <p:cond delay="4900"/>
                            </p:stCondLst>
                            <p:childTnLst>
                              <p:par>
                                <p:cTn xmlns:p="http://schemas.openxmlformats.org/presentationml/2006/main" id="40" presetID="10" presetClass="entr" presetSubtype="0" fill="hold" grpId="0" nodeType="afterEffect">
                                  <p:stCondLst>
                                    <p:cond delay="50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sqlite_everywhere">
  <a:themeElements>
    <a:clrScheme name="ppt169_sqlite_everywhere">
      <a:dk1>
        <a:srgbClr val="EAF2FB"/>
      </a:dk1>
      <a:lt1>
        <a:srgbClr val="0B1F3A"/>
      </a:lt1>
      <a:dk2>
        <a:srgbClr val="1F497D"/>
      </a:dk2>
      <a:lt2>
        <a:srgbClr val="11294B"/>
      </a:lt2>
      <a:accent1>
        <a:srgbClr val="8CC4EE"/>
      </a:accent1>
      <a:accent2>
        <a:srgbClr val="FFB547"/>
      </a:accent2>
      <a:accent3>
        <a:srgbClr val="5ED3C4"/>
      </a:accent3>
      <a:accent4>
        <a:srgbClr val="8CC4EE"/>
      </a:accent4>
      <a:accent5>
        <a:srgbClr val="9FB6CF"/>
      </a:accent5>
      <a:accent6>
        <a:srgbClr val="2D4C74"/>
      </a:accent6>
      <a:hlink>
        <a:srgbClr val="FFB547"/>
      </a:hlink>
      <a:folHlink>
        <a:srgbClr val="5ED3C4"/>
      </a:folHlink>
    </a:clrScheme>
    <a:fontScheme name="ppt169_sqlite_everywhere">
      <a:majorFont>
        <a:latin typeface="Bahnschrift"/>
        <a:ea typeface="Microsoft YaHei"/>
        <a:cs typeface="Bahnschrift"/>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sqlite_everywher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sqlite_everywhere">
  <a:themeElements>
    <a:clrScheme name="ppt169_sqlite_everywhere">
      <a:dk1>
        <a:srgbClr val="EAF2FB"/>
      </a:dk1>
      <a:lt1>
        <a:srgbClr val="0B1F3A"/>
      </a:lt1>
      <a:dk2>
        <a:srgbClr val="1F497D"/>
      </a:dk2>
      <a:lt2>
        <a:srgbClr val="11294B"/>
      </a:lt2>
      <a:accent1>
        <a:srgbClr val="8CC4EE"/>
      </a:accent1>
      <a:accent2>
        <a:srgbClr val="FFB547"/>
      </a:accent2>
      <a:accent3>
        <a:srgbClr val="5ED3C4"/>
      </a:accent3>
      <a:accent4>
        <a:srgbClr val="8CC4EE"/>
      </a:accent4>
      <a:accent5>
        <a:srgbClr val="9FB6CF"/>
      </a:accent5>
      <a:accent6>
        <a:srgbClr val="2D4C74"/>
      </a:accent6>
      <a:hlink>
        <a:srgbClr val="FFB547"/>
      </a:hlink>
      <a:folHlink>
        <a:srgbClr val="5ED3C4"/>
      </a:folHlink>
    </a:clrScheme>
    <a:fontScheme name="ppt169_sqlite_everywhere">
      <a:majorFont>
        <a:latin typeface="Bahnschrift"/>
        <a:ea typeface="Microsoft YaHei"/>
        <a:cs typeface="Bahnschrift"/>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sqlite_everywher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2026-10-24T08:10:29Z</dcterms:created>
  <dcterms:modified xsi:type="dcterms:W3CDTF">2026-10-24T08:10:29Z</dcterms:modified>
  <cp:category/>
  <cp:contentStatus/>
</cp:coreProperties>
</file>